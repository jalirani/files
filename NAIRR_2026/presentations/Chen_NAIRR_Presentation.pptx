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17"/>
  </p:notesMasterIdLst>
  <p:sldIdLst>
    <p:sldId id="256" r:id="rId3"/>
    <p:sldId id="298" r:id="rId4"/>
    <p:sldId id="257" r:id="rId5"/>
    <p:sldId id="299" r:id="rId6"/>
    <p:sldId id="262" r:id="rId7"/>
    <p:sldId id="305" r:id="rId8"/>
    <p:sldId id="304" r:id="rId9"/>
    <p:sldId id="300" r:id="rId10"/>
    <p:sldId id="303" r:id="rId11"/>
    <p:sldId id="301" r:id="rId12"/>
    <p:sldId id="302" r:id="rId13"/>
    <p:sldId id="306" r:id="rId14"/>
    <p:sldId id="307" r:id="rId15"/>
    <p:sldId id="297" r:id="rId16"/>
  </p:sldIdLst>
  <p:sldSz cx="12192000" cy="6858000"/>
  <p:notesSz cx="6858000" cy="9144000"/>
  <p:embeddedFontLst>
    <p:embeddedFont>
      <p:font typeface="Helvetica Neue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WTiUYdwYIC65teCG3HM9gJRJL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14C8A8-19E1-41EF-9AFA-997B169A50FE}">
  <a:tblStyle styleId="{AB14C8A8-19E1-41EF-9AFA-997B169A50F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0F5"/>
          </a:solidFill>
        </a:fill>
      </a:tcStyle>
    </a:wholeTbl>
    <a:band1H>
      <a:tcTxStyle b="off" i="off"/>
      <a:tcStyle>
        <a:tcBdr/>
        <a:fill>
          <a:solidFill>
            <a:srgbClr val="D1DF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1DF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56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952C28-A85F-4CFC-B039-F0C469D4CB0D}" type="doc">
      <dgm:prSet loTypeId="urn:microsoft.com/office/officeart/2009/3/layout/StepUpProcess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0DC05E0-7C5F-4A0D-8F78-BC97AB7F078C}">
      <dgm:prSet phldrT="[Text]"/>
      <dgm:spPr/>
      <dgm:t>
        <a:bodyPr/>
        <a:lstStyle/>
        <a:p>
          <a:pPr>
            <a:buNone/>
          </a:pPr>
          <a:r>
            <a:rPr lang="en-US" dirty="0"/>
            <a:t>Construction Safety Problem</a:t>
          </a:r>
        </a:p>
      </dgm:t>
    </dgm:pt>
    <dgm:pt modelId="{00B5B34E-C876-42E6-AE0B-7F06F2624574}" type="parTrans" cxnId="{56CCD789-875F-408F-A912-1E0848191532}">
      <dgm:prSet/>
      <dgm:spPr/>
      <dgm:t>
        <a:bodyPr/>
        <a:lstStyle/>
        <a:p>
          <a:endParaRPr lang="en-US"/>
        </a:p>
      </dgm:t>
    </dgm:pt>
    <dgm:pt modelId="{CCA51915-B6E3-41D9-A640-AECB18A8A9C6}" type="sibTrans" cxnId="{56CCD789-875F-408F-A912-1E0848191532}">
      <dgm:prSet/>
      <dgm:spPr/>
      <dgm:t>
        <a:bodyPr/>
        <a:lstStyle/>
        <a:p>
          <a:endParaRPr lang="en-US"/>
        </a:p>
      </dgm:t>
    </dgm:pt>
    <dgm:pt modelId="{909DA431-54D3-44EA-A518-28800CE99AFA}">
      <dgm:prSet phldrT="[Text]"/>
      <dgm:spPr/>
      <dgm:t>
        <a:bodyPr/>
        <a:lstStyle/>
        <a:p>
          <a:pPr>
            <a:buNone/>
          </a:pPr>
          <a:r>
            <a:rPr lang="en-US" dirty="0"/>
            <a:t>Game Theory</a:t>
          </a:r>
        </a:p>
      </dgm:t>
    </dgm:pt>
    <dgm:pt modelId="{44202DE6-54F9-4869-8122-6B6E2C2F96D3}" type="parTrans" cxnId="{D4CC48C1-CC06-4083-85F8-1C04C2BD3FB3}">
      <dgm:prSet/>
      <dgm:spPr/>
      <dgm:t>
        <a:bodyPr/>
        <a:lstStyle/>
        <a:p>
          <a:endParaRPr lang="en-US"/>
        </a:p>
      </dgm:t>
    </dgm:pt>
    <dgm:pt modelId="{A1E5D82C-C5C9-491E-920A-340741C56B07}" type="sibTrans" cxnId="{D4CC48C1-CC06-4083-85F8-1C04C2BD3FB3}">
      <dgm:prSet/>
      <dgm:spPr/>
      <dgm:t>
        <a:bodyPr/>
        <a:lstStyle/>
        <a:p>
          <a:endParaRPr lang="en-US"/>
        </a:p>
      </dgm:t>
    </dgm:pt>
    <dgm:pt modelId="{F46F9FFE-0055-4C1A-BBED-61082E6405C5}">
      <dgm:prSet phldrT="[Text]"/>
      <dgm:spPr/>
      <dgm:t>
        <a:bodyPr/>
        <a:lstStyle/>
        <a:p>
          <a:pPr>
            <a:buNone/>
          </a:pPr>
          <a:r>
            <a:rPr lang="en-US" dirty="0"/>
            <a:t>Multi-Agent Simulation</a:t>
          </a:r>
        </a:p>
      </dgm:t>
    </dgm:pt>
    <dgm:pt modelId="{3C9810D0-2BD0-46B0-8CA0-15ABC2FBC354}" type="parTrans" cxnId="{BE1A8106-8F29-477C-8F51-FA57A057817D}">
      <dgm:prSet/>
      <dgm:spPr/>
      <dgm:t>
        <a:bodyPr/>
        <a:lstStyle/>
        <a:p>
          <a:endParaRPr lang="en-US"/>
        </a:p>
      </dgm:t>
    </dgm:pt>
    <dgm:pt modelId="{013EDFAF-50AE-4967-983A-7BB701F17FA9}" type="sibTrans" cxnId="{BE1A8106-8F29-477C-8F51-FA57A057817D}">
      <dgm:prSet/>
      <dgm:spPr/>
      <dgm:t>
        <a:bodyPr/>
        <a:lstStyle/>
        <a:p>
          <a:endParaRPr lang="en-US"/>
        </a:p>
      </dgm:t>
    </dgm:pt>
    <dgm:pt modelId="{6206F196-5D9E-4EE7-BE66-DF3997A7C903}">
      <dgm:prSet phldrT="[Text]"/>
      <dgm:spPr/>
      <dgm:t>
        <a:bodyPr/>
        <a:lstStyle/>
        <a:p>
          <a:pPr>
            <a:buNone/>
          </a:pPr>
          <a:r>
            <a:rPr lang="en-US" altLang="zh-CN" dirty="0"/>
            <a:t>Construction Safety </a:t>
          </a:r>
          <a:r>
            <a:rPr lang="en-US" dirty="0"/>
            <a:t>AI Literacy</a:t>
          </a:r>
        </a:p>
      </dgm:t>
    </dgm:pt>
    <dgm:pt modelId="{C1A1653B-F2D6-4471-8A80-570922A91458}" type="parTrans" cxnId="{5DFB4A40-2AFF-4F05-9F4B-61120B6BB688}">
      <dgm:prSet/>
      <dgm:spPr/>
      <dgm:t>
        <a:bodyPr/>
        <a:lstStyle/>
        <a:p>
          <a:endParaRPr lang="en-US"/>
        </a:p>
      </dgm:t>
    </dgm:pt>
    <dgm:pt modelId="{D17172CC-9744-4EFA-ACF5-14190FE9B058}" type="sibTrans" cxnId="{5DFB4A40-2AFF-4F05-9F4B-61120B6BB688}">
      <dgm:prSet/>
      <dgm:spPr/>
      <dgm:t>
        <a:bodyPr/>
        <a:lstStyle/>
        <a:p>
          <a:endParaRPr lang="en-US"/>
        </a:p>
      </dgm:t>
    </dgm:pt>
    <dgm:pt modelId="{04F9569F-2A51-4DB7-B322-8E2844DC2645}">
      <dgm:prSet phldrT="[Text]"/>
      <dgm:spPr/>
      <dgm:t>
        <a:bodyPr/>
        <a:lstStyle/>
        <a:p>
          <a:pPr>
            <a:buNone/>
          </a:pPr>
          <a:r>
            <a:rPr lang="en-US" dirty="0"/>
            <a:t>Responsible AI &amp; Human Oversight</a:t>
          </a:r>
        </a:p>
      </dgm:t>
    </dgm:pt>
    <dgm:pt modelId="{A09ECED7-B157-48D0-8A64-20944D5CC2DF}" type="parTrans" cxnId="{37373E52-976B-462C-865A-4D577702EB21}">
      <dgm:prSet/>
      <dgm:spPr/>
      <dgm:t>
        <a:bodyPr/>
        <a:lstStyle/>
        <a:p>
          <a:endParaRPr lang="en-US"/>
        </a:p>
      </dgm:t>
    </dgm:pt>
    <dgm:pt modelId="{F2AECD52-FECB-4A3F-945E-ADA16E9229AC}" type="sibTrans" cxnId="{37373E52-976B-462C-865A-4D577702EB21}">
      <dgm:prSet/>
      <dgm:spPr/>
      <dgm:t>
        <a:bodyPr/>
        <a:lstStyle/>
        <a:p>
          <a:endParaRPr lang="en-US"/>
        </a:p>
      </dgm:t>
    </dgm:pt>
    <dgm:pt modelId="{15C46594-DC94-43D5-A44B-5BCF9FFD2ECA}" type="pres">
      <dgm:prSet presAssocID="{E0952C28-A85F-4CFC-B039-F0C469D4CB0D}" presName="rootnode" presStyleCnt="0">
        <dgm:presLayoutVars>
          <dgm:chMax/>
          <dgm:chPref/>
          <dgm:dir/>
          <dgm:animLvl val="lvl"/>
        </dgm:presLayoutVars>
      </dgm:prSet>
      <dgm:spPr/>
    </dgm:pt>
    <dgm:pt modelId="{5D84B975-08FF-4AFA-BF1C-E730569A934A}" type="pres">
      <dgm:prSet presAssocID="{D0DC05E0-7C5F-4A0D-8F78-BC97AB7F078C}" presName="composite" presStyleCnt="0"/>
      <dgm:spPr/>
    </dgm:pt>
    <dgm:pt modelId="{3F5037A2-23E4-42BC-A292-0B1F7E2B90EF}" type="pres">
      <dgm:prSet presAssocID="{D0DC05E0-7C5F-4A0D-8F78-BC97AB7F078C}" presName="LShape" presStyleLbl="alignNode1" presStyleIdx="0" presStyleCnt="9"/>
      <dgm:spPr/>
    </dgm:pt>
    <dgm:pt modelId="{20328531-E321-46BF-8470-C5525DF86092}" type="pres">
      <dgm:prSet presAssocID="{D0DC05E0-7C5F-4A0D-8F78-BC97AB7F078C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244B9F88-7A07-41A1-BE2A-D6EEE4F1C1B0}" type="pres">
      <dgm:prSet presAssocID="{D0DC05E0-7C5F-4A0D-8F78-BC97AB7F078C}" presName="Triangle" presStyleLbl="alignNode1" presStyleIdx="1" presStyleCnt="9"/>
      <dgm:spPr/>
    </dgm:pt>
    <dgm:pt modelId="{31755696-85E0-47C8-AEF8-A4F4FF5BE9EE}" type="pres">
      <dgm:prSet presAssocID="{CCA51915-B6E3-41D9-A640-AECB18A8A9C6}" presName="sibTrans" presStyleCnt="0"/>
      <dgm:spPr/>
    </dgm:pt>
    <dgm:pt modelId="{005D257C-1D7E-415E-A9A1-AFE67ED91131}" type="pres">
      <dgm:prSet presAssocID="{CCA51915-B6E3-41D9-A640-AECB18A8A9C6}" presName="space" presStyleCnt="0"/>
      <dgm:spPr/>
    </dgm:pt>
    <dgm:pt modelId="{9CB1408A-003E-4DBB-A878-5150FF3932A7}" type="pres">
      <dgm:prSet presAssocID="{909DA431-54D3-44EA-A518-28800CE99AFA}" presName="composite" presStyleCnt="0"/>
      <dgm:spPr/>
    </dgm:pt>
    <dgm:pt modelId="{290E88D5-9820-4AE5-8CD0-66AF50375371}" type="pres">
      <dgm:prSet presAssocID="{909DA431-54D3-44EA-A518-28800CE99AFA}" presName="LShape" presStyleLbl="alignNode1" presStyleIdx="2" presStyleCnt="9"/>
      <dgm:spPr/>
    </dgm:pt>
    <dgm:pt modelId="{B52AEA0B-F849-4A63-9E8B-CE8C5A6BD75F}" type="pres">
      <dgm:prSet presAssocID="{909DA431-54D3-44EA-A518-28800CE99AFA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B8F04FD4-1D53-471A-8A4C-05C9EEEBB6B7}" type="pres">
      <dgm:prSet presAssocID="{909DA431-54D3-44EA-A518-28800CE99AFA}" presName="Triangle" presStyleLbl="alignNode1" presStyleIdx="3" presStyleCnt="9"/>
      <dgm:spPr/>
    </dgm:pt>
    <dgm:pt modelId="{4D8C99A6-5F6B-43F3-8947-A5E48B321606}" type="pres">
      <dgm:prSet presAssocID="{A1E5D82C-C5C9-491E-920A-340741C56B07}" presName="sibTrans" presStyleCnt="0"/>
      <dgm:spPr/>
    </dgm:pt>
    <dgm:pt modelId="{605389CA-EE61-4059-B57F-E1D7F25ADDA2}" type="pres">
      <dgm:prSet presAssocID="{A1E5D82C-C5C9-491E-920A-340741C56B07}" presName="space" presStyleCnt="0"/>
      <dgm:spPr/>
    </dgm:pt>
    <dgm:pt modelId="{FE58E884-1E2F-486A-9488-537D686F54CD}" type="pres">
      <dgm:prSet presAssocID="{F46F9FFE-0055-4C1A-BBED-61082E6405C5}" presName="composite" presStyleCnt="0"/>
      <dgm:spPr/>
    </dgm:pt>
    <dgm:pt modelId="{249626BC-72E8-4353-9154-5259B0741A73}" type="pres">
      <dgm:prSet presAssocID="{F46F9FFE-0055-4C1A-BBED-61082E6405C5}" presName="LShape" presStyleLbl="alignNode1" presStyleIdx="4" presStyleCnt="9"/>
      <dgm:spPr/>
    </dgm:pt>
    <dgm:pt modelId="{4183BE79-FBC1-429C-A14A-615ABE8437C6}" type="pres">
      <dgm:prSet presAssocID="{F46F9FFE-0055-4C1A-BBED-61082E6405C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EB158D0A-8607-4761-BCB2-42B019406B86}" type="pres">
      <dgm:prSet presAssocID="{F46F9FFE-0055-4C1A-BBED-61082E6405C5}" presName="Triangle" presStyleLbl="alignNode1" presStyleIdx="5" presStyleCnt="9"/>
      <dgm:spPr/>
    </dgm:pt>
    <dgm:pt modelId="{45716A2C-454C-413D-B189-97DFBC9216AA}" type="pres">
      <dgm:prSet presAssocID="{013EDFAF-50AE-4967-983A-7BB701F17FA9}" presName="sibTrans" presStyleCnt="0"/>
      <dgm:spPr/>
    </dgm:pt>
    <dgm:pt modelId="{A50DC81D-0CBB-4EE7-98C1-7A8FAD426988}" type="pres">
      <dgm:prSet presAssocID="{013EDFAF-50AE-4967-983A-7BB701F17FA9}" presName="space" presStyleCnt="0"/>
      <dgm:spPr/>
    </dgm:pt>
    <dgm:pt modelId="{874A411F-146B-428D-AEB8-8ADED485E0CC}" type="pres">
      <dgm:prSet presAssocID="{6206F196-5D9E-4EE7-BE66-DF3997A7C903}" presName="composite" presStyleCnt="0"/>
      <dgm:spPr/>
    </dgm:pt>
    <dgm:pt modelId="{754C3798-847A-4418-AF36-801B2FBBB281}" type="pres">
      <dgm:prSet presAssocID="{6206F196-5D9E-4EE7-BE66-DF3997A7C903}" presName="LShape" presStyleLbl="alignNode1" presStyleIdx="6" presStyleCnt="9"/>
      <dgm:spPr/>
    </dgm:pt>
    <dgm:pt modelId="{1DD74629-66EF-4AC4-9E45-B3F58F0D3DFA}" type="pres">
      <dgm:prSet presAssocID="{6206F196-5D9E-4EE7-BE66-DF3997A7C903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D7CFF160-42C2-4AE6-9C76-C111C4D850CB}" type="pres">
      <dgm:prSet presAssocID="{6206F196-5D9E-4EE7-BE66-DF3997A7C903}" presName="Triangle" presStyleLbl="alignNode1" presStyleIdx="7" presStyleCnt="9"/>
      <dgm:spPr/>
    </dgm:pt>
    <dgm:pt modelId="{8C1DEDCA-320F-4476-9181-1B2C38DE0480}" type="pres">
      <dgm:prSet presAssocID="{D17172CC-9744-4EFA-ACF5-14190FE9B058}" presName="sibTrans" presStyleCnt="0"/>
      <dgm:spPr/>
    </dgm:pt>
    <dgm:pt modelId="{34DBEF5E-4114-45A2-B24C-D9F33FB32F76}" type="pres">
      <dgm:prSet presAssocID="{D17172CC-9744-4EFA-ACF5-14190FE9B058}" presName="space" presStyleCnt="0"/>
      <dgm:spPr/>
    </dgm:pt>
    <dgm:pt modelId="{FA2924C4-69B7-4428-B352-A87F33FC278B}" type="pres">
      <dgm:prSet presAssocID="{04F9569F-2A51-4DB7-B322-8E2844DC2645}" presName="composite" presStyleCnt="0"/>
      <dgm:spPr/>
    </dgm:pt>
    <dgm:pt modelId="{BCCB739A-D0BF-4281-A81A-EC94487972D5}" type="pres">
      <dgm:prSet presAssocID="{04F9569F-2A51-4DB7-B322-8E2844DC2645}" presName="LShape" presStyleLbl="alignNode1" presStyleIdx="8" presStyleCnt="9"/>
      <dgm:spPr/>
    </dgm:pt>
    <dgm:pt modelId="{E04EF862-85F1-4841-9023-BCBD43EAA189}" type="pres">
      <dgm:prSet presAssocID="{04F9569F-2A51-4DB7-B322-8E2844DC2645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E1A8106-8F29-477C-8F51-FA57A057817D}" srcId="{E0952C28-A85F-4CFC-B039-F0C469D4CB0D}" destId="{F46F9FFE-0055-4C1A-BBED-61082E6405C5}" srcOrd="2" destOrd="0" parTransId="{3C9810D0-2BD0-46B0-8CA0-15ABC2FBC354}" sibTransId="{013EDFAF-50AE-4967-983A-7BB701F17FA9}"/>
    <dgm:cxn modelId="{83045725-6156-4131-8289-9B4B956A2F9A}" type="presOf" srcId="{909DA431-54D3-44EA-A518-28800CE99AFA}" destId="{B52AEA0B-F849-4A63-9E8B-CE8C5A6BD75F}" srcOrd="0" destOrd="0" presId="urn:microsoft.com/office/officeart/2009/3/layout/StepUpProcess"/>
    <dgm:cxn modelId="{1BF82B3A-2534-4A91-9BEE-3E9ED1EB5DF1}" type="presOf" srcId="{6206F196-5D9E-4EE7-BE66-DF3997A7C903}" destId="{1DD74629-66EF-4AC4-9E45-B3F58F0D3DFA}" srcOrd="0" destOrd="0" presId="urn:microsoft.com/office/officeart/2009/3/layout/StepUpProcess"/>
    <dgm:cxn modelId="{5DFB4A40-2AFF-4F05-9F4B-61120B6BB688}" srcId="{E0952C28-A85F-4CFC-B039-F0C469D4CB0D}" destId="{6206F196-5D9E-4EE7-BE66-DF3997A7C903}" srcOrd="3" destOrd="0" parTransId="{C1A1653B-F2D6-4471-8A80-570922A91458}" sibTransId="{D17172CC-9744-4EFA-ACF5-14190FE9B058}"/>
    <dgm:cxn modelId="{7BD09741-F507-4C16-B944-C9E17FA03B5C}" type="presOf" srcId="{04F9569F-2A51-4DB7-B322-8E2844DC2645}" destId="{E04EF862-85F1-4841-9023-BCBD43EAA189}" srcOrd="0" destOrd="0" presId="urn:microsoft.com/office/officeart/2009/3/layout/StepUpProcess"/>
    <dgm:cxn modelId="{37373E52-976B-462C-865A-4D577702EB21}" srcId="{E0952C28-A85F-4CFC-B039-F0C469D4CB0D}" destId="{04F9569F-2A51-4DB7-B322-8E2844DC2645}" srcOrd="4" destOrd="0" parTransId="{A09ECED7-B157-48D0-8A64-20944D5CC2DF}" sibTransId="{F2AECD52-FECB-4A3F-945E-ADA16E9229AC}"/>
    <dgm:cxn modelId="{56CCD789-875F-408F-A912-1E0848191532}" srcId="{E0952C28-A85F-4CFC-B039-F0C469D4CB0D}" destId="{D0DC05E0-7C5F-4A0D-8F78-BC97AB7F078C}" srcOrd="0" destOrd="0" parTransId="{00B5B34E-C876-42E6-AE0B-7F06F2624574}" sibTransId="{CCA51915-B6E3-41D9-A640-AECB18A8A9C6}"/>
    <dgm:cxn modelId="{7F19DC9C-82E5-464C-985A-E9D995B8D720}" type="presOf" srcId="{E0952C28-A85F-4CFC-B039-F0C469D4CB0D}" destId="{15C46594-DC94-43D5-A44B-5BCF9FFD2ECA}" srcOrd="0" destOrd="0" presId="urn:microsoft.com/office/officeart/2009/3/layout/StepUpProcess"/>
    <dgm:cxn modelId="{D4CC48C1-CC06-4083-85F8-1C04C2BD3FB3}" srcId="{E0952C28-A85F-4CFC-B039-F0C469D4CB0D}" destId="{909DA431-54D3-44EA-A518-28800CE99AFA}" srcOrd="1" destOrd="0" parTransId="{44202DE6-54F9-4869-8122-6B6E2C2F96D3}" sibTransId="{A1E5D82C-C5C9-491E-920A-340741C56B07}"/>
    <dgm:cxn modelId="{FFB6C8F2-9E0B-4DFE-9DA4-D0BEBB4553C2}" type="presOf" srcId="{D0DC05E0-7C5F-4A0D-8F78-BC97AB7F078C}" destId="{20328531-E321-46BF-8470-C5525DF86092}" srcOrd="0" destOrd="0" presId="urn:microsoft.com/office/officeart/2009/3/layout/StepUpProcess"/>
    <dgm:cxn modelId="{82382EFA-2B3E-4108-88E0-E8C664B8F853}" type="presOf" srcId="{F46F9FFE-0055-4C1A-BBED-61082E6405C5}" destId="{4183BE79-FBC1-429C-A14A-615ABE8437C6}" srcOrd="0" destOrd="0" presId="urn:microsoft.com/office/officeart/2009/3/layout/StepUpProcess"/>
    <dgm:cxn modelId="{E703BC6D-B064-43E6-BEE3-32CE113739DD}" type="presParOf" srcId="{15C46594-DC94-43D5-A44B-5BCF9FFD2ECA}" destId="{5D84B975-08FF-4AFA-BF1C-E730569A934A}" srcOrd="0" destOrd="0" presId="urn:microsoft.com/office/officeart/2009/3/layout/StepUpProcess"/>
    <dgm:cxn modelId="{4F62B448-17B8-4FE8-9306-7C7DC0FBCBBD}" type="presParOf" srcId="{5D84B975-08FF-4AFA-BF1C-E730569A934A}" destId="{3F5037A2-23E4-42BC-A292-0B1F7E2B90EF}" srcOrd="0" destOrd="0" presId="urn:microsoft.com/office/officeart/2009/3/layout/StepUpProcess"/>
    <dgm:cxn modelId="{D6700409-5E7B-45A8-8AED-148B66138F32}" type="presParOf" srcId="{5D84B975-08FF-4AFA-BF1C-E730569A934A}" destId="{20328531-E321-46BF-8470-C5525DF86092}" srcOrd="1" destOrd="0" presId="urn:microsoft.com/office/officeart/2009/3/layout/StepUpProcess"/>
    <dgm:cxn modelId="{BA46AAA3-C766-4966-9D15-16E232D084FA}" type="presParOf" srcId="{5D84B975-08FF-4AFA-BF1C-E730569A934A}" destId="{244B9F88-7A07-41A1-BE2A-D6EEE4F1C1B0}" srcOrd="2" destOrd="0" presId="urn:microsoft.com/office/officeart/2009/3/layout/StepUpProcess"/>
    <dgm:cxn modelId="{BF4799C2-98DA-44F3-87D8-31E0556200F2}" type="presParOf" srcId="{15C46594-DC94-43D5-A44B-5BCF9FFD2ECA}" destId="{31755696-85E0-47C8-AEF8-A4F4FF5BE9EE}" srcOrd="1" destOrd="0" presId="urn:microsoft.com/office/officeart/2009/3/layout/StepUpProcess"/>
    <dgm:cxn modelId="{81C136B5-28D0-49D5-9E24-E354F665BE41}" type="presParOf" srcId="{31755696-85E0-47C8-AEF8-A4F4FF5BE9EE}" destId="{005D257C-1D7E-415E-A9A1-AFE67ED91131}" srcOrd="0" destOrd="0" presId="urn:microsoft.com/office/officeart/2009/3/layout/StepUpProcess"/>
    <dgm:cxn modelId="{044D3600-7829-4309-BF48-5508CA1A3406}" type="presParOf" srcId="{15C46594-DC94-43D5-A44B-5BCF9FFD2ECA}" destId="{9CB1408A-003E-4DBB-A878-5150FF3932A7}" srcOrd="2" destOrd="0" presId="urn:microsoft.com/office/officeart/2009/3/layout/StepUpProcess"/>
    <dgm:cxn modelId="{76A31A98-0BC7-430E-BE69-5D6EA248996B}" type="presParOf" srcId="{9CB1408A-003E-4DBB-A878-5150FF3932A7}" destId="{290E88D5-9820-4AE5-8CD0-66AF50375371}" srcOrd="0" destOrd="0" presId="urn:microsoft.com/office/officeart/2009/3/layout/StepUpProcess"/>
    <dgm:cxn modelId="{F8CBEF5F-88BF-4341-AD3B-005B12DEC9A9}" type="presParOf" srcId="{9CB1408A-003E-4DBB-A878-5150FF3932A7}" destId="{B52AEA0B-F849-4A63-9E8B-CE8C5A6BD75F}" srcOrd="1" destOrd="0" presId="urn:microsoft.com/office/officeart/2009/3/layout/StepUpProcess"/>
    <dgm:cxn modelId="{DE2E45F4-D888-4B2C-B3BD-AF76033550AE}" type="presParOf" srcId="{9CB1408A-003E-4DBB-A878-5150FF3932A7}" destId="{B8F04FD4-1D53-471A-8A4C-05C9EEEBB6B7}" srcOrd="2" destOrd="0" presId="urn:microsoft.com/office/officeart/2009/3/layout/StepUpProcess"/>
    <dgm:cxn modelId="{F4E636C9-6610-441F-AB38-19A0A0A92BB9}" type="presParOf" srcId="{15C46594-DC94-43D5-A44B-5BCF9FFD2ECA}" destId="{4D8C99A6-5F6B-43F3-8947-A5E48B321606}" srcOrd="3" destOrd="0" presId="urn:microsoft.com/office/officeart/2009/3/layout/StepUpProcess"/>
    <dgm:cxn modelId="{47790450-6938-4F2F-A424-534FBD14C3B0}" type="presParOf" srcId="{4D8C99A6-5F6B-43F3-8947-A5E48B321606}" destId="{605389CA-EE61-4059-B57F-E1D7F25ADDA2}" srcOrd="0" destOrd="0" presId="urn:microsoft.com/office/officeart/2009/3/layout/StepUpProcess"/>
    <dgm:cxn modelId="{F4DAC022-0868-4865-963D-ADDDF87459BF}" type="presParOf" srcId="{15C46594-DC94-43D5-A44B-5BCF9FFD2ECA}" destId="{FE58E884-1E2F-486A-9488-537D686F54CD}" srcOrd="4" destOrd="0" presId="urn:microsoft.com/office/officeart/2009/3/layout/StepUpProcess"/>
    <dgm:cxn modelId="{206551FC-9567-4E12-82CA-E32E23A3EB89}" type="presParOf" srcId="{FE58E884-1E2F-486A-9488-537D686F54CD}" destId="{249626BC-72E8-4353-9154-5259B0741A73}" srcOrd="0" destOrd="0" presId="urn:microsoft.com/office/officeart/2009/3/layout/StepUpProcess"/>
    <dgm:cxn modelId="{AABC8B23-6470-4FC4-871E-02FEEB914952}" type="presParOf" srcId="{FE58E884-1E2F-486A-9488-537D686F54CD}" destId="{4183BE79-FBC1-429C-A14A-615ABE8437C6}" srcOrd="1" destOrd="0" presId="urn:microsoft.com/office/officeart/2009/3/layout/StepUpProcess"/>
    <dgm:cxn modelId="{A1B2597F-3A09-450C-AAA3-1D040ED2FBAB}" type="presParOf" srcId="{FE58E884-1E2F-486A-9488-537D686F54CD}" destId="{EB158D0A-8607-4761-BCB2-42B019406B86}" srcOrd="2" destOrd="0" presId="urn:microsoft.com/office/officeart/2009/3/layout/StepUpProcess"/>
    <dgm:cxn modelId="{7A9527E7-11AF-46EF-BFF2-3240CA2E658A}" type="presParOf" srcId="{15C46594-DC94-43D5-A44B-5BCF9FFD2ECA}" destId="{45716A2C-454C-413D-B189-97DFBC9216AA}" srcOrd="5" destOrd="0" presId="urn:microsoft.com/office/officeart/2009/3/layout/StepUpProcess"/>
    <dgm:cxn modelId="{E29D31BA-34C6-47E4-9523-1B6A2BBF3B86}" type="presParOf" srcId="{45716A2C-454C-413D-B189-97DFBC9216AA}" destId="{A50DC81D-0CBB-4EE7-98C1-7A8FAD426988}" srcOrd="0" destOrd="0" presId="urn:microsoft.com/office/officeart/2009/3/layout/StepUpProcess"/>
    <dgm:cxn modelId="{E789FDC8-6884-4A7E-8F1B-E39FFABF5508}" type="presParOf" srcId="{15C46594-DC94-43D5-A44B-5BCF9FFD2ECA}" destId="{874A411F-146B-428D-AEB8-8ADED485E0CC}" srcOrd="6" destOrd="0" presId="urn:microsoft.com/office/officeart/2009/3/layout/StepUpProcess"/>
    <dgm:cxn modelId="{A8E46266-28E0-4644-BF64-8622D6BCDAED}" type="presParOf" srcId="{874A411F-146B-428D-AEB8-8ADED485E0CC}" destId="{754C3798-847A-4418-AF36-801B2FBBB281}" srcOrd="0" destOrd="0" presId="urn:microsoft.com/office/officeart/2009/3/layout/StepUpProcess"/>
    <dgm:cxn modelId="{B418FEDA-DE14-48E1-88EC-77882744B139}" type="presParOf" srcId="{874A411F-146B-428D-AEB8-8ADED485E0CC}" destId="{1DD74629-66EF-4AC4-9E45-B3F58F0D3DFA}" srcOrd="1" destOrd="0" presId="urn:microsoft.com/office/officeart/2009/3/layout/StepUpProcess"/>
    <dgm:cxn modelId="{4CB8DF06-7B1D-4DF4-B81F-B1504E9ECFC5}" type="presParOf" srcId="{874A411F-146B-428D-AEB8-8ADED485E0CC}" destId="{D7CFF160-42C2-4AE6-9C76-C111C4D850CB}" srcOrd="2" destOrd="0" presId="urn:microsoft.com/office/officeart/2009/3/layout/StepUpProcess"/>
    <dgm:cxn modelId="{88774532-0BC0-426F-B52A-368D10A65A5F}" type="presParOf" srcId="{15C46594-DC94-43D5-A44B-5BCF9FFD2ECA}" destId="{8C1DEDCA-320F-4476-9181-1B2C38DE0480}" srcOrd="7" destOrd="0" presId="urn:microsoft.com/office/officeart/2009/3/layout/StepUpProcess"/>
    <dgm:cxn modelId="{E87F9CE2-D341-438D-8749-F9C3B282067C}" type="presParOf" srcId="{8C1DEDCA-320F-4476-9181-1B2C38DE0480}" destId="{34DBEF5E-4114-45A2-B24C-D9F33FB32F76}" srcOrd="0" destOrd="0" presId="urn:microsoft.com/office/officeart/2009/3/layout/StepUpProcess"/>
    <dgm:cxn modelId="{B345C352-EF17-4EF8-9929-B9FA9B989FF8}" type="presParOf" srcId="{15C46594-DC94-43D5-A44B-5BCF9FFD2ECA}" destId="{FA2924C4-69B7-4428-B352-A87F33FC278B}" srcOrd="8" destOrd="0" presId="urn:microsoft.com/office/officeart/2009/3/layout/StepUpProcess"/>
    <dgm:cxn modelId="{07479ECF-A04C-43A7-B306-1F80632F1572}" type="presParOf" srcId="{FA2924C4-69B7-4428-B352-A87F33FC278B}" destId="{BCCB739A-D0BF-4281-A81A-EC94487972D5}" srcOrd="0" destOrd="0" presId="urn:microsoft.com/office/officeart/2009/3/layout/StepUpProcess"/>
    <dgm:cxn modelId="{A0BBADB5-AFD6-4A8E-95CD-5F82077CA0A8}" type="presParOf" srcId="{FA2924C4-69B7-4428-B352-A87F33FC278B}" destId="{E04EF862-85F1-4841-9023-BCBD43EAA189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037A2-23E4-42BC-A292-0B1F7E2B90EF}">
      <dsp:nvSpPr>
        <dsp:cNvPr id="0" name=""/>
        <dsp:cNvSpPr/>
      </dsp:nvSpPr>
      <dsp:spPr>
        <a:xfrm rot="5400000">
          <a:off x="354417" y="2263244"/>
          <a:ext cx="1056145" cy="1757402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28531-E321-46BF-8470-C5525DF86092}">
      <dsp:nvSpPr>
        <dsp:cNvPr id="0" name=""/>
        <dsp:cNvSpPr/>
      </dsp:nvSpPr>
      <dsp:spPr>
        <a:xfrm>
          <a:off x="178120" y="2788329"/>
          <a:ext cx="1586592" cy="139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Construction Safety Problem</a:t>
          </a:r>
        </a:p>
      </dsp:txBody>
      <dsp:txXfrm>
        <a:off x="178120" y="2788329"/>
        <a:ext cx="1586592" cy="1390741"/>
      </dsp:txXfrm>
    </dsp:sp>
    <dsp:sp modelId="{244B9F88-7A07-41A1-BE2A-D6EEE4F1C1B0}">
      <dsp:nvSpPr>
        <dsp:cNvPr id="0" name=""/>
        <dsp:cNvSpPr/>
      </dsp:nvSpPr>
      <dsp:spPr>
        <a:xfrm>
          <a:off x="1465356" y="2133863"/>
          <a:ext cx="299357" cy="299357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E88D5-9820-4AE5-8CD0-66AF50375371}">
      <dsp:nvSpPr>
        <dsp:cNvPr id="0" name=""/>
        <dsp:cNvSpPr/>
      </dsp:nvSpPr>
      <dsp:spPr>
        <a:xfrm rot="5400000">
          <a:off x="2296717" y="1782621"/>
          <a:ext cx="1056145" cy="1757402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AEA0B-F849-4A63-9E8B-CE8C5A6BD75F}">
      <dsp:nvSpPr>
        <dsp:cNvPr id="0" name=""/>
        <dsp:cNvSpPr/>
      </dsp:nvSpPr>
      <dsp:spPr>
        <a:xfrm>
          <a:off x="2120420" y="2307705"/>
          <a:ext cx="1586592" cy="139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Game Theory</a:t>
          </a:r>
        </a:p>
      </dsp:txBody>
      <dsp:txXfrm>
        <a:off x="2120420" y="2307705"/>
        <a:ext cx="1586592" cy="1390741"/>
      </dsp:txXfrm>
    </dsp:sp>
    <dsp:sp modelId="{B8F04FD4-1D53-471A-8A4C-05C9EEEBB6B7}">
      <dsp:nvSpPr>
        <dsp:cNvPr id="0" name=""/>
        <dsp:cNvSpPr/>
      </dsp:nvSpPr>
      <dsp:spPr>
        <a:xfrm>
          <a:off x="3407655" y="1653239"/>
          <a:ext cx="299357" cy="299357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626BC-72E8-4353-9154-5259B0741A73}">
      <dsp:nvSpPr>
        <dsp:cNvPr id="0" name=""/>
        <dsp:cNvSpPr/>
      </dsp:nvSpPr>
      <dsp:spPr>
        <a:xfrm rot="5400000">
          <a:off x="4239016" y="1301997"/>
          <a:ext cx="1056145" cy="1757402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3BE79-FBC1-429C-A14A-615ABE8437C6}">
      <dsp:nvSpPr>
        <dsp:cNvPr id="0" name=""/>
        <dsp:cNvSpPr/>
      </dsp:nvSpPr>
      <dsp:spPr>
        <a:xfrm>
          <a:off x="4062719" y="1827081"/>
          <a:ext cx="1586592" cy="139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Multi-Agent Simulation</a:t>
          </a:r>
        </a:p>
      </dsp:txBody>
      <dsp:txXfrm>
        <a:off x="4062719" y="1827081"/>
        <a:ext cx="1586592" cy="1390741"/>
      </dsp:txXfrm>
    </dsp:sp>
    <dsp:sp modelId="{EB158D0A-8607-4761-BCB2-42B019406B86}">
      <dsp:nvSpPr>
        <dsp:cNvPr id="0" name=""/>
        <dsp:cNvSpPr/>
      </dsp:nvSpPr>
      <dsp:spPr>
        <a:xfrm>
          <a:off x="5349954" y="1172615"/>
          <a:ext cx="299357" cy="299357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C3798-847A-4418-AF36-801B2FBBB281}">
      <dsp:nvSpPr>
        <dsp:cNvPr id="0" name=""/>
        <dsp:cNvSpPr/>
      </dsp:nvSpPr>
      <dsp:spPr>
        <a:xfrm rot="5400000">
          <a:off x="6181315" y="821373"/>
          <a:ext cx="1056145" cy="1757402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74629-66EF-4AC4-9E45-B3F58F0D3DFA}">
      <dsp:nvSpPr>
        <dsp:cNvPr id="0" name=""/>
        <dsp:cNvSpPr/>
      </dsp:nvSpPr>
      <dsp:spPr>
        <a:xfrm>
          <a:off x="6005018" y="1346457"/>
          <a:ext cx="1586592" cy="139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Construction Safety </a:t>
          </a:r>
          <a:r>
            <a:rPr lang="en-US" sz="2000" kern="1200" dirty="0"/>
            <a:t>AI Literacy</a:t>
          </a:r>
        </a:p>
      </dsp:txBody>
      <dsp:txXfrm>
        <a:off x="6005018" y="1346457"/>
        <a:ext cx="1586592" cy="1390741"/>
      </dsp:txXfrm>
    </dsp:sp>
    <dsp:sp modelId="{D7CFF160-42C2-4AE6-9C76-C111C4D850CB}">
      <dsp:nvSpPr>
        <dsp:cNvPr id="0" name=""/>
        <dsp:cNvSpPr/>
      </dsp:nvSpPr>
      <dsp:spPr>
        <a:xfrm>
          <a:off x="7292254" y="691991"/>
          <a:ext cx="299357" cy="299357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B739A-D0BF-4281-A81A-EC94487972D5}">
      <dsp:nvSpPr>
        <dsp:cNvPr id="0" name=""/>
        <dsp:cNvSpPr/>
      </dsp:nvSpPr>
      <dsp:spPr>
        <a:xfrm rot="5400000">
          <a:off x="8123615" y="340749"/>
          <a:ext cx="1056145" cy="1757402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EF862-85F1-4841-9023-BCBD43EAA189}">
      <dsp:nvSpPr>
        <dsp:cNvPr id="0" name=""/>
        <dsp:cNvSpPr/>
      </dsp:nvSpPr>
      <dsp:spPr>
        <a:xfrm>
          <a:off x="7947318" y="865834"/>
          <a:ext cx="1586592" cy="139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Responsible AI &amp; Human Oversight</a:t>
          </a:r>
        </a:p>
      </dsp:txBody>
      <dsp:txXfrm>
        <a:off x="7947318" y="865834"/>
        <a:ext cx="1586592" cy="1390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stages have already been implemented in my construction safety course, which serves approximately 150 students annually.</a:t>
            </a:r>
          </a:p>
          <a:p>
            <a:r>
              <a:rPr lang="en-US" dirty="0"/>
              <a:t>Through game theory and </a:t>
            </a:r>
            <a:r>
              <a:rPr lang="en-US" dirty="0" err="1"/>
              <a:t>NetLogo</a:t>
            </a:r>
            <a:r>
              <a:rPr lang="en-US" dirty="0"/>
              <a:t> simulations, students learn strategic decision making and systems thinking without requiring programming experience.</a:t>
            </a:r>
          </a:p>
          <a:p>
            <a:r>
              <a:rPr lang="en-US" dirty="0"/>
              <a:t>Attending the NAIRR conference helped me identify a future opportunity: extending this framework toward AI literacy and responsible AI education for construction management students.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65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Reiterate the 'illustrative, not measured' framing here — the first of several repetitions per Stage 3's framing requirement.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BD2E86F1-8724-24FE-B8F2-22251AD3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8823417C-5121-7154-4DCF-8ADA17192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FC29B82D-E1E2-1695-1778-260549D8F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Reiterate the 'illustrative, not measured' framing here — the first of several repetitions per Stage 3's framing requirement.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210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975C-FEE4-2F43-E2CF-E5B7B3CE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CCF95-071E-DF9D-A254-0A7BCF4EC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9CF52-9CB6-3C16-8E42-FF44E58AC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53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6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6" name="Google Shape;63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0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0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0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- Blank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5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9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6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6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36" descr="A blue square with a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6" descr="A blue square with a white letter f on i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6" descr="A blue square with white letters on i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6" descr="A white butterfly in a blue circl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6" descr="A close-up of a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9032" y="137160"/>
            <a:ext cx="3572103" cy="1141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comparis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3" name="Google Shape;33;p3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3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38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8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8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" name="Google Shape;42;p38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0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0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No logo - Empt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No logo - Two tables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2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9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153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 descr="CRA PPT_page bars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2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1" descr="CRA PPT_page b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10972800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/>
        </p:nvSpPr>
        <p:spPr>
          <a:xfrm>
            <a:off x="548640" y="777240"/>
            <a:ext cx="75895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 dirty="0">
                <a:solidFill>
                  <a:srgbClr val="1A2A87"/>
                </a:solidFill>
                <a:latin typeface="Arial"/>
                <a:ea typeface="Arial"/>
                <a:cs typeface="Arial"/>
                <a:sym typeface="Arial"/>
              </a:rPr>
              <a:t>Scaling AI Education for Safety-Critical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548640" y="2331720"/>
            <a:ext cx="758952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EB532A"/>
                </a:solidFill>
                <a:latin typeface="Arial"/>
                <a:ea typeface="Arial"/>
                <a:cs typeface="Arial"/>
                <a:sym typeface="Arial"/>
              </a:rPr>
              <a:t>A Low-Code AI Literacy Framework for Construction Management Students Using Construction Safety Contexts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548640" y="3288268"/>
            <a:ext cx="9626718" cy="67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NAIRR Pilot Classroom Expansion Conference — Research Emerging – Large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Orlando, FL  |  June 18–19, 2026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548639" y="3991569"/>
            <a:ext cx="84677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2000" b="0" i="1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Dr. Yuting (Tina) Chen, Assistant Professor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2000" b="0" i="1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Albert School of Construction, University of North Carolina at Charlotte</a:t>
            </a:r>
            <a:endParaRPr sz="2000" b="0" i="1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20FB-6510-BC92-C004-7C52BB43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Why AI Education Matters for Construction Management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7890C-9DD2-11A2-A598-FB199ABAB3B0}"/>
              </a:ext>
            </a:extLst>
          </p:cNvPr>
          <p:cNvSpPr txBox="1"/>
          <p:nvPr/>
        </p:nvSpPr>
        <p:spPr>
          <a:xfrm>
            <a:off x="609600" y="1454337"/>
            <a:ext cx="102168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Construction graduates will increasingly work alongside AI-enabled technologies throughout the project lifecycle: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Bid preparation and proposal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Safety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Digital twins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Decision support tools</a:t>
            </a:r>
          </a:p>
          <a:p>
            <a:endParaRPr lang="en-US" sz="2000" dirty="0"/>
          </a:p>
          <a:p>
            <a:r>
              <a:rPr lang="en-US" sz="2000" b="1" dirty="0"/>
              <a:t>Yet most construction management students have little or no coding experience.</a:t>
            </a:r>
          </a:p>
          <a:p>
            <a:endParaRPr lang="en-US" sz="2000" dirty="0"/>
          </a:p>
          <a:p>
            <a:r>
              <a:rPr lang="en-US" sz="2000" dirty="0"/>
              <a:t>Traditional AI courses are typically designed for computer science majors and often emphasize programming-intensive methods.</a:t>
            </a:r>
          </a:p>
          <a:p>
            <a:endParaRPr lang="en-US" sz="2000" dirty="0"/>
          </a:p>
          <a:p>
            <a:r>
              <a:rPr lang="en-US" sz="2000" b="1" i="1" dirty="0">
                <a:solidFill>
                  <a:schemeClr val="tx1"/>
                </a:solidFill>
              </a:rPr>
              <a:t>Construction programs need accessible pathways to AI literacy that focus on real-world problem-solving rather than coding proficiency.</a:t>
            </a:r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12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>
            <a:spLocks noGrp="1"/>
          </p:cNvSpPr>
          <p:nvPr>
            <p:ph type="title"/>
          </p:nvPr>
        </p:nvSpPr>
        <p:spPr>
          <a:xfrm>
            <a:off x="612648" y="32004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600" b="1" dirty="0">
                <a:solidFill>
                  <a:srgbClr val="1A2A87"/>
                </a:solidFill>
                <a:latin typeface="Arial"/>
                <a:ea typeface="Arial"/>
                <a:cs typeface="Arial"/>
                <a:sym typeface="Arial"/>
              </a:rPr>
              <a:t>Wh</a:t>
            </a:r>
            <a:r>
              <a:rPr lang="en-US" sz="2600" dirty="0">
                <a:solidFill>
                  <a:srgbClr val="1A2A87"/>
                </a:solidFill>
                <a:latin typeface="Arial"/>
                <a:ea typeface="Arial"/>
                <a:cs typeface="Arial"/>
                <a:sym typeface="Arial"/>
              </a:rPr>
              <a:t>y Construction Safety?</a:t>
            </a:r>
            <a:endParaRPr dirty="0"/>
          </a:p>
        </p:txBody>
      </p:sp>
      <p:sp>
        <p:nvSpPr>
          <p:cNvPr id="83" name="Google Shape;83;p2"/>
          <p:cNvSpPr txBox="1"/>
          <p:nvPr/>
        </p:nvSpPr>
        <p:spPr>
          <a:xfrm>
            <a:off x="731520" y="173736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>
                <a:solidFill>
                  <a:srgbClr val="1A2A87"/>
                </a:solidFill>
                <a:latin typeface="Arial"/>
                <a:ea typeface="Arial"/>
                <a:cs typeface="Arial"/>
                <a:sym typeface="Arial"/>
              </a:rPr>
              <a:t>1,075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777240" y="3520440"/>
            <a:ext cx="3752230" cy="1041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construction fatalities in 2023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— the most of any U.S. industry sector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393542" y="2161104"/>
            <a:ext cx="6066938" cy="1199316"/>
          </a:xfrm>
          <a:prstGeom prst="roundRect">
            <a:avLst>
              <a:gd name="adj" fmla="val 16667"/>
            </a:avLst>
          </a:prstGeom>
          <a:solidFill>
            <a:srgbClr val="EB532A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39.2% (421 deaths)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construction fatalities were falls, slips &amp; trips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5393542" y="3609753"/>
            <a:ext cx="6066938" cy="1005840"/>
          </a:xfrm>
          <a:prstGeom prst="roundRect">
            <a:avLst>
              <a:gd name="adj" fmla="val 16667"/>
            </a:avLst>
          </a:prstGeom>
          <a:solidFill>
            <a:srgbClr val="62A1C5"/>
          </a:solidFill>
          <a:ln>
            <a:noFill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≈ 1 in 5 (20.8%)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all U.S. workplace deaths occur in construction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612648" y="63550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Source: U.S. Bureau of Labor Statistics, National Census of Fatal Occupational Injuries, 2023 release (BLS, 2024) and 2024 release (BLS, 2026).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B0C1C-4FEC-B345-9CAE-B41883E35A47}"/>
              </a:ext>
            </a:extLst>
          </p:cNvPr>
          <p:cNvSpPr txBox="1"/>
          <p:nvPr/>
        </p:nvSpPr>
        <p:spPr>
          <a:xfrm>
            <a:off x="612648" y="1040517"/>
            <a:ext cx="996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Construction remains one of the most dangerous industries in the United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115453-039D-162C-15DA-9552A269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A Construction Safety Framework for AI Literacy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84F2BBB-1F3A-C8F6-34D0-CB5D9F2560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7086718"/>
              </p:ext>
            </p:extLst>
          </p:nvPr>
        </p:nvGraphicFramePr>
        <p:xfrm>
          <a:off x="609600" y="1987551"/>
          <a:ext cx="9537700" cy="4870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F64D536-4315-CC02-9881-CCCF6B8C0826}"/>
              </a:ext>
            </a:extLst>
          </p:cNvPr>
          <p:cNvSpPr txBox="1"/>
          <p:nvPr/>
        </p:nvSpPr>
        <p:spPr>
          <a:xfrm>
            <a:off x="590667" y="1575972"/>
            <a:ext cx="10584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Teaching AI literacy to non-CS students through authentic construction safety problems.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91991B-38AC-F91E-DAA2-9EADB7A1EA07}"/>
              </a:ext>
            </a:extLst>
          </p:cNvPr>
          <p:cNvCxnSpPr/>
          <p:nvPr/>
        </p:nvCxnSpPr>
        <p:spPr>
          <a:xfrm>
            <a:off x="694664" y="6262577"/>
            <a:ext cx="5784112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DEF566-E0A7-75EB-F6A2-E3FF3C0D1DEC}"/>
              </a:ext>
            </a:extLst>
          </p:cNvPr>
          <p:cNvSpPr txBox="1"/>
          <p:nvPr/>
        </p:nvSpPr>
        <p:spPr>
          <a:xfrm>
            <a:off x="2044700" y="5795176"/>
            <a:ext cx="304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Current Implementation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9C1DAC-52E0-9660-F042-3156C9C06CED}"/>
              </a:ext>
            </a:extLst>
          </p:cNvPr>
          <p:cNvCxnSpPr>
            <a:cxnSpLocks/>
          </p:cNvCxnSpPr>
          <p:nvPr/>
        </p:nvCxnSpPr>
        <p:spPr>
          <a:xfrm>
            <a:off x="6631172" y="6262577"/>
            <a:ext cx="4043916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70C7F79-7708-AC26-FF0D-43E4D339CA09}"/>
              </a:ext>
            </a:extLst>
          </p:cNvPr>
          <p:cNvSpPr txBox="1"/>
          <p:nvPr/>
        </p:nvSpPr>
        <p:spPr>
          <a:xfrm>
            <a:off x="7632375" y="5795152"/>
            <a:ext cx="2691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Future Development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20F782-88CA-CBAD-43C7-9455FAE44466}"/>
              </a:ext>
            </a:extLst>
          </p:cNvPr>
          <p:cNvCxnSpPr/>
          <p:nvPr/>
        </p:nvCxnSpPr>
        <p:spPr>
          <a:xfrm>
            <a:off x="694664" y="5938284"/>
            <a:ext cx="0" cy="6485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98A47B-F6C1-FB6C-65CA-6F8F27C32152}"/>
              </a:ext>
            </a:extLst>
          </p:cNvPr>
          <p:cNvCxnSpPr>
            <a:cxnSpLocks/>
          </p:cNvCxnSpPr>
          <p:nvPr/>
        </p:nvCxnSpPr>
        <p:spPr>
          <a:xfrm>
            <a:off x="6542574" y="5888666"/>
            <a:ext cx="0" cy="6485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1CCA7EA-A72E-7B43-236E-373FAEA46A1C}"/>
              </a:ext>
            </a:extLst>
          </p:cNvPr>
          <p:cNvCxnSpPr>
            <a:cxnSpLocks/>
          </p:cNvCxnSpPr>
          <p:nvPr/>
        </p:nvCxnSpPr>
        <p:spPr>
          <a:xfrm>
            <a:off x="10767243" y="5870969"/>
            <a:ext cx="0" cy="6485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34CE0C-5127-C7D6-70E4-87C400638510}"/>
              </a:ext>
            </a:extLst>
          </p:cNvPr>
          <p:cNvSpPr txBox="1"/>
          <p:nvPr/>
        </p:nvSpPr>
        <p:spPr>
          <a:xfrm>
            <a:off x="899303" y="4206764"/>
            <a:ext cx="938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Phase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E37A-F12D-D398-38D4-C1D10E1D2131}"/>
              </a:ext>
            </a:extLst>
          </p:cNvPr>
          <p:cNvSpPr txBox="1"/>
          <p:nvPr/>
        </p:nvSpPr>
        <p:spPr>
          <a:xfrm>
            <a:off x="7715007" y="2323309"/>
            <a:ext cx="938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Phase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55D2E-116F-3310-DF5B-A368CCC68C44}"/>
              </a:ext>
            </a:extLst>
          </p:cNvPr>
          <p:cNvSpPr txBox="1"/>
          <p:nvPr/>
        </p:nvSpPr>
        <p:spPr>
          <a:xfrm>
            <a:off x="4899922" y="3275111"/>
            <a:ext cx="938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Phase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57A474-53DF-C06A-044C-0A43BD0B1E0C}"/>
              </a:ext>
            </a:extLst>
          </p:cNvPr>
          <p:cNvSpPr txBox="1"/>
          <p:nvPr/>
        </p:nvSpPr>
        <p:spPr>
          <a:xfrm>
            <a:off x="2952390" y="3769637"/>
            <a:ext cx="938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1356059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538219" y="228600"/>
            <a:ext cx="11410543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CN" sz="2600" b="1" dirty="0">
                <a:solidFill>
                  <a:srgbClr val="1A2A87"/>
                </a:solidFill>
                <a:latin typeface="+mj-lt"/>
                <a:ea typeface="Arial"/>
                <a:cs typeface="Arial"/>
                <a:sym typeface="Arial"/>
              </a:rPr>
              <a:t>Phase 1: </a:t>
            </a:r>
            <a:r>
              <a:rPr lang="en-US" sz="2800" dirty="0"/>
              <a:t>Building Construction Safety Foundations</a:t>
            </a:r>
            <a:endParaRPr dirty="0">
              <a:latin typeface="+mj-lt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38220" y="6616985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1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Source: Huang et al. (2022).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A59BD50-513D-302C-6764-3043503FD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4145"/>
              </p:ext>
            </p:extLst>
          </p:nvPr>
        </p:nvGraphicFramePr>
        <p:xfrm>
          <a:off x="757090" y="2622692"/>
          <a:ext cx="10972800" cy="237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5686168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669117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Hazard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Safety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83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Fall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OSHA Standards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471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Struck-by Hazards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Job Safety Analysis (JSA)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19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Crane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Hazard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54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Trench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Risk Assessment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32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Electrical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Safety Culture &amp; PPE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51882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E302746-E739-CE18-DE16-E55B5FF6124F}"/>
              </a:ext>
            </a:extLst>
          </p:cNvPr>
          <p:cNvSpPr txBox="1"/>
          <p:nvPr/>
        </p:nvSpPr>
        <p:spPr>
          <a:xfrm>
            <a:off x="757090" y="2042000"/>
            <a:ext cx="6113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Topics Covered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DCDEE-C3AB-738F-AFC5-C0322B58AE54}"/>
              </a:ext>
            </a:extLst>
          </p:cNvPr>
          <p:cNvSpPr txBox="1"/>
          <p:nvPr/>
        </p:nvSpPr>
        <p:spPr>
          <a:xfrm>
            <a:off x="757090" y="1243823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Learning Goal: Build foundational knowledge of construction hazards, regulations, and risk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D9F810-01C7-7C99-770A-CBF34690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>
            <a:extLst>
              <a:ext uri="{FF2B5EF4-FFF2-40B4-BE49-F238E27FC236}">
                <a16:creationId xmlns:a16="http://schemas.microsoft.com/office/drawing/2014/main" id="{926F0EDF-8A47-E45A-5FE4-876CB1519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317" y="228600"/>
            <a:ext cx="1182744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zh-CN" sz="2600" b="1" dirty="0">
                <a:solidFill>
                  <a:srgbClr val="1A2A87"/>
                </a:solidFill>
                <a:latin typeface="+mj-lt"/>
                <a:ea typeface="Arial"/>
                <a:cs typeface="Arial"/>
                <a:sym typeface="Arial"/>
              </a:rPr>
              <a:t>Phase 2: </a:t>
            </a:r>
            <a:r>
              <a:rPr lang="en-US" sz="2800" dirty="0">
                <a:latin typeface="+mj-lt"/>
              </a:rPr>
              <a:t>Teaching Strategic Decision Making Using a Construction Safety Scenario</a:t>
            </a:r>
            <a:endParaRPr dirty="0"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F6EB2A-86DA-AFA9-F929-5C26990CFFB4}"/>
              </a:ext>
            </a:extLst>
          </p:cNvPr>
          <p:cNvGrpSpPr/>
          <p:nvPr/>
        </p:nvGrpSpPr>
        <p:grpSpPr>
          <a:xfrm>
            <a:off x="1848754" y="1451405"/>
            <a:ext cx="8199509" cy="3095193"/>
            <a:chOff x="822960" y="1554480"/>
            <a:chExt cx="10515600" cy="3703320"/>
          </a:xfrm>
        </p:grpSpPr>
        <p:sp>
          <p:nvSpPr>
            <p:cNvPr id="147" name="Google Shape;147;p9">
              <a:extLst>
                <a:ext uri="{FF2B5EF4-FFF2-40B4-BE49-F238E27FC236}">
                  <a16:creationId xmlns:a16="http://schemas.microsoft.com/office/drawing/2014/main" id="{8D9FBEEE-6F21-F520-20DC-7F58B5A11CB4}"/>
                </a:ext>
              </a:extLst>
            </p:cNvPr>
            <p:cNvSpPr/>
            <p:nvPr/>
          </p:nvSpPr>
          <p:spPr>
            <a:xfrm>
              <a:off x="822960" y="2103120"/>
              <a:ext cx="1554480" cy="155448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Worker</a:t>
              </a:r>
              <a:endParaRPr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9">
              <a:extLst>
                <a:ext uri="{FF2B5EF4-FFF2-40B4-BE49-F238E27FC236}">
                  <a16:creationId xmlns:a16="http://schemas.microsoft.com/office/drawing/2014/main" id="{7ABE0B0B-07EC-BD42-8A28-CFB6D9618DED}"/>
                </a:ext>
              </a:extLst>
            </p:cNvPr>
            <p:cNvSpPr/>
            <p:nvPr/>
          </p:nvSpPr>
          <p:spPr>
            <a:xfrm>
              <a:off x="3017520" y="1554480"/>
              <a:ext cx="2377440" cy="822960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Comply</a:t>
              </a:r>
              <a:endParaRPr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9">
              <a:extLst>
                <a:ext uri="{FF2B5EF4-FFF2-40B4-BE49-F238E27FC236}">
                  <a16:creationId xmlns:a16="http://schemas.microsoft.com/office/drawing/2014/main" id="{8C7EC589-79E5-ECDC-7B05-14521CAE8D34}"/>
                </a:ext>
              </a:extLst>
            </p:cNvPr>
            <p:cNvSpPr/>
            <p:nvPr/>
          </p:nvSpPr>
          <p:spPr>
            <a:xfrm>
              <a:off x="3017520" y="3108960"/>
              <a:ext cx="2377440" cy="822960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Shortcut</a:t>
              </a: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" name="Google Shape;150;p9">
              <a:extLst>
                <a:ext uri="{FF2B5EF4-FFF2-40B4-BE49-F238E27FC236}">
                  <a16:creationId xmlns:a16="http://schemas.microsoft.com/office/drawing/2014/main" id="{CCD2CFB3-5DBD-F9F4-6F18-9029B221BED2}"/>
                </a:ext>
              </a:extLst>
            </p:cNvPr>
            <p:cNvCxnSpPr>
              <a:cxnSpLocks/>
              <a:stCxn id="147" idx="7"/>
            </p:cNvCxnSpPr>
            <p:nvPr/>
          </p:nvCxnSpPr>
          <p:spPr>
            <a:xfrm flipV="1">
              <a:off x="2149791" y="1965961"/>
              <a:ext cx="867727" cy="364808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Google Shape;151;p9">
              <a:extLst>
                <a:ext uri="{FF2B5EF4-FFF2-40B4-BE49-F238E27FC236}">
                  <a16:creationId xmlns:a16="http://schemas.microsoft.com/office/drawing/2014/main" id="{A46CFB0F-977A-B2C9-4989-5C2C9E75D497}"/>
                </a:ext>
              </a:extLst>
            </p:cNvPr>
            <p:cNvCxnSpPr/>
            <p:nvPr/>
          </p:nvCxnSpPr>
          <p:spPr>
            <a:xfrm>
              <a:off x="2377440" y="3017520"/>
              <a:ext cx="640080" cy="502920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Google Shape;152;p9">
              <a:extLst>
                <a:ext uri="{FF2B5EF4-FFF2-40B4-BE49-F238E27FC236}">
                  <a16:creationId xmlns:a16="http://schemas.microsoft.com/office/drawing/2014/main" id="{A2ED7CB8-B26B-82D8-DF4F-2223189CC6A3}"/>
                </a:ext>
              </a:extLst>
            </p:cNvPr>
            <p:cNvSpPr/>
            <p:nvPr/>
          </p:nvSpPr>
          <p:spPr>
            <a:xfrm>
              <a:off x="9483673" y="2103120"/>
              <a:ext cx="1854887" cy="155448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Manager</a:t>
              </a:r>
              <a:endParaRPr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9">
              <a:extLst>
                <a:ext uri="{FF2B5EF4-FFF2-40B4-BE49-F238E27FC236}">
                  <a16:creationId xmlns:a16="http://schemas.microsoft.com/office/drawing/2014/main" id="{ED7D666C-0B94-744B-7AC0-29A0A1C5C3F4}"/>
                </a:ext>
              </a:extLst>
            </p:cNvPr>
            <p:cNvSpPr/>
            <p:nvPr/>
          </p:nvSpPr>
          <p:spPr>
            <a:xfrm>
              <a:off x="6766560" y="1554480"/>
              <a:ext cx="2377440" cy="822960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Enforce</a:t>
              </a:r>
              <a:endParaRPr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9">
              <a:extLst>
                <a:ext uri="{FF2B5EF4-FFF2-40B4-BE49-F238E27FC236}">
                  <a16:creationId xmlns:a16="http://schemas.microsoft.com/office/drawing/2014/main" id="{9BCA33E8-F26E-3835-FAB2-7769B5DAA0E0}"/>
                </a:ext>
              </a:extLst>
            </p:cNvPr>
            <p:cNvSpPr/>
            <p:nvPr/>
          </p:nvSpPr>
          <p:spPr>
            <a:xfrm>
              <a:off x="6766560" y="3108960"/>
              <a:ext cx="2377440" cy="822960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algn="ctr">
                <a:buSzPts val="1500"/>
              </a:pPr>
              <a:r>
                <a:rPr lang="en-US" sz="1500" b="1" dirty="0">
                  <a:solidFill>
                    <a:schemeClr val="tx1"/>
                  </a:solidFill>
                </a:rPr>
                <a:t>Relax Enforcement</a:t>
              </a:r>
              <a:endParaRPr sz="15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5" name="Google Shape;155;p9">
              <a:extLst>
                <a:ext uri="{FF2B5EF4-FFF2-40B4-BE49-F238E27FC236}">
                  <a16:creationId xmlns:a16="http://schemas.microsoft.com/office/drawing/2014/main" id="{32D67E28-2162-4C1B-AF5F-20F7B001D4C4}"/>
                </a:ext>
              </a:extLst>
            </p:cNvPr>
            <p:cNvCxnSpPr>
              <a:cxnSpLocks/>
              <a:stCxn id="152" idx="1"/>
            </p:cNvCxnSpPr>
            <p:nvPr/>
          </p:nvCxnSpPr>
          <p:spPr>
            <a:xfrm flipH="1" flipV="1">
              <a:off x="9144001" y="1965961"/>
              <a:ext cx="611314" cy="364808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Google Shape;156;p9">
              <a:extLst>
                <a:ext uri="{FF2B5EF4-FFF2-40B4-BE49-F238E27FC236}">
                  <a16:creationId xmlns:a16="http://schemas.microsoft.com/office/drawing/2014/main" id="{FE2D210A-997E-443D-F3B8-32BC4E5788D1}"/>
                </a:ext>
              </a:extLst>
            </p:cNvPr>
            <p:cNvCxnSpPr>
              <a:cxnSpLocks/>
              <a:stCxn id="152" idx="2"/>
            </p:cNvCxnSpPr>
            <p:nvPr/>
          </p:nvCxnSpPr>
          <p:spPr>
            <a:xfrm flipH="1">
              <a:off x="9144000" y="2880361"/>
              <a:ext cx="339673" cy="640079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7" name="Google Shape;157;p9">
              <a:extLst>
                <a:ext uri="{FF2B5EF4-FFF2-40B4-BE49-F238E27FC236}">
                  <a16:creationId xmlns:a16="http://schemas.microsoft.com/office/drawing/2014/main" id="{CA68BE60-82CC-5171-7FF0-FAB00955613B}"/>
                </a:ext>
              </a:extLst>
            </p:cNvPr>
            <p:cNvSpPr/>
            <p:nvPr/>
          </p:nvSpPr>
          <p:spPr>
            <a:xfrm>
              <a:off x="4480560" y="4434840"/>
              <a:ext cx="3200400" cy="822960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45700" tIns="18275" rIns="45700" bIns="18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Outcome (Payoffs)</a:t>
              </a:r>
              <a:endParaRPr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" name="Google Shape;158;p9">
              <a:extLst>
                <a:ext uri="{FF2B5EF4-FFF2-40B4-BE49-F238E27FC236}">
                  <a16:creationId xmlns:a16="http://schemas.microsoft.com/office/drawing/2014/main" id="{0ABDE663-6E6B-CB64-97F1-97CCA10507E9}"/>
                </a:ext>
              </a:extLst>
            </p:cNvPr>
            <p:cNvCxnSpPr>
              <a:cxnSpLocks/>
              <a:stCxn id="148" idx="3"/>
            </p:cNvCxnSpPr>
            <p:nvPr/>
          </p:nvCxnSpPr>
          <p:spPr>
            <a:xfrm>
              <a:off x="5394960" y="1965960"/>
              <a:ext cx="685800" cy="2468880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Google Shape;159;p9">
              <a:extLst>
                <a:ext uri="{FF2B5EF4-FFF2-40B4-BE49-F238E27FC236}">
                  <a16:creationId xmlns:a16="http://schemas.microsoft.com/office/drawing/2014/main" id="{826DB876-6282-478B-D71E-87FADC2325C4}"/>
                </a:ext>
              </a:extLst>
            </p:cNvPr>
            <p:cNvCxnSpPr>
              <a:cxnSpLocks/>
              <a:stCxn id="149" idx="2"/>
            </p:cNvCxnSpPr>
            <p:nvPr/>
          </p:nvCxnSpPr>
          <p:spPr>
            <a:xfrm>
              <a:off x="4206240" y="3931920"/>
              <a:ext cx="1874520" cy="502920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Google Shape;160;p9">
              <a:extLst>
                <a:ext uri="{FF2B5EF4-FFF2-40B4-BE49-F238E27FC236}">
                  <a16:creationId xmlns:a16="http://schemas.microsoft.com/office/drawing/2014/main" id="{89079447-2E1D-B2F9-F87A-0B0FCED12E2C}"/>
                </a:ext>
              </a:extLst>
            </p:cNvPr>
            <p:cNvCxnSpPr>
              <a:cxnSpLocks/>
              <a:stCxn id="153" idx="1"/>
            </p:cNvCxnSpPr>
            <p:nvPr/>
          </p:nvCxnSpPr>
          <p:spPr>
            <a:xfrm flipH="1">
              <a:off x="6080760" y="1965960"/>
              <a:ext cx="685800" cy="2468880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Google Shape;161;p9">
              <a:extLst>
                <a:ext uri="{FF2B5EF4-FFF2-40B4-BE49-F238E27FC236}">
                  <a16:creationId xmlns:a16="http://schemas.microsoft.com/office/drawing/2014/main" id="{C8419705-8733-DDBD-94BE-0A35DE9C31B1}"/>
                </a:ext>
              </a:extLst>
            </p:cNvPr>
            <p:cNvCxnSpPr>
              <a:cxnSpLocks/>
              <a:stCxn id="154" idx="2"/>
              <a:endCxn id="157" idx="0"/>
            </p:cNvCxnSpPr>
            <p:nvPr/>
          </p:nvCxnSpPr>
          <p:spPr>
            <a:xfrm flipH="1">
              <a:off x="6080760" y="3931920"/>
              <a:ext cx="1874520" cy="502920"/>
            </a:xfrm>
            <a:prstGeom prst="straightConnector1">
              <a:avLst/>
            </a:prstGeom>
            <a:ln w="19050">
              <a:headEnd type="none" w="sm" len="sm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Google Shape;163;p9">
            <a:extLst>
              <a:ext uri="{FF2B5EF4-FFF2-40B4-BE49-F238E27FC236}">
                <a16:creationId xmlns:a16="http://schemas.microsoft.com/office/drawing/2014/main" id="{8C176D87-3A16-5A88-6CC9-EE9AEDE67B62}"/>
              </a:ext>
            </a:extLst>
          </p:cNvPr>
          <p:cNvSpPr txBox="1"/>
          <p:nvPr/>
        </p:nvSpPr>
        <p:spPr>
          <a:xfrm>
            <a:off x="538220" y="6616985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1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Source: Huang et al. (2022).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019B8-FF62-F749-706E-858522C95F06}"/>
              </a:ext>
            </a:extLst>
          </p:cNvPr>
          <p:cNvSpPr txBox="1"/>
          <p:nvPr/>
        </p:nvSpPr>
        <p:spPr>
          <a:xfrm>
            <a:off x="1066800" y="4573676"/>
            <a:ext cx="100584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Learning Objectives</a:t>
            </a:r>
            <a:endParaRPr lang="en-US" sz="2000" dirty="0"/>
          </a:p>
          <a:p>
            <a:r>
              <a:rPr lang="en-US" sz="2000" dirty="0"/>
              <a:t>Students learn: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How incentives influence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Why unsafe shortcuts occur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How management decisions affect safety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Strategic decision-making under competing pressures</a:t>
            </a:r>
          </a:p>
        </p:txBody>
      </p:sp>
    </p:spTree>
    <p:extLst>
      <p:ext uri="{BB962C8B-B14F-4D97-AF65-F5344CB8AC3E}">
        <p14:creationId xmlns:p14="http://schemas.microsoft.com/office/powerpoint/2010/main" val="314979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B501-CD57-5E12-881D-27E601753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4E7939-1F8E-C6F1-752F-BC0422FE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Phase 3: Multi-Agent Simulation Using </a:t>
            </a:r>
            <a:r>
              <a:rPr lang="en-US" sz="2600" dirty="0" err="1">
                <a:latin typeface="+mj-lt"/>
              </a:rPr>
              <a:t>NetLogo</a:t>
            </a:r>
            <a:endParaRPr lang="en-US" sz="2600" dirty="0"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D91CB9-2966-C653-3D95-BF37E8D5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06435" y="1458491"/>
            <a:ext cx="4983912" cy="2554545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000" dirty="0">
                <a:latin typeface="+mj-lt"/>
              </a:rPr>
              <a:t>Students develop and explore simulation models for real-world construction and transportation safety challenges.</a:t>
            </a:r>
          </a:p>
          <a:p>
            <a:r>
              <a:rPr lang="en-US" sz="2000" dirty="0">
                <a:latin typeface="+mj-lt"/>
              </a:rPr>
              <a:t>Ladder safety </a:t>
            </a:r>
          </a:p>
          <a:p>
            <a:r>
              <a:rPr lang="en-US" sz="2000" dirty="0">
                <a:latin typeface="+mj-lt"/>
              </a:rPr>
              <a:t>Freeway trespassing </a:t>
            </a:r>
          </a:p>
          <a:p>
            <a:r>
              <a:rPr lang="en-US" sz="2000" dirty="0">
                <a:latin typeface="+mj-lt"/>
              </a:rPr>
              <a:t>Work zone safety</a:t>
            </a:r>
          </a:p>
          <a:p>
            <a:r>
              <a:rPr lang="en-US" sz="2000" dirty="0">
                <a:latin typeface="+mj-lt"/>
              </a:rPr>
              <a:t>Heat stress </a:t>
            </a:r>
          </a:p>
          <a:p>
            <a:pPr marL="76200" indent="0">
              <a:buNone/>
            </a:pPr>
            <a:endParaRPr lang="en-US" sz="2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41414-EDD6-4805-9A8A-91E29C9CA227}"/>
              </a:ext>
            </a:extLst>
          </p:cNvPr>
          <p:cNvSpPr txBox="1"/>
          <p:nvPr/>
        </p:nvSpPr>
        <p:spPr>
          <a:xfrm>
            <a:off x="609600" y="1458491"/>
            <a:ext cx="4983912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Learning Outcomes</a:t>
            </a:r>
          </a:p>
          <a:p>
            <a:endParaRPr lang="en-US" sz="2000" b="1" dirty="0"/>
          </a:p>
          <a:p>
            <a:r>
              <a:rPr lang="en-US" sz="2000" dirty="0"/>
              <a:t>Students learn: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Agent-based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Systems thinking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Emergent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Scenario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Computational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131218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FB6ED1-261D-1C1E-63E4-F47A2D66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Phase 3: Multi-Agent Simulation Using </a:t>
            </a:r>
            <a:r>
              <a:rPr lang="en-US" sz="2600" dirty="0" err="1">
                <a:latin typeface="+mj-lt"/>
              </a:rPr>
              <a:t>NetLogo</a:t>
            </a:r>
            <a:endParaRPr lang="en-US" sz="2600" dirty="0"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270A2-4FF0-3534-EDA3-4AA54E069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+mj-lt"/>
              </a:rPr>
              <a:t>Freeway Trespassing</a:t>
            </a:r>
            <a:endParaRPr lang="en-US" sz="20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4FA8D9-649F-72BA-D647-8F37506DA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" y="1893478"/>
            <a:ext cx="8576015" cy="478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9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888C-3A2C-D603-CE4A-8378F6B0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43C60E-DF76-85C9-486B-D3C64620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Phase 3: Multi-Agent Simulation Using </a:t>
            </a:r>
            <a:r>
              <a:rPr lang="en-US" sz="2600" dirty="0" err="1">
                <a:latin typeface="+mj-lt"/>
              </a:rPr>
              <a:t>NetLogo</a:t>
            </a:r>
            <a:endParaRPr lang="en-US" sz="2600" dirty="0"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96D945-054E-8FFD-FCFA-EE6D7B612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Highway work zone safety resilience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A307A-B99B-8F65-BC86-2BDEE395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49" y="1755086"/>
            <a:ext cx="9676469" cy="499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7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83E-BE6B-17E9-3B62-3A7638D3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78481A-F285-7ED4-2E48-C893A2A1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Phase 3: Multi-Agent Simulation Using </a:t>
            </a:r>
            <a:r>
              <a:rPr lang="en-US" sz="2600" dirty="0" err="1">
                <a:latin typeface="+mj-lt"/>
              </a:rPr>
              <a:t>NetLogo</a:t>
            </a:r>
            <a:endParaRPr lang="en-US" sz="2600" dirty="0"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F3EC68-BA1D-0E27-1F7B-32C87C6A0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+mj-lt"/>
              </a:rPr>
              <a:t>Heat stress</a:t>
            </a:r>
            <a:endParaRPr lang="en-US" sz="20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63904-1E3D-B548-41FB-6E273802A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91" y="1824595"/>
            <a:ext cx="9118986" cy="490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71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957F-34C7-8464-FF3A-AE560F2D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720509-D895-C432-9B94-F7DE31AC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Phase 4: </a:t>
            </a:r>
            <a:r>
              <a:rPr lang="en-US" sz="2800" dirty="0"/>
              <a:t>Future Development – Construction Safety AI Literacy Module</a:t>
            </a:r>
            <a:endParaRPr lang="en-US" sz="2600" dirty="0"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29D339-B9AA-9BDD-3F4D-117DED748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000" dirty="0">
                <a:latin typeface="+mj-lt"/>
              </a:rPr>
              <a:t>Building AI literacy for non-CS construction management students</a:t>
            </a:r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C8AAA6-ACF9-B230-A8DB-B8726D18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10"/>
          <a:stretch>
            <a:fillRect/>
          </a:stretch>
        </p:blipFill>
        <p:spPr>
          <a:xfrm>
            <a:off x="467833" y="1858414"/>
            <a:ext cx="9410700" cy="499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7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D6BE-1D9D-AB74-3636-04ABCD5C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Future AI Literacy Topics for Construction Management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8F59B-8810-2B08-3BDE-A1274D4A4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000" b="1" dirty="0">
                <a:latin typeface="+mj-lt"/>
              </a:rPr>
              <a:t>Topic 1: AI for Occupational Safety Intelligence</a:t>
            </a:r>
          </a:p>
          <a:p>
            <a:r>
              <a:rPr lang="en-US" sz="2000" dirty="0"/>
              <a:t>Social media analytics </a:t>
            </a:r>
          </a:p>
          <a:p>
            <a:r>
              <a:rPr lang="en-US" sz="2000" dirty="0"/>
              <a:t>Natural language processing</a:t>
            </a:r>
          </a:p>
          <a:p>
            <a:r>
              <a:rPr lang="en-US" sz="2000" dirty="0"/>
              <a:t>Knowledge graphs</a:t>
            </a:r>
          </a:p>
          <a:p>
            <a:r>
              <a:rPr lang="en-US" sz="2000" dirty="0"/>
              <a:t>Worker narratives</a:t>
            </a:r>
            <a:endParaRPr lang="en-US" sz="2000" dirty="0">
              <a:latin typeface="+mj-lt"/>
            </a:endParaRPr>
          </a:p>
          <a:p>
            <a:pPr marL="76200" indent="0">
              <a:buNone/>
            </a:pPr>
            <a:endParaRPr lang="en-US" sz="2000" dirty="0">
              <a:latin typeface="+mj-lt"/>
            </a:endParaRPr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A823D-FD94-C647-82BE-CEBA374BDB6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110377" y="932492"/>
            <a:ext cx="6081623" cy="59255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7A17C5-E641-E77A-DCAA-6BC2BF7FF8AB}"/>
              </a:ext>
            </a:extLst>
          </p:cNvPr>
          <p:cNvSpPr txBox="1"/>
          <p:nvPr/>
        </p:nvSpPr>
        <p:spPr>
          <a:xfrm>
            <a:off x="625475" y="6441446"/>
            <a:ext cx="6094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D'Souza, Chen et al., ISARC 2026.</a:t>
            </a:r>
          </a:p>
        </p:txBody>
      </p:sp>
    </p:spTree>
    <p:extLst>
      <p:ext uri="{BB962C8B-B14F-4D97-AF65-F5344CB8AC3E}">
        <p14:creationId xmlns:p14="http://schemas.microsoft.com/office/powerpoint/2010/main" val="386570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3735-8BA1-A23B-3424-5F150BA7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A9FD-DBB0-69EE-BB75-ED392124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j-lt"/>
              </a:rPr>
              <a:t>Future AI Literacy Topics for Construction Management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357E1-892C-0D08-4ED2-BAEA92E4B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000" b="1" dirty="0"/>
              <a:t>Topic 2: Wearable Edge-AI Safety Communication</a:t>
            </a:r>
          </a:p>
          <a:p>
            <a:r>
              <a:rPr lang="en-US" sz="2000" dirty="0"/>
              <a:t>Speech recognition</a:t>
            </a:r>
          </a:p>
          <a:p>
            <a:r>
              <a:rPr lang="en-US" sz="2000" dirty="0"/>
              <a:t>Machine translation </a:t>
            </a:r>
          </a:p>
          <a:p>
            <a:r>
              <a:rPr lang="en-US" sz="2000" dirty="0"/>
              <a:t>Edge AI </a:t>
            </a:r>
          </a:p>
          <a:p>
            <a:r>
              <a:rPr lang="en-US" sz="2000" dirty="0"/>
              <a:t>Human-AI interaction</a:t>
            </a:r>
            <a:endParaRPr lang="en-US" sz="2000" dirty="0">
              <a:latin typeface="+mj-lt"/>
            </a:endParaRPr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55838-0188-3162-C019-47AE82E7F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05798"/>
            <a:ext cx="5786209" cy="3352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C5E6E-5D51-BE8C-8793-560864A53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39" y="1916087"/>
            <a:ext cx="4299375" cy="45580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552101-7B98-DE32-A4A0-A56CB994CD76}"/>
              </a:ext>
            </a:extLst>
          </p:cNvPr>
          <p:cNvSpPr txBox="1"/>
          <p:nvPr/>
        </p:nvSpPr>
        <p:spPr>
          <a:xfrm>
            <a:off x="547577" y="6532636"/>
            <a:ext cx="6094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Chen et al., ISARC 2026.</a:t>
            </a:r>
          </a:p>
        </p:txBody>
      </p:sp>
    </p:spTree>
    <p:extLst>
      <p:ext uri="{BB962C8B-B14F-4D97-AF65-F5344CB8AC3E}">
        <p14:creationId xmlns:p14="http://schemas.microsoft.com/office/powerpoint/2010/main" val="123284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8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639" name="Google Shape;639;p28"/>
          <p:cNvSpPr txBox="1">
            <a:spLocks noGrp="1"/>
          </p:cNvSpPr>
          <p:nvPr>
            <p:ph type="ctrTitle"/>
          </p:nvPr>
        </p:nvSpPr>
        <p:spPr>
          <a:xfrm>
            <a:off x="2436876" y="1649631"/>
            <a:ext cx="7315200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 logo 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684</Words>
  <Application>Microsoft Office PowerPoint</Application>
  <PresentationFormat>Widescreen</PresentationFormat>
  <Paragraphs>115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Helvetica Neue</vt:lpstr>
      <vt:lpstr>Office Theme</vt:lpstr>
      <vt:lpstr>No logo </vt:lpstr>
      <vt:lpstr>PowerPoint Presentation</vt:lpstr>
      <vt:lpstr>Why AI Education Matters for Construction Management Students</vt:lpstr>
      <vt:lpstr>Why Construction Safety?</vt:lpstr>
      <vt:lpstr>A Construction Safety Framework for AI Literacy</vt:lpstr>
      <vt:lpstr>Phase 1: Building Construction Safety Foundations</vt:lpstr>
      <vt:lpstr>Phase 2: Teaching Strategic Decision Making Using a Construction Safety Scenario</vt:lpstr>
      <vt:lpstr>Phase 3: Multi-Agent Simulation Using NetLogo</vt:lpstr>
      <vt:lpstr>Phase 3: Multi-Agent Simulation Using NetLogo</vt:lpstr>
      <vt:lpstr>Phase 3: Multi-Agent Simulation Using NetLogo</vt:lpstr>
      <vt:lpstr>Phase 3: Multi-Agent Simulation Using NetLogo</vt:lpstr>
      <vt:lpstr>Phase 4: Future Development – Construction Safety AI Literacy Module</vt:lpstr>
      <vt:lpstr>Future AI Literacy Topics for Construction Management Students</vt:lpstr>
      <vt:lpstr>Future AI Literacy Topics for Construction Management Students</vt:lpstr>
      <vt:lpstr>Stay Connected!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Yuting Chen</dc:creator>
  <cp:lastModifiedBy>Yuting Chen</cp:lastModifiedBy>
  <cp:revision>10</cp:revision>
  <dcterms:modified xsi:type="dcterms:W3CDTF">2026-06-19T06:36:44Z</dcterms:modified>
</cp:coreProperties>
</file>