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494" r:id="rId3"/>
    <p:sldId id="897" r:id="rId4"/>
    <p:sldId id="495" r:id="rId5"/>
    <p:sldId id="896" r:id="rId6"/>
    <p:sldId id="900" r:id="rId7"/>
    <p:sldId id="496" r:id="rId8"/>
    <p:sldId id="497" r:id="rId9"/>
    <p:sldId id="259" r:id="rId10"/>
    <p:sldId id="498" r:id="rId11"/>
    <p:sldId id="499" r:id="rId12"/>
    <p:sldId id="892" r:id="rId13"/>
    <p:sldId id="290" r:id="rId14"/>
    <p:sldId id="445" r:id="rId15"/>
    <p:sldId id="500" r:id="rId16"/>
    <p:sldId id="893" r:id="rId17"/>
    <p:sldId id="890" r:id="rId18"/>
    <p:sldId id="891" r:id="rId19"/>
    <p:sldId id="894" r:id="rId20"/>
    <p:sldId id="898" r:id="rId21"/>
    <p:sldId id="895" r:id="rId22"/>
    <p:sldId id="8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/>
    <p:restoredTop sz="96126"/>
  </p:normalViewPr>
  <p:slideViewPr>
    <p:cSldViewPr snapToGrid="0" snapToObjects="1">
      <p:cViewPr varScale="1">
        <p:scale>
          <a:sx n="90" d="100"/>
          <a:sy n="90" d="100"/>
        </p:scale>
        <p:origin x="216" y="7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DD7EB-3EFB-574F-BA6B-1D2432078D9D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CEABF-7C7B-2D4C-AE60-8C3290DF7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6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CEABF-7C7B-2D4C-AE60-8C3290DF78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37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7377-EDD9-2744-80CA-32FFF04AC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3C12B-A9AD-2143-863F-0DFD1B8ED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0F5A-97CD-6D4B-8073-DC03C48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257E5-4EEA-6747-AE3B-2942A7C3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99593-9E93-AC48-BA03-6588D5F8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8E24-CC0C-B94C-AD9C-83F92B0F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75267-135C-7845-A469-CB38D92B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D00BC-94EA-FA4B-9F4B-E5DB0FCD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853E4-218E-5C44-8DCC-B2A9DFA3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619EB-0454-CD44-9061-2377628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9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013D-BCC8-9E40-801E-0B1547A2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022D5-A54E-7C42-9843-50EA8A803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E74E-DEF5-6843-A16C-CD401899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24DE-A97C-3D45-AB01-A9A52786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3ACE-D485-5441-BEAE-A5702644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7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E599-7BC5-D143-9202-F8A9F84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77D75-2555-A14F-BED3-A9A31AD65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F0D08-3D3B-154D-828F-F25DB14CB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3503F-2E84-5645-85DB-DAA3901E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DE001-54C6-B44C-A41A-B64E5EAA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B40A3-6944-544F-8B10-D1666D68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6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D9DA-B5E3-8044-A02E-CDEC9045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B179-AFA1-CD4D-9B1B-97BCB5D22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2D19B-C102-1C4B-B9D3-B2544AA97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646EC-55C8-9A44-AB1E-D9A6BE379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FA540-B342-2F4C-AD19-843AD828B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7FA58-184D-1C47-9EDD-600D5531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4E476-4013-224D-8690-789A7D21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6F870-ECF7-C445-9119-CCDD8A07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5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DCC8-9001-0546-BF55-0581BF92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EC0F6-3A2F-3947-AF87-AC8E13FF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9F94F-5D6D-DD41-8903-2E46696A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86698-F365-3740-B423-35D5BDA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6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1607F-602A-7B4E-9098-2A55B217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8D00E-AF0A-FA4E-9882-D4983328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06CD-4ADF-3040-8771-FD55F93E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47D5-B95F-5E42-A196-1A11992C6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9795-82EA-AD40-89DF-9CAA70261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C3060-9E25-7B41-8256-C954F57E7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7836F-9F14-6346-AFD7-3FDCEB2C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2312A-B5D1-A24A-9BBB-1912E542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089C6-FB0A-444D-A5B3-C8101C75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2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965C-45CC-C840-8F72-F050DBD4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9C28B-261A-C14C-8DBB-28AC04488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4717A-C2D5-9F41-824F-4E2C62E53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09AF1-7EE2-4F48-A6B9-F63983A5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2986D-B0CB-3E49-B0B9-BDDC2000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079BF-0484-A546-BC1B-534EA762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9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1B54-AF8E-6845-907D-65BAB099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E2C66-B0F5-FE49-9FB1-68508E71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ADB2-F819-4241-A772-A2825312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3309-9272-E042-87EF-48DA01E7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51CF-11B5-1646-9BFD-E5CD353E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8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46573-8833-5C43-B7E5-CA8B591D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7CDDB-F4E4-4D42-82E9-AB377A0EF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2196F-9D98-574E-8164-13B4021C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E83D-B2F4-9A43-8D18-86978D58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AB94A-8C3C-3147-AADA-93968A7D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61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6604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289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09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173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527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8081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1807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870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422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137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181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614CA-356C-F341-B0ED-F5AB1CE5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AB0D0-4611-EC41-9643-4F5963EB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1D28-DD8F-7645-B095-95F4729CD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4E4E9-B907-0340-AE0E-13648F96903C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8E9A6-044C-C048-9494-9B1F6D646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28C76-8FBF-6F4A-96A4-BAF9C2599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5311E-0523-964F-B91D-DB333993E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78144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p.org/statistics/skills-used-by-physics-phds-academic-years-2020-21-and-2021-2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363C74-F331-6708-DAF8-352FF749E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90" y="-114897"/>
            <a:ext cx="12306897" cy="1230689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24668A9-7DBF-50C9-E9F1-16F13F8561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Building a Machine Learning Lab for the Physical Sciences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Curriculum, Practice &amp; Infrastructure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48CC8D-791D-6813-A807-BA5BF07E0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Tuan Do</a:t>
            </a:r>
          </a:p>
          <a:p>
            <a:r>
              <a:rPr lang="en-US" sz="3200" dirty="0">
                <a:solidFill>
                  <a:schemeClr val="bg1"/>
                </a:solidFill>
              </a:rPr>
              <a:t>(UCLA)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189F6-D742-317E-F952-70F68414C89A}"/>
              </a:ext>
            </a:extLst>
          </p:cNvPr>
          <p:cNvSpPr txBox="1"/>
          <p:nvPr/>
        </p:nvSpPr>
        <p:spPr>
          <a:xfrm>
            <a:off x="1650569" y="6038551"/>
            <a:ext cx="1010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2026-06-18 CRA NAIRR Pilot Classroom Expansion Conference for Research-Emerging Institutions with Large Computing Programs</a:t>
            </a:r>
          </a:p>
        </p:txBody>
      </p:sp>
    </p:spTree>
    <p:extLst>
      <p:ext uri="{BB962C8B-B14F-4D97-AF65-F5344CB8AC3E}">
        <p14:creationId xmlns:p14="http://schemas.microsoft.com/office/powerpoint/2010/main" val="112672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E53C-B3C2-0201-44D9-1514707A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F4D4-CAB6-02D1-1F9D-787F9F9D0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teach computation in physics and astrophysics courses?</a:t>
            </a:r>
          </a:p>
          <a:p>
            <a:r>
              <a:rPr lang="en-US" dirty="0"/>
              <a:t>Implementing and teaching a course on Machine Learning for Physical Sciences</a:t>
            </a:r>
          </a:p>
          <a:p>
            <a:r>
              <a:rPr lang="en-US" dirty="0"/>
              <a:t>Infrastructure needed for computational physics courses</a:t>
            </a:r>
          </a:p>
          <a:p>
            <a:r>
              <a:rPr lang="en-US" dirty="0"/>
              <a:t>The role of NAIRR Pilot</a:t>
            </a:r>
          </a:p>
          <a:p>
            <a:r>
              <a:rPr lang="en-US" dirty="0"/>
              <a:t>Opportunities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309626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1DB-42B8-7345-4160-A952560A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Modern physics uses computation as an integral part of research practices, but this is not the way students are taught</a:t>
            </a:r>
          </a:p>
        </p:txBody>
      </p:sp>
      <p:pic>
        <p:nvPicPr>
          <p:cNvPr id="7" name="Picture 6" descr="A calculus formula">
            <a:extLst>
              <a:ext uri="{FF2B5EF4-FFF2-40B4-BE49-F238E27FC236}">
                <a16:creationId xmlns:a16="http://schemas.microsoft.com/office/drawing/2014/main" id="{6B07C176-531F-0441-1B57-D5D3FF894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41" y="2102489"/>
            <a:ext cx="5641581" cy="3763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2CF0D8-F264-BFCC-881B-37488D00F492}"/>
              </a:ext>
            </a:extLst>
          </p:cNvPr>
          <p:cNvSpPr txBox="1"/>
          <p:nvPr/>
        </p:nvSpPr>
        <p:spPr>
          <a:xfrm>
            <a:off x="3547432" y="6093112"/>
            <a:ext cx="418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way many physics courses are taught</a:t>
            </a:r>
          </a:p>
        </p:txBody>
      </p:sp>
    </p:spTree>
    <p:extLst>
      <p:ext uri="{BB962C8B-B14F-4D97-AF65-F5344CB8AC3E}">
        <p14:creationId xmlns:p14="http://schemas.microsoft.com/office/powerpoint/2010/main" val="396580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D48EF-5E3C-DCA3-CDB4-7B29FE296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385" y="-429657"/>
            <a:ext cx="7991230" cy="8188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E4D58D-DABD-D44D-8612-0A17774B68B1}"/>
              </a:ext>
            </a:extLst>
          </p:cNvPr>
          <p:cNvSpPr txBox="1"/>
          <p:nvPr/>
        </p:nvSpPr>
        <p:spPr>
          <a:xfrm>
            <a:off x="0" y="6353056"/>
            <a:ext cx="68442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https://www.aip.org/statistics/skills-used-by-physics-phds-academic-years-2020-21-and-2021-22</a:t>
            </a:r>
            <a:r>
              <a:rPr lang="en-US" sz="11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3D65A-B18A-491F-CD5B-35DC5F40A3D9}"/>
              </a:ext>
            </a:extLst>
          </p:cNvPr>
          <p:cNvSpPr/>
          <p:nvPr/>
        </p:nvSpPr>
        <p:spPr>
          <a:xfrm>
            <a:off x="2555913" y="1597447"/>
            <a:ext cx="7535702" cy="3194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9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148F9-F3D1-2DB7-F3CE-86BE0D589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988" y="753467"/>
            <a:ext cx="8476024" cy="5889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4078F7-FE21-DC22-7D0F-B2AED41D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40903"/>
            <a:ext cx="11049000" cy="1325563"/>
          </a:xfrm>
        </p:spPr>
        <p:txBody>
          <a:bodyPr>
            <a:noAutofit/>
          </a:bodyPr>
          <a:lstStyle/>
          <a:p>
            <a:r>
              <a:rPr lang="en-US" sz="3200" dirty="0"/>
              <a:t>Poll of physicists suggest that additional computational background before starting undergrad research is essential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7FF9B-F395-7615-0860-D7851420D201}"/>
              </a:ext>
            </a:extLst>
          </p:cNvPr>
          <p:cNvSpPr txBox="1"/>
          <p:nvPr/>
        </p:nvSpPr>
        <p:spPr>
          <a:xfrm>
            <a:off x="8386763" y="6492875"/>
            <a:ext cx="260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Graves &amp; Light 2020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54F72-A129-CCC6-4355-A9A812889E5B}"/>
              </a:ext>
            </a:extLst>
          </p:cNvPr>
          <p:cNvSpPr txBox="1"/>
          <p:nvPr/>
        </p:nvSpPr>
        <p:spPr>
          <a:xfrm>
            <a:off x="3271838" y="2371170"/>
            <a:ext cx="194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Basic coding skills and knowledge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3435E-436E-DB08-8943-2E83B022A7AC}"/>
              </a:ext>
            </a:extLst>
          </p:cNvPr>
          <p:cNvSpPr txBox="1"/>
          <p:nvPr/>
        </p:nvSpPr>
        <p:spPr>
          <a:xfrm>
            <a:off x="3814763" y="3236615"/>
            <a:ext cx="1943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Fundamental scientific computing skills</a:t>
            </a:r>
          </a:p>
        </p:txBody>
      </p:sp>
    </p:spTree>
    <p:extLst>
      <p:ext uri="{BB962C8B-B14F-4D97-AF65-F5344CB8AC3E}">
        <p14:creationId xmlns:p14="http://schemas.microsoft.com/office/powerpoint/2010/main" val="278145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6473-5F31-11B6-EE29-0CF36D7F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Incorporating computational physics through lab courses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2E67-0311-53C0-369D-5318E3725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Lower division lab courses introduce students to python for computation and simple plots: </a:t>
            </a:r>
          </a:p>
          <a:p>
            <a:pPr marL="0" indent="0">
              <a:buNone/>
            </a:pPr>
            <a:r>
              <a:rPr lang="en-US" dirty="0"/>
              <a:t>Physics 4AL (Mechanics), Physics 4BL (Electricity and Magnetism), Physics 18L (Modern Physics Lab)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Upper division electives specific to computational Physics and Astrophysics give students more advanced computing experience:</a:t>
            </a:r>
          </a:p>
          <a:p>
            <a:pPr marL="0" indent="0">
              <a:buNone/>
            </a:pPr>
            <a:r>
              <a:rPr lang="en-US" dirty="0"/>
              <a:t>Physics 170E (Intro to Symbolic Computation), </a:t>
            </a:r>
            <a:r>
              <a:rPr lang="en-US" b="1" dirty="0">
                <a:solidFill>
                  <a:schemeClr val="accent1"/>
                </a:solidFill>
              </a:rPr>
              <a:t>Physics 170M (Machine Learning for Physical Sciences Lab),</a:t>
            </a:r>
            <a:r>
              <a:rPr lang="en-US" b="1" dirty="0"/>
              <a:t> </a:t>
            </a:r>
            <a:r>
              <a:rPr lang="en-US" dirty="0"/>
              <a:t>Physics 170N (Computational Physics and Astrophysics), Astro 180 (Observational Astrophysics)</a:t>
            </a:r>
          </a:p>
        </p:txBody>
      </p:sp>
    </p:spTree>
    <p:extLst>
      <p:ext uri="{BB962C8B-B14F-4D97-AF65-F5344CB8AC3E}">
        <p14:creationId xmlns:p14="http://schemas.microsoft.com/office/powerpoint/2010/main" val="273452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F591-A506-D543-F823-DF5A2D1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for Physical Sciences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4231-C031-406F-E510-1E2E43F1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Audience: upper division Physical Sciences undergrads, early graduate students. Students have strong background in math but no previous ML experience, some python programming experience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Learning objectives:</a:t>
            </a:r>
            <a:br>
              <a:rPr lang="en-US" b="1" dirty="0"/>
            </a:br>
            <a:endParaRPr lang="en-US" b="1" dirty="0"/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dirty="0"/>
              <a:t>Become familiar with the vocabulary of machine learning (can read machine learning papers in physics sub-discipline)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Able to approach a problem in physics or astronomy and decide if machine learning will be useful and what type of machine learning can be used.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Develop experience in the compilation, analysis, and cleaning of data from astronomy and physics contexts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Develop and have access to a community of machine learning practitioners and learners.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1223115" y="1198510"/>
            <a:ext cx="4296227" cy="4296227"/>
          </a:xfrm>
          <a:prstGeom prst="ellipse">
            <a:avLst/>
          </a:prstGeom>
          <a:solidFill>
            <a:schemeClr val="accent1">
              <a:alpha val="69803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150298" y="1257800"/>
            <a:ext cx="4296227" cy="4296227"/>
          </a:xfrm>
          <a:prstGeom prst="ellipse">
            <a:avLst/>
          </a:prstGeom>
          <a:solidFill>
            <a:schemeClr val="accent2">
              <a:alpha val="4088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Statistics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8810459" y="1303973"/>
            <a:ext cx="3091543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is an interdisciplinary challenge!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399471" y="-570990"/>
            <a:ext cx="4296227" cy="4296227"/>
          </a:xfrm>
          <a:prstGeom prst="ellipse">
            <a:avLst/>
          </a:prstGeom>
          <a:solidFill>
            <a:schemeClr val="accent6">
              <a:alpha val="37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Domain Knowledge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07" name="Google Shape;107;p4"/>
          <p:cNvCxnSpPr>
            <a:cxnSpLocks/>
          </p:cNvCxnSpPr>
          <p:nvPr/>
        </p:nvCxnSpPr>
        <p:spPr>
          <a:xfrm flipV="1">
            <a:off x="5378824" y="1843028"/>
            <a:ext cx="3431635" cy="1668348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2" name="Google Shape;106;p4">
            <a:extLst>
              <a:ext uri="{FF2B5EF4-FFF2-40B4-BE49-F238E27FC236}">
                <a16:creationId xmlns:a16="http://schemas.microsoft.com/office/drawing/2014/main" id="{D9C45604-F0F5-A083-6DDD-374A669D3755}"/>
              </a:ext>
            </a:extLst>
          </p:cNvPr>
          <p:cNvSpPr/>
          <p:nvPr/>
        </p:nvSpPr>
        <p:spPr>
          <a:xfrm>
            <a:off x="3371228" y="3086590"/>
            <a:ext cx="4296227" cy="4296227"/>
          </a:xfrm>
          <a:prstGeom prst="ellipse">
            <a:avLst/>
          </a:prstGeom>
          <a:solidFill>
            <a:schemeClr val="accent4">
              <a:alpha val="33717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E64B-4DEE-363A-BBE2-D75A8D4B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 emphasizes the workflow for science with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CF1EB-A352-2244-972C-B5C31723B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picture: define the problem / science question, define the metric for success</a:t>
            </a:r>
          </a:p>
          <a:p>
            <a:r>
              <a:rPr lang="en-US" dirty="0"/>
              <a:t>Get the data</a:t>
            </a:r>
          </a:p>
          <a:p>
            <a:r>
              <a:rPr lang="en-US" dirty="0"/>
              <a:t>Visualize the data</a:t>
            </a:r>
          </a:p>
          <a:p>
            <a:r>
              <a:rPr lang="en-US" dirty="0"/>
              <a:t>Prepare the data </a:t>
            </a:r>
          </a:p>
          <a:p>
            <a:r>
              <a:rPr lang="en-US" dirty="0"/>
              <a:t>Select a model</a:t>
            </a:r>
          </a:p>
          <a:p>
            <a:r>
              <a:rPr lang="en-US" dirty="0"/>
              <a:t>Fine tune the model</a:t>
            </a:r>
          </a:p>
          <a:p>
            <a:r>
              <a:rPr lang="en-US" dirty="0"/>
              <a:t>Present the solution</a:t>
            </a:r>
          </a:p>
        </p:txBody>
      </p:sp>
    </p:spTree>
    <p:extLst>
      <p:ext uri="{BB962C8B-B14F-4D97-AF65-F5344CB8AC3E}">
        <p14:creationId xmlns:p14="http://schemas.microsoft.com/office/powerpoint/2010/main" val="230742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7470-8D76-DF73-0348-73253E19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Studying how stars form near the supermassive black hole at the center of our Galaxy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5C43-73EC-6DB2-08CC-F257100F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0487"/>
            <a:ext cx="6454966" cy="4351338"/>
          </a:xfrm>
        </p:spPr>
        <p:txBody>
          <a:bodyPr/>
          <a:lstStyle/>
          <a:p>
            <a:r>
              <a:rPr lang="en-US" dirty="0"/>
              <a:t>Big picture: How do stars form in the extreme environment around a supermassive black hole? </a:t>
            </a:r>
          </a:p>
          <a:p>
            <a:r>
              <a:rPr lang="en-US" dirty="0"/>
              <a:t>Goal: separate out young stars from old stars at better than 95% accuracy. </a:t>
            </a:r>
          </a:p>
          <a:p>
            <a:r>
              <a:rPr lang="en-US" dirty="0"/>
              <a:t>Data: spectroscopy of stars in this region</a:t>
            </a:r>
          </a:p>
          <a:p>
            <a:r>
              <a:rPr lang="en-US" dirty="0"/>
              <a:t>Model: Naïve Bayes classifier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17BF-51EB-35E0-B7FA-8FD48E0C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149" y="2090487"/>
            <a:ext cx="4485465" cy="38916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67545-116B-F95D-9CC5-4531C85AF46A}"/>
              </a:ext>
            </a:extLst>
          </p:cNvPr>
          <p:cNvSpPr txBox="1"/>
          <p:nvPr/>
        </p:nvSpPr>
        <p:spPr>
          <a:xfrm>
            <a:off x="7716675" y="6072493"/>
            <a:ext cx="4365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Tuan Do, UCLA Galactic Center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BD5BF-D1A2-5443-1011-9CE824D9781F}"/>
              </a:ext>
            </a:extLst>
          </p:cNvPr>
          <p:cNvSpPr txBox="1"/>
          <p:nvPr/>
        </p:nvSpPr>
        <p:spPr>
          <a:xfrm>
            <a:off x="705667" y="5658993"/>
            <a:ext cx="622935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Other topics include: modeling COVID19 spread, Higgs boson identification, atmospheric CO2 predictions</a:t>
            </a:r>
          </a:p>
        </p:txBody>
      </p:sp>
    </p:spTree>
    <p:extLst>
      <p:ext uri="{BB962C8B-B14F-4D97-AF65-F5344CB8AC3E}">
        <p14:creationId xmlns:p14="http://schemas.microsoft.com/office/powerpoint/2010/main" val="75700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8CF1B-A0EA-8BEE-7BDB-8FD9AD50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of statistics, data, and ML methods around science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2B397-F733-1F86-1A0D-6B59E95C9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statistics topics:</a:t>
            </a:r>
          </a:p>
          <a:p>
            <a:pPr lvl="1"/>
            <a:r>
              <a:rPr lang="en-US" dirty="0"/>
              <a:t>Probability</a:t>
            </a:r>
          </a:p>
          <a:p>
            <a:pPr lvl="1"/>
            <a:r>
              <a:rPr lang="en-US" dirty="0"/>
              <a:t>Bayesian inference</a:t>
            </a:r>
          </a:p>
          <a:p>
            <a:pPr lvl="1"/>
            <a:r>
              <a:rPr lang="en-US" dirty="0"/>
              <a:t>Summary statistics, loss functions</a:t>
            </a:r>
          </a:p>
          <a:p>
            <a:r>
              <a:rPr lang="en-US" dirty="0"/>
              <a:t>Example data topics:</a:t>
            </a:r>
          </a:p>
          <a:p>
            <a:pPr lvl="1"/>
            <a:r>
              <a:rPr lang="en-US" dirty="0"/>
              <a:t>Outlier identification</a:t>
            </a:r>
          </a:p>
          <a:p>
            <a:pPr lvl="1"/>
            <a:r>
              <a:rPr lang="en-US" dirty="0"/>
              <a:t>Missing data</a:t>
            </a:r>
          </a:p>
          <a:p>
            <a:pPr lvl="1"/>
            <a:r>
              <a:rPr lang="en-US" dirty="0"/>
              <a:t>Data visualization, feature engineering</a:t>
            </a:r>
          </a:p>
          <a:p>
            <a:r>
              <a:rPr lang="en-US" dirty="0"/>
              <a:t>ML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E74D5-560A-D48B-289A-FDE4A0FBBFED}"/>
              </a:ext>
            </a:extLst>
          </p:cNvPr>
          <p:cNvSpPr/>
          <p:nvPr/>
        </p:nvSpPr>
        <p:spPr>
          <a:xfrm>
            <a:off x="7337233" y="1947231"/>
            <a:ext cx="3492347" cy="2963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Students typically do not know that 90% of practical ML for science applications are spent on the data and statistics phase! </a:t>
            </a:r>
          </a:p>
        </p:txBody>
      </p:sp>
    </p:spTree>
    <p:extLst>
      <p:ext uri="{BB962C8B-B14F-4D97-AF65-F5344CB8AC3E}">
        <p14:creationId xmlns:p14="http://schemas.microsoft.com/office/powerpoint/2010/main" val="222941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/>
          <p:nvPr/>
        </p:nvSpPr>
        <p:spPr>
          <a:xfrm>
            <a:off x="187985" y="2600789"/>
            <a:ext cx="2256639" cy="173167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Lecture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2444624" y="2595727"/>
            <a:ext cx="2256639" cy="173674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Labs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187985" y="4514489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kumimoji="0" lang="en-US" sz="1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2267758" y="4422063"/>
            <a:ext cx="642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 hrs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9689344" y="5467315"/>
            <a:ext cx="8299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2-5 hrs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9689344" y="2867936"/>
            <a:ext cx="2256639" cy="692902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Readings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9689344" y="3667297"/>
            <a:ext cx="2256639" cy="159743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Finish Labs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2" name="Google Shape;332;p35"/>
          <p:cNvSpPr txBox="1">
            <a:spLocks noGrp="1"/>
          </p:cNvSpPr>
          <p:nvPr>
            <p:ph type="title"/>
          </p:nvPr>
        </p:nvSpPr>
        <p:spPr>
          <a:xfrm>
            <a:off x="385194" y="14998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dirty="0"/>
              <a:t>Class Structure</a:t>
            </a:r>
            <a:endParaRPr dirty="0"/>
          </a:p>
        </p:txBody>
      </p:sp>
      <p:sp>
        <p:nvSpPr>
          <p:cNvPr id="336" name="Google Shape;336;p35"/>
          <p:cNvSpPr/>
          <p:nvPr/>
        </p:nvSpPr>
        <p:spPr>
          <a:xfrm>
            <a:off x="6971838" y="2595727"/>
            <a:ext cx="2256639" cy="173674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Labs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6971838" y="4422063"/>
            <a:ext cx="642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 hrs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9689344" y="2457179"/>
            <a:ext cx="16802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Outside of Class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187985" y="2244436"/>
            <a:ext cx="9578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Monday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2434528" y="2272513"/>
            <a:ext cx="12779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Tuesday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4692893" y="2198256"/>
            <a:ext cx="1560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Wednesday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2" name="Google Shape;342;p35"/>
          <p:cNvSpPr txBox="1"/>
          <p:nvPr/>
        </p:nvSpPr>
        <p:spPr>
          <a:xfrm>
            <a:off x="6990828" y="2249360"/>
            <a:ext cx="1038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Thursday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820632-74C9-E7EF-E6BE-5F7EBD553D75}"/>
              </a:ext>
            </a:extLst>
          </p:cNvPr>
          <p:cNvSpPr txBox="1"/>
          <p:nvPr/>
        </p:nvSpPr>
        <p:spPr>
          <a:xfrm>
            <a:off x="245986" y="1434847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Students are in groups of 3 or 4</a:t>
            </a:r>
          </a:p>
          <a:p>
            <a:r>
              <a:rPr lang="en-US" dirty="0"/>
              <a:t>Length: 10 weeks, 6 labs, and 1 final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76EB-E37B-FC41-8D29-D135C380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EBE4BB-3029-7A4E-A8E1-14852BEAB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374" y="1429349"/>
            <a:ext cx="3683000" cy="481056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BB3FD-8592-0D43-95DC-E88BF1C4D938}"/>
              </a:ext>
            </a:extLst>
          </p:cNvPr>
          <p:cNvSpPr txBox="1"/>
          <p:nvPr/>
        </p:nvSpPr>
        <p:spPr>
          <a:xfrm>
            <a:off x="8645749" y="6201677"/>
            <a:ext cx="3250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Machine Learning for Physics and Astronomy (2023)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ECE2A-1F5B-D281-1986-44F18E97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97" y="1429350"/>
            <a:ext cx="3683000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6EAB6-10D6-6BCB-264F-5BA09A0BC51B}"/>
              </a:ext>
            </a:extLst>
          </p:cNvPr>
          <p:cNvSpPr txBox="1"/>
          <p:nvPr/>
        </p:nvSpPr>
        <p:spPr>
          <a:xfrm>
            <a:off x="555647" y="6197441"/>
            <a:ext cx="5252029" cy="51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Available through UCLA Library digital access for free (see link in syllabus)</a:t>
            </a:r>
          </a:p>
        </p:txBody>
      </p:sp>
    </p:spTree>
    <p:extLst>
      <p:ext uri="{BB962C8B-B14F-4D97-AF65-F5344CB8AC3E}">
        <p14:creationId xmlns:p14="http://schemas.microsoft.com/office/powerpoint/2010/main" val="215420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0952-7CA6-3493-A8C2-650B2BA2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Tension between building basic ML knowledge and more recent advances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07C65-9390-FF63-E45F-2FE9FF375CD8}"/>
              </a:ext>
            </a:extLst>
          </p:cNvPr>
          <p:cNvSpPr/>
          <p:nvPr/>
        </p:nvSpPr>
        <p:spPr>
          <a:xfrm>
            <a:off x="1410159" y="2027103"/>
            <a:ext cx="2754217" cy="4465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Classical ML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Naïve Bayes</a:t>
            </a:r>
          </a:p>
          <a:p>
            <a:pPr algn="ctr"/>
            <a:r>
              <a:rPr lang="en-US" dirty="0"/>
              <a:t>Random Forest</a:t>
            </a:r>
          </a:p>
          <a:p>
            <a:pPr algn="ctr"/>
            <a:r>
              <a:rPr lang="en-US" dirty="0"/>
              <a:t>Support Vector Machines</a:t>
            </a:r>
          </a:p>
          <a:p>
            <a:pPr algn="ctr"/>
            <a:r>
              <a:rPr lang="en-US" dirty="0"/>
              <a:t>Clustering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C8705-F6F1-4B97-879B-77F346F3F388}"/>
              </a:ext>
            </a:extLst>
          </p:cNvPr>
          <p:cNvSpPr/>
          <p:nvPr/>
        </p:nvSpPr>
        <p:spPr>
          <a:xfrm>
            <a:off x="4801518" y="2029857"/>
            <a:ext cx="2754217" cy="44657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Classical Neural Networks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Perceptrons</a:t>
            </a:r>
            <a:endParaRPr lang="en-US" dirty="0"/>
          </a:p>
          <a:p>
            <a:pPr algn="ctr"/>
            <a:r>
              <a:rPr lang="en-US" dirty="0"/>
              <a:t>Multi-Layer </a:t>
            </a:r>
            <a:r>
              <a:rPr lang="en-US" dirty="0" err="1"/>
              <a:t>Perceptrons</a:t>
            </a:r>
            <a:endParaRPr lang="en-US" dirty="0"/>
          </a:p>
          <a:p>
            <a:pPr algn="ctr"/>
            <a:r>
              <a:rPr lang="en-US" dirty="0"/>
              <a:t>Convolutional Neural Networks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E913B0-7B06-399E-AF39-771AFAF3F835}"/>
              </a:ext>
            </a:extLst>
          </p:cNvPr>
          <p:cNvSpPr/>
          <p:nvPr/>
        </p:nvSpPr>
        <p:spPr>
          <a:xfrm>
            <a:off x="8192877" y="2027103"/>
            <a:ext cx="2754217" cy="446577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Recent Deep Learning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Transformers</a:t>
            </a:r>
          </a:p>
          <a:p>
            <a:pPr algn="ctr"/>
            <a:r>
              <a:rPr lang="en-US" dirty="0"/>
              <a:t>Physics Informed Neural Networks</a:t>
            </a:r>
          </a:p>
          <a:p>
            <a:pPr algn="ctr"/>
            <a:r>
              <a:rPr lang="en-US" dirty="0"/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5091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4E19-2EAB-2C3C-6B75-3A4E1B9E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Final project gives students an opportunity to do an end-to-end ML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76FE9-A383-35CC-3CEB-5A3372A5D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15239"/>
            <a:ext cx="10515600" cy="406172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Student groups select a science question or goal. Develop metrics for the ML model.</a:t>
            </a:r>
          </a:p>
          <a:p>
            <a:pPr marL="114300" indent="0">
              <a:buNone/>
            </a:pPr>
            <a:r>
              <a:rPr lang="en-US" dirty="0"/>
              <a:t>Discuss with instructor and refine the question and goals</a:t>
            </a:r>
          </a:p>
          <a:p>
            <a:pPr marL="114300" indent="0">
              <a:buNone/>
            </a:pPr>
            <a:r>
              <a:rPr lang="en-US" dirty="0"/>
              <a:t>Students obtain data and prepare them for modeling</a:t>
            </a:r>
          </a:p>
          <a:p>
            <a:pPr marL="114300" indent="0">
              <a:buNone/>
            </a:pPr>
            <a:r>
              <a:rPr lang="en-US" dirty="0"/>
              <a:t>Students run models and test </a:t>
            </a:r>
            <a:r>
              <a:rPr lang="en-US" dirty="0" err="1"/>
              <a:t>hyperparamters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Students present project to the class and write a final report.</a:t>
            </a:r>
          </a:p>
        </p:txBody>
      </p:sp>
    </p:spTree>
    <p:extLst>
      <p:ext uri="{BB962C8B-B14F-4D97-AF65-F5344CB8AC3E}">
        <p14:creationId xmlns:p14="http://schemas.microsoft.com/office/powerpoint/2010/main" val="142845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EE0F-09A2-670C-6535-AE29C32F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for using ChatGPT &amp; Large-Language Models (LLMs) for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1EC7-8272-B33D-E685-352DC546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Large language models like ChatGPT or Gemini can be very helpful tools when you have questions about code or how to write code.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Remember to acknowledge what tool you used in your notebook if you did use it. Put the prompt you use as a comment and say if you modified the code.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Check to make sure the code it produces makes sense and works as you expect! </a:t>
            </a:r>
          </a:p>
        </p:txBody>
      </p:sp>
    </p:spTree>
    <p:extLst>
      <p:ext uri="{BB962C8B-B14F-4D97-AF65-F5344CB8AC3E}">
        <p14:creationId xmlns:p14="http://schemas.microsoft.com/office/powerpoint/2010/main" val="2104790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B8D2-DF94-A8D4-1BD2-3E06B3E2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use of LLMs vary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508D8-A755-2AFC-E768-83EB5CB97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students were found to heavily use LLMs for their lab reports (this is very easy to detect given the very computational sophisticated answers from LLMs about ML models)</a:t>
            </a:r>
          </a:p>
          <a:p>
            <a:r>
              <a:rPr lang="en-US" dirty="0"/>
              <a:t>Most students appear to use LLMs more sparingly to help with coding. </a:t>
            </a:r>
          </a:p>
          <a:p>
            <a:r>
              <a:rPr lang="en-US" dirty="0"/>
              <a:t>Example student comment: “I would also avoid leaning too heavily on ChatGPT, because even though it can be convenient, it can take away from the actual learning experience.”</a:t>
            </a:r>
          </a:p>
        </p:txBody>
      </p:sp>
    </p:spTree>
    <p:extLst>
      <p:ext uri="{BB962C8B-B14F-4D97-AF65-F5344CB8AC3E}">
        <p14:creationId xmlns:p14="http://schemas.microsoft.com/office/powerpoint/2010/main" val="3394046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7602-9459-EF16-DAB7-E68F32FF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requires computational backend to support multiple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F2120-3E19-DF4C-99D7-4DC34CA7A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A major challenge for integrating computing into physics education is the lack of common computational infrastructure. For this lab we use:</a:t>
            </a: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dirty="0" err="1"/>
              <a:t>Jupyterhub</a:t>
            </a:r>
            <a:r>
              <a:rPr lang="en-US" dirty="0"/>
              <a:t> to handle multiple users</a:t>
            </a:r>
          </a:p>
          <a:p>
            <a:pPr marL="114300" indent="0">
              <a:buNone/>
            </a:pPr>
            <a:r>
              <a:rPr lang="en-US" dirty="0" err="1"/>
              <a:t>Jupyter</a:t>
            </a:r>
            <a:r>
              <a:rPr lang="en-US" dirty="0"/>
              <a:t> Lab for computational interface</a:t>
            </a:r>
          </a:p>
          <a:p>
            <a:pPr marL="114300" indent="0">
              <a:buNone/>
            </a:pPr>
            <a:r>
              <a:rPr lang="en-US" dirty="0"/>
              <a:t>Custom backend for permissions and common directories</a:t>
            </a:r>
          </a:p>
          <a:p>
            <a:pPr marL="114300" indent="0">
              <a:buNone/>
            </a:pPr>
            <a:r>
              <a:rPr lang="en-US" dirty="0" err="1"/>
              <a:t>Github</a:t>
            </a:r>
            <a:r>
              <a:rPr lang="en-US" dirty="0"/>
              <a:t> for distributing labs and small datasets</a:t>
            </a:r>
          </a:p>
          <a:p>
            <a:pPr marL="114300" indent="0">
              <a:buNone/>
            </a:pPr>
            <a:r>
              <a:rPr lang="en-US" dirty="0"/>
              <a:t>Use python and packages that are commonly used in industry: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pandas, matplotlib – data science related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Scikit-learn,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tensorflow</a:t>
            </a:r>
            <a:r>
              <a:rPr lang="en-US" dirty="0"/>
              <a:t> – ML related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653B7-D81D-4790-A4DA-C2EB5EB27316}"/>
              </a:ext>
            </a:extLst>
          </p:cNvPr>
          <p:cNvSpPr txBox="1"/>
          <p:nvPr/>
        </p:nvSpPr>
        <p:spPr>
          <a:xfrm>
            <a:off x="3404212" y="6176963"/>
            <a:ext cx="850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collaboration with Ben Winjum (UCLA Office of Advance Research Computing)</a:t>
            </a:r>
          </a:p>
        </p:txBody>
      </p:sp>
      <p:pic>
        <p:nvPicPr>
          <p:cNvPr id="1026" name="Picture 2" descr="Ben Winjum">
            <a:extLst>
              <a:ext uri="{FF2B5EF4-FFF2-40B4-BE49-F238E27FC236}">
                <a16:creationId xmlns:a16="http://schemas.microsoft.com/office/drawing/2014/main" id="{E02FA6CD-F89B-ED14-3FA0-97C900662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183" y="4531165"/>
            <a:ext cx="1645798" cy="164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677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593D-BDF3-7FF2-60A4-C88C10F0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computational infrastructure timeline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A1FDD1-A708-BEA8-EF2B-419B41BC1EBD}"/>
              </a:ext>
            </a:extLst>
          </p:cNvPr>
          <p:cNvCxnSpPr/>
          <p:nvPr/>
        </p:nvCxnSpPr>
        <p:spPr>
          <a:xfrm>
            <a:off x="964435" y="2346593"/>
            <a:ext cx="102631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4B3C53-C5A9-5566-BDDF-6FCDABAC3CA2}"/>
              </a:ext>
            </a:extLst>
          </p:cNvPr>
          <p:cNvSpPr txBox="1"/>
          <p:nvPr/>
        </p:nvSpPr>
        <p:spPr>
          <a:xfrm>
            <a:off x="964435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31EB1-AD8D-CCC3-FD5B-463339C7B287}"/>
              </a:ext>
            </a:extLst>
          </p:cNvPr>
          <p:cNvSpPr txBox="1"/>
          <p:nvPr/>
        </p:nvSpPr>
        <p:spPr>
          <a:xfrm>
            <a:off x="10051514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C2460-25F6-DCEE-15CB-57E1D8D535D1}"/>
              </a:ext>
            </a:extLst>
          </p:cNvPr>
          <p:cNvSpPr txBox="1"/>
          <p:nvPr/>
        </p:nvSpPr>
        <p:spPr>
          <a:xfrm>
            <a:off x="5747186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8B8A-5E1F-C25B-F83E-715BDC729798}"/>
              </a:ext>
            </a:extLst>
          </p:cNvPr>
          <p:cNvSpPr txBox="1"/>
          <p:nvPr/>
        </p:nvSpPr>
        <p:spPr>
          <a:xfrm>
            <a:off x="2678732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F0600-5D81-B2EF-2310-4733D1154D41}"/>
              </a:ext>
            </a:extLst>
          </p:cNvPr>
          <p:cNvSpPr txBox="1"/>
          <p:nvPr/>
        </p:nvSpPr>
        <p:spPr>
          <a:xfrm>
            <a:off x="4212959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41A6D-E6EC-4B33-D7E3-9FB6B20BD306}"/>
              </a:ext>
            </a:extLst>
          </p:cNvPr>
          <p:cNvSpPr txBox="1"/>
          <p:nvPr/>
        </p:nvSpPr>
        <p:spPr>
          <a:xfrm>
            <a:off x="7413615" y="252024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2297C-C391-C3BF-1E54-75A121ABCEC1}"/>
              </a:ext>
            </a:extLst>
          </p:cNvPr>
          <p:cNvSpPr txBox="1"/>
          <p:nvPr/>
        </p:nvSpPr>
        <p:spPr>
          <a:xfrm>
            <a:off x="8815640" y="254489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9826D6-8276-68E3-1540-4BF9A6DF9A2C}"/>
              </a:ext>
            </a:extLst>
          </p:cNvPr>
          <p:cNvSpPr/>
          <p:nvPr/>
        </p:nvSpPr>
        <p:spPr>
          <a:xfrm>
            <a:off x="1068784" y="3090498"/>
            <a:ext cx="2307575" cy="473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UCLA IDRE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A94C68-9978-9EE6-CCAA-C46BFF20DDF9}"/>
              </a:ext>
            </a:extLst>
          </p:cNvPr>
          <p:cNvSpPr/>
          <p:nvPr/>
        </p:nvSpPr>
        <p:spPr>
          <a:xfrm>
            <a:off x="3376359" y="3679634"/>
            <a:ext cx="4897308" cy="539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Cloud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85711-E990-7FF5-A1A4-7F9B0EC41889}"/>
              </a:ext>
            </a:extLst>
          </p:cNvPr>
          <p:cNvSpPr/>
          <p:nvPr/>
        </p:nvSpPr>
        <p:spPr>
          <a:xfrm>
            <a:off x="8273666" y="3679634"/>
            <a:ext cx="3104995" cy="539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National Research Platform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260272-C5D9-CD08-16EC-60AAE9E6D186}"/>
              </a:ext>
            </a:extLst>
          </p:cNvPr>
          <p:cNvSpPr txBox="1"/>
          <p:nvPr/>
        </p:nvSpPr>
        <p:spPr>
          <a:xfrm>
            <a:off x="50035" y="3105179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</a:t>
            </a:r>
          </a:p>
          <a:p>
            <a:r>
              <a:rPr lang="en-US" dirty="0"/>
              <a:t>Compute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77646-91AC-BC25-A0D1-EC9471DE8743}"/>
              </a:ext>
            </a:extLst>
          </p:cNvPr>
          <p:cNvSpPr txBox="1"/>
          <p:nvPr/>
        </p:nvSpPr>
        <p:spPr>
          <a:xfrm>
            <a:off x="79018" y="385012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Cloud-Based 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D8A0C0-92BF-A0AE-FE0F-1D9A74860367}"/>
              </a:ext>
            </a:extLst>
          </p:cNvPr>
          <p:cNvSpPr/>
          <p:nvPr/>
        </p:nvSpPr>
        <p:spPr>
          <a:xfrm>
            <a:off x="8273666" y="4633261"/>
            <a:ext cx="3104995" cy="74296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NAIRR Pilot Classroom (Jetstream 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6783-F5A5-3A5C-E692-813660321141}"/>
              </a:ext>
            </a:extLst>
          </p:cNvPr>
          <p:cNvSpPr txBox="1"/>
          <p:nvPr/>
        </p:nvSpPr>
        <p:spPr>
          <a:xfrm>
            <a:off x="152774" y="4794048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Cloud-Based GPU</a:t>
            </a:r>
          </a:p>
        </p:txBody>
      </p:sp>
    </p:spTree>
    <p:extLst>
      <p:ext uri="{BB962C8B-B14F-4D97-AF65-F5344CB8AC3E}">
        <p14:creationId xmlns:p14="http://schemas.microsoft.com/office/powerpoint/2010/main" val="83194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B48F-7F0C-20B9-E592-284F21FB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02" y="257691"/>
            <a:ext cx="6058967" cy="1325563"/>
          </a:xfrm>
        </p:spPr>
        <p:txBody>
          <a:bodyPr/>
          <a:lstStyle/>
          <a:p>
            <a:r>
              <a:rPr lang="en-US" dirty="0"/>
              <a:t>NAIRR Pilot Resource: Jetstream2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D3CFB-3FD9-8B32-B11C-C7105B3D9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021" y="1726473"/>
            <a:ext cx="6196689" cy="4351338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Jetstream2 is an HPC platform from Indiana University that deploys instances that work like virtual machines.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instances have a public IP allowing hosting of different services like </a:t>
            </a:r>
            <a:r>
              <a:rPr lang="en-US" dirty="0" err="1"/>
              <a:t>Jupyterhub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Some instances have powerful GPUs, which is needed for some ML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87DE0-3C93-2310-02C9-9C47E8B4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51" y="-77118"/>
            <a:ext cx="5745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3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9FD8-2205-A6DA-F781-1E75DE2B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NAIRR Pilot: Opportunities and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81294-DCA6-802A-0460-342B12243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Opportunities: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computing access for students to use models requiring more powerful compute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resources with a range of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students more realistic preparation for industry</a:t>
            </a:r>
          </a:p>
          <a:p>
            <a:pPr marL="114300" indent="0">
              <a:buNone/>
            </a:pPr>
            <a:r>
              <a:rPr lang="en-US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 proposal periods makes continuity difficult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consistent GPU implementation for different resource providers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additional expertise to setup and maintain resources</a:t>
            </a:r>
          </a:p>
        </p:txBody>
      </p:sp>
    </p:spTree>
    <p:extLst>
      <p:ext uri="{BB962C8B-B14F-4D97-AF65-F5344CB8AC3E}">
        <p14:creationId xmlns:p14="http://schemas.microsoft.com/office/powerpoint/2010/main" val="16281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51132</TotalTime>
  <Words>1116</Words>
  <Application>Microsoft Macintosh PowerPoint</Application>
  <PresentationFormat>Widescreen</PresentationFormat>
  <Paragraphs>158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Office Theme</vt:lpstr>
      <vt:lpstr>1_Office Theme</vt:lpstr>
      <vt:lpstr>Building a Machine Learning Lab for the Physical Sciences Curriculum, Practice &amp; Infrastructure</vt:lpstr>
      <vt:lpstr>Outline</vt:lpstr>
      <vt:lpstr>Modern physics uses computation as an integral part of research practices, but this is not the way students are taught</vt:lpstr>
      <vt:lpstr>PowerPoint Presentation</vt:lpstr>
      <vt:lpstr>Poll of physicists suggest that additional computational background before starting undergrad research is essential</vt:lpstr>
      <vt:lpstr>Incorporating computational physics through lab courses</vt:lpstr>
      <vt:lpstr>Machine Learning for Physical Sciences Lab</vt:lpstr>
      <vt:lpstr>PowerPoint Presentation</vt:lpstr>
      <vt:lpstr>Labs emphasizes the workflow for science with ML</vt:lpstr>
      <vt:lpstr>Example: Studying how stars form near the supermassive black hole at the center of our Galaxy</vt:lpstr>
      <vt:lpstr>Integration of statistics, data, and ML methods around science questions</vt:lpstr>
      <vt:lpstr>Class Structure</vt:lpstr>
      <vt:lpstr>Textbooks</vt:lpstr>
      <vt:lpstr>Tension between building basic ML knowledge and more recent advances</vt:lpstr>
      <vt:lpstr>Final project gives students an opportunity to do an end-to-end ML project</vt:lpstr>
      <vt:lpstr>Policy for using ChatGPT &amp; Large-Language Models (LLMs) for Code:</vt:lpstr>
      <vt:lpstr>Student use of LLMs vary</vt:lpstr>
      <vt:lpstr>Infrastructure requires computational backend to support multiple users</vt:lpstr>
      <vt:lpstr>Course computational infrastructure timeline</vt:lpstr>
      <vt:lpstr>NAIRR Pilot Resource: Jetstream2</vt:lpstr>
      <vt:lpstr>NAIRR Pilot: Opportunities and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Tuan Do</cp:lastModifiedBy>
  <cp:revision>365</cp:revision>
  <dcterms:created xsi:type="dcterms:W3CDTF">2019-02-13T01:51:52Z</dcterms:created>
  <dcterms:modified xsi:type="dcterms:W3CDTF">2026-06-18T15:02:42Z</dcterms:modified>
</cp:coreProperties>
</file>