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Lato"/>
      <p:regular r:id="rId21"/>
      <p:bold r:id="rId22"/>
      <p:italic r:id="rId23"/>
      <p:boldItalic r:id="rId24"/>
    </p:embeddedFont>
    <p:embeddedFont>
      <p:font typeface="Source Sans 3 Medium"/>
      <p:regular r:id="rId25"/>
      <p:bold r:id="rId26"/>
      <p:italic r:id="rId27"/>
      <p:boldItalic r:id="rId28"/>
    </p:embeddedFont>
    <p:embeddedFont>
      <p:font typeface="Source Sans 3"/>
      <p:regular r:id="rId29"/>
      <p:bold r:id="rId30"/>
      <p:italic r:id="rId31"/>
      <p:boldItalic r:id="rId32"/>
    </p:embeddedFont>
    <p:embeddedFont>
      <p:font typeface="Roboto Condensed"/>
      <p:bold r:id="rId33"/>
      <p:boldItalic r:id="rId34"/>
    </p:embeddedFont>
    <p:embeddedFont>
      <p:font typeface="Open Sans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i/6RZuUDFdWqvom9UoUrtltOim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Sans3Medium-bold.fntdata"/><Relationship Id="rId25" Type="http://schemas.openxmlformats.org/officeDocument/2006/relationships/font" Target="fonts/SourceSans3Medium-regular.fntdata"/><Relationship Id="rId28" Type="http://schemas.openxmlformats.org/officeDocument/2006/relationships/font" Target="fonts/SourceSans3Medium-boldItalic.fntdata"/><Relationship Id="rId27" Type="http://schemas.openxmlformats.org/officeDocument/2006/relationships/font" Target="fonts/SourceSans3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ourceSans3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urceSans3-italic.fntdata"/><Relationship Id="rId30" Type="http://schemas.openxmlformats.org/officeDocument/2006/relationships/font" Target="fonts/SourceSans3-bold.fntdata"/><Relationship Id="rId11" Type="http://schemas.openxmlformats.org/officeDocument/2006/relationships/slide" Target="slides/slide6.xml"/><Relationship Id="rId33" Type="http://schemas.openxmlformats.org/officeDocument/2006/relationships/font" Target="fonts/RobotoCondensed-bold.fntdata"/><Relationship Id="rId10" Type="http://schemas.openxmlformats.org/officeDocument/2006/relationships/slide" Target="slides/slide5.xml"/><Relationship Id="rId32" Type="http://schemas.openxmlformats.org/officeDocument/2006/relationships/font" Target="fonts/SourceSans3-boldItalic.fntdata"/><Relationship Id="rId13" Type="http://schemas.openxmlformats.org/officeDocument/2006/relationships/slide" Target="slides/slide8.xml"/><Relationship Id="rId35" Type="http://schemas.openxmlformats.org/officeDocument/2006/relationships/font" Target="fonts/OpenSans-bold.fntdata"/><Relationship Id="rId12" Type="http://schemas.openxmlformats.org/officeDocument/2006/relationships/slide" Target="slides/slide7.xml"/><Relationship Id="rId34" Type="http://schemas.openxmlformats.org/officeDocument/2006/relationships/font" Target="fonts/RobotoCondensed-boldItalic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bc23b637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ebc23b637b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c2e9151e4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ec2e9151e4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c2e9151e4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original vision was to create: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A living curriculum library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Community contribution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Standards mapping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Faculty support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Infrastructure support</a:t>
            </a:r>
            <a:endParaRPr/>
          </a:p>
        </p:txBody>
      </p:sp>
      <p:sp>
        <p:nvSpPr>
          <p:cNvPr id="150" name="Google Shape;150;g3ec2e9151e4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c2e9151e4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Curriculum is not enough.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Need: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Content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Community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Standards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Infrastructure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Professional development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ec2e9151e4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c2e9151e4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ec2e9151e4_1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Today: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Largest cybersecurity curriculum repository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Thousands of contributors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Global users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Community-driven model</a:t>
            </a:r>
            <a:endParaRPr/>
          </a:p>
        </p:txBody>
      </p:sp>
      <p:sp>
        <p:nvSpPr>
          <p:cNvPr id="218" name="Google Shape;21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c571d6d2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Curriculum is not enough.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Need: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Content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Community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Standards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Infrastructure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Professional development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ec571d6d2b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c571d6d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Curriculum is not enough.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Need: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Content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Community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Standards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Infrastructure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Professional development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g3ec571d6d2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77f6d4b0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d77f6d4b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d86a6d7f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g3ed86a6d7f5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bc23b637b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ebc23b637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9707c59b6_15_0)">
  <p:cSld name="Generated (g3d9707c59b6_15_0)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9707c59b6_0_324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buNone/>
              <a:defRPr sz="2400">
                <a:solidFill>
                  <a:schemeClr val="dk1"/>
                </a:solidFill>
              </a:defRPr>
            </a:lvl1pPr>
            <a:lvl2pPr lvl="1">
              <a:buNone/>
              <a:defRPr sz="2400">
                <a:solidFill>
                  <a:schemeClr val="dk1"/>
                </a:solidFill>
              </a:defRPr>
            </a:lvl2pPr>
            <a:lvl3pPr lvl="2">
              <a:buNone/>
              <a:defRPr sz="2400">
                <a:solidFill>
                  <a:schemeClr val="dk1"/>
                </a:solidFill>
              </a:defRPr>
            </a:lvl3pPr>
            <a:lvl4pPr lvl="3">
              <a:buNone/>
              <a:defRPr sz="2400">
                <a:solidFill>
                  <a:schemeClr val="dk1"/>
                </a:solidFill>
              </a:defRPr>
            </a:lvl4pPr>
            <a:lvl5pPr lvl="4">
              <a:buNone/>
              <a:defRPr sz="2400">
                <a:solidFill>
                  <a:schemeClr val="dk1"/>
                </a:solidFill>
              </a:defRPr>
            </a:lvl5pPr>
            <a:lvl6pPr lvl="5">
              <a:buNone/>
              <a:defRPr sz="2400">
                <a:solidFill>
                  <a:schemeClr val="dk1"/>
                </a:solidFill>
              </a:defRPr>
            </a:lvl6pPr>
            <a:lvl7pPr lvl="6">
              <a:buNone/>
              <a:defRPr sz="2400">
                <a:solidFill>
                  <a:schemeClr val="dk1"/>
                </a:solidFill>
              </a:defRPr>
            </a:lvl7pPr>
            <a:lvl8pPr lvl="7">
              <a:buNone/>
              <a:defRPr sz="2400">
                <a:solidFill>
                  <a:schemeClr val="dk1"/>
                </a:solidFill>
              </a:defRPr>
            </a:lvl8pPr>
            <a:lvl9pPr lvl="8">
              <a:buNone/>
              <a:defRPr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jpg"/><Relationship Id="rId4" Type="http://schemas.openxmlformats.org/officeDocument/2006/relationships/image" Target="../media/image16.png"/><Relationship Id="rId5" Type="http://schemas.openxmlformats.org/officeDocument/2006/relationships/hyperlink" Target="https://www.clark.center/hom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6.png"/><Relationship Id="rId13" Type="http://schemas.openxmlformats.org/officeDocument/2006/relationships/image" Target="../media/image20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9" Type="http://schemas.openxmlformats.org/officeDocument/2006/relationships/image" Target="../media/image7.png"/><Relationship Id="rId15" Type="http://schemas.openxmlformats.org/officeDocument/2006/relationships/image" Target="../media/image11.png"/><Relationship Id="rId14" Type="http://schemas.openxmlformats.org/officeDocument/2006/relationships/image" Target="../media/image15.png"/><Relationship Id="rId17" Type="http://schemas.openxmlformats.org/officeDocument/2006/relationships/image" Target="../media/image25.png"/><Relationship Id="rId16" Type="http://schemas.openxmlformats.org/officeDocument/2006/relationships/image" Target="../media/image14.png"/><Relationship Id="rId5" Type="http://schemas.openxmlformats.org/officeDocument/2006/relationships/image" Target="../media/image32.png"/><Relationship Id="rId6" Type="http://schemas.openxmlformats.org/officeDocument/2006/relationships/image" Target="../media/image12.png"/><Relationship Id="rId18" Type="http://schemas.openxmlformats.org/officeDocument/2006/relationships/image" Target="../media/image18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3" Type="http://schemas.openxmlformats.org/officeDocument/2006/relationships/image" Target="../media/image50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7.jpg"/><Relationship Id="rId9" Type="http://schemas.openxmlformats.org/officeDocument/2006/relationships/image" Target="../media/image24.png"/><Relationship Id="rId5" Type="http://schemas.openxmlformats.org/officeDocument/2006/relationships/image" Target="../media/image45.jpg"/><Relationship Id="rId6" Type="http://schemas.openxmlformats.org/officeDocument/2006/relationships/image" Target="../media/image31.png"/><Relationship Id="rId7" Type="http://schemas.openxmlformats.org/officeDocument/2006/relationships/image" Target="../media/image29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9.png"/><Relationship Id="rId6" Type="http://schemas.openxmlformats.org/officeDocument/2006/relationships/image" Target="../media/image4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hyperlink" Target="https://www.clark.center/home" TargetMode="External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39.png"/><Relationship Id="rId13" Type="http://schemas.openxmlformats.org/officeDocument/2006/relationships/image" Target="../media/image43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Relationship Id="rId15" Type="http://schemas.openxmlformats.org/officeDocument/2006/relationships/image" Target="../media/image46.png"/><Relationship Id="rId14" Type="http://schemas.openxmlformats.org/officeDocument/2006/relationships/image" Target="../media/image4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11199235" y="730528"/>
            <a:ext cx="5355285" cy="8825943"/>
          </a:xfrm>
          <a:custGeom>
            <a:rect b="b" l="l" r="r" t="t"/>
            <a:pathLst>
              <a:path extrusionOk="0" h="1367370" w="829674">
                <a:moveTo>
                  <a:pt x="0" y="0"/>
                </a:moveTo>
                <a:lnTo>
                  <a:pt x="829674" y="0"/>
                </a:lnTo>
                <a:lnTo>
                  <a:pt x="829674" y="1367370"/>
                </a:lnTo>
                <a:lnTo>
                  <a:pt x="0" y="136737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7270" r="-69084" t="0"/>
            </a:stretch>
          </a:blipFill>
          <a:ln>
            <a:noFill/>
          </a:ln>
        </p:spPr>
      </p:sp>
      <p:grpSp>
        <p:nvGrpSpPr>
          <p:cNvPr id="87" name="Google Shape;87;p1"/>
          <p:cNvGrpSpPr/>
          <p:nvPr/>
        </p:nvGrpSpPr>
        <p:grpSpPr>
          <a:xfrm>
            <a:off x="-74850" y="-144650"/>
            <a:ext cx="11453349" cy="10566353"/>
            <a:chOff x="0" y="-38100"/>
            <a:chExt cx="3016500" cy="2747433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3016444" cy="2709333"/>
            </a:xfrm>
            <a:custGeom>
              <a:rect b="b" l="l" r="r" t="t"/>
              <a:pathLst>
                <a:path extrusionOk="0" h="2709333" w="3016444">
                  <a:moveTo>
                    <a:pt x="0" y="0"/>
                  </a:moveTo>
                  <a:lnTo>
                    <a:pt x="3016444" y="0"/>
                  </a:lnTo>
                  <a:lnTo>
                    <a:pt x="30164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2866"/>
            </a:soli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-38100"/>
              <a:ext cx="30165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"/>
          <p:cNvSpPr txBox="1"/>
          <p:nvPr/>
        </p:nvSpPr>
        <p:spPr>
          <a:xfrm>
            <a:off x="877500" y="1781214"/>
            <a:ext cx="79257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1"/>
              <a:buFont typeface="Arial"/>
              <a:buNone/>
            </a:pPr>
            <a:r>
              <a:rPr b="1" lang="en-US" sz="68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Building AI Education Resources at Scale:</a:t>
            </a:r>
            <a:endParaRPr b="0" i="0" sz="68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812710" y="4899599"/>
            <a:ext cx="7593964" cy="66447"/>
          </a:xfrm>
          <a:custGeom>
            <a:rect b="b" l="l" r="r" t="t"/>
            <a:pathLst>
              <a:path extrusionOk="0" h="66447" w="7593964">
                <a:moveTo>
                  <a:pt x="0" y="0"/>
                </a:moveTo>
                <a:lnTo>
                  <a:pt x="7593964" y="0"/>
                </a:lnTo>
                <a:lnTo>
                  <a:pt x="7593964" y="66447"/>
                </a:lnTo>
                <a:lnTo>
                  <a:pt x="0" y="664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 txBox="1"/>
          <p:nvPr/>
        </p:nvSpPr>
        <p:spPr>
          <a:xfrm>
            <a:off x="812701" y="5350900"/>
            <a:ext cx="80553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3"/>
              <a:buFont typeface="Arial"/>
              <a:buNone/>
            </a:pPr>
            <a:r>
              <a:rPr lang="en-US" sz="3923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Lessons from CLARK and the Need for a National Knowledge Infrastructure</a:t>
            </a:r>
            <a:endParaRPr b="0" i="0" sz="1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5030377" y="222348"/>
            <a:ext cx="30018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1" i="0" lang="en-US" sz="2599" u="sng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www.clark.center</a:t>
            </a:r>
            <a:endParaRPr b="0" i="0" sz="1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1378225" y="9570625"/>
            <a:ext cx="6791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15000"/>
              </a:lnSpc>
              <a:spcBef>
                <a:spcPts val="1500"/>
              </a:spcBef>
              <a:spcAft>
                <a:spcPts val="110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The CLARK System is partially supported by California State University through HQ0034251E002 under the DoW Cyber Academic Engagement Office, the NSF NCyTE Center, NSA NCAE-C program (H98230-21-1-0175), NCCP program (H9830-17-1-0405) and Towson University.</a:t>
            </a:r>
            <a:endParaRPr b="0" i="0" sz="1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31450" y="7222775"/>
            <a:ext cx="743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Sidd Kaza, Blair Taylor</a:t>
            </a:r>
            <a:endParaRPr i="1" sz="240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/>
        </p:nvSpPr>
        <p:spPr>
          <a:xfrm>
            <a:off x="635850" y="3338700"/>
            <a:ext cx="17016300" cy="4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5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HOW DO WE EXPAND AI EDUCATION WHEN</a:t>
            </a:r>
            <a:endParaRPr b="1" sz="65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5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FACULTY, CURRICULUM AND INFRASTRUCTURE</a:t>
            </a:r>
            <a:endParaRPr b="1" sz="65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5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ARE IN SHORT SUPPLY?</a:t>
            </a:r>
            <a:endParaRPr b="1" sz="65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6295477" y="-2537835"/>
            <a:ext cx="5071904" cy="5075669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6"/>
          <p:cNvGrpSpPr/>
          <p:nvPr/>
        </p:nvGrpSpPr>
        <p:grpSpPr>
          <a:xfrm>
            <a:off x="15322030" y="956370"/>
            <a:ext cx="3963529" cy="843855"/>
            <a:chOff x="0" y="-38100"/>
            <a:chExt cx="2087785" cy="444500"/>
          </a:xfrm>
        </p:grpSpPr>
        <p:sp>
          <p:nvSpPr>
            <p:cNvPr id="103" name="Google Shape;103;p6"/>
            <p:cNvSpPr/>
            <p:nvPr/>
          </p:nvSpPr>
          <p:spPr>
            <a:xfrm>
              <a:off x="0" y="0"/>
              <a:ext cx="2087785" cy="406400"/>
            </a:xfrm>
            <a:custGeom>
              <a:rect b="b" l="l" r="r" t="t"/>
              <a:pathLst>
                <a:path extrusionOk="0" h="406400" w="2087785">
                  <a:moveTo>
                    <a:pt x="1884585" y="0"/>
                  </a:moveTo>
                  <a:cubicBezTo>
                    <a:pt x="1996809" y="0"/>
                    <a:pt x="2087785" y="90976"/>
                    <a:pt x="2087785" y="203200"/>
                  </a:cubicBezTo>
                  <a:cubicBezTo>
                    <a:pt x="2087785" y="315424"/>
                    <a:pt x="1996809" y="406400"/>
                    <a:pt x="18845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121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6"/>
            <p:cNvSpPr txBox="1"/>
            <p:nvPr/>
          </p:nvSpPr>
          <p:spPr>
            <a:xfrm>
              <a:off x="0" y="-38100"/>
              <a:ext cx="2087785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6"/>
          <p:cNvSpPr/>
          <p:nvPr/>
        </p:nvSpPr>
        <p:spPr>
          <a:xfrm>
            <a:off x="14767290" y="699857"/>
            <a:ext cx="1277167" cy="1429211"/>
          </a:xfrm>
          <a:custGeom>
            <a:rect b="b" l="l" r="r" t="t"/>
            <a:pathLst>
              <a:path extrusionOk="0" h="1429211" w="1277167">
                <a:moveTo>
                  <a:pt x="0" y="0"/>
                </a:moveTo>
                <a:lnTo>
                  <a:pt x="1277167" y="0"/>
                </a:lnTo>
                <a:lnTo>
                  <a:pt x="1277167" y="1429211"/>
                </a:lnTo>
                <a:lnTo>
                  <a:pt x="0" y="1429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6"/>
          <p:cNvSpPr/>
          <p:nvPr/>
        </p:nvSpPr>
        <p:spPr>
          <a:xfrm>
            <a:off x="3383067" y="8602488"/>
            <a:ext cx="11384222" cy="99612"/>
          </a:xfrm>
          <a:custGeom>
            <a:rect b="b" l="l" r="r" t="t"/>
            <a:pathLst>
              <a:path extrusionOk="0" h="99612" w="11384222">
                <a:moveTo>
                  <a:pt x="0" y="0"/>
                </a:moveTo>
                <a:lnTo>
                  <a:pt x="11384221" y="0"/>
                </a:lnTo>
                <a:lnTo>
                  <a:pt x="11384221" y="99611"/>
                </a:lnTo>
                <a:lnTo>
                  <a:pt x="0" y="99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6"/>
          <p:cNvSpPr txBox="1"/>
          <p:nvPr/>
        </p:nvSpPr>
        <p:spPr>
          <a:xfrm>
            <a:off x="15500250" y="1064900"/>
            <a:ext cx="212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CLARK</a:t>
            </a:r>
            <a:endParaRPr b="0" i="0" sz="18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8" name="Google Shape;108;p6"/>
          <p:cNvSpPr txBox="1"/>
          <p:nvPr>
            <p:ph idx="12" type="sldNum"/>
          </p:nvPr>
        </p:nvSpPr>
        <p:spPr>
          <a:xfrm>
            <a:off x="15493650" y="96372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bc23b637b_0_62"/>
          <p:cNvSpPr/>
          <p:nvPr/>
        </p:nvSpPr>
        <p:spPr>
          <a:xfrm>
            <a:off x="11424000" y="2539650"/>
            <a:ext cx="4306800" cy="6711000"/>
          </a:xfrm>
          <a:prstGeom prst="rect">
            <a:avLst/>
          </a:prstGeom>
          <a:solidFill>
            <a:srgbClr val="0028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ebc23b637b_0_62"/>
          <p:cNvSpPr/>
          <p:nvPr/>
        </p:nvSpPr>
        <p:spPr>
          <a:xfrm>
            <a:off x="6634413" y="2539650"/>
            <a:ext cx="4306800" cy="6711000"/>
          </a:xfrm>
          <a:prstGeom prst="rect">
            <a:avLst/>
          </a:prstGeom>
          <a:solidFill>
            <a:srgbClr val="0028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ebc23b637b_0_62"/>
          <p:cNvSpPr/>
          <p:nvPr/>
        </p:nvSpPr>
        <p:spPr>
          <a:xfrm>
            <a:off x="1844800" y="2539650"/>
            <a:ext cx="4306800" cy="6711000"/>
          </a:xfrm>
          <a:prstGeom prst="rect">
            <a:avLst/>
          </a:prstGeom>
          <a:solidFill>
            <a:srgbClr val="0028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ebc23b637b_0_62"/>
          <p:cNvSpPr txBox="1"/>
          <p:nvPr/>
        </p:nvSpPr>
        <p:spPr>
          <a:xfrm>
            <a:off x="1028700" y="956375"/>
            <a:ext cx="13487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lang="en-US" sz="65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Challenge Facing AI Education </a:t>
            </a:r>
            <a:endParaRPr b="0" i="0" sz="1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7" name="Google Shape;117;g3ebc23b637b_0_62"/>
          <p:cNvSpPr/>
          <p:nvPr/>
        </p:nvSpPr>
        <p:spPr>
          <a:xfrm>
            <a:off x="16295477" y="-2537835"/>
            <a:ext cx="5073710" cy="5077476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g3ebc23b637b_0_62"/>
          <p:cNvGrpSpPr/>
          <p:nvPr/>
        </p:nvGrpSpPr>
        <p:grpSpPr>
          <a:xfrm>
            <a:off x="15322030" y="956371"/>
            <a:ext cx="3963451" cy="844029"/>
            <a:chOff x="0" y="-38100"/>
            <a:chExt cx="2087785" cy="444600"/>
          </a:xfrm>
        </p:grpSpPr>
        <p:sp>
          <p:nvSpPr>
            <p:cNvPr id="119" name="Google Shape;119;g3ebc23b637b_0_62"/>
            <p:cNvSpPr/>
            <p:nvPr/>
          </p:nvSpPr>
          <p:spPr>
            <a:xfrm>
              <a:off x="0" y="0"/>
              <a:ext cx="2087785" cy="406400"/>
            </a:xfrm>
            <a:custGeom>
              <a:rect b="b" l="l" r="r" t="t"/>
              <a:pathLst>
                <a:path extrusionOk="0" h="406400" w="2087785">
                  <a:moveTo>
                    <a:pt x="1884585" y="0"/>
                  </a:moveTo>
                  <a:cubicBezTo>
                    <a:pt x="1996809" y="0"/>
                    <a:pt x="2087785" y="90976"/>
                    <a:pt x="2087785" y="203200"/>
                  </a:cubicBezTo>
                  <a:cubicBezTo>
                    <a:pt x="2087785" y="315424"/>
                    <a:pt x="1996809" y="406400"/>
                    <a:pt x="18845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121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ebc23b637b_0_62"/>
            <p:cNvSpPr txBox="1"/>
            <p:nvPr/>
          </p:nvSpPr>
          <p:spPr>
            <a:xfrm>
              <a:off x="0" y="-38100"/>
              <a:ext cx="20877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g3ebc23b637b_0_62"/>
          <p:cNvSpPr/>
          <p:nvPr/>
        </p:nvSpPr>
        <p:spPr>
          <a:xfrm>
            <a:off x="14767290" y="699857"/>
            <a:ext cx="1277167" cy="1429211"/>
          </a:xfrm>
          <a:custGeom>
            <a:rect b="b" l="l" r="r" t="t"/>
            <a:pathLst>
              <a:path extrusionOk="0" h="1429211" w="1277167">
                <a:moveTo>
                  <a:pt x="0" y="0"/>
                </a:moveTo>
                <a:lnTo>
                  <a:pt x="1277167" y="0"/>
                </a:lnTo>
                <a:lnTo>
                  <a:pt x="1277167" y="1429211"/>
                </a:lnTo>
                <a:lnTo>
                  <a:pt x="0" y="1429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g3ebc23b637b_0_62"/>
          <p:cNvSpPr/>
          <p:nvPr/>
        </p:nvSpPr>
        <p:spPr>
          <a:xfrm>
            <a:off x="1193830" y="1906588"/>
            <a:ext cx="11384222" cy="99612"/>
          </a:xfrm>
          <a:custGeom>
            <a:rect b="b" l="l" r="r" t="t"/>
            <a:pathLst>
              <a:path extrusionOk="0" h="99612" w="11384222">
                <a:moveTo>
                  <a:pt x="0" y="0"/>
                </a:moveTo>
                <a:lnTo>
                  <a:pt x="11384221" y="0"/>
                </a:lnTo>
                <a:lnTo>
                  <a:pt x="11384221" y="99611"/>
                </a:lnTo>
                <a:lnTo>
                  <a:pt x="0" y="99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g3ebc23b637b_0_62"/>
          <p:cNvSpPr txBox="1"/>
          <p:nvPr/>
        </p:nvSpPr>
        <p:spPr>
          <a:xfrm>
            <a:off x="1844855" y="2984475"/>
            <a:ext cx="4306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lang="en-US" sz="2799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Exploding Demand</a:t>
            </a:r>
            <a:endParaRPr b="1" i="0" sz="1400" u="none" cap="none" strike="noStrike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4" name="Google Shape;124;g3ebc23b637b_0_62"/>
          <p:cNvSpPr txBox="1"/>
          <p:nvPr/>
        </p:nvSpPr>
        <p:spPr>
          <a:xfrm>
            <a:off x="15500250" y="1064900"/>
            <a:ext cx="212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CLARK</a:t>
            </a:r>
            <a:endParaRPr b="0" i="0" sz="18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5" name="Google Shape;125;g3ebc23b637b_0_62"/>
          <p:cNvSpPr txBox="1"/>
          <p:nvPr/>
        </p:nvSpPr>
        <p:spPr>
          <a:xfrm>
            <a:off x="6634405" y="2984475"/>
            <a:ext cx="4306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lang="en-US" sz="2799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Faculty</a:t>
            </a:r>
            <a:r>
              <a:rPr lang="en-US" sz="2799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b="1" lang="en-US" sz="2799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Capacity Gap</a:t>
            </a:r>
            <a:endParaRPr b="1" i="0" sz="1400" u="none" cap="none" strike="noStrike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6" name="Google Shape;126;g3ebc23b637b_0_62"/>
          <p:cNvSpPr txBox="1"/>
          <p:nvPr/>
        </p:nvSpPr>
        <p:spPr>
          <a:xfrm>
            <a:off x="11424005" y="2984475"/>
            <a:ext cx="4306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lang="en-US" sz="2799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Resource Fragmentation</a:t>
            </a:r>
            <a:endParaRPr b="1" i="0" sz="1400" u="none" cap="none" strike="noStrike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127" name="Google Shape;127;g3ebc23b637b_0_62"/>
          <p:cNvCxnSpPr/>
          <p:nvPr/>
        </p:nvCxnSpPr>
        <p:spPr>
          <a:xfrm>
            <a:off x="2459775" y="3609500"/>
            <a:ext cx="32217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g3ebc23b637b_0_62"/>
          <p:cNvCxnSpPr/>
          <p:nvPr/>
        </p:nvCxnSpPr>
        <p:spPr>
          <a:xfrm>
            <a:off x="7243775" y="3609500"/>
            <a:ext cx="32217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g3ebc23b637b_0_62"/>
          <p:cNvCxnSpPr/>
          <p:nvPr/>
        </p:nvCxnSpPr>
        <p:spPr>
          <a:xfrm>
            <a:off x="11966550" y="3609500"/>
            <a:ext cx="32217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g3ebc23b637b_0_62"/>
          <p:cNvSpPr txBox="1"/>
          <p:nvPr/>
        </p:nvSpPr>
        <p:spPr>
          <a:xfrm>
            <a:off x="1998900" y="4184325"/>
            <a:ext cx="3963300" cy="3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AI programs growing rapidly</a:t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Industry demand accelerating</a:t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Institutions racing to add AI coursework</a:t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1" name="Google Shape;131;g3ebc23b637b_0_62"/>
          <p:cNvSpPr txBox="1"/>
          <p:nvPr/>
        </p:nvSpPr>
        <p:spPr>
          <a:xfrm>
            <a:off x="6806150" y="4184325"/>
            <a:ext cx="3963300" cy="30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99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Limited AI expertise</a:t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99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Faculty overloaded</a:t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Difficulty keeping pace with advances</a:t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2" name="Google Shape;132;g3ebc23b637b_0_62"/>
          <p:cNvSpPr txBox="1"/>
          <p:nvPr/>
        </p:nvSpPr>
        <p:spPr>
          <a:xfrm>
            <a:off x="11613450" y="4184325"/>
            <a:ext cx="3963300" cy="30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Excellent curriculum exists</a:t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Difficult to discover</a:t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Difficult to adopt</a:t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Difficult to maintain</a:t>
            </a:r>
            <a:endParaRPr sz="2799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3" name="Google Shape;133;g3ebc23b637b_0_6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g3ebc23b637b_0_62"/>
          <p:cNvSpPr txBox="1"/>
          <p:nvPr>
            <p:ph idx="12" type="sldNum"/>
          </p:nvPr>
        </p:nvSpPr>
        <p:spPr>
          <a:xfrm>
            <a:off x="15493650" y="96372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c2e9151e4_1_13"/>
          <p:cNvSpPr txBox="1"/>
          <p:nvPr/>
        </p:nvSpPr>
        <p:spPr>
          <a:xfrm>
            <a:off x="702700" y="1429413"/>
            <a:ext cx="135615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5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CYBERSECURITY FACED THE SAME PROBLEM!</a:t>
            </a:r>
            <a:endParaRPr b="1" sz="75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0" name="Google Shape;140;g3ec2e9151e4_1_13"/>
          <p:cNvSpPr/>
          <p:nvPr/>
        </p:nvSpPr>
        <p:spPr>
          <a:xfrm>
            <a:off x="16295477" y="-2537835"/>
            <a:ext cx="5073710" cy="5077476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g3ec2e9151e4_1_13"/>
          <p:cNvGrpSpPr/>
          <p:nvPr/>
        </p:nvGrpSpPr>
        <p:grpSpPr>
          <a:xfrm>
            <a:off x="15322030" y="956371"/>
            <a:ext cx="3963451" cy="844029"/>
            <a:chOff x="0" y="-38100"/>
            <a:chExt cx="2087785" cy="444600"/>
          </a:xfrm>
        </p:grpSpPr>
        <p:sp>
          <p:nvSpPr>
            <p:cNvPr id="142" name="Google Shape;142;g3ec2e9151e4_1_13"/>
            <p:cNvSpPr/>
            <p:nvPr/>
          </p:nvSpPr>
          <p:spPr>
            <a:xfrm>
              <a:off x="0" y="0"/>
              <a:ext cx="2087785" cy="406400"/>
            </a:xfrm>
            <a:custGeom>
              <a:rect b="b" l="l" r="r" t="t"/>
              <a:pathLst>
                <a:path extrusionOk="0" h="406400" w="2087785">
                  <a:moveTo>
                    <a:pt x="1884585" y="0"/>
                  </a:moveTo>
                  <a:cubicBezTo>
                    <a:pt x="1996809" y="0"/>
                    <a:pt x="2087785" y="90976"/>
                    <a:pt x="2087785" y="203200"/>
                  </a:cubicBezTo>
                  <a:cubicBezTo>
                    <a:pt x="2087785" y="315424"/>
                    <a:pt x="1996809" y="406400"/>
                    <a:pt x="18845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121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ec2e9151e4_1_13"/>
            <p:cNvSpPr txBox="1"/>
            <p:nvPr/>
          </p:nvSpPr>
          <p:spPr>
            <a:xfrm>
              <a:off x="0" y="-38100"/>
              <a:ext cx="20877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g3ec2e9151e4_1_13"/>
          <p:cNvSpPr/>
          <p:nvPr/>
        </p:nvSpPr>
        <p:spPr>
          <a:xfrm>
            <a:off x="14767290" y="699857"/>
            <a:ext cx="1277167" cy="1429211"/>
          </a:xfrm>
          <a:custGeom>
            <a:rect b="b" l="l" r="r" t="t"/>
            <a:pathLst>
              <a:path extrusionOk="0" h="1429211" w="1277167">
                <a:moveTo>
                  <a:pt x="0" y="0"/>
                </a:moveTo>
                <a:lnTo>
                  <a:pt x="1277167" y="0"/>
                </a:lnTo>
                <a:lnTo>
                  <a:pt x="1277167" y="1429211"/>
                </a:lnTo>
                <a:lnTo>
                  <a:pt x="0" y="1429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g3ec2e9151e4_1_13"/>
          <p:cNvSpPr txBox="1"/>
          <p:nvPr/>
        </p:nvSpPr>
        <p:spPr>
          <a:xfrm>
            <a:off x="15500250" y="1064900"/>
            <a:ext cx="212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CLARK</a:t>
            </a:r>
            <a:endParaRPr b="0" i="0" sz="18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6" name="Google Shape;146;g3ec2e9151e4_1_13"/>
          <p:cNvSpPr txBox="1"/>
          <p:nvPr/>
        </p:nvSpPr>
        <p:spPr>
          <a:xfrm>
            <a:off x="1216525" y="4405300"/>
            <a:ext cx="15654300" cy="44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41350" lvl="0" marL="9144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866"/>
              </a:buClr>
              <a:buSzPts val="6500"/>
              <a:buFont typeface="Source Sans 3"/>
              <a:buChar char="➔"/>
            </a:pPr>
            <a:r>
              <a:rPr lang="en-US" sz="65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Workforce shortage</a:t>
            </a:r>
            <a:endParaRPr sz="65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641350" lvl="0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866"/>
              </a:buClr>
              <a:buSzPts val="6500"/>
              <a:buFont typeface="Source Sans 3"/>
              <a:buChar char="➔"/>
            </a:pPr>
            <a:r>
              <a:rPr lang="en-US" sz="65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Faculty shortage</a:t>
            </a:r>
            <a:endParaRPr sz="65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641350" lvl="0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866"/>
              </a:buClr>
              <a:buSzPts val="6500"/>
              <a:buFont typeface="Source Sans 3"/>
              <a:buChar char="➔"/>
            </a:pPr>
            <a:r>
              <a:rPr lang="en-US" sz="65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Rapidly changing discipline</a:t>
            </a:r>
            <a:endParaRPr sz="65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641350" lvl="0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866"/>
              </a:buClr>
              <a:buSzPts val="6500"/>
              <a:buFont typeface="Source Sans 3"/>
              <a:buChar char="➔"/>
            </a:pPr>
            <a:r>
              <a:rPr lang="en-US" sz="65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Lack of accessible curriculum</a:t>
            </a:r>
            <a:endParaRPr sz="65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7" name="Google Shape;147;g3ec2e9151e4_1_13"/>
          <p:cNvSpPr txBox="1"/>
          <p:nvPr>
            <p:ph idx="12" type="sldNum"/>
          </p:nvPr>
        </p:nvSpPr>
        <p:spPr>
          <a:xfrm>
            <a:off x="15493650" y="96372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c2e9151e4_1_26"/>
          <p:cNvSpPr txBox="1"/>
          <p:nvPr/>
        </p:nvSpPr>
        <p:spPr>
          <a:xfrm>
            <a:off x="943325" y="956375"/>
            <a:ext cx="13187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Cybersecurity is a common good that requires a common pool of educational resources. </a:t>
            </a:r>
            <a:endParaRPr b="1" sz="48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53" name="Google Shape;153;g3ec2e9151e4_1_26"/>
          <p:cNvSpPr/>
          <p:nvPr/>
        </p:nvSpPr>
        <p:spPr>
          <a:xfrm>
            <a:off x="16295477" y="-2537835"/>
            <a:ext cx="5073710" cy="5077476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g3ec2e9151e4_1_26"/>
          <p:cNvGrpSpPr/>
          <p:nvPr/>
        </p:nvGrpSpPr>
        <p:grpSpPr>
          <a:xfrm>
            <a:off x="15322030" y="956371"/>
            <a:ext cx="3963451" cy="844029"/>
            <a:chOff x="0" y="-38100"/>
            <a:chExt cx="2087785" cy="444600"/>
          </a:xfrm>
        </p:grpSpPr>
        <p:sp>
          <p:nvSpPr>
            <p:cNvPr id="155" name="Google Shape;155;g3ec2e9151e4_1_26"/>
            <p:cNvSpPr/>
            <p:nvPr/>
          </p:nvSpPr>
          <p:spPr>
            <a:xfrm>
              <a:off x="0" y="0"/>
              <a:ext cx="2087785" cy="406400"/>
            </a:xfrm>
            <a:custGeom>
              <a:rect b="b" l="l" r="r" t="t"/>
              <a:pathLst>
                <a:path extrusionOk="0" h="406400" w="2087785">
                  <a:moveTo>
                    <a:pt x="1884585" y="0"/>
                  </a:moveTo>
                  <a:cubicBezTo>
                    <a:pt x="1996809" y="0"/>
                    <a:pt x="2087785" y="90976"/>
                    <a:pt x="2087785" y="203200"/>
                  </a:cubicBezTo>
                  <a:cubicBezTo>
                    <a:pt x="2087785" y="315424"/>
                    <a:pt x="1996809" y="406400"/>
                    <a:pt x="18845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121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g3ec2e9151e4_1_26"/>
            <p:cNvSpPr txBox="1"/>
            <p:nvPr/>
          </p:nvSpPr>
          <p:spPr>
            <a:xfrm>
              <a:off x="0" y="-38100"/>
              <a:ext cx="20877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g3ec2e9151e4_1_26"/>
          <p:cNvSpPr/>
          <p:nvPr/>
        </p:nvSpPr>
        <p:spPr>
          <a:xfrm>
            <a:off x="14767290" y="699857"/>
            <a:ext cx="1277167" cy="1429211"/>
          </a:xfrm>
          <a:custGeom>
            <a:rect b="b" l="l" r="r" t="t"/>
            <a:pathLst>
              <a:path extrusionOk="0" h="1429211" w="1277167">
                <a:moveTo>
                  <a:pt x="0" y="0"/>
                </a:moveTo>
                <a:lnTo>
                  <a:pt x="1277167" y="0"/>
                </a:lnTo>
                <a:lnTo>
                  <a:pt x="1277167" y="1429211"/>
                </a:lnTo>
                <a:lnTo>
                  <a:pt x="0" y="1429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g3ec2e9151e4_1_26"/>
          <p:cNvSpPr txBox="1"/>
          <p:nvPr/>
        </p:nvSpPr>
        <p:spPr>
          <a:xfrm>
            <a:off x="15500250" y="1064900"/>
            <a:ext cx="212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CLARK</a:t>
            </a:r>
            <a:endParaRPr b="0" i="0" sz="18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59" name="Google Shape;159;g3ec2e9151e4_1_26"/>
          <p:cNvSpPr/>
          <p:nvPr/>
        </p:nvSpPr>
        <p:spPr>
          <a:xfrm>
            <a:off x="943330" y="2651813"/>
            <a:ext cx="11384222" cy="99612"/>
          </a:xfrm>
          <a:custGeom>
            <a:rect b="b" l="l" r="r" t="t"/>
            <a:pathLst>
              <a:path extrusionOk="0" h="99612" w="11384222">
                <a:moveTo>
                  <a:pt x="0" y="0"/>
                </a:moveTo>
                <a:lnTo>
                  <a:pt x="11384221" y="0"/>
                </a:lnTo>
                <a:lnTo>
                  <a:pt x="11384221" y="99611"/>
                </a:lnTo>
                <a:lnTo>
                  <a:pt x="0" y="99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0" name="Google Shape;160;g3ec2e9151e4_1_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750" y="3050875"/>
            <a:ext cx="15992475" cy="64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ec2e9151e4_1_26"/>
          <p:cNvSpPr txBox="1"/>
          <p:nvPr>
            <p:ph idx="12" type="sldNum"/>
          </p:nvPr>
        </p:nvSpPr>
        <p:spPr>
          <a:xfrm>
            <a:off x="15493650" y="96372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c2e9151e4_1_39"/>
          <p:cNvSpPr txBox="1"/>
          <p:nvPr/>
        </p:nvSpPr>
        <p:spPr>
          <a:xfrm>
            <a:off x="0" y="7887025"/>
            <a:ext cx="18288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5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Cyber Cube</a:t>
            </a:r>
            <a:endParaRPr b="1" sz="65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7" name="Google Shape;167;g3ec2e9151e4_1_39"/>
          <p:cNvSpPr/>
          <p:nvPr/>
        </p:nvSpPr>
        <p:spPr>
          <a:xfrm>
            <a:off x="16295477" y="-2537835"/>
            <a:ext cx="5073710" cy="5077476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g3ec2e9151e4_1_39"/>
          <p:cNvGrpSpPr/>
          <p:nvPr/>
        </p:nvGrpSpPr>
        <p:grpSpPr>
          <a:xfrm>
            <a:off x="15322030" y="956371"/>
            <a:ext cx="3963451" cy="844029"/>
            <a:chOff x="0" y="-38100"/>
            <a:chExt cx="2087785" cy="444600"/>
          </a:xfrm>
        </p:grpSpPr>
        <p:sp>
          <p:nvSpPr>
            <p:cNvPr id="169" name="Google Shape;169;g3ec2e9151e4_1_39"/>
            <p:cNvSpPr/>
            <p:nvPr/>
          </p:nvSpPr>
          <p:spPr>
            <a:xfrm>
              <a:off x="0" y="0"/>
              <a:ext cx="2087785" cy="406400"/>
            </a:xfrm>
            <a:custGeom>
              <a:rect b="b" l="l" r="r" t="t"/>
              <a:pathLst>
                <a:path extrusionOk="0" h="406400" w="2087785">
                  <a:moveTo>
                    <a:pt x="1884585" y="0"/>
                  </a:moveTo>
                  <a:cubicBezTo>
                    <a:pt x="1996809" y="0"/>
                    <a:pt x="2087785" y="90976"/>
                    <a:pt x="2087785" y="203200"/>
                  </a:cubicBezTo>
                  <a:cubicBezTo>
                    <a:pt x="2087785" y="315424"/>
                    <a:pt x="1996809" y="406400"/>
                    <a:pt x="18845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121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g3ec2e9151e4_1_39"/>
            <p:cNvSpPr txBox="1"/>
            <p:nvPr/>
          </p:nvSpPr>
          <p:spPr>
            <a:xfrm>
              <a:off x="0" y="-38100"/>
              <a:ext cx="20877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g3ec2e9151e4_1_39"/>
          <p:cNvSpPr/>
          <p:nvPr/>
        </p:nvSpPr>
        <p:spPr>
          <a:xfrm>
            <a:off x="14767290" y="699857"/>
            <a:ext cx="1277167" cy="1429211"/>
          </a:xfrm>
          <a:custGeom>
            <a:rect b="b" l="l" r="r" t="t"/>
            <a:pathLst>
              <a:path extrusionOk="0" h="1429211" w="1277167">
                <a:moveTo>
                  <a:pt x="0" y="0"/>
                </a:moveTo>
                <a:lnTo>
                  <a:pt x="1277167" y="0"/>
                </a:lnTo>
                <a:lnTo>
                  <a:pt x="1277167" y="1429211"/>
                </a:lnTo>
                <a:lnTo>
                  <a:pt x="0" y="1429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g3ec2e9151e4_1_39"/>
          <p:cNvSpPr txBox="1"/>
          <p:nvPr/>
        </p:nvSpPr>
        <p:spPr>
          <a:xfrm>
            <a:off x="15500250" y="1064900"/>
            <a:ext cx="212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CLARK</a:t>
            </a:r>
            <a:endParaRPr b="0" i="0" sz="18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173" name="Google Shape;173;g3ec2e9151e4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5913" y="878575"/>
            <a:ext cx="11896162" cy="677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ec2e9151e4_1_39"/>
          <p:cNvSpPr txBox="1"/>
          <p:nvPr>
            <p:ph idx="12" type="sldNum"/>
          </p:nvPr>
        </p:nvSpPr>
        <p:spPr>
          <a:xfrm>
            <a:off x="15493650" y="96372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g3ec2e9151e4_1_39"/>
          <p:cNvSpPr txBox="1"/>
          <p:nvPr/>
        </p:nvSpPr>
        <p:spPr>
          <a:xfrm>
            <a:off x="0" y="8933700"/>
            <a:ext cx="1800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latin typeface="Source Sans 3"/>
                <a:ea typeface="Source Sans 3"/>
                <a:cs typeface="Source Sans 3"/>
                <a:sym typeface="Source Sans 3"/>
              </a:rPr>
              <a:t>Figure 3. The Cyber Cube. Source: Dark, Kaza, LaFountain, &amp; Taylor (2018). </a:t>
            </a:r>
            <a:endParaRPr i="1"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3ec2e9151e4_1_57" title="Curriculum.png"/>
          <p:cNvPicPr preferRelativeResize="0"/>
          <p:nvPr/>
        </p:nvPicPr>
        <p:blipFill rotWithShape="1">
          <a:blip r:embed="rId3">
            <a:alphaModFix/>
          </a:blip>
          <a:srcRect b="23525" l="3438" r="0" t="31598"/>
          <a:stretch/>
        </p:blipFill>
        <p:spPr>
          <a:xfrm>
            <a:off x="383375" y="4531900"/>
            <a:ext cx="17521224" cy="458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ec2e9151e4_1_57"/>
          <p:cNvSpPr txBox="1"/>
          <p:nvPr/>
        </p:nvSpPr>
        <p:spPr>
          <a:xfrm>
            <a:off x="943325" y="914225"/>
            <a:ext cx="167088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5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From Cube to Community</a:t>
            </a:r>
            <a:endParaRPr b="1" sz="65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82" name="Google Shape;182;g3ec2e9151e4_1_57"/>
          <p:cNvSpPr/>
          <p:nvPr/>
        </p:nvSpPr>
        <p:spPr>
          <a:xfrm>
            <a:off x="16295477" y="-2537835"/>
            <a:ext cx="5073710" cy="5077476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g3ec2e9151e4_1_57"/>
          <p:cNvGrpSpPr/>
          <p:nvPr/>
        </p:nvGrpSpPr>
        <p:grpSpPr>
          <a:xfrm>
            <a:off x="15322030" y="956371"/>
            <a:ext cx="3963451" cy="844029"/>
            <a:chOff x="0" y="-38100"/>
            <a:chExt cx="2087785" cy="444600"/>
          </a:xfrm>
        </p:grpSpPr>
        <p:sp>
          <p:nvSpPr>
            <p:cNvPr id="184" name="Google Shape;184;g3ec2e9151e4_1_57"/>
            <p:cNvSpPr/>
            <p:nvPr/>
          </p:nvSpPr>
          <p:spPr>
            <a:xfrm>
              <a:off x="0" y="0"/>
              <a:ext cx="2087785" cy="406400"/>
            </a:xfrm>
            <a:custGeom>
              <a:rect b="b" l="l" r="r" t="t"/>
              <a:pathLst>
                <a:path extrusionOk="0" h="406400" w="2087785">
                  <a:moveTo>
                    <a:pt x="1884585" y="0"/>
                  </a:moveTo>
                  <a:cubicBezTo>
                    <a:pt x="1996809" y="0"/>
                    <a:pt x="2087785" y="90976"/>
                    <a:pt x="2087785" y="203200"/>
                  </a:cubicBezTo>
                  <a:cubicBezTo>
                    <a:pt x="2087785" y="315424"/>
                    <a:pt x="1996809" y="406400"/>
                    <a:pt x="18845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121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g3ec2e9151e4_1_57"/>
            <p:cNvSpPr txBox="1"/>
            <p:nvPr/>
          </p:nvSpPr>
          <p:spPr>
            <a:xfrm>
              <a:off x="0" y="-38100"/>
              <a:ext cx="20877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g3ec2e9151e4_1_57"/>
          <p:cNvSpPr/>
          <p:nvPr/>
        </p:nvSpPr>
        <p:spPr>
          <a:xfrm>
            <a:off x="14767290" y="699857"/>
            <a:ext cx="1277167" cy="1429211"/>
          </a:xfrm>
          <a:custGeom>
            <a:rect b="b" l="l" r="r" t="t"/>
            <a:pathLst>
              <a:path extrusionOk="0" h="1429211" w="1277167">
                <a:moveTo>
                  <a:pt x="0" y="0"/>
                </a:moveTo>
                <a:lnTo>
                  <a:pt x="1277167" y="0"/>
                </a:lnTo>
                <a:lnTo>
                  <a:pt x="1277167" y="1429211"/>
                </a:lnTo>
                <a:lnTo>
                  <a:pt x="0" y="1429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g3ec2e9151e4_1_57"/>
          <p:cNvSpPr txBox="1"/>
          <p:nvPr/>
        </p:nvSpPr>
        <p:spPr>
          <a:xfrm>
            <a:off x="15500250" y="1064900"/>
            <a:ext cx="212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CLARK</a:t>
            </a:r>
            <a:endParaRPr b="0" i="0" sz="18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88" name="Google Shape;188;g3ec2e9151e4_1_57"/>
          <p:cNvSpPr/>
          <p:nvPr/>
        </p:nvSpPr>
        <p:spPr>
          <a:xfrm>
            <a:off x="689305" y="2029463"/>
            <a:ext cx="11384222" cy="99612"/>
          </a:xfrm>
          <a:custGeom>
            <a:rect b="b" l="l" r="r" t="t"/>
            <a:pathLst>
              <a:path extrusionOk="0" h="99612" w="11384222">
                <a:moveTo>
                  <a:pt x="0" y="0"/>
                </a:moveTo>
                <a:lnTo>
                  <a:pt x="11384221" y="0"/>
                </a:lnTo>
                <a:lnTo>
                  <a:pt x="11384221" y="99611"/>
                </a:lnTo>
                <a:lnTo>
                  <a:pt x="0" y="99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g3ec2e9151e4_1_57"/>
          <p:cNvSpPr txBox="1"/>
          <p:nvPr/>
        </p:nvSpPr>
        <p:spPr>
          <a:xfrm>
            <a:off x="1042275" y="2269800"/>
            <a:ext cx="981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36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Building a National Knowledge Infrastructure</a:t>
            </a:r>
            <a:endParaRPr i="1" sz="36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0" name="Google Shape;190;g3ec2e9151e4_1_57"/>
          <p:cNvSpPr txBox="1"/>
          <p:nvPr/>
        </p:nvSpPr>
        <p:spPr>
          <a:xfrm>
            <a:off x="899913" y="3299300"/>
            <a:ext cx="234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2017</a:t>
            </a:r>
            <a:endParaRPr b="1" sz="36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1" name="Google Shape;191;g3ec2e9151e4_1_57"/>
          <p:cNvSpPr txBox="1"/>
          <p:nvPr/>
        </p:nvSpPr>
        <p:spPr>
          <a:xfrm>
            <a:off x="4309025" y="3299288"/>
            <a:ext cx="234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2018</a:t>
            </a:r>
            <a:endParaRPr b="1" sz="36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2" name="Google Shape;192;g3ec2e9151e4_1_57"/>
          <p:cNvSpPr txBox="1"/>
          <p:nvPr/>
        </p:nvSpPr>
        <p:spPr>
          <a:xfrm>
            <a:off x="7217488" y="3299300"/>
            <a:ext cx="34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2019-23</a:t>
            </a:r>
            <a:endParaRPr b="1" sz="36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3" name="Google Shape;193;g3ec2e9151e4_1_57"/>
          <p:cNvSpPr txBox="1"/>
          <p:nvPr/>
        </p:nvSpPr>
        <p:spPr>
          <a:xfrm>
            <a:off x="10642888" y="3299300"/>
            <a:ext cx="326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2024-26</a:t>
            </a:r>
            <a:endParaRPr b="1" sz="36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4" name="Google Shape;194;g3ec2e9151e4_1_57"/>
          <p:cNvSpPr txBox="1"/>
          <p:nvPr/>
        </p:nvSpPr>
        <p:spPr>
          <a:xfrm>
            <a:off x="14152188" y="3314750"/>
            <a:ext cx="375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Future</a:t>
            </a:r>
            <a:endParaRPr b="1" sz="34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5" name="Google Shape;195;g3ec2e9151e4_1_57"/>
          <p:cNvSpPr txBox="1"/>
          <p:nvPr/>
        </p:nvSpPr>
        <p:spPr>
          <a:xfrm>
            <a:off x="689300" y="3853400"/>
            <a:ext cx="284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Cyber Digital Library</a:t>
            </a:r>
            <a:endParaRPr b="1"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6" name="Google Shape;196;g3ec2e9151e4_1_57"/>
          <p:cNvSpPr txBox="1"/>
          <p:nvPr/>
        </p:nvSpPr>
        <p:spPr>
          <a:xfrm>
            <a:off x="4305737" y="3873800"/>
            <a:ext cx="234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Cyber Cube</a:t>
            </a:r>
            <a:endParaRPr i="1" sz="20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7" name="Google Shape;197;g3ec2e9151e4_1_57"/>
          <p:cNvSpPr txBox="1"/>
          <p:nvPr/>
        </p:nvSpPr>
        <p:spPr>
          <a:xfrm>
            <a:off x="7813438" y="3873800"/>
            <a:ext cx="223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CLARK Growth</a:t>
            </a:r>
            <a:endParaRPr b="1"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8" name="Google Shape;198;g3ec2e9151e4_1_57"/>
          <p:cNvSpPr txBox="1"/>
          <p:nvPr/>
        </p:nvSpPr>
        <p:spPr>
          <a:xfrm>
            <a:off x="10745313" y="3873800"/>
            <a:ext cx="31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National Community</a:t>
            </a:r>
            <a:endParaRPr b="1"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9" name="Google Shape;199;g3ec2e9151e4_1_57"/>
          <p:cNvSpPr txBox="1"/>
          <p:nvPr/>
        </p:nvSpPr>
        <p:spPr>
          <a:xfrm>
            <a:off x="14331012" y="3853388"/>
            <a:ext cx="339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AI Knowledge Commons</a:t>
            </a:r>
            <a:endParaRPr b="1"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0" name="Google Shape;200;g3ec2e9151e4_1_57"/>
          <p:cNvSpPr txBox="1"/>
          <p:nvPr/>
        </p:nvSpPr>
        <p:spPr>
          <a:xfrm>
            <a:off x="689300" y="4192650"/>
            <a:ext cx="284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Initial Vision</a:t>
            </a:r>
            <a:endParaRPr sz="20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1" name="Google Shape;201;g3ec2e9151e4_1_57"/>
          <p:cNvSpPr txBox="1"/>
          <p:nvPr/>
        </p:nvSpPr>
        <p:spPr>
          <a:xfrm>
            <a:off x="3953200" y="4192650"/>
            <a:ext cx="326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A Multifaceted Framework</a:t>
            </a:r>
            <a:endParaRPr sz="20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2" name="Google Shape;202;g3ec2e9151e4_1_57"/>
          <p:cNvSpPr txBox="1"/>
          <p:nvPr/>
        </p:nvSpPr>
        <p:spPr>
          <a:xfrm>
            <a:off x="7319800" y="4202850"/>
            <a:ext cx="31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From Concept to Platform</a:t>
            </a:r>
            <a:endParaRPr sz="20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3" name="Google Shape;203;g3ec2e9151e4_1_57"/>
          <p:cNvSpPr txBox="1"/>
          <p:nvPr/>
        </p:nvSpPr>
        <p:spPr>
          <a:xfrm>
            <a:off x="10745325" y="4202850"/>
            <a:ext cx="3059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A Shared Resource</a:t>
            </a:r>
            <a:endParaRPr sz="20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4" name="Google Shape;204;g3ec2e9151e4_1_57"/>
          <p:cNvSpPr txBox="1"/>
          <p:nvPr/>
        </p:nvSpPr>
        <p:spPr>
          <a:xfrm>
            <a:off x="14498550" y="4176650"/>
            <a:ext cx="3059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Building What’s Next</a:t>
            </a:r>
            <a:endParaRPr sz="20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5" name="Google Shape;205;g3ec2e9151e4_1_57"/>
          <p:cNvSpPr/>
          <p:nvPr/>
        </p:nvSpPr>
        <p:spPr>
          <a:xfrm>
            <a:off x="615000" y="8823150"/>
            <a:ext cx="17058000" cy="1243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2EA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ec2e9151e4_1_57"/>
          <p:cNvSpPr/>
          <p:nvPr/>
        </p:nvSpPr>
        <p:spPr>
          <a:xfrm>
            <a:off x="1295023" y="8944525"/>
            <a:ext cx="909981" cy="1000448"/>
          </a:xfrm>
          <a:custGeom>
            <a:rect b="b" l="l" r="r" t="t"/>
            <a:pathLst>
              <a:path extrusionOk="0" h="1429211" w="1277167">
                <a:moveTo>
                  <a:pt x="0" y="0"/>
                </a:moveTo>
                <a:lnTo>
                  <a:pt x="1277167" y="0"/>
                </a:lnTo>
                <a:lnTo>
                  <a:pt x="1277167" y="1429211"/>
                </a:lnTo>
                <a:lnTo>
                  <a:pt x="0" y="1429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g3ec2e9151e4_1_57"/>
          <p:cNvSpPr txBox="1"/>
          <p:nvPr/>
        </p:nvSpPr>
        <p:spPr>
          <a:xfrm>
            <a:off x="2205000" y="921390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One Vision</a:t>
            </a:r>
            <a:endParaRPr b="1" sz="30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8" name="Google Shape;208;g3ec2e9151e4_1_57"/>
          <p:cNvSpPr txBox="1"/>
          <p:nvPr/>
        </p:nvSpPr>
        <p:spPr>
          <a:xfrm>
            <a:off x="4684475" y="9213900"/>
            <a:ext cx="375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Many Contributors</a:t>
            </a:r>
            <a:endParaRPr b="1" sz="30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9" name="Google Shape;209;g3ec2e9151e4_1_57"/>
          <p:cNvSpPr txBox="1"/>
          <p:nvPr/>
        </p:nvSpPr>
        <p:spPr>
          <a:xfrm>
            <a:off x="8436875" y="9213900"/>
            <a:ext cx="375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Stronger Together</a:t>
            </a:r>
            <a:endParaRPr b="1" sz="30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210" name="Google Shape;210;g3ec2e9151e4_1_57"/>
          <p:cNvCxnSpPr/>
          <p:nvPr/>
        </p:nvCxnSpPr>
        <p:spPr>
          <a:xfrm>
            <a:off x="4572000" y="9143700"/>
            <a:ext cx="0" cy="630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g3ec2e9151e4_1_57"/>
          <p:cNvCxnSpPr/>
          <p:nvPr/>
        </p:nvCxnSpPr>
        <p:spPr>
          <a:xfrm>
            <a:off x="8312900" y="9129450"/>
            <a:ext cx="0" cy="630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g3ec2e9151e4_1_57"/>
          <p:cNvCxnSpPr/>
          <p:nvPr/>
        </p:nvCxnSpPr>
        <p:spPr>
          <a:xfrm>
            <a:off x="11923300" y="9133500"/>
            <a:ext cx="0" cy="630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g3ec2e9151e4_1_57"/>
          <p:cNvSpPr txBox="1"/>
          <p:nvPr/>
        </p:nvSpPr>
        <p:spPr>
          <a:xfrm>
            <a:off x="12313250" y="9133500"/>
            <a:ext cx="4720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Empowering Educators. Preparing the Workforce. Securing our Future</a:t>
            </a:r>
            <a:endParaRPr b="1" i="1" sz="20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4" name="Google Shape;214;g3ec2e9151e4_1_5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g3ec2e9151e4_1_57"/>
          <p:cNvSpPr txBox="1"/>
          <p:nvPr>
            <p:ph idx="12" type="sldNum"/>
          </p:nvPr>
        </p:nvSpPr>
        <p:spPr>
          <a:xfrm>
            <a:off x="15493650" y="96372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"/>
          <p:cNvPicPr preferRelativeResize="0"/>
          <p:nvPr/>
        </p:nvPicPr>
        <p:blipFill rotWithShape="1">
          <a:blip r:embed="rId3">
            <a:alphaModFix/>
          </a:blip>
          <a:srcRect b="2737" l="0" r="3298" t="14585"/>
          <a:stretch/>
        </p:blipFill>
        <p:spPr>
          <a:xfrm>
            <a:off x="729675" y="2537575"/>
            <a:ext cx="8816974" cy="6505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"/>
          <p:cNvSpPr/>
          <p:nvPr/>
        </p:nvSpPr>
        <p:spPr>
          <a:xfrm>
            <a:off x="16295477" y="-2537835"/>
            <a:ext cx="5071904" cy="5075669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p2"/>
          <p:cNvGrpSpPr/>
          <p:nvPr/>
        </p:nvGrpSpPr>
        <p:grpSpPr>
          <a:xfrm>
            <a:off x="15322030" y="956370"/>
            <a:ext cx="3963529" cy="843855"/>
            <a:chOff x="0" y="-38100"/>
            <a:chExt cx="2087785" cy="444500"/>
          </a:xfrm>
        </p:grpSpPr>
        <p:sp>
          <p:nvSpPr>
            <p:cNvPr id="223" name="Google Shape;223;p2"/>
            <p:cNvSpPr/>
            <p:nvPr/>
          </p:nvSpPr>
          <p:spPr>
            <a:xfrm>
              <a:off x="0" y="0"/>
              <a:ext cx="2087785" cy="406400"/>
            </a:xfrm>
            <a:custGeom>
              <a:rect b="b" l="l" r="r" t="t"/>
              <a:pathLst>
                <a:path extrusionOk="0" h="406400" w="2087785">
                  <a:moveTo>
                    <a:pt x="1884585" y="0"/>
                  </a:moveTo>
                  <a:cubicBezTo>
                    <a:pt x="1996809" y="0"/>
                    <a:pt x="2087785" y="90976"/>
                    <a:pt x="2087785" y="203200"/>
                  </a:cubicBezTo>
                  <a:cubicBezTo>
                    <a:pt x="2087785" y="315424"/>
                    <a:pt x="1996809" y="406400"/>
                    <a:pt x="18845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121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"/>
            <p:cNvSpPr txBox="1"/>
            <p:nvPr/>
          </p:nvSpPr>
          <p:spPr>
            <a:xfrm>
              <a:off x="0" y="-38100"/>
              <a:ext cx="2087785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2"/>
          <p:cNvSpPr txBox="1"/>
          <p:nvPr/>
        </p:nvSpPr>
        <p:spPr>
          <a:xfrm>
            <a:off x="15500250" y="1064900"/>
            <a:ext cx="212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CLARK</a:t>
            </a:r>
            <a:endParaRPr b="0" i="0" sz="18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6" name="Google Shape;226;p2"/>
          <p:cNvSpPr/>
          <p:nvPr/>
        </p:nvSpPr>
        <p:spPr>
          <a:xfrm>
            <a:off x="14702040" y="627345"/>
            <a:ext cx="1277167" cy="1429211"/>
          </a:xfrm>
          <a:custGeom>
            <a:rect b="b" l="l" r="r" t="t"/>
            <a:pathLst>
              <a:path extrusionOk="0" h="1429211" w="1277167">
                <a:moveTo>
                  <a:pt x="0" y="0"/>
                </a:moveTo>
                <a:lnTo>
                  <a:pt x="1277167" y="0"/>
                </a:lnTo>
                <a:lnTo>
                  <a:pt x="1277167" y="1429211"/>
                </a:lnTo>
                <a:lnTo>
                  <a:pt x="0" y="1429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2"/>
          <p:cNvSpPr/>
          <p:nvPr/>
        </p:nvSpPr>
        <p:spPr>
          <a:xfrm>
            <a:off x="-1818646" y="-3435525"/>
            <a:ext cx="5968680" cy="5973110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"/>
          <p:cNvSpPr txBox="1"/>
          <p:nvPr/>
        </p:nvSpPr>
        <p:spPr>
          <a:xfrm>
            <a:off x="1060625" y="937733"/>
            <a:ext cx="10493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en-US" sz="6500" u="none" cap="none" strike="noStrike">
                <a:solidFill>
                  <a:srgbClr val="002866"/>
                </a:solidFill>
                <a:latin typeface="Arial"/>
                <a:ea typeface="Arial"/>
                <a:cs typeface="Arial"/>
                <a:sym typeface="Arial"/>
              </a:rPr>
              <a:t>CLARK By the Numbers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"/>
          <p:cNvSpPr/>
          <p:nvPr/>
        </p:nvSpPr>
        <p:spPr>
          <a:xfrm>
            <a:off x="6710406" y="9010570"/>
            <a:ext cx="5103580" cy="5107369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"/>
          <p:cNvSpPr/>
          <p:nvPr/>
        </p:nvSpPr>
        <p:spPr>
          <a:xfrm>
            <a:off x="7746387" y="4076541"/>
            <a:ext cx="714600" cy="483300"/>
          </a:xfrm>
          <a:prstGeom prst="rect">
            <a:avLst/>
          </a:prstGeom>
          <a:solidFill>
            <a:srgbClr val="FFFFFF"/>
          </a:solidFill>
          <a:ln cap="flat" cmpd="sng" w="18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575" lIns="176575" spcFirstLastPara="1" rIns="176575" wrap="square" tIns="17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3"/>
              <a:buFont typeface="Arial"/>
              <a:buNone/>
            </a:pPr>
            <a:r>
              <a:t/>
            </a:r>
            <a:endParaRPr b="0" i="0" sz="270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"/>
          <p:cNvSpPr/>
          <p:nvPr/>
        </p:nvSpPr>
        <p:spPr>
          <a:xfrm>
            <a:off x="4701642" y="4076541"/>
            <a:ext cx="944700" cy="483300"/>
          </a:xfrm>
          <a:prstGeom prst="rect">
            <a:avLst/>
          </a:prstGeom>
          <a:solidFill>
            <a:srgbClr val="FFFFFF"/>
          </a:solidFill>
          <a:ln cap="flat" cmpd="sng" w="18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575" lIns="176575" spcFirstLastPara="1" rIns="176575" wrap="square" tIns="17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3"/>
              <a:buFont typeface="Arial"/>
              <a:buNone/>
            </a:pPr>
            <a:r>
              <a:t/>
            </a:r>
            <a:endParaRPr b="0" i="0" sz="270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"/>
          <p:cNvSpPr/>
          <p:nvPr/>
        </p:nvSpPr>
        <p:spPr>
          <a:xfrm>
            <a:off x="1461941" y="4076541"/>
            <a:ext cx="1475100" cy="483300"/>
          </a:xfrm>
          <a:prstGeom prst="rect">
            <a:avLst/>
          </a:prstGeom>
          <a:solidFill>
            <a:srgbClr val="FFFFFF"/>
          </a:solidFill>
          <a:ln cap="flat" cmpd="sng" w="18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575" lIns="176575" spcFirstLastPara="1" rIns="176575" wrap="square" tIns="17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3"/>
              <a:buFont typeface="Arial"/>
              <a:buNone/>
            </a:pPr>
            <a:r>
              <a:t/>
            </a:r>
            <a:endParaRPr b="0" i="0" sz="270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"/>
          <p:cNvSpPr txBox="1"/>
          <p:nvPr/>
        </p:nvSpPr>
        <p:spPr>
          <a:xfrm>
            <a:off x="1320287" y="3740077"/>
            <a:ext cx="18963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575" lIns="176575" spcFirstLastPara="1" rIns="176575" wrap="square" tIns="17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62"/>
              <a:buFont typeface="Arial"/>
              <a:buNone/>
            </a:pPr>
            <a:r>
              <a:rPr b="1" i="0" lang="en-US" sz="3862" u="none" cap="none" strike="noStrike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2,1</a:t>
            </a:r>
            <a:r>
              <a:rPr b="1" lang="en-US" sz="3862">
                <a:solidFill>
                  <a:srgbClr val="263238"/>
                </a:solidFill>
              </a:rPr>
              <a:t>7</a:t>
            </a:r>
            <a:r>
              <a:rPr b="1" i="0" lang="en-US" sz="3862" u="none" cap="none" strike="noStrike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0+</a:t>
            </a:r>
            <a:endParaRPr b="1" i="0" sz="3862" u="none" cap="none" strike="noStrike">
              <a:solidFill>
                <a:srgbClr val="2632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"/>
          <p:cNvSpPr txBox="1"/>
          <p:nvPr/>
        </p:nvSpPr>
        <p:spPr>
          <a:xfrm>
            <a:off x="4386469" y="3740511"/>
            <a:ext cx="15750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575" lIns="176575" spcFirstLastPara="1" rIns="176575" wrap="square" tIns="17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62"/>
              <a:buFont typeface="Arial"/>
              <a:buNone/>
            </a:pPr>
            <a:r>
              <a:rPr b="1" lang="en-US" sz="3862">
                <a:solidFill>
                  <a:srgbClr val="263238"/>
                </a:solidFill>
              </a:rPr>
              <a:t>188</a:t>
            </a:r>
            <a:endParaRPr b="1" i="0" sz="3862" u="none" cap="none" strike="noStrike">
              <a:solidFill>
                <a:srgbClr val="2632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"/>
          <p:cNvSpPr txBox="1"/>
          <p:nvPr/>
        </p:nvSpPr>
        <p:spPr>
          <a:xfrm>
            <a:off x="7315920" y="3761127"/>
            <a:ext cx="15750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575" lIns="176575" spcFirstLastPara="1" rIns="176575" wrap="square" tIns="17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62"/>
              <a:buFont typeface="Arial"/>
              <a:buNone/>
            </a:pPr>
            <a:r>
              <a:rPr b="1" i="0" lang="en-US" sz="3862" u="none" cap="none" strike="noStrike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1" i="0" sz="3862" u="none" cap="none" strike="noStrike">
              <a:solidFill>
                <a:srgbClr val="2632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"/>
          <p:cNvSpPr/>
          <p:nvPr/>
        </p:nvSpPr>
        <p:spPr>
          <a:xfrm>
            <a:off x="1254409" y="7339844"/>
            <a:ext cx="1808700" cy="483300"/>
          </a:xfrm>
          <a:prstGeom prst="rect">
            <a:avLst/>
          </a:prstGeom>
          <a:solidFill>
            <a:srgbClr val="FFFFFF"/>
          </a:solidFill>
          <a:ln cap="flat" cmpd="sng" w="18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575" lIns="176575" spcFirstLastPara="1" rIns="176575" wrap="square" tIns="17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3"/>
              <a:buFont typeface="Arial"/>
              <a:buNone/>
            </a:pPr>
            <a:r>
              <a:t/>
            </a:r>
            <a:endParaRPr b="0" i="0" sz="270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"/>
          <p:cNvSpPr txBox="1"/>
          <p:nvPr/>
        </p:nvSpPr>
        <p:spPr>
          <a:xfrm>
            <a:off x="1080721" y="7003380"/>
            <a:ext cx="23256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575" lIns="176575" spcFirstLastPara="1" rIns="176575" wrap="square" tIns="17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62"/>
              <a:buFont typeface="Arial"/>
              <a:buNone/>
            </a:pPr>
            <a:r>
              <a:rPr b="1" i="0" lang="en-US" sz="3862" u="none" cap="none" strike="noStrike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1" lang="en-US" sz="3862">
                <a:solidFill>
                  <a:srgbClr val="263238"/>
                </a:solidFill>
              </a:rPr>
              <a:t>9</a:t>
            </a:r>
            <a:r>
              <a:rPr b="1" i="0" lang="en-US" sz="3862" u="none" cap="none" strike="noStrike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1" lang="en-US" sz="3862">
                <a:solidFill>
                  <a:srgbClr val="263238"/>
                </a:solidFill>
              </a:rPr>
              <a:t>78</a:t>
            </a:r>
            <a:r>
              <a:rPr b="1" i="0" lang="en-US" sz="3862" u="none" cap="none" strike="noStrike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0+</a:t>
            </a:r>
            <a:endParaRPr b="1" i="0" sz="3862" u="none" cap="none" strike="noStrike">
              <a:solidFill>
                <a:srgbClr val="2632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"/>
          <p:cNvSpPr/>
          <p:nvPr/>
        </p:nvSpPr>
        <p:spPr>
          <a:xfrm>
            <a:off x="4204767" y="7339844"/>
            <a:ext cx="1808700" cy="483300"/>
          </a:xfrm>
          <a:prstGeom prst="rect">
            <a:avLst/>
          </a:prstGeom>
          <a:solidFill>
            <a:srgbClr val="FFFFFF"/>
          </a:solidFill>
          <a:ln cap="flat" cmpd="sng" w="18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575" lIns="176575" spcFirstLastPara="1" rIns="176575" wrap="square" tIns="17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3"/>
              <a:buFont typeface="Arial"/>
              <a:buNone/>
            </a:pPr>
            <a:r>
              <a:t/>
            </a:r>
            <a:endParaRPr b="0" i="0" sz="270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"/>
          <p:cNvSpPr txBox="1"/>
          <p:nvPr/>
        </p:nvSpPr>
        <p:spPr>
          <a:xfrm>
            <a:off x="4031078" y="7003380"/>
            <a:ext cx="23256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575" lIns="176575" spcFirstLastPara="1" rIns="176575" wrap="square" tIns="17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62"/>
              <a:buFont typeface="Arial"/>
              <a:buNone/>
            </a:pPr>
            <a:r>
              <a:rPr b="1" i="0" lang="en-US" sz="3862" u="none" cap="none" strike="noStrike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19,</a:t>
            </a:r>
            <a:r>
              <a:rPr b="1" lang="en-US" sz="3862">
                <a:solidFill>
                  <a:srgbClr val="263238"/>
                </a:solidFill>
              </a:rPr>
              <a:t>14</a:t>
            </a:r>
            <a:r>
              <a:rPr b="1" i="0" lang="en-US" sz="3862" u="none" cap="none" strike="noStrike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0+</a:t>
            </a:r>
            <a:endParaRPr b="1" i="0" sz="3862" u="none" cap="none" strike="noStrike">
              <a:solidFill>
                <a:srgbClr val="2632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"/>
          <p:cNvSpPr/>
          <p:nvPr/>
        </p:nvSpPr>
        <p:spPr>
          <a:xfrm>
            <a:off x="7155124" y="7413568"/>
            <a:ext cx="1808700" cy="483300"/>
          </a:xfrm>
          <a:prstGeom prst="rect">
            <a:avLst/>
          </a:prstGeom>
          <a:solidFill>
            <a:srgbClr val="FFFFFF"/>
          </a:solidFill>
          <a:ln cap="flat" cmpd="sng" w="18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575" lIns="176575" spcFirstLastPara="1" rIns="176575" wrap="square" tIns="17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3"/>
              <a:buFont typeface="Arial"/>
              <a:buNone/>
            </a:pPr>
            <a:r>
              <a:t/>
            </a:r>
            <a:endParaRPr b="0" i="0" sz="270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"/>
          <p:cNvSpPr txBox="1"/>
          <p:nvPr/>
        </p:nvSpPr>
        <p:spPr>
          <a:xfrm>
            <a:off x="6981435" y="7077103"/>
            <a:ext cx="23256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575" lIns="176575" spcFirstLastPara="1" rIns="176575" wrap="square" tIns="17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62"/>
              <a:buFont typeface="Arial"/>
              <a:buNone/>
            </a:pPr>
            <a:r>
              <a:rPr b="1" i="0" lang="en-US" sz="3862" u="none" cap="none" strike="noStrike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1,100+</a:t>
            </a:r>
            <a:endParaRPr b="1" i="0" sz="3862" u="none" cap="none" strike="noStrike">
              <a:solidFill>
                <a:srgbClr val="2632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2" title="CLARK Map (1).png"/>
          <p:cNvPicPr preferRelativeResize="0"/>
          <p:nvPr/>
        </p:nvPicPr>
        <p:blipFill rotWithShape="1">
          <a:blip r:embed="rId5">
            <a:alphaModFix/>
          </a:blip>
          <a:srcRect b="19531" l="0" r="0" t="9213"/>
          <a:stretch/>
        </p:blipFill>
        <p:spPr>
          <a:xfrm>
            <a:off x="10322305" y="1768875"/>
            <a:ext cx="7167771" cy="510737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"/>
          <p:cNvSpPr txBox="1"/>
          <p:nvPr>
            <p:ph idx="12" type="sldNum"/>
          </p:nvPr>
        </p:nvSpPr>
        <p:spPr>
          <a:xfrm>
            <a:off x="15493650" y="96372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4" name="Google Shape;244;p2" title="DOW CLARK ROI (1).png"/>
          <p:cNvPicPr preferRelativeResize="0"/>
          <p:nvPr/>
        </p:nvPicPr>
        <p:blipFill rotWithShape="1">
          <a:blip r:embed="rId6">
            <a:alphaModFix/>
          </a:blip>
          <a:srcRect b="25784" l="9578" r="54415" t="59919"/>
          <a:stretch/>
        </p:blipFill>
        <p:spPr>
          <a:xfrm>
            <a:off x="11461262" y="6521963"/>
            <a:ext cx="4906588" cy="252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c571d6d2b_1_8"/>
          <p:cNvSpPr/>
          <p:nvPr/>
        </p:nvSpPr>
        <p:spPr>
          <a:xfrm>
            <a:off x="1507875" y="8781375"/>
            <a:ext cx="1062000" cy="926100"/>
          </a:xfrm>
          <a:prstGeom prst="ellipse">
            <a:avLst/>
          </a:prstGeom>
          <a:solidFill>
            <a:srgbClr val="002866"/>
          </a:solidFill>
          <a:ln cap="flat" cmpd="sng" w="9525">
            <a:solidFill>
              <a:srgbClr val="0028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ec571d6d2b_1_8"/>
          <p:cNvSpPr/>
          <p:nvPr/>
        </p:nvSpPr>
        <p:spPr>
          <a:xfrm>
            <a:off x="1507875" y="6270200"/>
            <a:ext cx="1062000" cy="926100"/>
          </a:xfrm>
          <a:prstGeom prst="ellipse">
            <a:avLst/>
          </a:prstGeom>
          <a:solidFill>
            <a:srgbClr val="002866"/>
          </a:solidFill>
          <a:ln cap="flat" cmpd="sng" w="9525">
            <a:solidFill>
              <a:srgbClr val="0028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c571d6d2b_1_8"/>
          <p:cNvSpPr/>
          <p:nvPr/>
        </p:nvSpPr>
        <p:spPr>
          <a:xfrm>
            <a:off x="1507875" y="3654425"/>
            <a:ext cx="1062000" cy="926100"/>
          </a:xfrm>
          <a:prstGeom prst="ellipse">
            <a:avLst/>
          </a:prstGeom>
          <a:solidFill>
            <a:srgbClr val="002866"/>
          </a:solidFill>
          <a:ln cap="flat" cmpd="sng" w="9525">
            <a:solidFill>
              <a:srgbClr val="0028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ec571d6d2b_1_8"/>
          <p:cNvSpPr txBox="1"/>
          <p:nvPr/>
        </p:nvSpPr>
        <p:spPr>
          <a:xfrm>
            <a:off x="1086125" y="872450"/>
            <a:ext cx="12298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WHY </a:t>
            </a:r>
            <a:r>
              <a:rPr b="1" lang="en-US" sz="7600">
                <a:solidFill>
                  <a:srgbClr val="C12129"/>
                </a:solidFill>
                <a:latin typeface="Source Sans 3"/>
                <a:ea typeface="Source Sans 3"/>
                <a:cs typeface="Source Sans 3"/>
                <a:sym typeface="Source Sans 3"/>
              </a:rPr>
              <a:t>AI </a:t>
            </a:r>
            <a:r>
              <a:rPr b="1" lang="en-US" sz="76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NEEDS THIS </a:t>
            </a:r>
            <a:r>
              <a:rPr b="1" lang="en-US" sz="7600">
                <a:solidFill>
                  <a:srgbClr val="C12129"/>
                </a:solidFill>
                <a:latin typeface="Source Sans 3"/>
                <a:ea typeface="Source Sans 3"/>
                <a:cs typeface="Source Sans 3"/>
                <a:sym typeface="Source Sans 3"/>
              </a:rPr>
              <a:t>NOW</a:t>
            </a:r>
            <a:endParaRPr b="1" sz="7600">
              <a:solidFill>
                <a:srgbClr val="C12129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53" name="Google Shape;253;g3ec571d6d2b_1_8"/>
          <p:cNvSpPr/>
          <p:nvPr/>
        </p:nvSpPr>
        <p:spPr>
          <a:xfrm>
            <a:off x="16295477" y="-2482147"/>
            <a:ext cx="5073710" cy="5077476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g3ec571d6d2b_1_8"/>
          <p:cNvGrpSpPr/>
          <p:nvPr/>
        </p:nvGrpSpPr>
        <p:grpSpPr>
          <a:xfrm>
            <a:off x="15322030" y="956371"/>
            <a:ext cx="3963451" cy="844029"/>
            <a:chOff x="0" y="-38100"/>
            <a:chExt cx="2087785" cy="444600"/>
          </a:xfrm>
        </p:grpSpPr>
        <p:sp>
          <p:nvSpPr>
            <p:cNvPr id="255" name="Google Shape;255;g3ec571d6d2b_1_8"/>
            <p:cNvSpPr/>
            <p:nvPr/>
          </p:nvSpPr>
          <p:spPr>
            <a:xfrm>
              <a:off x="0" y="0"/>
              <a:ext cx="2087785" cy="406400"/>
            </a:xfrm>
            <a:custGeom>
              <a:rect b="b" l="l" r="r" t="t"/>
              <a:pathLst>
                <a:path extrusionOk="0" h="406400" w="2087785">
                  <a:moveTo>
                    <a:pt x="1884585" y="0"/>
                  </a:moveTo>
                  <a:cubicBezTo>
                    <a:pt x="1996809" y="0"/>
                    <a:pt x="2087785" y="90976"/>
                    <a:pt x="2087785" y="203200"/>
                  </a:cubicBezTo>
                  <a:cubicBezTo>
                    <a:pt x="2087785" y="315424"/>
                    <a:pt x="1996809" y="406400"/>
                    <a:pt x="18845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121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g3ec571d6d2b_1_8"/>
            <p:cNvSpPr txBox="1"/>
            <p:nvPr/>
          </p:nvSpPr>
          <p:spPr>
            <a:xfrm>
              <a:off x="0" y="-38100"/>
              <a:ext cx="20877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g3ec571d6d2b_1_8"/>
          <p:cNvSpPr/>
          <p:nvPr/>
        </p:nvSpPr>
        <p:spPr>
          <a:xfrm>
            <a:off x="14767290" y="699857"/>
            <a:ext cx="1277167" cy="1429211"/>
          </a:xfrm>
          <a:custGeom>
            <a:rect b="b" l="l" r="r" t="t"/>
            <a:pathLst>
              <a:path extrusionOk="0" h="1429211" w="1277167">
                <a:moveTo>
                  <a:pt x="0" y="0"/>
                </a:moveTo>
                <a:lnTo>
                  <a:pt x="1277167" y="0"/>
                </a:lnTo>
                <a:lnTo>
                  <a:pt x="1277167" y="1429211"/>
                </a:lnTo>
                <a:lnTo>
                  <a:pt x="0" y="1429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g3ec571d6d2b_1_8"/>
          <p:cNvSpPr txBox="1"/>
          <p:nvPr/>
        </p:nvSpPr>
        <p:spPr>
          <a:xfrm>
            <a:off x="15500250" y="1064900"/>
            <a:ext cx="212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CLARK</a:t>
            </a:r>
            <a:endParaRPr b="0" i="0" sz="18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59" name="Google Shape;259;g3ec571d6d2b_1_8"/>
          <p:cNvSpPr txBox="1"/>
          <p:nvPr/>
        </p:nvSpPr>
        <p:spPr>
          <a:xfrm>
            <a:off x="1086125" y="2129075"/>
            <a:ext cx="10827000" cy="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36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AI education is experiencing the same inflection point cybersecurity faced a decade ago.</a:t>
            </a:r>
            <a:endParaRPr i="1" sz="36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60" name="Google Shape;260;g3ec571d6d2b_1_8"/>
          <p:cNvSpPr/>
          <p:nvPr/>
        </p:nvSpPr>
        <p:spPr>
          <a:xfrm>
            <a:off x="1617224" y="3660453"/>
            <a:ext cx="761831" cy="914654"/>
          </a:xfrm>
          <a:custGeom>
            <a:rect b="b" l="l" r="r" t="t"/>
            <a:pathLst>
              <a:path extrusionOk="0" h="793626" w="582662">
                <a:moveTo>
                  <a:pt x="0" y="0"/>
                </a:moveTo>
                <a:lnTo>
                  <a:pt x="582662" y="0"/>
                </a:lnTo>
                <a:lnTo>
                  <a:pt x="582662" y="793626"/>
                </a:lnTo>
                <a:lnTo>
                  <a:pt x="0" y="793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g3ec571d6d2b_1_8"/>
          <p:cNvSpPr txBox="1"/>
          <p:nvPr/>
        </p:nvSpPr>
        <p:spPr>
          <a:xfrm>
            <a:off x="2924492" y="3757469"/>
            <a:ext cx="54501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2" u="none" cap="none" strike="noStrike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CURRICULUM EXPLOSION</a:t>
            </a:r>
            <a:endParaRPr sz="1613"/>
          </a:p>
        </p:txBody>
      </p:sp>
      <p:sp>
        <p:nvSpPr>
          <p:cNvPr id="262" name="Google Shape;262;g3ec571d6d2b_1_8"/>
          <p:cNvSpPr txBox="1"/>
          <p:nvPr/>
        </p:nvSpPr>
        <p:spPr>
          <a:xfrm>
            <a:off x="2924492" y="4155459"/>
            <a:ext cx="5120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2" u="none" cap="none" strike="noStrike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AI topics, tools, and frameworks are growing at an unprecedented pace.</a:t>
            </a:r>
            <a:endParaRPr sz="1613"/>
          </a:p>
        </p:txBody>
      </p:sp>
      <p:sp>
        <p:nvSpPr>
          <p:cNvPr id="263" name="Google Shape;263;g3ec571d6d2b_1_8"/>
          <p:cNvSpPr/>
          <p:nvPr/>
        </p:nvSpPr>
        <p:spPr>
          <a:xfrm>
            <a:off x="1367525" y="4794572"/>
            <a:ext cx="1274096" cy="1146212"/>
          </a:xfrm>
          <a:custGeom>
            <a:rect b="b" l="l" r="r" t="t"/>
            <a:pathLst>
              <a:path extrusionOk="0" h="994544" w="974452">
                <a:moveTo>
                  <a:pt x="0" y="0"/>
                </a:moveTo>
                <a:lnTo>
                  <a:pt x="974452" y="0"/>
                </a:lnTo>
                <a:lnTo>
                  <a:pt x="974452" y="994544"/>
                </a:lnTo>
                <a:lnTo>
                  <a:pt x="0" y="9945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g3ec571d6d2b_1_8"/>
          <p:cNvSpPr/>
          <p:nvPr/>
        </p:nvSpPr>
        <p:spPr>
          <a:xfrm>
            <a:off x="1617224" y="5026025"/>
            <a:ext cx="761831" cy="694674"/>
          </a:xfrm>
          <a:custGeom>
            <a:rect b="b" l="l" r="r" t="t"/>
            <a:pathLst>
              <a:path extrusionOk="0" h="602754" w="582662">
                <a:moveTo>
                  <a:pt x="0" y="0"/>
                </a:moveTo>
                <a:lnTo>
                  <a:pt x="582662" y="0"/>
                </a:lnTo>
                <a:lnTo>
                  <a:pt x="582662" y="602754"/>
                </a:lnTo>
                <a:lnTo>
                  <a:pt x="0" y="602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g3ec571d6d2b_1_8"/>
          <p:cNvSpPr txBox="1"/>
          <p:nvPr/>
        </p:nvSpPr>
        <p:spPr>
          <a:xfrm>
            <a:off x="2924492" y="5041673"/>
            <a:ext cx="44310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7" u="none" cap="none" strike="noStrike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FACULTY CAPACITY GAP</a:t>
            </a:r>
            <a:endParaRPr sz="1613"/>
          </a:p>
        </p:txBody>
      </p:sp>
      <p:sp>
        <p:nvSpPr>
          <p:cNvPr id="266" name="Google Shape;266;g3ec571d6d2b_1_8"/>
          <p:cNvSpPr txBox="1"/>
          <p:nvPr/>
        </p:nvSpPr>
        <p:spPr>
          <a:xfrm>
            <a:off x="2924492" y="5411600"/>
            <a:ext cx="5120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2" u="none" cap="none" strike="noStrike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Limited AI expertise and bandwidth make it hard to keep up.</a:t>
            </a:r>
            <a:endParaRPr sz="1613"/>
          </a:p>
        </p:txBody>
      </p:sp>
      <p:sp>
        <p:nvSpPr>
          <p:cNvPr id="267" name="Google Shape;267;g3ec571d6d2b_1_8"/>
          <p:cNvSpPr/>
          <p:nvPr/>
        </p:nvSpPr>
        <p:spPr>
          <a:xfrm>
            <a:off x="1617224" y="6391598"/>
            <a:ext cx="761831" cy="694674"/>
          </a:xfrm>
          <a:custGeom>
            <a:rect b="b" l="l" r="r" t="t"/>
            <a:pathLst>
              <a:path extrusionOk="0" h="602754" w="582662">
                <a:moveTo>
                  <a:pt x="0" y="0"/>
                </a:moveTo>
                <a:lnTo>
                  <a:pt x="582662" y="0"/>
                </a:lnTo>
                <a:lnTo>
                  <a:pt x="582662" y="602754"/>
                </a:lnTo>
                <a:lnTo>
                  <a:pt x="0" y="602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g3ec571d6d2b_1_8"/>
          <p:cNvSpPr txBox="1"/>
          <p:nvPr/>
        </p:nvSpPr>
        <p:spPr>
          <a:xfrm>
            <a:off x="2924492" y="6287994"/>
            <a:ext cx="6257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0" u="none" cap="none" strike="noStrike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TOOL &amp; MODEL PROLIFERATION</a:t>
            </a:r>
            <a:endParaRPr sz="1613"/>
          </a:p>
        </p:txBody>
      </p:sp>
      <p:sp>
        <p:nvSpPr>
          <p:cNvPr id="269" name="Google Shape;269;g3ec571d6d2b_1_8"/>
          <p:cNvSpPr txBox="1"/>
          <p:nvPr/>
        </p:nvSpPr>
        <p:spPr>
          <a:xfrm>
            <a:off x="2924492" y="6679592"/>
            <a:ext cx="4239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2" u="none" cap="none" strike="noStrike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New models, platforms, and tools emerge constantly.</a:t>
            </a:r>
            <a:endParaRPr sz="1613"/>
          </a:p>
        </p:txBody>
      </p:sp>
      <p:sp>
        <p:nvSpPr>
          <p:cNvPr id="270" name="Google Shape;270;g3ec571d6d2b_1_8"/>
          <p:cNvSpPr/>
          <p:nvPr/>
        </p:nvSpPr>
        <p:spPr>
          <a:xfrm>
            <a:off x="1367525" y="7305837"/>
            <a:ext cx="1274096" cy="1146212"/>
          </a:xfrm>
          <a:custGeom>
            <a:rect b="b" l="l" r="r" t="t"/>
            <a:pathLst>
              <a:path extrusionOk="0" h="994544" w="974452">
                <a:moveTo>
                  <a:pt x="0" y="0"/>
                </a:moveTo>
                <a:lnTo>
                  <a:pt x="974452" y="0"/>
                </a:lnTo>
                <a:lnTo>
                  <a:pt x="974452" y="994544"/>
                </a:lnTo>
                <a:lnTo>
                  <a:pt x="0" y="9945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g3ec571d6d2b_1_8"/>
          <p:cNvSpPr/>
          <p:nvPr/>
        </p:nvSpPr>
        <p:spPr>
          <a:xfrm>
            <a:off x="1617224" y="7525717"/>
            <a:ext cx="761831" cy="926232"/>
          </a:xfrm>
          <a:custGeom>
            <a:rect b="b" l="l" r="r" t="t"/>
            <a:pathLst>
              <a:path extrusionOk="0" h="803672" w="582662">
                <a:moveTo>
                  <a:pt x="0" y="0"/>
                </a:moveTo>
                <a:lnTo>
                  <a:pt x="582662" y="0"/>
                </a:lnTo>
                <a:lnTo>
                  <a:pt x="582662" y="803672"/>
                </a:lnTo>
                <a:lnTo>
                  <a:pt x="0" y="803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g3ec571d6d2b_1_8"/>
          <p:cNvSpPr txBox="1"/>
          <p:nvPr/>
        </p:nvSpPr>
        <p:spPr>
          <a:xfrm>
            <a:off x="2924492" y="7553956"/>
            <a:ext cx="70245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7" u="none" cap="none" strike="noStrike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NEW PROGRAMS &amp; INTERDISCIPLINARITY</a:t>
            </a:r>
            <a:endParaRPr sz="1613"/>
          </a:p>
        </p:txBody>
      </p:sp>
      <p:sp>
        <p:nvSpPr>
          <p:cNvPr id="273" name="Google Shape;273;g3ec571d6d2b_1_8"/>
          <p:cNvSpPr txBox="1"/>
          <p:nvPr/>
        </p:nvSpPr>
        <p:spPr>
          <a:xfrm>
            <a:off x="2924492" y="7947584"/>
            <a:ext cx="47235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2" u="none" cap="none" strike="noStrike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Institutions are launching AI programs across every discipline.</a:t>
            </a:r>
            <a:endParaRPr sz="1613"/>
          </a:p>
        </p:txBody>
      </p:sp>
      <p:sp>
        <p:nvSpPr>
          <p:cNvPr id="274" name="Google Shape;274;g3ec571d6d2b_1_8"/>
          <p:cNvSpPr/>
          <p:nvPr/>
        </p:nvSpPr>
        <p:spPr>
          <a:xfrm>
            <a:off x="1617224" y="8891290"/>
            <a:ext cx="761831" cy="694674"/>
          </a:xfrm>
          <a:custGeom>
            <a:rect b="b" l="l" r="r" t="t"/>
            <a:pathLst>
              <a:path extrusionOk="0" h="602754" w="582662">
                <a:moveTo>
                  <a:pt x="0" y="0"/>
                </a:moveTo>
                <a:lnTo>
                  <a:pt x="582662" y="0"/>
                </a:lnTo>
                <a:lnTo>
                  <a:pt x="582662" y="602754"/>
                </a:lnTo>
                <a:lnTo>
                  <a:pt x="0" y="602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g3ec571d6d2b_1_8"/>
          <p:cNvSpPr txBox="1"/>
          <p:nvPr/>
        </p:nvSpPr>
        <p:spPr>
          <a:xfrm>
            <a:off x="2924492" y="8788426"/>
            <a:ext cx="4431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0" u="none" cap="none" strike="noStrike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GLOBAL COMPETITION</a:t>
            </a:r>
            <a:endParaRPr sz="1613"/>
          </a:p>
        </p:txBody>
      </p:sp>
      <p:sp>
        <p:nvSpPr>
          <p:cNvPr id="276" name="Google Shape;276;g3ec571d6d2b_1_8"/>
          <p:cNvSpPr txBox="1"/>
          <p:nvPr/>
        </p:nvSpPr>
        <p:spPr>
          <a:xfrm>
            <a:off x="2924492" y="9191875"/>
            <a:ext cx="5450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2" u="none" cap="none" strike="noStrike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Nations are investing heavily in AI education and workforce development.</a:t>
            </a:r>
            <a:endParaRPr sz="1613"/>
          </a:p>
        </p:txBody>
      </p:sp>
      <p:sp>
        <p:nvSpPr>
          <p:cNvPr id="277" name="Google Shape;277;g3ec571d6d2b_1_8"/>
          <p:cNvSpPr/>
          <p:nvPr/>
        </p:nvSpPr>
        <p:spPr>
          <a:xfrm>
            <a:off x="9080787" y="5429997"/>
            <a:ext cx="972041" cy="1509221"/>
          </a:xfrm>
          <a:custGeom>
            <a:rect b="b" l="l" r="r" t="t"/>
            <a:pathLst>
              <a:path extrusionOk="0" h="994544" w="592708">
                <a:moveTo>
                  <a:pt x="0" y="0"/>
                </a:moveTo>
                <a:lnTo>
                  <a:pt x="592708" y="0"/>
                </a:lnTo>
                <a:lnTo>
                  <a:pt x="592708" y="994544"/>
                </a:lnTo>
                <a:lnTo>
                  <a:pt x="0" y="9945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g3ec571d6d2b_1_8"/>
          <p:cNvSpPr/>
          <p:nvPr/>
        </p:nvSpPr>
        <p:spPr>
          <a:xfrm>
            <a:off x="11533122" y="2595337"/>
            <a:ext cx="5236424" cy="6199927"/>
          </a:xfrm>
          <a:custGeom>
            <a:rect b="b" l="l" r="r" t="t"/>
            <a:pathLst>
              <a:path extrusionOk="0" h="5947172" w="5022949">
                <a:moveTo>
                  <a:pt x="0" y="0"/>
                </a:moveTo>
                <a:lnTo>
                  <a:pt x="5022950" y="0"/>
                </a:lnTo>
                <a:lnTo>
                  <a:pt x="5022950" y="5947172"/>
                </a:lnTo>
                <a:lnTo>
                  <a:pt x="0" y="5947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g3ec571d6d2b_1_8"/>
          <p:cNvSpPr/>
          <p:nvPr/>
        </p:nvSpPr>
        <p:spPr>
          <a:xfrm>
            <a:off x="13743490" y="2804851"/>
            <a:ext cx="816882" cy="628371"/>
          </a:xfrm>
          <a:custGeom>
            <a:rect b="b" l="l" r="r" t="t"/>
            <a:pathLst>
              <a:path extrusionOk="0" h="602754" w="783580">
                <a:moveTo>
                  <a:pt x="0" y="0"/>
                </a:moveTo>
                <a:lnTo>
                  <a:pt x="783580" y="0"/>
                </a:lnTo>
                <a:lnTo>
                  <a:pt x="783580" y="602754"/>
                </a:lnTo>
                <a:lnTo>
                  <a:pt x="0" y="602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g3ec571d6d2b_1_8"/>
          <p:cNvSpPr txBox="1"/>
          <p:nvPr/>
        </p:nvSpPr>
        <p:spPr>
          <a:xfrm>
            <a:off x="14882070" y="2898876"/>
            <a:ext cx="12228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17" u="none" cap="none" strike="noStrike">
                <a:solidFill>
                  <a:srgbClr val="0028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DISCOVERABLE CURRICULUM</a:t>
            </a:r>
            <a:endParaRPr sz="1460"/>
          </a:p>
        </p:txBody>
      </p:sp>
      <p:sp>
        <p:nvSpPr>
          <p:cNvPr id="281" name="Google Shape;281;g3ec571d6d2b_1_8"/>
          <p:cNvSpPr/>
          <p:nvPr/>
        </p:nvSpPr>
        <p:spPr>
          <a:xfrm>
            <a:off x="11732159" y="4040979"/>
            <a:ext cx="816882" cy="837828"/>
          </a:xfrm>
          <a:custGeom>
            <a:rect b="b" l="l" r="r" t="t"/>
            <a:pathLst>
              <a:path extrusionOk="0" h="803672" w="783580">
                <a:moveTo>
                  <a:pt x="0" y="0"/>
                </a:moveTo>
                <a:lnTo>
                  <a:pt x="783580" y="0"/>
                </a:lnTo>
                <a:lnTo>
                  <a:pt x="783580" y="803672"/>
                </a:lnTo>
                <a:lnTo>
                  <a:pt x="0" y="803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g3ec571d6d2b_1_8"/>
          <p:cNvSpPr txBox="1"/>
          <p:nvPr/>
        </p:nvSpPr>
        <p:spPr>
          <a:xfrm>
            <a:off x="10231875" y="4296207"/>
            <a:ext cx="12228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17" u="none" cap="none" strike="noStrike">
                <a:solidFill>
                  <a:srgbClr val="0028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CONTINUOUS IMPROVEMENT TOGETHER</a:t>
            </a:r>
            <a:endParaRPr sz="1460"/>
          </a:p>
        </p:txBody>
      </p:sp>
      <p:sp>
        <p:nvSpPr>
          <p:cNvPr id="283" name="Google Shape;283;g3ec571d6d2b_1_8"/>
          <p:cNvSpPr/>
          <p:nvPr/>
        </p:nvSpPr>
        <p:spPr>
          <a:xfrm>
            <a:off x="15754819" y="4040979"/>
            <a:ext cx="816882" cy="837828"/>
          </a:xfrm>
          <a:custGeom>
            <a:rect b="b" l="l" r="r" t="t"/>
            <a:pathLst>
              <a:path extrusionOk="0" h="803672" w="783580">
                <a:moveTo>
                  <a:pt x="0" y="0"/>
                </a:moveTo>
                <a:lnTo>
                  <a:pt x="783580" y="0"/>
                </a:lnTo>
                <a:lnTo>
                  <a:pt x="783580" y="803672"/>
                </a:lnTo>
                <a:lnTo>
                  <a:pt x="0" y="803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g3ec571d6d2b_1_8"/>
          <p:cNvSpPr txBox="1"/>
          <p:nvPr/>
        </p:nvSpPr>
        <p:spPr>
          <a:xfrm>
            <a:off x="16909491" y="4328388"/>
            <a:ext cx="10299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17" u="none" cap="none" strike="noStrike">
                <a:solidFill>
                  <a:srgbClr val="0028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FACULTY COMMUNITY SUPPORT</a:t>
            </a:r>
            <a:endParaRPr sz="1460"/>
          </a:p>
        </p:txBody>
      </p:sp>
      <p:sp>
        <p:nvSpPr>
          <p:cNvPr id="285" name="Google Shape;285;g3ec571d6d2b_1_8"/>
          <p:cNvSpPr/>
          <p:nvPr/>
        </p:nvSpPr>
        <p:spPr>
          <a:xfrm>
            <a:off x="11732159" y="6523711"/>
            <a:ext cx="816882" cy="827355"/>
          </a:xfrm>
          <a:custGeom>
            <a:rect b="b" l="l" r="r" t="t"/>
            <a:pathLst>
              <a:path extrusionOk="0" h="793626" w="783580">
                <a:moveTo>
                  <a:pt x="0" y="0"/>
                </a:moveTo>
                <a:lnTo>
                  <a:pt x="783580" y="0"/>
                </a:lnTo>
                <a:lnTo>
                  <a:pt x="783580" y="793626"/>
                </a:lnTo>
                <a:lnTo>
                  <a:pt x="0" y="793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g3ec571d6d2b_1_8"/>
          <p:cNvSpPr txBox="1"/>
          <p:nvPr/>
        </p:nvSpPr>
        <p:spPr>
          <a:xfrm>
            <a:off x="10408872" y="6838524"/>
            <a:ext cx="1158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17" u="none" cap="none" strike="noStrike">
                <a:solidFill>
                  <a:srgbClr val="0028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STANDARDS &amp; WORKFORCE ALIGNMENT</a:t>
            </a:r>
            <a:endParaRPr sz="1460"/>
          </a:p>
        </p:txBody>
      </p:sp>
      <p:sp>
        <p:nvSpPr>
          <p:cNvPr id="287" name="Google Shape;287;g3ec571d6d2b_1_8"/>
          <p:cNvSpPr/>
          <p:nvPr/>
        </p:nvSpPr>
        <p:spPr>
          <a:xfrm>
            <a:off x="15754819" y="6523711"/>
            <a:ext cx="816882" cy="827355"/>
          </a:xfrm>
          <a:custGeom>
            <a:rect b="b" l="l" r="r" t="t"/>
            <a:pathLst>
              <a:path extrusionOk="0" h="793626" w="783580">
                <a:moveTo>
                  <a:pt x="0" y="0"/>
                </a:moveTo>
                <a:lnTo>
                  <a:pt x="783580" y="0"/>
                </a:lnTo>
                <a:lnTo>
                  <a:pt x="783580" y="793626"/>
                </a:lnTo>
                <a:lnTo>
                  <a:pt x="0" y="793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g3ec571d6d2b_1_8"/>
          <p:cNvSpPr txBox="1"/>
          <p:nvPr/>
        </p:nvSpPr>
        <p:spPr>
          <a:xfrm>
            <a:off x="16861218" y="6749151"/>
            <a:ext cx="10620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9" u="none" cap="none" strike="noStrike">
                <a:solidFill>
                  <a:srgbClr val="0028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SHARED LABS &amp; DATASETS</a:t>
            </a:r>
            <a:endParaRPr sz="1460"/>
          </a:p>
        </p:txBody>
      </p:sp>
      <p:sp>
        <p:nvSpPr>
          <p:cNvPr id="289" name="Google Shape;289;g3ec571d6d2b_1_8"/>
          <p:cNvSpPr txBox="1"/>
          <p:nvPr/>
        </p:nvSpPr>
        <p:spPr>
          <a:xfrm>
            <a:off x="13256915" y="8789337"/>
            <a:ext cx="18345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6" u="none" cap="none" strike="noStrike">
                <a:solidFill>
                  <a:srgbClr val="0028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TO COMPUTE &amp; INFRASTRUCTURE</a:t>
            </a:r>
            <a:endParaRPr sz="1460"/>
          </a:p>
        </p:txBody>
      </p:sp>
      <p:sp>
        <p:nvSpPr>
          <p:cNvPr id="290" name="Google Shape;290;g3ec571d6d2b_1_8"/>
          <p:cNvSpPr/>
          <p:nvPr/>
        </p:nvSpPr>
        <p:spPr>
          <a:xfrm>
            <a:off x="13213838" y="4580488"/>
            <a:ext cx="1936500" cy="509400"/>
          </a:xfrm>
          <a:prstGeom prst="roundRect">
            <a:avLst>
              <a:gd fmla="val 16667" name="adj"/>
            </a:avLst>
          </a:prstGeom>
          <a:solidFill>
            <a:srgbClr val="020817"/>
          </a:solidFill>
          <a:ln cap="flat" cmpd="sng" w="9525">
            <a:solidFill>
              <a:srgbClr val="0208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ec571d6d2b_1_8"/>
          <p:cNvSpPr/>
          <p:nvPr/>
        </p:nvSpPr>
        <p:spPr>
          <a:xfrm>
            <a:off x="10878650" y="9768925"/>
            <a:ext cx="7409352" cy="615814"/>
          </a:xfrm>
          <a:custGeom>
            <a:rect b="b" l="l" r="r" t="t"/>
            <a:pathLst>
              <a:path extrusionOk="0" h="401836" w="5987355">
                <a:moveTo>
                  <a:pt x="0" y="0"/>
                </a:moveTo>
                <a:lnTo>
                  <a:pt x="5987355" y="0"/>
                </a:lnTo>
                <a:lnTo>
                  <a:pt x="5987355" y="401836"/>
                </a:lnTo>
                <a:lnTo>
                  <a:pt x="0" y="4018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g3ec571d6d2b_1_8"/>
          <p:cNvSpPr txBox="1"/>
          <p:nvPr>
            <p:ph idx="12" type="sldNum"/>
          </p:nvPr>
        </p:nvSpPr>
        <p:spPr>
          <a:xfrm>
            <a:off x="15493650" y="96372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g3ec571d6d2b_1_8"/>
          <p:cNvSpPr/>
          <p:nvPr/>
        </p:nvSpPr>
        <p:spPr>
          <a:xfrm>
            <a:off x="12822500" y="5026025"/>
            <a:ext cx="2719200" cy="1068600"/>
          </a:xfrm>
          <a:prstGeom prst="roundRect">
            <a:avLst>
              <a:gd fmla="val 16667" name="adj"/>
            </a:avLst>
          </a:prstGeom>
          <a:solidFill>
            <a:srgbClr val="020817"/>
          </a:solidFill>
          <a:ln cap="flat" cmpd="sng" w="9525">
            <a:solidFill>
              <a:srgbClr val="0208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ec571d6d2b_1_8"/>
          <p:cNvSpPr txBox="1"/>
          <p:nvPr/>
        </p:nvSpPr>
        <p:spPr>
          <a:xfrm>
            <a:off x="12431562" y="5026025"/>
            <a:ext cx="34878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26">
                <a:solidFill>
                  <a:srgbClr val="2EA3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SHARED</a:t>
            </a:r>
            <a:br>
              <a:rPr b="1" lang="en-US" sz="3626">
                <a:solidFill>
                  <a:srgbClr val="2EA3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b="1" lang="en-US" sz="3626">
                <a:solidFill>
                  <a:srgbClr val="2EA3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RESOURCE</a:t>
            </a:r>
            <a:endParaRPr sz="4626">
              <a:solidFill>
                <a:srgbClr val="2EA3F2"/>
              </a:solidFill>
            </a:endParaRPr>
          </a:p>
        </p:txBody>
      </p:sp>
      <p:sp>
        <p:nvSpPr>
          <p:cNvPr id="295" name="Google Shape;295;g3ec571d6d2b_1_8"/>
          <p:cNvSpPr txBox="1"/>
          <p:nvPr/>
        </p:nvSpPr>
        <p:spPr>
          <a:xfrm>
            <a:off x="13385641" y="4625352"/>
            <a:ext cx="15447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26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NEED A</a:t>
            </a:r>
            <a:endParaRPr sz="1460"/>
          </a:p>
        </p:txBody>
      </p:sp>
      <p:sp>
        <p:nvSpPr>
          <p:cNvPr id="296" name="Google Shape;296;g3ec571d6d2b_1_8"/>
          <p:cNvSpPr/>
          <p:nvPr/>
        </p:nvSpPr>
        <p:spPr>
          <a:xfrm>
            <a:off x="13213850" y="6142333"/>
            <a:ext cx="1936500" cy="843900"/>
          </a:xfrm>
          <a:prstGeom prst="roundRect">
            <a:avLst>
              <a:gd fmla="val 16667" name="adj"/>
            </a:avLst>
          </a:prstGeom>
          <a:solidFill>
            <a:srgbClr val="020817"/>
          </a:solidFill>
          <a:ln cap="flat" cmpd="sng" w="9525">
            <a:solidFill>
              <a:srgbClr val="0208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ec571d6d2b_1_8"/>
          <p:cNvSpPr txBox="1"/>
          <p:nvPr/>
        </p:nvSpPr>
        <p:spPr>
          <a:xfrm>
            <a:off x="12622163" y="6142325"/>
            <a:ext cx="30813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2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SCALE AI EDUCATION</a:t>
            </a:r>
            <a:endParaRPr sz="1460"/>
          </a:p>
        </p:txBody>
      </p:sp>
      <p:cxnSp>
        <p:nvCxnSpPr>
          <p:cNvPr id="298" name="Google Shape;298;g3ec571d6d2b_1_8"/>
          <p:cNvCxnSpPr/>
          <p:nvPr/>
        </p:nvCxnSpPr>
        <p:spPr>
          <a:xfrm flipH="1" rot="10800000">
            <a:off x="2955025" y="4903150"/>
            <a:ext cx="5138700" cy="9900"/>
          </a:xfrm>
          <a:prstGeom prst="straightConnector1">
            <a:avLst/>
          </a:prstGeom>
          <a:noFill/>
          <a:ln cap="flat" cmpd="sng" w="28575">
            <a:solidFill>
              <a:srgbClr val="C1212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g3ec571d6d2b_1_8"/>
          <p:cNvCxnSpPr/>
          <p:nvPr/>
        </p:nvCxnSpPr>
        <p:spPr>
          <a:xfrm flipH="1" rot="10800000">
            <a:off x="2976650" y="6179650"/>
            <a:ext cx="5138700" cy="9900"/>
          </a:xfrm>
          <a:prstGeom prst="straightConnector1">
            <a:avLst/>
          </a:prstGeom>
          <a:noFill/>
          <a:ln cap="flat" cmpd="sng" w="28575">
            <a:solidFill>
              <a:srgbClr val="C1212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g3ec571d6d2b_1_8"/>
          <p:cNvCxnSpPr/>
          <p:nvPr/>
        </p:nvCxnSpPr>
        <p:spPr>
          <a:xfrm flipH="1" rot="10800000">
            <a:off x="2955025" y="7446625"/>
            <a:ext cx="5138700" cy="9900"/>
          </a:xfrm>
          <a:prstGeom prst="straightConnector1">
            <a:avLst/>
          </a:prstGeom>
          <a:noFill/>
          <a:ln cap="flat" cmpd="sng" w="28575">
            <a:solidFill>
              <a:srgbClr val="C1212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g3ec571d6d2b_1_8"/>
          <p:cNvCxnSpPr/>
          <p:nvPr/>
        </p:nvCxnSpPr>
        <p:spPr>
          <a:xfrm flipH="1" rot="10800000">
            <a:off x="2955025" y="8705975"/>
            <a:ext cx="5138700" cy="9900"/>
          </a:xfrm>
          <a:prstGeom prst="straightConnector1">
            <a:avLst/>
          </a:prstGeom>
          <a:noFill/>
          <a:ln cap="flat" cmpd="sng" w="28575">
            <a:solidFill>
              <a:srgbClr val="C1212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c571d6d2b_0_0"/>
          <p:cNvSpPr/>
          <p:nvPr/>
        </p:nvSpPr>
        <p:spPr>
          <a:xfrm>
            <a:off x="16295477" y="-2537835"/>
            <a:ext cx="5073710" cy="5077476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ec571d6d2b_0_0"/>
          <p:cNvSpPr txBox="1"/>
          <p:nvPr/>
        </p:nvSpPr>
        <p:spPr>
          <a:xfrm>
            <a:off x="1086125" y="614775"/>
            <a:ext cx="16541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200">
                <a:solidFill>
                  <a:srgbClr val="C12129"/>
                </a:solidFill>
                <a:latin typeface="Source Sans 3"/>
                <a:ea typeface="Source Sans 3"/>
                <a:cs typeface="Source Sans 3"/>
                <a:sym typeface="Source Sans 3"/>
              </a:rPr>
              <a:t>AI</a:t>
            </a:r>
            <a:r>
              <a:rPr b="1" lang="en-US" sz="92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 AND </a:t>
            </a:r>
            <a:r>
              <a:rPr b="1" lang="en-US" sz="9200">
                <a:solidFill>
                  <a:srgbClr val="C12129"/>
                </a:solidFill>
                <a:latin typeface="Source Sans 3"/>
                <a:ea typeface="Source Sans 3"/>
                <a:cs typeface="Source Sans 3"/>
                <a:sym typeface="Source Sans 3"/>
              </a:rPr>
              <a:t>ML</a:t>
            </a:r>
            <a:r>
              <a:rPr b="1" lang="en-US" sz="92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 FUNDAMENTALS</a:t>
            </a:r>
            <a:endParaRPr b="1" sz="92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8" name="Google Shape;308;g3ec571d6d2b_0_0"/>
          <p:cNvSpPr txBox="1"/>
          <p:nvPr/>
        </p:nvSpPr>
        <p:spPr>
          <a:xfrm>
            <a:off x="1086125" y="1914713"/>
            <a:ext cx="1076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38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Course Development Workshop </a:t>
            </a:r>
            <a:endParaRPr i="1" sz="38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9" name="Google Shape;309;g3ec571d6d2b_0_0"/>
          <p:cNvSpPr/>
          <p:nvPr/>
        </p:nvSpPr>
        <p:spPr>
          <a:xfrm>
            <a:off x="13743490" y="2804851"/>
            <a:ext cx="816882" cy="628371"/>
          </a:xfrm>
          <a:custGeom>
            <a:rect b="b" l="l" r="r" t="t"/>
            <a:pathLst>
              <a:path extrusionOk="0" h="602754" w="783580">
                <a:moveTo>
                  <a:pt x="0" y="0"/>
                </a:moveTo>
                <a:lnTo>
                  <a:pt x="783580" y="0"/>
                </a:lnTo>
                <a:lnTo>
                  <a:pt x="783580" y="602754"/>
                </a:lnTo>
                <a:lnTo>
                  <a:pt x="0" y="602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0" name="Google Shape;310;g3ec571d6d2b_0_0"/>
          <p:cNvSpPr txBox="1"/>
          <p:nvPr>
            <p:ph idx="12" type="sldNum"/>
          </p:nvPr>
        </p:nvSpPr>
        <p:spPr>
          <a:xfrm>
            <a:off x="15493650" y="96372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1" name="Google Shape;311;g3ec571d6d2b_0_0"/>
          <p:cNvCxnSpPr/>
          <p:nvPr/>
        </p:nvCxnSpPr>
        <p:spPr>
          <a:xfrm flipH="1" rot="10800000">
            <a:off x="1086125" y="3122225"/>
            <a:ext cx="9698100" cy="18300"/>
          </a:xfrm>
          <a:prstGeom prst="straightConnector1">
            <a:avLst/>
          </a:prstGeom>
          <a:noFill/>
          <a:ln cap="flat" cmpd="sng" w="28575">
            <a:solidFill>
              <a:srgbClr val="C1212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g3ec571d6d2b_0_0"/>
          <p:cNvSpPr txBox="1"/>
          <p:nvPr/>
        </p:nvSpPr>
        <p:spPr>
          <a:xfrm>
            <a:off x="1086125" y="2593038"/>
            <a:ext cx="1076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4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February 26–27, 2026 | University of West Florida Center for Cybersecurity</a:t>
            </a:r>
            <a:endParaRPr b="1" i="1" sz="24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313" name="Google Shape;313;g3ec571d6d2b_0_0" title="1772421361215.jpg"/>
          <p:cNvPicPr preferRelativeResize="0"/>
          <p:nvPr/>
        </p:nvPicPr>
        <p:blipFill rotWithShape="1">
          <a:blip r:embed="rId4">
            <a:alphaModFix/>
          </a:blip>
          <a:srcRect b="17852" l="0" r="0" t="28572"/>
          <a:stretch/>
        </p:blipFill>
        <p:spPr>
          <a:xfrm>
            <a:off x="11379825" y="2425122"/>
            <a:ext cx="6247426" cy="251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3ec571d6d2b_0_0" title="1772421364034.jpg"/>
          <p:cNvPicPr preferRelativeResize="0"/>
          <p:nvPr/>
        </p:nvPicPr>
        <p:blipFill rotWithShape="1">
          <a:blip r:embed="rId5">
            <a:alphaModFix/>
          </a:blip>
          <a:srcRect b="16239" l="4623" r="21171" t="17289"/>
          <a:stretch/>
        </p:blipFill>
        <p:spPr>
          <a:xfrm>
            <a:off x="11379825" y="5125525"/>
            <a:ext cx="6247424" cy="31477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" name="Google Shape;315;g3ec571d6d2b_0_0"/>
          <p:cNvGrpSpPr/>
          <p:nvPr/>
        </p:nvGrpSpPr>
        <p:grpSpPr>
          <a:xfrm>
            <a:off x="1216000" y="8689787"/>
            <a:ext cx="948212" cy="948212"/>
            <a:chOff x="0" y="0"/>
            <a:chExt cx="812800" cy="812800"/>
          </a:xfrm>
        </p:grpSpPr>
        <p:sp>
          <p:nvSpPr>
            <p:cNvPr id="316" name="Google Shape;316;g3ec571d6d2b_0_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866"/>
            </a:solidFill>
            <a:ln>
              <a:noFill/>
            </a:ln>
          </p:spPr>
          <p:txBody>
            <a:bodyPr anchorCtr="0" anchor="ctr" bIns="60775" lIns="60775" spcFirstLastPara="1" rIns="60775" wrap="square" tIns="60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g3ec571d6d2b_0_0"/>
            <p:cNvSpPr txBox="1"/>
            <p:nvPr/>
          </p:nvSpPr>
          <p:spPr>
            <a:xfrm>
              <a:off x="76200" y="7620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775" lIns="33775" spcFirstLastPara="1" rIns="33775" wrap="square" tIns="33775">
              <a:noAutofit/>
            </a:bodyPr>
            <a:lstStyle/>
            <a:p>
              <a:pPr indent="0" lvl="0" marL="0" marR="0" rtl="0" algn="ctr">
                <a:lnSpc>
                  <a:spcPct val="1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9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g3ec571d6d2b_0_0"/>
          <p:cNvSpPr/>
          <p:nvPr/>
        </p:nvSpPr>
        <p:spPr>
          <a:xfrm>
            <a:off x="1368561" y="8804075"/>
            <a:ext cx="643134" cy="719698"/>
          </a:xfrm>
          <a:custGeom>
            <a:rect b="b" l="l" r="r" t="t"/>
            <a:pathLst>
              <a:path extrusionOk="0" h="1082252" w="967119">
                <a:moveTo>
                  <a:pt x="0" y="0"/>
                </a:moveTo>
                <a:lnTo>
                  <a:pt x="967118" y="0"/>
                </a:lnTo>
                <a:lnTo>
                  <a:pt x="967118" y="1082251"/>
                </a:lnTo>
                <a:lnTo>
                  <a:pt x="0" y="10822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9" name="Google Shape;319;g3ec571d6d2b_0_0"/>
          <p:cNvGrpSpPr/>
          <p:nvPr/>
        </p:nvGrpSpPr>
        <p:grpSpPr>
          <a:xfrm>
            <a:off x="1216000" y="4943949"/>
            <a:ext cx="948030" cy="948030"/>
            <a:chOff x="0" y="0"/>
            <a:chExt cx="1901383" cy="1901383"/>
          </a:xfrm>
        </p:grpSpPr>
        <p:grpSp>
          <p:nvGrpSpPr>
            <p:cNvPr id="320" name="Google Shape;320;g3ec571d6d2b_0_0"/>
            <p:cNvGrpSpPr/>
            <p:nvPr/>
          </p:nvGrpSpPr>
          <p:grpSpPr>
            <a:xfrm>
              <a:off x="0" y="0"/>
              <a:ext cx="1901383" cy="1901383"/>
              <a:chOff x="0" y="0"/>
              <a:chExt cx="812800" cy="812800"/>
            </a:xfrm>
          </p:grpSpPr>
          <p:sp>
            <p:nvSpPr>
              <p:cNvPr id="321" name="Google Shape;321;g3ec571d6d2b_0_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866"/>
              </a:solidFill>
              <a:ln>
                <a:noFill/>
              </a:ln>
            </p:spPr>
            <p:txBody>
              <a:bodyPr anchorCtr="0" anchor="ctr" bIns="60775" lIns="60775" spcFirstLastPara="1" rIns="60775" wrap="square" tIns="607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g3ec571d6d2b_0_0"/>
              <p:cNvSpPr txBox="1"/>
              <p:nvPr/>
            </p:nvSpPr>
            <p:spPr>
              <a:xfrm>
                <a:off x="76200" y="76200"/>
                <a:ext cx="660300" cy="6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3775" lIns="33775" spcFirstLastPara="1" rIns="33775" wrap="square" tIns="33775">
                <a:noAutofit/>
              </a:bodyPr>
              <a:lstStyle/>
              <a:p>
                <a:pPr indent="0" lvl="0" marL="0" marR="0" rtl="0" algn="ctr">
                  <a:lnSpc>
                    <a:spcPct val="1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97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3" name="Google Shape;323;g3ec571d6d2b_0_0"/>
            <p:cNvSpPr/>
            <p:nvPr/>
          </p:nvSpPr>
          <p:spPr>
            <a:xfrm>
              <a:off x="169835" y="454531"/>
              <a:ext cx="1581394" cy="992325"/>
            </a:xfrm>
            <a:custGeom>
              <a:rect b="b" l="l" r="r" t="t"/>
              <a:pathLst>
                <a:path extrusionOk="0" h="992325" w="1581394">
                  <a:moveTo>
                    <a:pt x="0" y="0"/>
                  </a:moveTo>
                  <a:lnTo>
                    <a:pt x="1581394" y="0"/>
                  </a:lnTo>
                  <a:lnTo>
                    <a:pt x="1581394" y="992324"/>
                  </a:lnTo>
                  <a:lnTo>
                    <a:pt x="0" y="9923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324" name="Google Shape;324;g3ec571d6d2b_0_0"/>
          <p:cNvGrpSpPr/>
          <p:nvPr/>
        </p:nvGrpSpPr>
        <p:grpSpPr>
          <a:xfrm>
            <a:off x="1216000" y="7346856"/>
            <a:ext cx="948212" cy="948212"/>
            <a:chOff x="0" y="0"/>
            <a:chExt cx="812800" cy="812800"/>
          </a:xfrm>
        </p:grpSpPr>
        <p:sp>
          <p:nvSpPr>
            <p:cNvPr id="325" name="Google Shape;325;g3ec571d6d2b_0_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866"/>
            </a:solidFill>
            <a:ln>
              <a:noFill/>
            </a:ln>
          </p:spPr>
          <p:txBody>
            <a:bodyPr anchorCtr="0" anchor="ctr" bIns="60775" lIns="60775" spcFirstLastPara="1" rIns="60775" wrap="square" tIns="60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g3ec571d6d2b_0_0"/>
            <p:cNvSpPr txBox="1"/>
            <p:nvPr/>
          </p:nvSpPr>
          <p:spPr>
            <a:xfrm>
              <a:off x="76200" y="7620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775" lIns="33775" spcFirstLastPara="1" rIns="33775" wrap="square" tIns="33775">
              <a:noAutofit/>
            </a:bodyPr>
            <a:lstStyle/>
            <a:p>
              <a:pPr indent="0" lvl="0" marL="0" marR="0" rtl="0" algn="ctr">
                <a:lnSpc>
                  <a:spcPct val="1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9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g3ec571d6d2b_0_0"/>
          <p:cNvGrpSpPr/>
          <p:nvPr/>
        </p:nvGrpSpPr>
        <p:grpSpPr>
          <a:xfrm>
            <a:off x="1216000" y="6145403"/>
            <a:ext cx="948030" cy="948030"/>
            <a:chOff x="0" y="0"/>
            <a:chExt cx="1901383" cy="1901383"/>
          </a:xfrm>
        </p:grpSpPr>
        <p:grpSp>
          <p:nvGrpSpPr>
            <p:cNvPr id="328" name="Google Shape;328;g3ec571d6d2b_0_0"/>
            <p:cNvGrpSpPr/>
            <p:nvPr/>
          </p:nvGrpSpPr>
          <p:grpSpPr>
            <a:xfrm>
              <a:off x="0" y="0"/>
              <a:ext cx="1901383" cy="1901383"/>
              <a:chOff x="0" y="0"/>
              <a:chExt cx="812800" cy="812800"/>
            </a:xfrm>
          </p:grpSpPr>
          <p:sp>
            <p:nvSpPr>
              <p:cNvPr id="329" name="Google Shape;329;g3ec571d6d2b_0_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866"/>
              </a:solidFill>
              <a:ln>
                <a:noFill/>
              </a:ln>
            </p:spPr>
            <p:txBody>
              <a:bodyPr anchorCtr="0" anchor="ctr" bIns="60775" lIns="60775" spcFirstLastPara="1" rIns="60775" wrap="square" tIns="607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g3ec571d6d2b_0_0"/>
              <p:cNvSpPr txBox="1"/>
              <p:nvPr/>
            </p:nvSpPr>
            <p:spPr>
              <a:xfrm>
                <a:off x="76200" y="76200"/>
                <a:ext cx="660300" cy="6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3775" lIns="33775" spcFirstLastPara="1" rIns="33775" wrap="square" tIns="33775">
                <a:noAutofit/>
              </a:bodyPr>
              <a:lstStyle/>
              <a:p>
                <a:pPr indent="0" lvl="0" marL="0" marR="0" rtl="0" algn="ctr">
                  <a:lnSpc>
                    <a:spcPct val="1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97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" name="Google Shape;331;g3ec571d6d2b_0_0"/>
            <p:cNvSpPr/>
            <p:nvPr/>
          </p:nvSpPr>
          <p:spPr>
            <a:xfrm>
              <a:off x="323000" y="246334"/>
              <a:ext cx="1325853" cy="1344337"/>
            </a:xfrm>
            <a:custGeom>
              <a:rect b="b" l="l" r="r" t="t"/>
              <a:pathLst>
                <a:path extrusionOk="0" h="1344337" w="1325853">
                  <a:moveTo>
                    <a:pt x="0" y="0"/>
                  </a:moveTo>
                  <a:lnTo>
                    <a:pt x="1325852" y="0"/>
                  </a:lnTo>
                  <a:lnTo>
                    <a:pt x="1325852" y="1344337"/>
                  </a:lnTo>
                  <a:lnTo>
                    <a:pt x="0" y="13443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32" name="Google Shape;332;g3ec571d6d2b_0_0"/>
          <p:cNvSpPr/>
          <p:nvPr/>
        </p:nvSpPr>
        <p:spPr>
          <a:xfrm>
            <a:off x="1283140" y="7578200"/>
            <a:ext cx="827301" cy="408480"/>
          </a:xfrm>
          <a:custGeom>
            <a:rect b="b" l="l" r="r" t="t"/>
            <a:pathLst>
              <a:path extrusionOk="0" h="614256" w="1244062">
                <a:moveTo>
                  <a:pt x="0" y="0"/>
                </a:moveTo>
                <a:lnTo>
                  <a:pt x="1244062" y="0"/>
                </a:lnTo>
                <a:lnTo>
                  <a:pt x="1244062" y="614256"/>
                </a:lnTo>
                <a:lnTo>
                  <a:pt x="0" y="614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33" name="Google Shape;333;g3ec571d6d2b_0_0"/>
          <p:cNvCxnSpPr/>
          <p:nvPr/>
        </p:nvCxnSpPr>
        <p:spPr>
          <a:xfrm>
            <a:off x="2307817" y="5962169"/>
            <a:ext cx="4202700" cy="0"/>
          </a:xfrm>
          <a:prstGeom prst="straightConnector1">
            <a:avLst/>
          </a:prstGeom>
          <a:noFill/>
          <a:ln cap="flat" cmpd="sng" w="28575">
            <a:solidFill>
              <a:srgbClr val="009CD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g3ec571d6d2b_0_0"/>
          <p:cNvCxnSpPr/>
          <p:nvPr/>
        </p:nvCxnSpPr>
        <p:spPr>
          <a:xfrm>
            <a:off x="2295819" y="7080873"/>
            <a:ext cx="4202700" cy="0"/>
          </a:xfrm>
          <a:prstGeom prst="straightConnector1">
            <a:avLst/>
          </a:prstGeom>
          <a:noFill/>
          <a:ln cap="flat" cmpd="sng" w="38100">
            <a:solidFill>
              <a:srgbClr val="009CD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g3ec571d6d2b_0_0"/>
          <p:cNvCxnSpPr/>
          <p:nvPr/>
        </p:nvCxnSpPr>
        <p:spPr>
          <a:xfrm>
            <a:off x="2292805" y="8442803"/>
            <a:ext cx="4202700" cy="0"/>
          </a:xfrm>
          <a:prstGeom prst="straightConnector1">
            <a:avLst/>
          </a:prstGeom>
          <a:noFill/>
          <a:ln cap="flat" cmpd="sng" w="38100">
            <a:solidFill>
              <a:srgbClr val="009C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g3ec571d6d2b_0_0"/>
          <p:cNvSpPr/>
          <p:nvPr/>
        </p:nvSpPr>
        <p:spPr>
          <a:xfrm>
            <a:off x="1086125" y="3280775"/>
            <a:ext cx="772173" cy="796055"/>
          </a:xfrm>
          <a:custGeom>
            <a:rect b="b" l="l" r="r" t="t"/>
            <a:pathLst>
              <a:path extrusionOk="0" h="1299681" w="1260691">
                <a:moveTo>
                  <a:pt x="0" y="0"/>
                </a:moveTo>
                <a:lnTo>
                  <a:pt x="1260691" y="0"/>
                </a:lnTo>
                <a:lnTo>
                  <a:pt x="1260691" y="1299682"/>
                </a:lnTo>
                <a:lnTo>
                  <a:pt x="0" y="1299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g3ec571d6d2b_0_0"/>
          <p:cNvSpPr txBox="1"/>
          <p:nvPr/>
        </p:nvSpPr>
        <p:spPr>
          <a:xfrm>
            <a:off x="1965814" y="3521228"/>
            <a:ext cx="4544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60" u="none" cap="none" strike="noStrike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WHAT WE ACCOMPLISHED</a:t>
            </a:r>
            <a:endParaRPr b="1" sz="1451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8" name="Google Shape;338;g3ec571d6d2b_0_0"/>
          <p:cNvSpPr txBox="1"/>
          <p:nvPr/>
        </p:nvSpPr>
        <p:spPr>
          <a:xfrm>
            <a:off x="1086125" y="4176425"/>
            <a:ext cx="99012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89" u="none" cap="none" strike="noStrike">
                <a:solidFill>
                  <a:srgbClr val="000000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A community of AI experts and cybersecurity educators came together to develop a complete </a:t>
            </a:r>
            <a:r>
              <a:rPr b="1" i="0" lang="en-US" sz="1389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AI and ML Fundamentals</a:t>
            </a:r>
            <a:r>
              <a:rPr i="0" lang="en-US" sz="1389" u="none" cap="none" strike="noStrike">
                <a:solidFill>
                  <a:srgbClr val="000000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 course aligned with the </a:t>
            </a:r>
            <a:r>
              <a:rPr b="1" i="0" lang="en-US" sz="1389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NCAE-C Cyber AI Knowledge Units (KUs)</a:t>
            </a:r>
            <a:r>
              <a:rPr i="0" lang="en-US" sz="1389" u="none" cap="none" strike="noStrike">
                <a:solidFill>
                  <a:srgbClr val="000000"/>
                </a:solidFill>
                <a:latin typeface="Source Sans 3 Medium"/>
                <a:ea typeface="Source Sans 3 Medium"/>
                <a:cs typeface="Source Sans 3 Medium"/>
                <a:sym typeface="Source Sans 3 Medium"/>
              </a:rPr>
              <a:t> and the </a:t>
            </a:r>
            <a:r>
              <a:rPr b="1" i="0" lang="en-US" sz="1389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DoW Cyberworkforce Framework (DCWF).</a:t>
            </a:r>
            <a:endParaRPr b="1" sz="873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9" name="Google Shape;339;g3ec571d6d2b_0_0"/>
          <p:cNvSpPr txBox="1"/>
          <p:nvPr/>
        </p:nvSpPr>
        <p:spPr>
          <a:xfrm>
            <a:off x="2315325" y="4920127"/>
            <a:ext cx="1644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5" u="none" cap="none" strike="noStrike">
                <a:solidFill>
                  <a:srgbClr val="C12129"/>
                </a:solidFill>
                <a:latin typeface="Source Sans 3"/>
                <a:ea typeface="Source Sans 3"/>
                <a:cs typeface="Source Sans 3"/>
                <a:sym typeface="Source Sans 3"/>
              </a:rPr>
              <a:t>DEVELOPED</a:t>
            </a:r>
            <a:endParaRPr b="1" sz="1031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0" name="Google Shape;340;g3ec571d6d2b_0_0"/>
          <p:cNvSpPr txBox="1"/>
          <p:nvPr/>
        </p:nvSpPr>
        <p:spPr>
          <a:xfrm>
            <a:off x="2315323" y="5291619"/>
            <a:ext cx="41874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97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 comprehensive Introduction to AI course including syllabus, outline, slides, labs, and assessments.</a:t>
            </a:r>
            <a:endParaRPr sz="931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1" name="Google Shape;341;g3ec571d6d2b_0_0"/>
          <p:cNvSpPr txBox="1"/>
          <p:nvPr/>
        </p:nvSpPr>
        <p:spPr>
          <a:xfrm>
            <a:off x="2315325" y="6129275"/>
            <a:ext cx="134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12129"/>
                </a:solidFill>
                <a:latin typeface="Source Sans 3"/>
                <a:ea typeface="Source Sans 3"/>
                <a:cs typeface="Source Sans 3"/>
                <a:sym typeface="Source Sans 3"/>
              </a:rPr>
              <a:t>ALIGNED</a:t>
            </a:r>
            <a:endParaRPr b="1" sz="20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2" name="Google Shape;342;g3ec571d6d2b_0_0"/>
          <p:cNvSpPr txBox="1"/>
          <p:nvPr/>
        </p:nvSpPr>
        <p:spPr>
          <a:xfrm>
            <a:off x="2315323" y="6510922"/>
            <a:ext cx="41949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97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 materials map to Cyber AI KUs, DCWF, and NCAE-C Cybersecurity Curriculum Task Force templates.</a:t>
            </a:r>
            <a:endParaRPr sz="931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3" name="Google Shape;343;g3ec571d6d2b_0_0"/>
          <p:cNvSpPr txBox="1"/>
          <p:nvPr/>
        </p:nvSpPr>
        <p:spPr>
          <a:xfrm>
            <a:off x="2307825" y="7268300"/>
            <a:ext cx="208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1212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COLLABORATED</a:t>
            </a:r>
            <a:endParaRPr b="1" sz="20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4" name="Google Shape;344;g3ec571d6d2b_0_0"/>
          <p:cNvSpPr txBox="1"/>
          <p:nvPr/>
        </p:nvSpPr>
        <p:spPr>
          <a:xfrm>
            <a:off x="2307817" y="7672086"/>
            <a:ext cx="41949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97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Faculty facilitators and subject matter experts collaborated in small groups and plenary sessions to create high-quality, reusable resources.</a:t>
            </a:r>
            <a:endParaRPr sz="931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5" name="Google Shape;345;g3ec571d6d2b_0_0"/>
          <p:cNvSpPr txBox="1"/>
          <p:nvPr/>
        </p:nvSpPr>
        <p:spPr>
          <a:xfrm>
            <a:off x="2315325" y="8568125"/>
            <a:ext cx="199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1212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COMMITTED</a:t>
            </a:r>
            <a:endParaRPr b="1" sz="20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6" name="Google Shape;346;g3ec571d6d2b_0_0"/>
          <p:cNvSpPr txBox="1"/>
          <p:nvPr/>
        </p:nvSpPr>
        <p:spPr>
          <a:xfrm>
            <a:off x="2304800" y="9001225"/>
            <a:ext cx="43596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97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 course materials will be submitted to the CLARK repository within 45 days for review and distribution to the broader community.</a:t>
            </a:r>
            <a:endParaRPr sz="931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7" name="Google Shape;347;g3ec571d6d2b_0_0"/>
          <p:cNvSpPr/>
          <p:nvPr/>
        </p:nvSpPr>
        <p:spPr>
          <a:xfrm>
            <a:off x="15102800" y="8295075"/>
            <a:ext cx="2088382" cy="1785349"/>
          </a:xfrm>
          <a:custGeom>
            <a:rect b="b" l="l" r="r" t="t"/>
            <a:pathLst>
              <a:path extrusionOk="0" h="1626742" w="2032489">
                <a:moveTo>
                  <a:pt x="0" y="0"/>
                </a:moveTo>
                <a:lnTo>
                  <a:pt x="2032489" y="0"/>
                </a:lnTo>
                <a:lnTo>
                  <a:pt x="2032489" y="1626743"/>
                </a:lnTo>
                <a:lnTo>
                  <a:pt x="0" y="16267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g3ec571d6d2b_0_0"/>
          <p:cNvSpPr/>
          <p:nvPr/>
        </p:nvSpPr>
        <p:spPr>
          <a:xfrm>
            <a:off x="13862476" y="8612925"/>
            <a:ext cx="1240330" cy="1325759"/>
          </a:xfrm>
          <a:custGeom>
            <a:rect b="b" l="l" r="r" t="t"/>
            <a:pathLst>
              <a:path extrusionOk="0" h="1082252" w="967119">
                <a:moveTo>
                  <a:pt x="0" y="0"/>
                </a:moveTo>
                <a:lnTo>
                  <a:pt x="967118" y="0"/>
                </a:lnTo>
                <a:lnTo>
                  <a:pt x="967118" y="1082251"/>
                </a:lnTo>
                <a:lnTo>
                  <a:pt x="0" y="10822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49" name="Google Shape;349;g3ec571d6d2b_0_0" title="download.png"/>
          <p:cNvPicPr preferRelativeResize="0"/>
          <p:nvPr/>
        </p:nvPicPr>
        <p:blipFill rotWithShape="1">
          <a:blip r:embed="rId12">
            <a:alphaModFix/>
          </a:blip>
          <a:srcRect b="29131" l="0" r="56284" t="26177"/>
          <a:stretch/>
        </p:blipFill>
        <p:spPr>
          <a:xfrm>
            <a:off x="11689050" y="8568135"/>
            <a:ext cx="1998900" cy="1415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ec571d6d2b_0_0"/>
          <p:cNvSpPr/>
          <p:nvPr/>
        </p:nvSpPr>
        <p:spPr>
          <a:xfrm>
            <a:off x="6761475" y="4943950"/>
            <a:ext cx="4359600" cy="1630200"/>
          </a:xfrm>
          <a:prstGeom prst="roundRect">
            <a:avLst>
              <a:gd fmla="val 16667" name="adj"/>
            </a:avLst>
          </a:prstGeom>
          <a:solidFill>
            <a:srgbClr val="002866"/>
          </a:solidFill>
          <a:ln cap="flat" cmpd="sng" w="9525">
            <a:solidFill>
              <a:srgbClr val="0028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ec571d6d2b_0_0"/>
          <p:cNvSpPr/>
          <p:nvPr/>
        </p:nvSpPr>
        <p:spPr>
          <a:xfrm>
            <a:off x="6765225" y="6851875"/>
            <a:ext cx="4359600" cy="1630200"/>
          </a:xfrm>
          <a:prstGeom prst="roundRect">
            <a:avLst>
              <a:gd fmla="val 16667" name="adj"/>
            </a:avLst>
          </a:prstGeom>
          <a:solidFill>
            <a:srgbClr val="2EA3F2"/>
          </a:solidFill>
          <a:ln cap="flat" cmpd="sng" w="9525">
            <a:solidFill>
              <a:srgbClr val="2EA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g3ec571d6d2b_0_0" title="Curriculum (2).png"/>
          <p:cNvPicPr preferRelativeResize="0"/>
          <p:nvPr/>
        </p:nvPicPr>
        <p:blipFill rotWithShape="1">
          <a:blip r:embed="rId13">
            <a:alphaModFix/>
          </a:blip>
          <a:srcRect b="48841" l="0" r="87460" t="32625"/>
          <a:stretch/>
        </p:blipFill>
        <p:spPr>
          <a:xfrm>
            <a:off x="6737875" y="4848993"/>
            <a:ext cx="1998902" cy="1661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g3ec571d6d2b_0_0" title="Curriculum (2).png"/>
          <p:cNvPicPr preferRelativeResize="0"/>
          <p:nvPr/>
        </p:nvPicPr>
        <p:blipFill rotWithShape="1">
          <a:blip r:embed="rId13">
            <a:alphaModFix/>
          </a:blip>
          <a:srcRect b="30919" l="0" r="87460" t="50973"/>
          <a:stretch/>
        </p:blipFill>
        <p:spPr>
          <a:xfrm>
            <a:off x="6848574" y="7060512"/>
            <a:ext cx="1777502" cy="144384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ec571d6d2b_0_0"/>
          <p:cNvSpPr txBox="1"/>
          <p:nvPr/>
        </p:nvSpPr>
        <p:spPr>
          <a:xfrm>
            <a:off x="8534225" y="5201325"/>
            <a:ext cx="18474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5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12+</a:t>
            </a:r>
            <a:endParaRPr b="1" sz="4331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55" name="Google Shape;355;g3ec571d6d2b_0_0"/>
          <p:cNvSpPr txBox="1"/>
          <p:nvPr/>
        </p:nvSpPr>
        <p:spPr>
          <a:xfrm>
            <a:off x="8534225" y="5962175"/>
            <a:ext cx="25905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5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INSTITUTIONS</a:t>
            </a:r>
            <a:endParaRPr b="1" sz="3505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56" name="Google Shape;356;g3ec571d6d2b_0_0"/>
          <p:cNvSpPr txBox="1"/>
          <p:nvPr/>
        </p:nvSpPr>
        <p:spPr>
          <a:xfrm>
            <a:off x="8534225" y="7013900"/>
            <a:ext cx="18474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5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21</a:t>
            </a:r>
            <a:endParaRPr b="1" sz="4331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57" name="Google Shape;357;g3ec571d6d2b_0_0"/>
          <p:cNvSpPr txBox="1"/>
          <p:nvPr/>
        </p:nvSpPr>
        <p:spPr>
          <a:xfrm>
            <a:off x="8534225" y="7798525"/>
            <a:ext cx="25905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5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PARTICIPANTS</a:t>
            </a:r>
            <a:endParaRPr b="1" sz="3505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77f6d4b04_0_0"/>
          <p:cNvSpPr txBox="1"/>
          <p:nvPr/>
        </p:nvSpPr>
        <p:spPr>
          <a:xfrm>
            <a:off x="1339650" y="6292400"/>
            <a:ext cx="127572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1" i="0" lang="en-US" sz="6200" u="none" cap="none" strike="noStrike">
                <a:solidFill>
                  <a:srgbClr val="00286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6200">
                <a:solidFill>
                  <a:srgbClr val="002866"/>
                </a:solidFill>
              </a:rPr>
              <a:t>70</a:t>
            </a:r>
            <a:r>
              <a:rPr b="1" i="0" lang="en-US" sz="6200" u="none" cap="none" strike="noStrike">
                <a:solidFill>
                  <a:srgbClr val="002866"/>
                </a:solidFill>
                <a:latin typeface="Arial"/>
                <a:ea typeface="Arial"/>
                <a:cs typeface="Arial"/>
                <a:sym typeface="Arial"/>
              </a:rPr>
              <a:t>+ AI &amp; ML Learning Objects</a:t>
            </a:r>
            <a:endParaRPr b="0" i="0" sz="6200" u="none" cap="none" strike="noStrike">
              <a:solidFill>
                <a:srgbClr val="0028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d77f6d4b04_0_0"/>
          <p:cNvSpPr txBox="1"/>
          <p:nvPr/>
        </p:nvSpPr>
        <p:spPr>
          <a:xfrm>
            <a:off x="1339650" y="7612125"/>
            <a:ext cx="12910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1" lang="en-US" sz="6200">
                <a:solidFill>
                  <a:srgbClr val="002866"/>
                </a:solidFill>
              </a:rPr>
              <a:t>7,010</a:t>
            </a:r>
            <a:r>
              <a:rPr b="1" i="0" lang="en-US" sz="6200" u="none" cap="none" strike="noStrike">
                <a:solidFill>
                  <a:srgbClr val="002866"/>
                </a:solidFill>
                <a:latin typeface="Arial"/>
                <a:ea typeface="Arial"/>
                <a:cs typeface="Arial"/>
                <a:sym typeface="Arial"/>
              </a:rPr>
              <a:t>+ AI Curriculum Downloads</a:t>
            </a:r>
            <a:endParaRPr b="0" i="0" sz="6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d77f6d4b04_0_0"/>
          <p:cNvSpPr txBox="1"/>
          <p:nvPr>
            <p:ph idx="12" type="sldNum"/>
          </p:nvPr>
        </p:nvSpPr>
        <p:spPr>
          <a:xfrm>
            <a:off x="15493650" y="96372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"/>
          <p:cNvSpPr txBox="1"/>
          <p:nvPr/>
        </p:nvSpPr>
        <p:spPr>
          <a:xfrm>
            <a:off x="680802" y="1069022"/>
            <a:ext cx="16406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6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AI Curriculum</a:t>
            </a:r>
            <a:endParaRPr b="0" i="0" sz="1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70" name="Google Shape;370;p4"/>
          <p:cNvSpPr/>
          <p:nvPr/>
        </p:nvSpPr>
        <p:spPr>
          <a:xfrm>
            <a:off x="16295477" y="-2537835"/>
            <a:ext cx="5071904" cy="5075669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4"/>
          <p:cNvGrpSpPr/>
          <p:nvPr/>
        </p:nvGrpSpPr>
        <p:grpSpPr>
          <a:xfrm>
            <a:off x="15322030" y="956370"/>
            <a:ext cx="3963529" cy="843855"/>
            <a:chOff x="0" y="-38100"/>
            <a:chExt cx="2087785" cy="444500"/>
          </a:xfrm>
        </p:grpSpPr>
        <p:sp>
          <p:nvSpPr>
            <p:cNvPr id="372" name="Google Shape;372;p4"/>
            <p:cNvSpPr/>
            <p:nvPr/>
          </p:nvSpPr>
          <p:spPr>
            <a:xfrm>
              <a:off x="0" y="0"/>
              <a:ext cx="2087785" cy="406400"/>
            </a:xfrm>
            <a:custGeom>
              <a:rect b="b" l="l" r="r" t="t"/>
              <a:pathLst>
                <a:path extrusionOk="0" h="406400" w="2087785">
                  <a:moveTo>
                    <a:pt x="1884585" y="0"/>
                  </a:moveTo>
                  <a:cubicBezTo>
                    <a:pt x="1996809" y="0"/>
                    <a:pt x="2087785" y="90976"/>
                    <a:pt x="2087785" y="203200"/>
                  </a:cubicBezTo>
                  <a:cubicBezTo>
                    <a:pt x="2087785" y="315424"/>
                    <a:pt x="1996809" y="406400"/>
                    <a:pt x="18845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121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"/>
            <p:cNvSpPr txBox="1"/>
            <p:nvPr/>
          </p:nvSpPr>
          <p:spPr>
            <a:xfrm>
              <a:off x="0" y="-38100"/>
              <a:ext cx="2087785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4"/>
          <p:cNvSpPr/>
          <p:nvPr/>
        </p:nvSpPr>
        <p:spPr>
          <a:xfrm>
            <a:off x="14767290" y="699857"/>
            <a:ext cx="1277167" cy="1429211"/>
          </a:xfrm>
          <a:custGeom>
            <a:rect b="b" l="l" r="r" t="t"/>
            <a:pathLst>
              <a:path extrusionOk="0" h="1429211" w="1277167">
                <a:moveTo>
                  <a:pt x="0" y="0"/>
                </a:moveTo>
                <a:lnTo>
                  <a:pt x="1277167" y="0"/>
                </a:lnTo>
                <a:lnTo>
                  <a:pt x="1277167" y="1429211"/>
                </a:lnTo>
                <a:lnTo>
                  <a:pt x="0" y="1429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5" name="Google Shape;375;p4"/>
          <p:cNvSpPr/>
          <p:nvPr/>
        </p:nvSpPr>
        <p:spPr>
          <a:xfrm>
            <a:off x="1193830" y="1906588"/>
            <a:ext cx="11384222" cy="99612"/>
          </a:xfrm>
          <a:custGeom>
            <a:rect b="b" l="l" r="r" t="t"/>
            <a:pathLst>
              <a:path extrusionOk="0" h="99612" w="11384222">
                <a:moveTo>
                  <a:pt x="0" y="0"/>
                </a:moveTo>
                <a:lnTo>
                  <a:pt x="11384221" y="0"/>
                </a:lnTo>
                <a:lnTo>
                  <a:pt x="11384221" y="99611"/>
                </a:lnTo>
                <a:lnTo>
                  <a:pt x="0" y="99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6" name="Google Shape;376;p4"/>
          <p:cNvSpPr txBox="1"/>
          <p:nvPr/>
        </p:nvSpPr>
        <p:spPr>
          <a:xfrm>
            <a:off x="1270208" y="2186218"/>
            <a:ext cx="11384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77" name="Google Shape;377;p4"/>
          <p:cNvSpPr txBox="1"/>
          <p:nvPr/>
        </p:nvSpPr>
        <p:spPr>
          <a:xfrm>
            <a:off x="15500250" y="1064900"/>
            <a:ext cx="212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CLARK</a:t>
            </a:r>
            <a:endParaRPr b="0" i="0" sz="18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378" name="Google Shape;378;p4" title="Screenshot 2026-06-12 at 9.32.38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1400" y="2306325"/>
            <a:ext cx="13668849" cy="723298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"/>
          <p:cNvSpPr txBox="1"/>
          <p:nvPr>
            <p:ph idx="12" type="sldNum"/>
          </p:nvPr>
        </p:nvSpPr>
        <p:spPr>
          <a:xfrm>
            <a:off x="15646050" y="9789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d86a6d7f5_0_34"/>
          <p:cNvSpPr txBox="1"/>
          <p:nvPr/>
        </p:nvSpPr>
        <p:spPr>
          <a:xfrm>
            <a:off x="710225" y="784625"/>
            <a:ext cx="1723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60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CLARK + </a:t>
            </a:r>
            <a:r>
              <a:rPr b="1" lang="en-US" sz="6000">
                <a:solidFill>
                  <a:srgbClr val="C12129"/>
                </a:solidFill>
                <a:latin typeface="Source Sans 3"/>
                <a:ea typeface="Source Sans 3"/>
                <a:cs typeface="Source Sans 3"/>
                <a:sym typeface="Source Sans 3"/>
              </a:rPr>
              <a:t>NAIRR</a:t>
            </a:r>
            <a:r>
              <a:rPr b="1" lang="en-US" sz="60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:</a:t>
            </a:r>
            <a:r>
              <a:rPr b="1" lang="en-US" sz="56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b="1" lang="en-US" sz="47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Infrastructure</a:t>
            </a:r>
            <a:r>
              <a:rPr b="1" lang="en-US" sz="47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for AI Education at Scale</a:t>
            </a:r>
            <a:endParaRPr b="0" sz="5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85" name="Google Shape;385;g3ed86a6d7f5_0_34"/>
          <p:cNvSpPr/>
          <p:nvPr/>
        </p:nvSpPr>
        <p:spPr>
          <a:xfrm>
            <a:off x="16295477" y="-2537835"/>
            <a:ext cx="5073710" cy="5077476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ed86a6d7f5_0_34"/>
          <p:cNvSpPr/>
          <p:nvPr/>
        </p:nvSpPr>
        <p:spPr>
          <a:xfrm>
            <a:off x="553330" y="1775138"/>
            <a:ext cx="11384222" cy="99612"/>
          </a:xfrm>
          <a:custGeom>
            <a:rect b="b" l="l" r="r" t="t"/>
            <a:pathLst>
              <a:path extrusionOk="0" h="99612" w="11384222">
                <a:moveTo>
                  <a:pt x="0" y="0"/>
                </a:moveTo>
                <a:lnTo>
                  <a:pt x="11384221" y="0"/>
                </a:lnTo>
                <a:lnTo>
                  <a:pt x="11384221" y="99611"/>
                </a:lnTo>
                <a:lnTo>
                  <a:pt x="0" y="99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7" name="Google Shape;387;g3ed86a6d7f5_0_34"/>
          <p:cNvSpPr txBox="1"/>
          <p:nvPr/>
        </p:nvSpPr>
        <p:spPr>
          <a:xfrm>
            <a:off x="1270208" y="2186218"/>
            <a:ext cx="11384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88" name="Google Shape;388;g3ed86a6d7f5_0_34"/>
          <p:cNvSpPr txBox="1"/>
          <p:nvPr>
            <p:ph idx="12" type="sldNum"/>
          </p:nvPr>
        </p:nvSpPr>
        <p:spPr>
          <a:xfrm>
            <a:off x="15646050" y="9789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9" name="Google Shape;389;g3ed86a6d7f5_0_34"/>
          <p:cNvSpPr txBox="1"/>
          <p:nvPr/>
        </p:nvSpPr>
        <p:spPr>
          <a:xfrm>
            <a:off x="1474250" y="2016875"/>
            <a:ext cx="1522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3600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Together, we can empower every institution to teach AI with confidence.</a:t>
            </a:r>
            <a:endParaRPr i="1" sz="3600">
              <a:solidFill>
                <a:srgbClr val="00286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390" name="Google Shape;390;g3ed86a6d7f5_0_34"/>
          <p:cNvGrpSpPr/>
          <p:nvPr/>
        </p:nvGrpSpPr>
        <p:grpSpPr>
          <a:xfrm>
            <a:off x="1854600" y="3157751"/>
            <a:ext cx="5450163" cy="1350739"/>
            <a:chOff x="0" y="-38100"/>
            <a:chExt cx="2087785" cy="444600"/>
          </a:xfrm>
        </p:grpSpPr>
        <p:sp>
          <p:nvSpPr>
            <p:cNvPr id="391" name="Google Shape;391;g3ed86a6d7f5_0_34"/>
            <p:cNvSpPr/>
            <p:nvPr/>
          </p:nvSpPr>
          <p:spPr>
            <a:xfrm>
              <a:off x="0" y="0"/>
              <a:ext cx="2087785" cy="406400"/>
            </a:xfrm>
            <a:custGeom>
              <a:rect b="b" l="l" r="r" t="t"/>
              <a:pathLst>
                <a:path extrusionOk="0" h="406400" w="2087785">
                  <a:moveTo>
                    <a:pt x="1884585" y="0"/>
                  </a:moveTo>
                  <a:cubicBezTo>
                    <a:pt x="1996809" y="0"/>
                    <a:pt x="2087785" y="90976"/>
                    <a:pt x="2087785" y="203200"/>
                  </a:cubicBezTo>
                  <a:cubicBezTo>
                    <a:pt x="2087785" y="315424"/>
                    <a:pt x="1996809" y="406400"/>
                    <a:pt x="18845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12129"/>
            </a:solidFill>
            <a:ln>
              <a:noFill/>
            </a:ln>
          </p:spPr>
          <p:txBody>
            <a:bodyPr anchorCtr="0" anchor="ctr" bIns="114950" lIns="114950" spcFirstLastPara="1" rIns="114950" wrap="square" tIns="11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0"/>
                <a:buFont typeface="Arial"/>
                <a:buNone/>
              </a:pPr>
              <a:r>
                <a:t/>
              </a:r>
              <a:endParaRPr b="0" i="0" sz="1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3ed86a6d7f5_0_34"/>
            <p:cNvSpPr txBox="1"/>
            <p:nvPr/>
          </p:nvSpPr>
          <p:spPr>
            <a:xfrm>
              <a:off x="0" y="-38100"/>
              <a:ext cx="20877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875" lIns="63875" spcFirstLastPara="1" rIns="63875" wrap="square" tIns="63875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t/>
              </a:r>
              <a:endParaRPr b="0" i="0" sz="2263" u="none" cap="none" strike="noStrike">
                <a:solidFill>
                  <a:schemeClr val="dk1"/>
                </a:solidFill>
                <a:highlight>
                  <a:srgbClr val="002866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g3ed86a6d7f5_0_34"/>
          <p:cNvSpPr/>
          <p:nvPr/>
        </p:nvSpPr>
        <p:spPr>
          <a:xfrm>
            <a:off x="1157125" y="2835225"/>
            <a:ext cx="1606038" cy="1797233"/>
          </a:xfrm>
          <a:custGeom>
            <a:rect b="b" l="l" r="r" t="t"/>
            <a:pathLst>
              <a:path extrusionOk="0" h="1429211" w="1277167">
                <a:moveTo>
                  <a:pt x="0" y="0"/>
                </a:moveTo>
                <a:lnTo>
                  <a:pt x="1277167" y="0"/>
                </a:lnTo>
                <a:lnTo>
                  <a:pt x="1277167" y="1429211"/>
                </a:lnTo>
                <a:lnTo>
                  <a:pt x="0" y="1429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4" name="Google Shape;394;g3ed86a6d7f5_0_34"/>
          <p:cNvSpPr txBox="1"/>
          <p:nvPr/>
        </p:nvSpPr>
        <p:spPr>
          <a:xfrm>
            <a:off x="2892775" y="3294200"/>
            <a:ext cx="39159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29"/>
              <a:buFont typeface="Arial"/>
              <a:buNone/>
            </a:pPr>
            <a:r>
              <a:rPr b="1" lang="en-US" sz="382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What We Learned Through CLARK</a:t>
            </a:r>
            <a:endParaRPr b="0" i="0" sz="1063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95" name="Google Shape;395;g3ed86a6d7f5_0_34"/>
          <p:cNvSpPr/>
          <p:nvPr/>
        </p:nvSpPr>
        <p:spPr>
          <a:xfrm>
            <a:off x="1326425" y="4844075"/>
            <a:ext cx="710400" cy="491100"/>
          </a:xfrm>
          <a:prstGeom prst="ellipse">
            <a:avLst/>
          </a:prstGeom>
          <a:solidFill>
            <a:srgbClr val="2EA3F2"/>
          </a:solidFill>
          <a:ln cap="flat" cmpd="sng" w="9525">
            <a:solidFill>
              <a:srgbClr val="2EA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ed86a6d7f5_0_34"/>
          <p:cNvSpPr txBox="1"/>
          <p:nvPr/>
        </p:nvSpPr>
        <p:spPr>
          <a:xfrm>
            <a:off x="2310667" y="4913819"/>
            <a:ext cx="54501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92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Community Drives Adoption </a:t>
            </a:r>
            <a:endParaRPr sz="1613"/>
          </a:p>
        </p:txBody>
      </p:sp>
      <p:sp>
        <p:nvSpPr>
          <p:cNvPr id="397" name="Google Shape;397;g3ed86a6d7f5_0_34"/>
          <p:cNvSpPr txBox="1"/>
          <p:nvPr/>
        </p:nvSpPr>
        <p:spPr>
          <a:xfrm>
            <a:off x="2302375" y="5556875"/>
            <a:ext cx="57678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7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Shared Curriculum Accelerates Innovation </a:t>
            </a:r>
            <a:endParaRPr sz="1613"/>
          </a:p>
        </p:txBody>
      </p:sp>
      <p:cxnSp>
        <p:nvCxnSpPr>
          <p:cNvPr id="398" name="Google Shape;398;g3ed86a6d7f5_0_34"/>
          <p:cNvCxnSpPr/>
          <p:nvPr/>
        </p:nvCxnSpPr>
        <p:spPr>
          <a:xfrm flipH="1" rot="10800000">
            <a:off x="2301375" y="5399150"/>
            <a:ext cx="5138700" cy="9900"/>
          </a:xfrm>
          <a:prstGeom prst="straightConnector1">
            <a:avLst/>
          </a:prstGeom>
          <a:noFill/>
          <a:ln cap="flat" cmpd="sng" w="28575">
            <a:solidFill>
              <a:srgbClr val="C1212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g3ed86a6d7f5_0_34"/>
          <p:cNvCxnSpPr/>
          <p:nvPr/>
        </p:nvCxnSpPr>
        <p:spPr>
          <a:xfrm flipH="1" rot="10800000">
            <a:off x="2301375" y="6023500"/>
            <a:ext cx="5138700" cy="9900"/>
          </a:xfrm>
          <a:prstGeom prst="straightConnector1">
            <a:avLst/>
          </a:prstGeom>
          <a:noFill/>
          <a:ln cap="flat" cmpd="sng" w="28575">
            <a:solidFill>
              <a:srgbClr val="C1212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" name="Google Shape;400;g3ed86a6d7f5_0_34"/>
          <p:cNvSpPr txBox="1"/>
          <p:nvPr/>
        </p:nvSpPr>
        <p:spPr>
          <a:xfrm>
            <a:off x="2311175" y="6169150"/>
            <a:ext cx="62577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92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Standards &amp; Workforce Alignment Matter </a:t>
            </a:r>
            <a:endParaRPr sz="1613"/>
          </a:p>
        </p:txBody>
      </p:sp>
      <p:sp>
        <p:nvSpPr>
          <p:cNvPr id="401" name="Google Shape;401;g3ed86a6d7f5_0_34"/>
          <p:cNvSpPr txBox="1"/>
          <p:nvPr/>
        </p:nvSpPr>
        <p:spPr>
          <a:xfrm>
            <a:off x="2302875" y="6812200"/>
            <a:ext cx="57678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7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Faculty Curriculum and Support </a:t>
            </a:r>
            <a:endParaRPr sz="1613"/>
          </a:p>
        </p:txBody>
      </p:sp>
      <p:cxnSp>
        <p:nvCxnSpPr>
          <p:cNvPr id="402" name="Google Shape;402;g3ed86a6d7f5_0_34"/>
          <p:cNvCxnSpPr/>
          <p:nvPr/>
        </p:nvCxnSpPr>
        <p:spPr>
          <a:xfrm flipH="1" rot="10800000">
            <a:off x="2301875" y="6654475"/>
            <a:ext cx="5138700" cy="9900"/>
          </a:xfrm>
          <a:prstGeom prst="straightConnector1">
            <a:avLst/>
          </a:prstGeom>
          <a:noFill/>
          <a:ln cap="flat" cmpd="sng" w="28575">
            <a:solidFill>
              <a:srgbClr val="C1212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g3ed86a6d7f5_0_34"/>
          <p:cNvCxnSpPr/>
          <p:nvPr/>
        </p:nvCxnSpPr>
        <p:spPr>
          <a:xfrm flipH="1" rot="10800000">
            <a:off x="2301875" y="7278825"/>
            <a:ext cx="5138700" cy="9900"/>
          </a:xfrm>
          <a:prstGeom prst="straightConnector1">
            <a:avLst/>
          </a:prstGeom>
          <a:noFill/>
          <a:ln cap="flat" cmpd="sng" w="28575">
            <a:solidFill>
              <a:srgbClr val="C1212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g3ed86a6d7f5_0_34"/>
          <p:cNvSpPr/>
          <p:nvPr/>
        </p:nvSpPr>
        <p:spPr>
          <a:xfrm>
            <a:off x="1326425" y="5473475"/>
            <a:ext cx="710400" cy="491100"/>
          </a:xfrm>
          <a:prstGeom prst="ellipse">
            <a:avLst/>
          </a:prstGeom>
          <a:solidFill>
            <a:srgbClr val="2EA3F2"/>
          </a:solidFill>
          <a:ln cap="flat" cmpd="sng" w="9525">
            <a:solidFill>
              <a:srgbClr val="2EA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ed86a6d7f5_0_34"/>
          <p:cNvSpPr/>
          <p:nvPr/>
        </p:nvSpPr>
        <p:spPr>
          <a:xfrm>
            <a:off x="1326425" y="6102875"/>
            <a:ext cx="710400" cy="491100"/>
          </a:xfrm>
          <a:prstGeom prst="ellipse">
            <a:avLst/>
          </a:prstGeom>
          <a:solidFill>
            <a:srgbClr val="2EA3F2"/>
          </a:solidFill>
          <a:ln cap="flat" cmpd="sng" w="9525">
            <a:solidFill>
              <a:srgbClr val="2EA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ed86a6d7f5_0_34"/>
          <p:cNvSpPr/>
          <p:nvPr/>
        </p:nvSpPr>
        <p:spPr>
          <a:xfrm>
            <a:off x="1326425" y="6732275"/>
            <a:ext cx="710400" cy="491100"/>
          </a:xfrm>
          <a:prstGeom prst="ellipse">
            <a:avLst/>
          </a:prstGeom>
          <a:solidFill>
            <a:srgbClr val="2EA3F2"/>
          </a:solidFill>
          <a:ln cap="flat" cmpd="sng" w="9525">
            <a:solidFill>
              <a:srgbClr val="2EA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ed86a6d7f5_0_34"/>
          <p:cNvSpPr txBox="1"/>
          <p:nvPr/>
        </p:nvSpPr>
        <p:spPr>
          <a:xfrm>
            <a:off x="2302875" y="7441600"/>
            <a:ext cx="617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7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Curriculum + Compute is needed for AI</a:t>
            </a:r>
            <a:endParaRPr sz="1613"/>
          </a:p>
        </p:txBody>
      </p:sp>
      <p:sp>
        <p:nvSpPr>
          <p:cNvPr id="408" name="Google Shape;408;g3ed86a6d7f5_0_34"/>
          <p:cNvSpPr/>
          <p:nvPr/>
        </p:nvSpPr>
        <p:spPr>
          <a:xfrm>
            <a:off x="1326425" y="7361675"/>
            <a:ext cx="710400" cy="491100"/>
          </a:xfrm>
          <a:prstGeom prst="ellipse">
            <a:avLst/>
          </a:prstGeom>
          <a:solidFill>
            <a:srgbClr val="2EA3F2"/>
          </a:solidFill>
          <a:ln cap="flat" cmpd="sng" w="9525">
            <a:solidFill>
              <a:srgbClr val="2EA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ed86a6d7f5_0_34"/>
          <p:cNvSpPr/>
          <p:nvPr/>
        </p:nvSpPr>
        <p:spPr>
          <a:xfrm rot="5400000">
            <a:off x="3443080" y="8411263"/>
            <a:ext cx="11384222" cy="99612"/>
          </a:xfrm>
          <a:custGeom>
            <a:rect b="b" l="l" r="r" t="t"/>
            <a:pathLst>
              <a:path extrusionOk="0" h="99612" w="11384222">
                <a:moveTo>
                  <a:pt x="0" y="0"/>
                </a:moveTo>
                <a:lnTo>
                  <a:pt x="11384221" y="0"/>
                </a:lnTo>
                <a:lnTo>
                  <a:pt x="11384221" y="99611"/>
                </a:lnTo>
                <a:lnTo>
                  <a:pt x="0" y="99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0" name="Google Shape;410;g3ed86a6d7f5_0_34"/>
          <p:cNvGrpSpPr/>
          <p:nvPr/>
        </p:nvGrpSpPr>
        <p:grpSpPr>
          <a:xfrm>
            <a:off x="10772125" y="3246013"/>
            <a:ext cx="5450163" cy="1350739"/>
            <a:chOff x="0" y="-38100"/>
            <a:chExt cx="2087785" cy="444600"/>
          </a:xfrm>
        </p:grpSpPr>
        <p:sp>
          <p:nvSpPr>
            <p:cNvPr id="411" name="Google Shape;411;g3ed86a6d7f5_0_34"/>
            <p:cNvSpPr/>
            <p:nvPr/>
          </p:nvSpPr>
          <p:spPr>
            <a:xfrm>
              <a:off x="0" y="0"/>
              <a:ext cx="2087785" cy="406400"/>
            </a:xfrm>
            <a:custGeom>
              <a:rect b="b" l="l" r="r" t="t"/>
              <a:pathLst>
                <a:path extrusionOk="0" h="406400" w="2087785">
                  <a:moveTo>
                    <a:pt x="1884585" y="0"/>
                  </a:moveTo>
                  <a:cubicBezTo>
                    <a:pt x="1996809" y="0"/>
                    <a:pt x="2087785" y="90976"/>
                    <a:pt x="2087785" y="203200"/>
                  </a:cubicBezTo>
                  <a:cubicBezTo>
                    <a:pt x="2087785" y="315424"/>
                    <a:pt x="1996809" y="406400"/>
                    <a:pt x="18845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12129"/>
            </a:solidFill>
            <a:ln>
              <a:noFill/>
            </a:ln>
          </p:spPr>
          <p:txBody>
            <a:bodyPr anchorCtr="0" anchor="ctr" bIns="114950" lIns="114950" spcFirstLastPara="1" rIns="114950" wrap="square" tIns="11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0"/>
                <a:buFont typeface="Arial"/>
                <a:buNone/>
              </a:pPr>
              <a:r>
                <a:t/>
              </a:r>
              <a:endParaRPr b="0" i="0" sz="1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g3ed86a6d7f5_0_34"/>
            <p:cNvSpPr txBox="1"/>
            <p:nvPr/>
          </p:nvSpPr>
          <p:spPr>
            <a:xfrm>
              <a:off x="0" y="-38100"/>
              <a:ext cx="20877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875" lIns="63875" spcFirstLastPara="1" rIns="63875" wrap="square" tIns="6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t/>
              </a:r>
              <a:endParaRPr b="0" i="0" sz="226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3" name="Google Shape;413;g3ed86a6d7f5_0_34"/>
          <p:cNvSpPr txBox="1"/>
          <p:nvPr/>
        </p:nvSpPr>
        <p:spPr>
          <a:xfrm>
            <a:off x="12248700" y="3382475"/>
            <a:ext cx="41487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29"/>
              <a:buFont typeface="Arial"/>
              <a:buNone/>
            </a:pPr>
            <a:r>
              <a:rPr b="1" lang="en-US" sz="382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NAIRR’s </a:t>
            </a:r>
            <a:endParaRPr b="1" sz="3829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29"/>
              <a:buFont typeface="Arial"/>
              <a:buNone/>
            </a:pPr>
            <a:r>
              <a:rPr b="1" lang="en-US" sz="382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Opportunity</a:t>
            </a:r>
            <a:endParaRPr b="0" i="0" sz="1063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14" name="Google Shape;414;g3ed86a6d7f5_0_34"/>
          <p:cNvSpPr txBox="1"/>
          <p:nvPr/>
        </p:nvSpPr>
        <p:spPr>
          <a:xfrm>
            <a:off x="11228192" y="5002082"/>
            <a:ext cx="54501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92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Expand Compute Capacity </a:t>
            </a:r>
            <a:endParaRPr sz="1613"/>
          </a:p>
        </p:txBody>
      </p:sp>
      <p:sp>
        <p:nvSpPr>
          <p:cNvPr id="415" name="Google Shape;415;g3ed86a6d7f5_0_34"/>
          <p:cNvSpPr txBox="1"/>
          <p:nvPr/>
        </p:nvSpPr>
        <p:spPr>
          <a:xfrm>
            <a:off x="11219900" y="5645138"/>
            <a:ext cx="57678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7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Build AI Communities of Practice </a:t>
            </a:r>
            <a:endParaRPr sz="1613"/>
          </a:p>
        </p:txBody>
      </p:sp>
      <p:cxnSp>
        <p:nvCxnSpPr>
          <p:cNvPr id="416" name="Google Shape;416;g3ed86a6d7f5_0_34"/>
          <p:cNvCxnSpPr/>
          <p:nvPr/>
        </p:nvCxnSpPr>
        <p:spPr>
          <a:xfrm flipH="1" rot="10800000">
            <a:off x="11218900" y="5487413"/>
            <a:ext cx="5138700" cy="9900"/>
          </a:xfrm>
          <a:prstGeom prst="straightConnector1">
            <a:avLst/>
          </a:prstGeom>
          <a:noFill/>
          <a:ln cap="flat" cmpd="sng" w="28575">
            <a:solidFill>
              <a:srgbClr val="C1212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g3ed86a6d7f5_0_34"/>
          <p:cNvCxnSpPr/>
          <p:nvPr/>
        </p:nvCxnSpPr>
        <p:spPr>
          <a:xfrm flipH="1" rot="10800000">
            <a:off x="11218900" y="6111763"/>
            <a:ext cx="5138700" cy="9900"/>
          </a:xfrm>
          <a:prstGeom prst="straightConnector1">
            <a:avLst/>
          </a:prstGeom>
          <a:noFill/>
          <a:ln cap="flat" cmpd="sng" w="28575">
            <a:solidFill>
              <a:srgbClr val="C1212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g3ed86a6d7f5_0_34"/>
          <p:cNvSpPr txBox="1"/>
          <p:nvPr/>
        </p:nvSpPr>
        <p:spPr>
          <a:xfrm>
            <a:off x="11228700" y="6257413"/>
            <a:ext cx="62577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92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Increase Access to AI Resources </a:t>
            </a:r>
            <a:endParaRPr sz="1613"/>
          </a:p>
        </p:txBody>
      </p:sp>
      <p:sp>
        <p:nvSpPr>
          <p:cNvPr id="419" name="Google Shape;419;g3ed86a6d7f5_0_34"/>
          <p:cNvSpPr txBox="1"/>
          <p:nvPr/>
        </p:nvSpPr>
        <p:spPr>
          <a:xfrm>
            <a:off x="11220400" y="6900463"/>
            <a:ext cx="57678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7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Support AI + X Pathways </a:t>
            </a:r>
            <a:endParaRPr sz="1613"/>
          </a:p>
        </p:txBody>
      </p:sp>
      <p:cxnSp>
        <p:nvCxnSpPr>
          <p:cNvPr id="420" name="Google Shape;420;g3ed86a6d7f5_0_34"/>
          <p:cNvCxnSpPr/>
          <p:nvPr/>
        </p:nvCxnSpPr>
        <p:spPr>
          <a:xfrm flipH="1" rot="10800000">
            <a:off x="11219400" y="6742738"/>
            <a:ext cx="5138700" cy="9900"/>
          </a:xfrm>
          <a:prstGeom prst="straightConnector1">
            <a:avLst/>
          </a:prstGeom>
          <a:noFill/>
          <a:ln cap="flat" cmpd="sng" w="28575">
            <a:solidFill>
              <a:srgbClr val="C1212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g3ed86a6d7f5_0_34"/>
          <p:cNvCxnSpPr/>
          <p:nvPr/>
        </p:nvCxnSpPr>
        <p:spPr>
          <a:xfrm flipH="1" rot="10800000">
            <a:off x="11219400" y="7367088"/>
            <a:ext cx="5138700" cy="9900"/>
          </a:xfrm>
          <a:prstGeom prst="straightConnector1">
            <a:avLst/>
          </a:prstGeom>
          <a:noFill/>
          <a:ln cap="flat" cmpd="sng" w="28575">
            <a:solidFill>
              <a:srgbClr val="C1212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g3ed86a6d7f5_0_34"/>
          <p:cNvSpPr txBox="1"/>
          <p:nvPr/>
        </p:nvSpPr>
        <p:spPr>
          <a:xfrm>
            <a:off x="11220400" y="7529863"/>
            <a:ext cx="617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7">
                <a:solidFill>
                  <a:srgbClr val="002866"/>
                </a:solidFill>
                <a:latin typeface="Open Sans"/>
                <a:ea typeface="Open Sans"/>
                <a:cs typeface="Open Sans"/>
                <a:sym typeface="Open Sans"/>
              </a:rPr>
              <a:t>Enable Institutions to Scale AI Education </a:t>
            </a:r>
            <a:endParaRPr sz="1613"/>
          </a:p>
        </p:txBody>
      </p:sp>
      <p:sp>
        <p:nvSpPr>
          <p:cNvPr id="423" name="Google Shape;423;g3ed86a6d7f5_0_34"/>
          <p:cNvSpPr/>
          <p:nvPr/>
        </p:nvSpPr>
        <p:spPr>
          <a:xfrm>
            <a:off x="2352600" y="8396300"/>
            <a:ext cx="13472400" cy="146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ed86a6d7f5_0_34"/>
          <p:cNvSpPr txBox="1"/>
          <p:nvPr/>
        </p:nvSpPr>
        <p:spPr>
          <a:xfrm>
            <a:off x="2352700" y="8396300"/>
            <a:ext cx="134724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0" sz="100" u="none" cap="none" strike="noStrike">
              <a:solidFill>
                <a:srgbClr val="C12129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425" name="Google Shape;425;g3ed86a6d7f5_0_34" title="Curriculum.png"/>
          <p:cNvPicPr preferRelativeResize="0"/>
          <p:nvPr/>
        </p:nvPicPr>
        <p:blipFill rotWithShape="1">
          <a:blip r:embed="rId5">
            <a:alphaModFix/>
          </a:blip>
          <a:srcRect b="28778" l="38081" r="38394" t="26136"/>
          <a:stretch/>
        </p:blipFill>
        <p:spPr>
          <a:xfrm>
            <a:off x="10013996" y="2627925"/>
            <a:ext cx="2081030" cy="224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g3ed86a6d7f5_0_34" title="Curriculum (1).png"/>
          <p:cNvPicPr preferRelativeResize="0"/>
          <p:nvPr/>
        </p:nvPicPr>
        <p:blipFill rotWithShape="1">
          <a:blip r:embed="rId6">
            <a:alphaModFix/>
          </a:blip>
          <a:srcRect b="66014" l="2429" r="89702" t="20206"/>
          <a:stretch/>
        </p:blipFill>
        <p:spPr>
          <a:xfrm>
            <a:off x="10371250" y="4800451"/>
            <a:ext cx="791467" cy="77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3ed86a6d7f5_0_34" title="Curriculum (1).png"/>
          <p:cNvPicPr preferRelativeResize="0"/>
          <p:nvPr/>
        </p:nvPicPr>
        <p:blipFill rotWithShape="1">
          <a:blip r:embed="rId6">
            <a:alphaModFix/>
          </a:blip>
          <a:srcRect b="80591" l="2429" r="88789" t="5213"/>
          <a:stretch/>
        </p:blipFill>
        <p:spPr>
          <a:xfrm>
            <a:off x="1409700" y="4601125"/>
            <a:ext cx="857448" cy="77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g3ed86a6d7f5_0_34" title="Curriculum (1).png"/>
          <p:cNvPicPr preferRelativeResize="0"/>
          <p:nvPr/>
        </p:nvPicPr>
        <p:blipFill rotWithShape="1">
          <a:blip r:embed="rId6">
            <a:alphaModFix/>
          </a:blip>
          <a:srcRect b="80591" l="2429" r="88789" t="5213"/>
          <a:stretch/>
        </p:blipFill>
        <p:spPr>
          <a:xfrm>
            <a:off x="1409700" y="5230538"/>
            <a:ext cx="857448" cy="77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g3ed86a6d7f5_0_34" title="Curriculum (1).png"/>
          <p:cNvPicPr preferRelativeResize="0"/>
          <p:nvPr/>
        </p:nvPicPr>
        <p:blipFill rotWithShape="1">
          <a:blip r:embed="rId6">
            <a:alphaModFix/>
          </a:blip>
          <a:srcRect b="80591" l="2429" r="88789" t="5213"/>
          <a:stretch/>
        </p:blipFill>
        <p:spPr>
          <a:xfrm>
            <a:off x="1409700" y="5814263"/>
            <a:ext cx="857448" cy="77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g3ed86a6d7f5_0_34" title="Curriculum (1).png"/>
          <p:cNvPicPr preferRelativeResize="0"/>
          <p:nvPr/>
        </p:nvPicPr>
        <p:blipFill rotWithShape="1">
          <a:blip r:embed="rId6">
            <a:alphaModFix/>
          </a:blip>
          <a:srcRect b="80591" l="2429" r="88789" t="5213"/>
          <a:stretch/>
        </p:blipFill>
        <p:spPr>
          <a:xfrm>
            <a:off x="1409700" y="6443638"/>
            <a:ext cx="857448" cy="77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g3ed86a6d7f5_0_34" title="Curriculum (1).png"/>
          <p:cNvPicPr preferRelativeResize="0"/>
          <p:nvPr/>
        </p:nvPicPr>
        <p:blipFill rotWithShape="1">
          <a:blip r:embed="rId6">
            <a:alphaModFix/>
          </a:blip>
          <a:srcRect b="80591" l="2429" r="88789" t="5213"/>
          <a:stretch/>
        </p:blipFill>
        <p:spPr>
          <a:xfrm>
            <a:off x="1409700" y="7073063"/>
            <a:ext cx="857448" cy="77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g3ed86a6d7f5_0_34" title="Curriculum (1).png"/>
          <p:cNvPicPr preferRelativeResize="0"/>
          <p:nvPr/>
        </p:nvPicPr>
        <p:blipFill rotWithShape="1">
          <a:blip r:embed="rId6">
            <a:alphaModFix/>
          </a:blip>
          <a:srcRect b="66014" l="2429" r="89702" t="20206"/>
          <a:stretch/>
        </p:blipFill>
        <p:spPr>
          <a:xfrm>
            <a:off x="10371250" y="5463751"/>
            <a:ext cx="791467" cy="77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g3ed86a6d7f5_0_34" title="Curriculum (1).png"/>
          <p:cNvPicPr preferRelativeResize="0"/>
          <p:nvPr/>
        </p:nvPicPr>
        <p:blipFill rotWithShape="1">
          <a:blip r:embed="rId6">
            <a:alphaModFix/>
          </a:blip>
          <a:srcRect b="66014" l="2429" r="89702" t="20206"/>
          <a:stretch/>
        </p:blipFill>
        <p:spPr>
          <a:xfrm>
            <a:off x="10371250" y="6095376"/>
            <a:ext cx="791467" cy="77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g3ed86a6d7f5_0_34" title="Curriculum (1).png"/>
          <p:cNvPicPr preferRelativeResize="0"/>
          <p:nvPr/>
        </p:nvPicPr>
        <p:blipFill rotWithShape="1">
          <a:blip r:embed="rId6">
            <a:alphaModFix/>
          </a:blip>
          <a:srcRect b="66014" l="2429" r="89702" t="20206"/>
          <a:stretch/>
        </p:blipFill>
        <p:spPr>
          <a:xfrm>
            <a:off x="10371250" y="6742751"/>
            <a:ext cx="791467" cy="77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g3ed86a6d7f5_0_34" title="Curriculum (1).png"/>
          <p:cNvPicPr preferRelativeResize="0"/>
          <p:nvPr/>
        </p:nvPicPr>
        <p:blipFill rotWithShape="1">
          <a:blip r:embed="rId6">
            <a:alphaModFix/>
          </a:blip>
          <a:srcRect b="66014" l="2429" r="89702" t="20206"/>
          <a:stretch/>
        </p:blipFill>
        <p:spPr>
          <a:xfrm>
            <a:off x="10371250" y="7390301"/>
            <a:ext cx="791467" cy="77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8"/>
          <p:cNvSpPr txBox="1"/>
          <p:nvPr/>
        </p:nvSpPr>
        <p:spPr>
          <a:xfrm>
            <a:off x="1320459" y="696506"/>
            <a:ext cx="12260700" cy="4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10"/>
              <a:buFont typeface="Arial"/>
              <a:buNone/>
            </a:pPr>
            <a:r>
              <a:rPr b="1" i="0" lang="en-US" sz="32410" u="none" cap="none" strike="noStrike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CLARK</a:t>
            </a:r>
            <a:endParaRPr b="0" i="0" sz="1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1" name="Google Shape;441;p8"/>
          <p:cNvSpPr/>
          <p:nvPr/>
        </p:nvSpPr>
        <p:spPr>
          <a:xfrm>
            <a:off x="13202020" y="1083941"/>
            <a:ext cx="3765521" cy="4213798"/>
          </a:xfrm>
          <a:custGeom>
            <a:rect b="b" l="l" r="r" t="t"/>
            <a:pathLst>
              <a:path extrusionOk="0" h="4213798" w="3765521">
                <a:moveTo>
                  <a:pt x="0" y="0"/>
                </a:moveTo>
                <a:lnTo>
                  <a:pt x="3765521" y="0"/>
                </a:lnTo>
                <a:lnTo>
                  <a:pt x="3765521" y="4213798"/>
                </a:lnTo>
                <a:lnTo>
                  <a:pt x="0" y="42137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2" name="Google Shape;442;p8"/>
          <p:cNvSpPr txBox="1"/>
          <p:nvPr/>
        </p:nvSpPr>
        <p:spPr>
          <a:xfrm>
            <a:off x="4622783" y="5227098"/>
            <a:ext cx="9042433" cy="112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10"/>
              <a:buFont typeface="Arial"/>
              <a:buNone/>
            </a:pPr>
            <a:r>
              <a:rPr b="1" i="0" lang="en-US" sz="6510" u="sng" cap="none" strike="noStrike">
                <a:solidFill>
                  <a:srgbClr val="2EA3F2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www.clark.center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8"/>
          <p:cNvSpPr txBox="1"/>
          <p:nvPr/>
        </p:nvSpPr>
        <p:spPr>
          <a:xfrm>
            <a:off x="2999987" y="6722904"/>
            <a:ext cx="12288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en-US" sz="6500" u="none" cap="none" strike="noStrike">
                <a:solidFill>
                  <a:srgbClr val="002866"/>
                </a:solidFill>
                <a:latin typeface="Source Sans 3"/>
                <a:ea typeface="Source Sans 3"/>
                <a:cs typeface="Source Sans 3"/>
                <a:sym typeface="Source Sans 3"/>
              </a:rPr>
              <a:t>Questions?</a:t>
            </a:r>
            <a:endParaRPr b="0" i="0" sz="1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4" name="Google Shape;444;p8"/>
          <p:cNvSpPr txBox="1"/>
          <p:nvPr/>
        </p:nvSpPr>
        <p:spPr>
          <a:xfrm>
            <a:off x="2999987" y="8726574"/>
            <a:ext cx="1228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14037169" y="7965975"/>
            <a:ext cx="5968680" cy="5973110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-2366020" y="-3690118"/>
            <a:ext cx="5968680" cy="5973110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2EA3F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8" name="Google Shape;448;p8"/>
          <p:cNvSpPr txBox="1"/>
          <p:nvPr>
            <p:ph idx="12" type="sldNum"/>
          </p:nvPr>
        </p:nvSpPr>
        <p:spPr>
          <a:xfrm>
            <a:off x="15493650" y="96372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A3F2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bc23b637b_0_1"/>
          <p:cNvSpPr/>
          <p:nvPr/>
        </p:nvSpPr>
        <p:spPr>
          <a:xfrm>
            <a:off x="12801714" y="6061643"/>
            <a:ext cx="3164195" cy="1111330"/>
          </a:xfrm>
          <a:custGeom>
            <a:rect b="b" l="l" r="r" t="t"/>
            <a:pathLst>
              <a:path extrusionOk="0" h="774446" w="2343848">
                <a:moveTo>
                  <a:pt x="0" y="0"/>
                </a:moveTo>
                <a:lnTo>
                  <a:pt x="2343848" y="0"/>
                </a:lnTo>
                <a:lnTo>
                  <a:pt x="2343848" y="774447"/>
                </a:lnTo>
                <a:lnTo>
                  <a:pt x="0" y="7744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4" name="Google Shape;454;g3ebc23b637b_0_1"/>
          <p:cNvSpPr/>
          <p:nvPr/>
        </p:nvSpPr>
        <p:spPr>
          <a:xfrm>
            <a:off x="15922025" y="5942555"/>
            <a:ext cx="1850368" cy="1110575"/>
          </a:xfrm>
          <a:custGeom>
            <a:rect b="b" l="l" r="r" t="t"/>
            <a:pathLst>
              <a:path extrusionOk="0" h="921639" w="1701488">
                <a:moveTo>
                  <a:pt x="0" y="0"/>
                </a:moveTo>
                <a:lnTo>
                  <a:pt x="1701488" y="0"/>
                </a:lnTo>
                <a:lnTo>
                  <a:pt x="1701488" y="921639"/>
                </a:lnTo>
                <a:lnTo>
                  <a:pt x="0" y="9216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5" name="Google Shape;455;g3ebc23b637b_0_1"/>
          <p:cNvSpPr/>
          <p:nvPr/>
        </p:nvSpPr>
        <p:spPr>
          <a:xfrm>
            <a:off x="13895931" y="4172253"/>
            <a:ext cx="3362500" cy="1416427"/>
          </a:xfrm>
          <a:custGeom>
            <a:rect b="b" l="l" r="r" t="t"/>
            <a:pathLst>
              <a:path extrusionOk="0" h="913824" w="2169355">
                <a:moveTo>
                  <a:pt x="0" y="0"/>
                </a:moveTo>
                <a:lnTo>
                  <a:pt x="2169355" y="0"/>
                </a:lnTo>
                <a:lnTo>
                  <a:pt x="2169355" y="913824"/>
                </a:lnTo>
                <a:lnTo>
                  <a:pt x="0" y="9138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6" name="Google Shape;456;g3ebc23b637b_0_1"/>
          <p:cNvSpPr/>
          <p:nvPr/>
        </p:nvSpPr>
        <p:spPr>
          <a:xfrm>
            <a:off x="6563161" y="5840241"/>
            <a:ext cx="2395434" cy="1552934"/>
          </a:xfrm>
          <a:custGeom>
            <a:rect b="b" l="l" r="r" t="t"/>
            <a:pathLst>
              <a:path extrusionOk="0" h="1001893" w="1545441">
                <a:moveTo>
                  <a:pt x="0" y="0"/>
                </a:moveTo>
                <a:lnTo>
                  <a:pt x="1545442" y="0"/>
                </a:lnTo>
                <a:lnTo>
                  <a:pt x="1545442" y="1001892"/>
                </a:lnTo>
                <a:lnTo>
                  <a:pt x="0" y="10018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7" name="Google Shape;457;g3ebc23b637b_0_1"/>
          <p:cNvSpPr/>
          <p:nvPr/>
        </p:nvSpPr>
        <p:spPr>
          <a:xfrm>
            <a:off x="1022636" y="6307398"/>
            <a:ext cx="2787996" cy="619069"/>
          </a:xfrm>
          <a:custGeom>
            <a:rect b="b" l="l" r="r" t="t"/>
            <a:pathLst>
              <a:path extrusionOk="0" h="482705" w="2478219">
                <a:moveTo>
                  <a:pt x="0" y="0"/>
                </a:moveTo>
                <a:lnTo>
                  <a:pt x="2478219" y="0"/>
                </a:lnTo>
                <a:lnTo>
                  <a:pt x="2478219" y="482705"/>
                </a:lnTo>
                <a:lnTo>
                  <a:pt x="0" y="4827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8" name="Google Shape;458;g3ebc23b637b_0_1"/>
          <p:cNvGrpSpPr/>
          <p:nvPr/>
        </p:nvGrpSpPr>
        <p:grpSpPr>
          <a:xfrm>
            <a:off x="4053847" y="6228869"/>
            <a:ext cx="2396961" cy="776615"/>
            <a:chOff x="0" y="0"/>
            <a:chExt cx="2705068" cy="876442"/>
          </a:xfrm>
        </p:grpSpPr>
        <p:sp>
          <p:nvSpPr>
            <p:cNvPr id="459" name="Google Shape;459;g3ebc23b637b_0_1"/>
            <p:cNvSpPr/>
            <p:nvPr/>
          </p:nvSpPr>
          <p:spPr>
            <a:xfrm>
              <a:off x="0" y="0"/>
              <a:ext cx="2705068" cy="876442"/>
            </a:xfrm>
            <a:custGeom>
              <a:rect b="b" l="l" r="r" t="t"/>
              <a:pathLst>
                <a:path extrusionOk="0" h="876442" w="2705068">
                  <a:moveTo>
                    <a:pt x="0" y="0"/>
                  </a:moveTo>
                  <a:lnTo>
                    <a:pt x="2705068" y="0"/>
                  </a:lnTo>
                  <a:lnTo>
                    <a:pt x="2705068" y="876442"/>
                  </a:lnTo>
                  <a:lnTo>
                    <a:pt x="0" y="8764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0" name="Google Shape;460;g3ebc23b637b_0_1"/>
            <p:cNvSpPr/>
            <p:nvPr/>
          </p:nvSpPr>
          <p:spPr>
            <a:xfrm>
              <a:off x="1120983" y="0"/>
              <a:ext cx="567938" cy="574711"/>
            </a:xfrm>
            <a:custGeom>
              <a:rect b="b" l="l" r="r" t="t"/>
              <a:pathLst>
                <a:path extrusionOk="0" h="574711" w="567938">
                  <a:moveTo>
                    <a:pt x="0" y="0"/>
                  </a:moveTo>
                  <a:lnTo>
                    <a:pt x="567938" y="0"/>
                  </a:lnTo>
                  <a:lnTo>
                    <a:pt x="567938" y="574711"/>
                  </a:lnTo>
                  <a:lnTo>
                    <a:pt x="0" y="5747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52499" l="-196980" r="-179301" t="0"/>
              </a:stretch>
            </a:blipFill>
            <a:ln>
              <a:noFill/>
            </a:ln>
          </p:spPr>
        </p:sp>
      </p:grpSp>
      <p:sp>
        <p:nvSpPr>
          <p:cNvPr id="461" name="Google Shape;461;g3ebc23b637b_0_1"/>
          <p:cNvSpPr/>
          <p:nvPr/>
        </p:nvSpPr>
        <p:spPr>
          <a:xfrm>
            <a:off x="8073560" y="3984303"/>
            <a:ext cx="1651523" cy="1651523"/>
          </a:xfrm>
          <a:custGeom>
            <a:rect b="b" l="l" r="r" t="t"/>
            <a:pathLst>
              <a:path extrusionOk="0" h="1065499" w="1065499">
                <a:moveTo>
                  <a:pt x="0" y="0"/>
                </a:moveTo>
                <a:lnTo>
                  <a:pt x="1065500" y="0"/>
                </a:lnTo>
                <a:lnTo>
                  <a:pt x="1065500" y="1065499"/>
                </a:lnTo>
                <a:lnTo>
                  <a:pt x="0" y="106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2" name="Google Shape;462;g3ebc23b637b_0_1"/>
          <p:cNvSpPr/>
          <p:nvPr/>
        </p:nvSpPr>
        <p:spPr>
          <a:xfrm>
            <a:off x="9960512" y="3956574"/>
            <a:ext cx="1706948" cy="1706948"/>
          </a:xfrm>
          <a:custGeom>
            <a:rect b="b" l="l" r="r" t="t"/>
            <a:pathLst>
              <a:path extrusionOk="0" h="1101257" w="1101257">
                <a:moveTo>
                  <a:pt x="0" y="0"/>
                </a:moveTo>
                <a:lnTo>
                  <a:pt x="1101257" y="0"/>
                </a:lnTo>
                <a:lnTo>
                  <a:pt x="1101257" y="1101257"/>
                </a:lnTo>
                <a:lnTo>
                  <a:pt x="0" y="110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3" name="Google Shape;463;g3ebc23b637b_0_1"/>
          <p:cNvSpPr/>
          <p:nvPr/>
        </p:nvSpPr>
        <p:spPr>
          <a:xfrm>
            <a:off x="11855957" y="3819212"/>
            <a:ext cx="1844232" cy="1844232"/>
          </a:xfrm>
          <a:custGeom>
            <a:rect b="b" l="l" r="r" t="t"/>
            <a:pathLst>
              <a:path extrusionOk="0" h="1189827" w="1189827">
                <a:moveTo>
                  <a:pt x="0" y="0"/>
                </a:moveTo>
                <a:lnTo>
                  <a:pt x="1189828" y="0"/>
                </a:lnTo>
                <a:lnTo>
                  <a:pt x="1189828" y="1189827"/>
                </a:lnTo>
                <a:lnTo>
                  <a:pt x="0" y="1189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4" name="Google Shape;464;g3ebc23b637b_0_1"/>
          <p:cNvSpPr/>
          <p:nvPr/>
        </p:nvSpPr>
        <p:spPr>
          <a:xfrm>
            <a:off x="515612" y="3844827"/>
            <a:ext cx="2787462" cy="1951270"/>
          </a:xfrm>
          <a:custGeom>
            <a:rect b="b" l="l" r="r" t="t"/>
            <a:pathLst>
              <a:path extrusionOk="0" h="1163201" w="1346600">
                <a:moveTo>
                  <a:pt x="0" y="0"/>
                </a:moveTo>
                <a:lnTo>
                  <a:pt x="1346599" y="0"/>
                </a:lnTo>
                <a:lnTo>
                  <a:pt x="1346599" y="1163201"/>
                </a:lnTo>
                <a:lnTo>
                  <a:pt x="0" y="11632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5" name="Google Shape;465;g3ebc23b637b_0_1"/>
          <p:cNvSpPr/>
          <p:nvPr/>
        </p:nvSpPr>
        <p:spPr>
          <a:xfrm>
            <a:off x="3370978" y="3939223"/>
            <a:ext cx="4298513" cy="1953870"/>
          </a:xfrm>
          <a:custGeom>
            <a:rect b="b" l="l" r="r" t="t"/>
            <a:pathLst>
              <a:path extrusionOk="0" h="1260561" w="2773234">
                <a:moveTo>
                  <a:pt x="0" y="0"/>
                </a:moveTo>
                <a:lnTo>
                  <a:pt x="2773234" y="0"/>
                </a:lnTo>
                <a:lnTo>
                  <a:pt x="2773234" y="1260561"/>
                </a:lnTo>
                <a:lnTo>
                  <a:pt x="0" y="1260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66" name="Google Shape;466;g3ebc23b637b_0_1" title="withcyber.png"/>
          <p:cNvPicPr preferRelativeResize="0"/>
          <p:nvPr/>
        </p:nvPicPr>
        <p:blipFill rotWithShape="1">
          <a:blip r:embed="rId15">
            <a:alphaModFix/>
          </a:blip>
          <a:srcRect b="23910" l="6883" r="6319" t="24933"/>
          <a:stretch/>
        </p:blipFill>
        <p:spPr>
          <a:xfrm>
            <a:off x="8956342" y="5975744"/>
            <a:ext cx="3733084" cy="1282777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ebc23b637b_0_1"/>
          <p:cNvSpPr txBox="1"/>
          <p:nvPr/>
        </p:nvSpPr>
        <p:spPr>
          <a:xfrm>
            <a:off x="4936462" y="1458400"/>
            <a:ext cx="7925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1"/>
              <a:buFont typeface="Arial"/>
              <a:buNone/>
            </a:pPr>
            <a:r>
              <a:rPr b="1" lang="en-US" sz="68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CLARK PARTNERS:</a:t>
            </a:r>
            <a:endParaRPr b="0" i="0" sz="68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68" name="Google Shape;468;g3ebc23b637b_0_1"/>
          <p:cNvSpPr/>
          <p:nvPr/>
        </p:nvSpPr>
        <p:spPr>
          <a:xfrm>
            <a:off x="14037169" y="7965975"/>
            <a:ext cx="5969823" cy="5974255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F8FAFD">
              <a:alpha val="4968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ebc23b637b_0_1"/>
          <p:cNvSpPr/>
          <p:nvPr/>
        </p:nvSpPr>
        <p:spPr>
          <a:xfrm>
            <a:off x="-2159206" y="-2801350"/>
            <a:ext cx="5969823" cy="5974255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F8FAFD">
              <a:alpha val="4968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ebc23b637b_0_1"/>
          <p:cNvSpPr/>
          <p:nvPr/>
        </p:nvSpPr>
        <p:spPr>
          <a:xfrm>
            <a:off x="9725077" y="7570750"/>
            <a:ext cx="2786486" cy="3002074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F8FAFD">
              <a:alpha val="4968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ebc23b637b_0_1"/>
          <p:cNvSpPr/>
          <p:nvPr/>
        </p:nvSpPr>
        <p:spPr>
          <a:xfrm>
            <a:off x="14260497" y="-435698"/>
            <a:ext cx="3511912" cy="3864689"/>
          </a:xfrm>
          <a:custGeom>
            <a:rect b="b" l="l" r="r" t="t"/>
            <a:pathLst>
              <a:path extrusionOk="0" h="1708150" w="1706883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F8FAFD">
              <a:alpha val="4968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ebc23b637b_0_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3" name="Google Shape;473;g3ebc23b637b_0_1"/>
          <p:cNvSpPr txBox="1"/>
          <p:nvPr>
            <p:ph idx="12" type="sldNum"/>
          </p:nvPr>
        </p:nvSpPr>
        <p:spPr>
          <a:xfrm>
            <a:off x="15493650" y="96372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