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79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67" r:id="rId15"/>
    <p:sldId id="269" r:id="rId16"/>
    <p:sldId id="268" r:id="rId17"/>
    <p:sldId id="25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89888"/>
  </p:normalViewPr>
  <p:slideViewPr>
    <p:cSldViewPr snapToGrid="0">
      <p:cViewPr varScale="1">
        <p:scale>
          <a:sx n="87" d="100"/>
          <a:sy n="87" d="100"/>
        </p:scale>
        <p:origin x="4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49F93-017E-480E-B38B-49371B78F8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51592C7-73C7-4B15-B255-E2CBDB2B3A01}">
      <dgm:prSet/>
      <dgm:spPr/>
      <dgm:t>
        <a:bodyPr/>
        <a:lstStyle/>
        <a:p>
          <a:pPr algn="just"/>
          <a:r>
            <a:rPr lang="en-US" b="1" dirty="0"/>
            <a:t>One of the few documented implementations of AI assistants in advanced, technical cybersecurity curricula.</a:t>
          </a:r>
        </a:p>
      </dgm:t>
    </dgm:pt>
    <dgm:pt modelId="{B1064A88-3D43-4D46-8525-012435D7A7DD}" type="parTrans" cxnId="{7DDDDDDF-9F7B-4BBF-B5F9-8A55914D3CB5}">
      <dgm:prSet/>
      <dgm:spPr/>
      <dgm:t>
        <a:bodyPr/>
        <a:lstStyle/>
        <a:p>
          <a:endParaRPr lang="en-US"/>
        </a:p>
      </dgm:t>
    </dgm:pt>
    <dgm:pt modelId="{135B5B08-6E25-4B6F-B951-52C5A27D8417}" type="sibTrans" cxnId="{7DDDDDDF-9F7B-4BBF-B5F9-8A55914D3CB5}">
      <dgm:prSet/>
      <dgm:spPr/>
      <dgm:t>
        <a:bodyPr/>
        <a:lstStyle/>
        <a:p>
          <a:endParaRPr lang="en-US"/>
        </a:p>
      </dgm:t>
    </dgm:pt>
    <dgm:pt modelId="{A8876C91-EE96-405D-857D-F6E9FF7D82A0}">
      <dgm:prSet/>
      <dgm:spPr/>
      <dgm:t>
        <a:bodyPr/>
        <a:lstStyle/>
        <a:p>
          <a:pPr algn="just"/>
          <a:r>
            <a:rPr lang="en-US" b="1" dirty="0"/>
            <a:t>Student feedback confirms the </a:t>
          </a:r>
          <a:r>
            <a:rPr lang="en-US" b="1" dirty="0" err="1"/>
            <a:t>vTA</a:t>
          </a:r>
          <a:r>
            <a:rPr lang="en-US" b="1" dirty="0"/>
            <a:t> as a scalable, responsive learning aid that bridges the gap in online instructional support. </a:t>
          </a:r>
        </a:p>
      </dgm:t>
    </dgm:pt>
    <dgm:pt modelId="{C4FA7306-756A-4AA3-B12E-725ED5714812}" type="parTrans" cxnId="{05936439-317E-4280-987E-C103E3B5F60F}">
      <dgm:prSet/>
      <dgm:spPr/>
      <dgm:t>
        <a:bodyPr/>
        <a:lstStyle/>
        <a:p>
          <a:endParaRPr lang="en-US"/>
        </a:p>
      </dgm:t>
    </dgm:pt>
    <dgm:pt modelId="{3614C51A-AE74-4310-9A2E-BF6D11266610}" type="sibTrans" cxnId="{05936439-317E-4280-987E-C103E3B5F60F}">
      <dgm:prSet/>
      <dgm:spPr/>
      <dgm:t>
        <a:bodyPr/>
        <a:lstStyle/>
        <a:p>
          <a:endParaRPr lang="en-US"/>
        </a:p>
      </dgm:t>
    </dgm:pt>
    <dgm:pt modelId="{1C6A3785-ABF5-47AE-BC82-E048DE7C85AB}">
      <dgm:prSet/>
      <dgm:spPr/>
      <dgm:t>
        <a:bodyPr/>
        <a:lstStyle/>
        <a:p>
          <a:pPr algn="just"/>
          <a:r>
            <a:rPr lang="en-US" b="1" dirty="0"/>
            <a:t>Small-scale pilot involving only two classes, designed to demonstrate the potential future implementation of RAG chatbots.</a:t>
          </a:r>
        </a:p>
      </dgm:t>
    </dgm:pt>
    <dgm:pt modelId="{EE346314-97C2-41F0-88E2-24B6E347B756}" type="parTrans" cxnId="{88FFFF2A-C99D-4E17-A113-DB10059B1DF3}">
      <dgm:prSet/>
      <dgm:spPr/>
      <dgm:t>
        <a:bodyPr/>
        <a:lstStyle/>
        <a:p>
          <a:endParaRPr lang="en-US"/>
        </a:p>
      </dgm:t>
    </dgm:pt>
    <dgm:pt modelId="{929770FC-30F7-4923-9392-CE98051DD3AC}" type="sibTrans" cxnId="{88FFFF2A-C99D-4E17-A113-DB10059B1DF3}">
      <dgm:prSet/>
      <dgm:spPr/>
      <dgm:t>
        <a:bodyPr/>
        <a:lstStyle/>
        <a:p>
          <a:endParaRPr lang="en-US"/>
        </a:p>
      </dgm:t>
    </dgm:pt>
    <dgm:pt modelId="{DD9B167D-5000-4C06-9EC5-D718496541DE}" type="pres">
      <dgm:prSet presAssocID="{3BF49F93-017E-480E-B38B-49371B78F870}" presName="root" presStyleCnt="0">
        <dgm:presLayoutVars>
          <dgm:dir/>
          <dgm:resizeHandles val="exact"/>
        </dgm:presLayoutVars>
      </dgm:prSet>
      <dgm:spPr/>
    </dgm:pt>
    <dgm:pt modelId="{CA895A09-ABF1-4FA2-8FF5-90FC60D1F3CE}" type="pres">
      <dgm:prSet presAssocID="{951592C7-73C7-4B15-B255-E2CBDB2B3A01}" presName="compNode" presStyleCnt="0"/>
      <dgm:spPr/>
    </dgm:pt>
    <dgm:pt modelId="{D5630748-2908-4988-A161-8930F29B8402}" type="pres">
      <dgm:prSet presAssocID="{951592C7-73C7-4B15-B255-E2CBDB2B3A01}" presName="bgRect" presStyleLbl="bgShp" presStyleIdx="0" presStyleCnt="3"/>
      <dgm:spPr/>
    </dgm:pt>
    <dgm:pt modelId="{79FAB9D8-0FDA-4FE2-B817-4BEB102EA3B2}" type="pres">
      <dgm:prSet presAssocID="{951592C7-73C7-4B15-B255-E2CBDB2B3A0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DDFAC1B-DDBB-4A6D-AF08-7A12D1C16E39}" type="pres">
      <dgm:prSet presAssocID="{951592C7-73C7-4B15-B255-E2CBDB2B3A01}" presName="spaceRect" presStyleCnt="0"/>
      <dgm:spPr/>
    </dgm:pt>
    <dgm:pt modelId="{9DF665F5-8650-45EA-8ED8-9E991B27CD72}" type="pres">
      <dgm:prSet presAssocID="{951592C7-73C7-4B15-B255-E2CBDB2B3A01}" presName="parTx" presStyleLbl="revTx" presStyleIdx="0" presStyleCnt="3">
        <dgm:presLayoutVars>
          <dgm:chMax val="0"/>
          <dgm:chPref val="0"/>
        </dgm:presLayoutVars>
      </dgm:prSet>
      <dgm:spPr/>
    </dgm:pt>
    <dgm:pt modelId="{10947AA3-7022-4934-BCB0-794B44256969}" type="pres">
      <dgm:prSet presAssocID="{135B5B08-6E25-4B6F-B951-52C5A27D8417}" presName="sibTrans" presStyleCnt="0"/>
      <dgm:spPr/>
    </dgm:pt>
    <dgm:pt modelId="{02ACC8F5-C11B-40EF-B9E4-580B2A747254}" type="pres">
      <dgm:prSet presAssocID="{A8876C91-EE96-405D-857D-F6E9FF7D82A0}" presName="compNode" presStyleCnt="0"/>
      <dgm:spPr/>
    </dgm:pt>
    <dgm:pt modelId="{B60B2EAA-05E9-4695-8245-F5AA02CEFA4F}" type="pres">
      <dgm:prSet presAssocID="{A8876C91-EE96-405D-857D-F6E9FF7D82A0}" presName="bgRect" presStyleLbl="bgShp" presStyleIdx="1" presStyleCnt="3"/>
      <dgm:spPr/>
    </dgm:pt>
    <dgm:pt modelId="{A04CA619-A443-4626-8339-B730FD7194DF}" type="pres">
      <dgm:prSet presAssocID="{A8876C91-EE96-405D-857D-F6E9FF7D82A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CB2B388-2495-427A-8BFB-BB896774A79E}" type="pres">
      <dgm:prSet presAssocID="{A8876C91-EE96-405D-857D-F6E9FF7D82A0}" presName="spaceRect" presStyleCnt="0"/>
      <dgm:spPr/>
    </dgm:pt>
    <dgm:pt modelId="{CAE3B81B-FD01-4F2C-90F2-D206080EC0B0}" type="pres">
      <dgm:prSet presAssocID="{A8876C91-EE96-405D-857D-F6E9FF7D82A0}" presName="parTx" presStyleLbl="revTx" presStyleIdx="1" presStyleCnt="3">
        <dgm:presLayoutVars>
          <dgm:chMax val="0"/>
          <dgm:chPref val="0"/>
        </dgm:presLayoutVars>
      </dgm:prSet>
      <dgm:spPr/>
    </dgm:pt>
    <dgm:pt modelId="{D354A096-6D5E-45A2-9329-2B24931809EF}" type="pres">
      <dgm:prSet presAssocID="{3614C51A-AE74-4310-9A2E-BF6D11266610}" presName="sibTrans" presStyleCnt="0"/>
      <dgm:spPr/>
    </dgm:pt>
    <dgm:pt modelId="{3BEB2C63-9DE0-44B2-B06B-EB7E987A94F9}" type="pres">
      <dgm:prSet presAssocID="{1C6A3785-ABF5-47AE-BC82-E048DE7C85AB}" presName="compNode" presStyleCnt="0"/>
      <dgm:spPr/>
    </dgm:pt>
    <dgm:pt modelId="{913C2042-B922-4074-9DAE-900B961233D1}" type="pres">
      <dgm:prSet presAssocID="{1C6A3785-ABF5-47AE-BC82-E048DE7C85AB}" presName="bgRect" presStyleLbl="bgShp" presStyleIdx="2" presStyleCnt="3"/>
      <dgm:spPr/>
    </dgm:pt>
    <dgm:pt modelId="{A53DE3C5-9160-49C1-810F-4C34F9EFD47C}" type="pres">
      <dgm:prSet presAssocID="{1C6A3785-ABF5-47AE-BC82-E048DE7C85A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EED424F-65FF-499D-A0CA-A6AA8DD4324F}" type="pres">
      <dgm:prSet presAssocID="{1C6A3785-ABF5-47AE-BC82-E048DE7C85AB}" presName="spaceRect" presStyleCnt="0"/>
      <dgm:spPr/>
    </dgm:pt>
    <dgm:pt modelId="{BB8744B5-4223-40CC-AF0B-D62C7DC67566}" type="pres">
      <dgm:prSet presAssocID="{1C6A3785-ABF5-47AE-BC82-E048DE7C85A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FFFF2A-C99D-4E17-A113-DB10059B1DF3}" srcId="{3BF49F93-017E-480E-B38B-49371B78F870}" destId="{1C6A3785-ABF5-47AE-BC82-E048DE7C85AB}" srcOrd="2" destOrd="0" parTransId="{EE346314-97C2-41F0-88E2-24B6E347B756}" sibTransId="{929770FC-30F7-4923-9392-CE98051DD3AC}"/>
    <dgm:cxn modelId="{05936439-317E-4280-987E-C103E3B5F60F}" srcId="{3BF49F93-017E-480E-B38B-49371B78F870}" destId="{A8876C91-EE96-405D-857D-F6E9FF7D82A0}" srcOrd="1" destOrd="0" parTransId="{C4FA7306-756A-4AA3-B12E-725ED5714812}" sibTransId="{3614C51A-AE74-4310-9A2E-BF6D11266610}"/>
    <dgm:cxn modelId="{80233D73-5F70-4366-826F-8483CD0C1AF2}" type="presOf" srcId="{3BF49F93-017E-480E-B38B-49371B78F870}" destId="{DD9B167D-5000-4C06-9EC5-D718496541DE}" srcOrd="0" destOrd="0" presId="urn:microsoft.com/office/officeart/2018/2/layout/IconVerticalSolidList"/>
    <dgm:cxn modelId="{84564383-B672-4447-9717-B3F512A8FD42}" type="presOf" srcId="{951592C7-73C7-4B15-B255-E2CBDB2B3A01}" destId="{9DF665F5-8650-45EA-8ED8-9E991B27CD72}" srcOrd="0" destOrd="0" presId="urn:microsoft.com/office/officeart/2018/2/layout/IconVerticalSolidList"/>
    <dgm:cxn modelId="{5D25E68C-B80F-4E4C-A9FD-DCA0761F890F}" type="presOf" srcId="{A8876C91-EE96-405D-857D-F6E9FF7D82A0}" destId="{CAE3B81B-FD01-4F2C-90F2-D206080EC0B0}" srcOrd="0" destOrd="0" presId="urn:microsoft.com/office/officeart/2018/2/layout/IconVerticalSolidList"/>
    <dgm:cxn modelId="{7DDDDDDF-9F7B-4BBF-B5F9-8A55914D3CB5}" srcId="{3BF49F93-017E-480E-B38B-49371B78F870}" destId="{951592C7-73C7-4B15-B255-E2CBDB2B3A01}" srcOrd="0" destOrd="0" parTransId="{B1064A88-3D43-4D46-8525-012435D7A7DD}" sibTransId="{135B5B08-6E25-4B6F-B951-52C5A27D8417}"/>
    <dgm:cxn modelId="{B711C7E2-0AB3-457F-A19C-74ACD2D5E5AB}" type="presOf" srcId="{1C6A3785-ABF5-47AE-BC82-E048DE7C85AB}" destId="{BB8744B5-4223-40CC-AF0B-D62C7DC67566}" srcOrd="0" destOrd="0" presId="urn:microsoft.com/office/officeart/2018/2/layout/IconVerticalSolidList"/>
    <dgm:cxn modelId="{E6F28FE6-FB12-434D-BC09-BDC9DD3E50DE}" type="presParOf" srcId="{DD9B167D-5000-4C06-9EC5-D718496541DE}" destId="{CA895A09-ABF1-4FA2-8FF5-90FC60D1F3CE}" srcOrd="0" destOrd="0" presId="urn:microsoft.com/office/officeart/2018/2/layout/IconVerticalSolidList"/>
    <dgm:cxn modelId="{EE1F6E0D-5350-4662-92D2-4EFAFC09A816}" type="presParOf" srcId="{CA895A09-ABF1-4FA2-8FF5-90FC60D1F3CE}" destId="{D5630748-2908-4988-A161-8930F29B8402}" srcOrd="0" destOrd="0" presId="urn:microsoft.com/office/officeart/2018/2/layout/IconVerticalSolidList"/>
    <dgm:cxn modelId="{7EB4CFCD-16E0-43E5-98D1-611D33AA046D}" type="presParOf" srcId="{CA895A09-ABF1-4FA2-8FF5-90FC60D1F3CE}" destId="{79FAB9D8-0FDA-4FE2-B817-4BEB102EA3B2}" srcOrd="1" destOrd="0" presId="urn:microsoft.com/office/officeart/2018/2/layout/IconVerticalSolidList"/>
    <dgm:cxn modelId="{598C0C6F-7026-440B-85C4-B151C966F192}" type="presParOf" srcId="{CA895A09-ABF1-4FA2-8FF5-90FC60D1F3CE}" destId="{BDDFAC1B-DDBB-4A6D-AF08-7A12D1C16E39}" srcOrd="2" destOrd="0" presId="urn:microsoft.com/office/officeart/2018/2/layout/IconVerticalSolidList"/>
    <dgm:cxn modelId="{6BC30CDC-A64C-4084-BC46-1012D885B104}" type="presParOf" srcId="{CA895A09-ABF1-4FA2-8FF5-90FC60D1F3CE}" destId="{9DF665F5-8650-45EA-8ED8-9E991B27CD72}" srcOrd="3" destOrd="0" presId="urn:microsoft.com/office/officeart/2018/2/layout/IconVerticalSolidList"/>
    <dgm:cxn modelId="{9DDC888D-F164-47AB-BFD2-AAEA3ADD099F}" type="presParOf" srcId="{DD9B167D-5000-4C06-9EC5-D718496541DE}" destId="{10947AA3-7022-4934-BCB0-794B44256969}" srcOrd="1" destOrd="0" presId="urn:microsoft.com/office/officeart/2018/2/layout/IconVerticalSolidList"/>
    <dgm:cxn modelId="{75814BA1-A7F6-4836-9042-B2E7F00775D0}" type="presParOf" srcId="{DD9B167D-5000-4C06-9EC5-D718496541DE}" destId="{02ACC8F5-C11B-40EF-B9E4-580B2A747254}" srcOrd="2" destOrd="0" presId="urn:microsoft.com/office/officeart/2018/2/layout/IconVerticalSolidList"/>
    <dgm:cxn modelId="{C186FC92-74F5-407B-AFD0-B8D9E0B55383}" type="presParOf" srcId="{02ACC8F5-C11B-40EF-B9E4-580B2A747254}" destId="{B60B2EAA-05E9-4695-8245-F5AA02CEFA4F}" srcOrd="0" destOrd="0" presId="urn:microsoft.com/office/officeart/2018/2/layout/IconVerticalSolidList"/>
    <dgm:cxn modelId="{4BBA9EE4-6E4A-4E86-B62E-930F9B245762}" type="presParOf" srcId="{02ACC8F5-C11B-40EF-B9E4-580B2A747254}" destId="{A04CA619-A443-4626-8339-B730FD7194DF}" srcOrd="1" destOrd="0" presId="urn:microsoft.com/office/officeart/2018/2/layout/IconVerticalSolidList"/>
    <dgm:cxn modelId="{F1D328BF-2314-4529-B24D-013CDF1346EC}" type="presParOf" srcId="{02ACC8F5-C11B-40EF-B9E4-580B2A747254}" destId="{CCB2B388-2495-427A-8BFB-BB896774A79E}" srcOrd="2" destOrd="0" presId="urn:microsoft.com/office/officeart/2018/2/layout/IconVerticalSolidList"/>
    <dgm:cxn modelId="{09BFF0BA-3413-4C84-BD24-C2D1D6A3EDF6}" type="presParOf" srcId="{02ACC8F5-C11B-40EF-B9E4-580B2A747254}" destId="{CAE3B81B-FD01-4F2C-90F2-D206080EC0B0}" srcOrd="3" destOrd="0" presId="urn:microsoft.com/office/officeart/2018/2/layout/IconVerticalSolidList"/>
    <dgm:cxn modelId="{DE736E4A-E1BF-429A-BDC3-FD031EE6378F}" type="presParOf" srcId="{DD9B167D-5000-4C06-9EC5-D718496541DE}" destId="{D354A096-6D5E-45A2-9329-2B24931809EF}" srcOrd="3" destOrd="0" presId="urn:microsoft.com/office/officeart/2018/2/layout/IconVerticalSolidList"/>
    <dgm:cxn modelId="{EB8A55F6-4B0C-4B71-A39E-7F5DC318B1DB}" type="presParOf" srcId="{DD9B167D-5000-4C06-9EC5-D718496541DE}" destId="{3BEB2C63-9DE0-44B2-B06B-EB7E987A94F9}" srcOrd="4" destOrd="0" presId="urn:microsoft.com/office/officeart/2018/2/layout/IconVerticalSolidList"/>
    <dgm:cxn modelId="{3D604675-A12C-4395-96EB-16023F4582D3}" type="presParOf" srcId="{3BEB2C63-9DE0-44B2-B06B-EB7E987A94F9}" destId="{913C2042-B922-4074-9DAE-900B961233D1}" srcOrd="0" destOrd="0" presId="urn:microsoft.com/office/officeart/2018/2/layout/IconVerticalSolidList"/>
    <dgm:cxn modelId="{3E61450F-3A78-43AC-80FF-36188E1D7B6D}" type="presParOf" srcId="{3BEB2C63-9DE0-44B2-B06B-EB7E987A94F9}" destId="{A53DE3C5-9160-49C1-810F-4C34F9EFD47C}" srcOrd="1" destOrd="0" presId="urn:microsoft.com/office/officeart/2018/2/layout/IconVerticalSolidList"/>
    <dgm:cxn modelId="{F1747113-1A83-4D54-85EA-C9B057C55197}" type="presParOf" srcId="{3BEB2C63-9DE0-44B2-B06B-EB7E987A94F9}" destId="{2EED424F-65FF-499D-A0CA-A6AA8DD4324F}" srcOrd="2" destOrd="0" presId="urn:microsoft.com/office/officeart/2018/2/layout/IconVerticalSolidList"/>
    <dgm:cxn modelId="{8CA63617-DAB4-47F7-BB36-1F987D1CC1DE}" type="presParOf" srcId="{3BEB2C63-9DE0-44B2-B06B-EB7E987A94F9}" destId="{BB8744B5-4223-40CC-AF0B-D62C7DC675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586E3C-266E-AD4A-B6C8-933D23FC2D6F}" type="doc">
      <dgm:prSet loTypeId="urn:microsoft.com/office/officeart/2005/8/layout/process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3DAFE0B-7465-894A-B17D-5D71E32943C2}">
      <dgm:prSet phldrT="[Text]"/>
      <dgm:spPr/>
      <dgm:t>
        <a:bodyPr/>
        <a:lstStyle/>
        <a:p>
          <a:r>
            <a:rPr lang="en-US" b="1" dirty="0"/>
            <a:t>138 students</a:t>
          </a:r>
        </a:p>
      </dgm:t>
    </dgm:pt>
    <dgm:pt modelId="{4D5083CB-9DBE-A444-9BC3-AE68579509A2}" type="parTrans" cxnId="{8D8FDCEF-556F-194D-9C30-900A00BB25DF}">
      <dgm:prSet/>
      <dgm:spPr/>
      <dgm:t>
        <a:bodyPr/>
        <a:lstStyle/>
        <a:p>
          <a:endParaRPr lang="en-US"/>
        </a:p>
      </dgm:t>
    </dgm:pt>
    <dgm:pt modelId="{8EB1428D-16C7-DB47-A0CB-7405581B966D}" type="sibTrans" cxnId="{8D8FDCEF-556F-194D-9C30-900A00BB25DF}">
      <dgm:prSet/>
      <dgm:spPr/>
      <dgm:t>
        <a:bodyPr/>
        <a:lstStyle/>
        <a:p>
          <a:endParaRPr lang="en-US"/>
        </a:p>
      </dgm:t>
    </dgm:pt>
    <dgm:pt modelId="{62DC706A-6A25-5048-9201-B8823B138C06}">
      <dgm:prSet phldrT="[Text]"/>
      <dgm:spPr/>
      <dgm:t>
        <a:bodyPr/>
        <a:lstStyle/>
        <a:p>
          <a:r>
            <a:rPr lang="en-US" b="1" dirty="0"/>
            <a:t>96 responses</a:t>
          </a:r>
        </a:p>
      </dgm:t>
    </dgm:pt>
    <dgm:pt modelId="{110B0972-2D22-B14F-A0A1-66A08F42FFBD}" type="parTrans" cxnId="{C61FB516-B579-3043-9C52-669D88C2952E}">
      <dgm:prSet/>
      <dgm:spPr/>
      <dgm:t>
        <a:bodyPr/>
        <a:lstStyle/>
        <a:p>
          <a:endParaRPr lang="en-US"/>
        </a:p>
      </dgm:t>
    </dgm:pt>
    <dgm:pt modelId="{5030AD9C-B3EE-9847-80D2-8D32D221EE41}" type="sibTrans" cxnId="{C61FB516-B579-3043-9C52-669D88C2952E}">
      <dgm:prSet/>
      <dgm:spPr/>
      <dgm:t>
        <a:bodyPr/>
        <a:lstStyle/>
        <a:p>
          <a:endParaRPr lang="en-US"/>
        </a:p>
      </dgm:t>
    </dgm:pt>
    <dgm:pt modelId="{37F35AF3-5E8D-8446-9982-E9CC477056C7}">
      <dgm:prSet phldrT="[Text]"/>
      <dgm:spPr/>
      <dgm:t>
        <a:bodyPr/>
        <a:lstStyle/>
        <a:p>
          <a:r>
            <a:rPr lang="en-US" b="1" dirty="0"/>
            <a:t>49 (Risk Management) &amp; 47 (Data Privacy)</a:t>
          </a:r>
        </a:p>
      </dgm:t>
    </dgm:pt>
    <dgm:pt modelId="{215ED922-15D8-1D44-B715-BAA2E986A5A7}" type="parTrans" cxnId="{3E6F02EA-D34F-3648-A314-B7B5FFA2B684}">
      <dgm:prSet/>
      <dgm:spPr/>
      <dgm:t>
        <a:bodyPr/>
        <a:lstStyle/>
        <a:p>
          <a:endParaRPr lang="en-US"/>
        </a:p>
      </dgm:t>
    </dgm:pt>
    <dgm:pt modelId="{E9FD6B4E-D5C3-F846-BA91-9400FC85AD03}" type="sibTrans" cxnId="{3E6F02EA-D34F-3648-A314-B7B5FFA2B684}">
      <dgm:prSet/>
      <dgm:spPr/>
      <dgm:t>
        <a:bodyPr/>
        <a:lstStyle/>
        <a:p>
          <a:endParaRPr lang="en-US"/>
        </a:p>
      </dgm:t>
    </dgm:pt>
    <dgm:pt modelId="{9AD178D3-5BC9-A547-89FE-6FCF5F090762}" type="pres">
      <dgm:prSet presAssocID="{B7586E3C-266E-AD4A-B6C8-933D23FC2D6F}" presName="Name0" presStyleCnt="0">
        <dgm:presLayoutVars>
          <dgm:dir/>
          <dgm:resizeHandles val="exact"/>
        </dgm:presLayoutVars>
      </dgm:prSet>
      <dgm:spPr/>
    </dgm:pt>
    <dgm:pt modelId="{64B0FFE2-8F4B-1B45-8204-D13AA17074FA}" type="pres">
      <dgm:prSet presAssocID="{03DAFE0B-7465-894A-B17D-5D71E32943C2}" presName="node" presStyleLbl="node1" presStyleIdx="0" presStyleCnt="3">
        <dgm:presLayoutVars>
          <dgm:bulletEnabled val="1"/>
        </dgm:presLayoutVars>
      </dgm:prSet>
      <dgm:spPr/>
    </dgm:pt>
    <dgm:pt modelId="{6F16EFFC-993D-E441-85A7-AFD791560066}" type="pres">
      <dgm:prSet presAssocID="{8EB1428D-16C7-DB47-A0CB-7405581B966D}" presName="sibTrans" presStyleLbl="sibTrans2D1" presStyleIdx="0" presStyleCnt="2"/>
      <dgm:spPr/>
    </dgm:pt>
    <dgm:pt modelId="{A2CF781E-EE2A-EC46-9DEE-B53EF5AD4032}" type="pres">
      <dgm:prSet presAssocID="{8EB1428D-16C7-DB47-A0CB-7405581B966D}" presName="connectorText" presStyleLbl="sibTrans2D1" presStyleIdx="0" presStyleCnt="2"/>
      <dgm:spPr/>
    </dgm:pt>
    <dgm:pt modelId="{5984BDDB-9F27-AB48-B7E8-B7BDE3C1E5B0}" type="pres">
      <dgm:prSet presAssocID="{62DC706A-6A25-5048-9201-B8823B138C06}" presName="node" presStyleLbl="node1" presStyleIdx="1" presStyleCnt="3">
        <dgm:presLayoutVars>
          <dgm:bulletEnabled val="1"/>
        </dgm:presLayoutVars>
      </dgm:prSet>
      <dgm:spPr/>
    </dgm:pt>
    <dgm:pt modelId="{F6F9C145-389D-F34F-AAD4-A76BF531EC85}" type="pres">
      <dgm:prSet presAssocID="{5030AD9C-B3EE-9847-80D2-8D32D221EE41}" presName="sibTrans" presStyleLbl="sibTrans2D1" presStyleIdx="1" presStyleCnt="2"/>
      <dgm:spPr/>
    </dgm:pt>
    <dgm:pt modelId="{75A3F2C4-93DC-024B-B76B-D83407F865F7}" type="pres">
      <dgm:prSet presAssocID="{5030AD9C-B3EE-9847-80D2-8D32D221EE41}" presName="connectorText" presStyleLbl="sibTrans2D1" presStyleIdx="1" presStyleCnt="2"/>
      <dgm:spPr/>
    </dgm:pt>
    <dgm:pt modelId="{AF0E0338-DE4A-1946-8CE2-FAE19FB2B61F}" type="pres">
      <dgm:prSet presAssocID="{37F35AF3-5E8D-8446-9982-E9CC477056C7}" presName="node" presStyleLbl="node1" presStyleIdx="2" presStyleCnt="3">
        <dgm:presLayoutVars>
          <dgm:bulletEnabled val="1"/>
        </dgm:presLayoutVars>
      </dgm:prSet>
      <dgm:spPr/>
    </dgm:pt>
  </dgm:ptLst>
  <dgm:cxnLst>
    <dgm:cxn modelId="{E3AED906-8296-D541-8DF0-5BD00A0F5171}" type="presOf" srcId="{B7586E3C-266E-AD4A-B6C8-933D23FC2D6F}" destId="{9AD178D3-5BC9-A547-89FE-6FCF5F090762}" srcOrd="0" destOrd="0" presId="urn:microsoft.com/office/officeart/2005/8/layout/process1"/>
    <dgm:cxn modelId="{C61FB516-B579-3043-9C52-669D88C2952E}" srcId="{B7586E3C-266E-AD4A-B6C8-933D23FC2D6F}" destId="{62DC706A-6A25-5048-9201-B8823B138C06}" srcOrd="1" destOrd="0" parTransId="{110B0972-2D22-B14F-A0A1-66A08F42FFBD}" sibTransId="{5030AD9C-B3EE-9847-80D2-8D32D221EE41}"/>
    <dgm:cxn modelId="{6613D042-F7B5-D146-B94E-B8626750CB8B}" type="presOf" srcId="{62DC706A-6A25-5048-9201-B8823B138C06}" destId="{5984BDDB-9F27-AB48-B7E8-B7BDE3C1E5B0}" srcOrd="0" destOrd="0" presId="urn:microsoft.com/office/officeart/2005/8/layout/process1"/>
    <dgm:cxn modelId="{EF736845-4DED-3D4C-B837-5A1B7AEF533E}" type="presOf" srcId="{03DAFE0B-7465-894A-B17D-5D71E32943C2}" destId="{64B0FFE2-8F4B-1B45-8204-D13AA17074FA}" srcOrd="0" destOrd="0" presId="urn:microsoft.com/office/officeart/2005/8/layout/process1"/>
    <dgm:cxn modelId="{845BF57A-4EA8-8548-87C9-2BD6E042E5F4}" type="presOf" srcId="{5030AD9C-B3EE-9847-80D2-8D32D221EE41}" destId="{F6F9C145-389D-F34F-AAD4-A76BF531EC85}" srcOrd="0" destOrd="0" presId="urn:microsoft.com/office/officeart/2005/8/layout/process1"/>
    <dgm:cxn modelId="{10926A7E-F4EE-0148-A1A7-58A2BF5AE69B}" type="presOf" srcId="{8EB1428D-16C7-DB47-A0CB-7405581B966D}" destId="{A2CF781E-EE2A-EC46-9DEE-B53EF5AD4032}" srcOrd="1" destOrd="0" presId="urn:microsoft.com/office/officeart/2005/8/layout/process1"/>
    <dgm:cxn modelId="{A42CC0B6-C45B-E545-B440-984F5FA390EE}" type="presOf" srcId="{5030AD9C-B3EE-9847-80D2-8D32D221EE41}" destId="{75A3F2C4-93DC-024B-B76B-D83407F865F7}" srcOrd="1" destOrd="0" presId="urn:microsoft.com/office/officeart/2005/8/layout/process1"/>
    <dgm:cxn modelId="{A98498CA-6EE8-7845-A97B-ADF4234C7C8B}" type="presOf" srcId="{8EB1428D-16C7-DB47-A0CB-7405581B966D}" destId="{6F16EFFC-993D-E441-85A7-AFD791560066}" srcOrd="0" destOrd="0" presId="urn:microsoft.com/office/officeart/2005/8/layout/process1"/>
    <dgm:cxn modelId="{3E6F02EA-D34F-3648-A314-B7B5FFA2B684}" srcId="{B7586E3C-266E-AD4A-B6C8-933D23FC2D6F}" destId="{37F35AF3-5E8D-8446-9982-E9CC477056C7}" srcOrd="2" destOrd="0" parTransId="{215ED922-15D8-1D44-B715-BAA2E986A5A7}" sibTransId="{E9FD6B4E-D5C3-F846-BA91-9400FC85AD03}"/>
    <dgm:cxn modelId="{8D8FDCEF-556F-194D-9C30-900A00BB25DF}" srcId="{B7586E3C-266E-AD4A-B6C8-933D23FC2D6F}" destId="{03DAFE0B-7465-894A-B17D-5D71E32943C2}" srcOrd="0" destOrd="0" parTransId="{4D5083CB-9DBE-A444-9BC3-AE68579509A2}" sibTransId="{8EB1428D-16C7-DB47-A0CB-7405581B966D}"/>
    <dgm:cxn modelId="{FDFC0DF9-1914-9C42-9657-BB34B5E2245E}" type="presOf" srcId="{37F35AF3-5E8D-8446-9982-E9CC477056C7}" destId="{AF0E0338-DE4A-1946-8CE2-FAE19FB2B61F}" srcOrd="0" destOrd="0" presId="urn:microsoft.com/office/officeart/2005/8/layout/process1"/>
    <dgm:cxn modelId="{5705CC63-B014-0B47-8293-2828D4DE2ED4}" type="presParOf" srcId="{9AD178D3-5BC9-A547-89FE-6FCF5F090762}" destId="{64B0FFE2-8F4B-1B45-8204-D13AA17074FA}" srcOrd="0" destOrd="0" presId="urn:microsoft.com/office/officeart/2005/8/layout/process1"/>
    <dgm:cxn modelId="{C3296B8F-99C0-6746-AA15-25EB90233BBB}" type="presParOf" srcId="{9AD178D3-5BC9-A547-89FE-6FCF5F090762}" destId="{6F16EFFC-993D-E441-85A7-AFD791560066}" srcOrd="1" destOrd="0" presId="urn:microsoft.com/office/officeart/2005/8/layout/process1"/>
    <dgm:cxn modelId="{86B22CF3-0362-1F47-A199-C4EF1DD35D3C}" type="presParOf" srcId="{6F16EFFC-993D-E441-85A7-AFD791560066}" destId="{A2CF781E-EE2A-EC46-9DEE-B53EF5AD4032}" srcOrd="0" destOrd="0" presId="urn:microsoft.com/office/officeart/2005/8/layout/process1"/>
    <dgm:cxn modelId="{606D9B0C-9F5F-054B-ADAC-772320BE110F}" type="presParOf" srcId="{9AD178D3-5BC9-A547-89FE-6FCF5F090762}" destId="{5984BDDB-9F27-AB48-B7E8-B7BDE3C1E5B0}" srcOrd="2" destOrd="0" presId="urn:microsoft.com/office/officeart/2005/8/layout/process1"/>
    <dgm:cxn modelId="{DE780CD4-85A3-8741-9DB4-FDDED3576F51}" type="presParOf" srcId="{9AD178D3-5BC9-A547-89FE-6FCF5F090762}" destId="{F6F9C145-389D-F34F-AAD4-A76BF531EC85}" srcOrd="3" destOrd="0" presId="urn:microsoft.com/office/officeart/2005/8/layout/process1"/>
    <dgm:cxn modelId="{AC1A33EA-FDE1-F14B-A834-C751D884B0F1}" type="presParOf" srcId="{F6F9C145-389D-F34F-AAD4-A76BF531EC85}" destId="{75A3F2C4-93DC-024B-B76B-D83407F865F7}" srcOrd="0" destOrd="0" presId="urn:microsoft.com/office/officeart/2005/8/layout/process1"/>
    <dgm:cxn modelId="{C10A6CBE-2A7A-C34C-BA38-B2ACD011017C}" type="presParOf" srcId="{9AD178D3-5BC9-A547-89FE-6FCF5F090762}" destId="{AF0E0338-DE4A-1946-8CE2-FAE19FB2B61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30748-2908-4988-A161-8930F29B8402}">
      <dsp:nvSpPr>
        <dsp:cNvPr id="0" name=""/>
        <dsp:cNvSpPr/>
      </dsp:nvSpPr>
      <dsp:spPr>
        <a:xfrm>
          <a:off x="0" y="680"/>
          <a:ext cx="6506304" cy="15932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FAB9D8-0FDA-4FE2-B817-4BEB102EA3B2}">
      <dsp:nvSpPr>
        <dsp:cNvPr id="0" name=""/>
        <dsp:cNvSpPr/>
      </dsp:nvSpPr>
      <dsp:spPr>
        <a:xfrm>
          <a:off x="481967" y="359168"/>
          <a:ext cx="876303" cy="8763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665F5-8650-45EA-8ED8-9E991B27CD72}">
      <dsp:nvSpPr>
        <dsp:cNvPr id="0" name=""/>
        <dsp:cNvSpPr/>
      </dsp:nvSpPr>
      <dsp:spPr>
        <a:xfrm>
          <a:off x="1840237" y="680"/>
          <a:ext cx="4666066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One of the few documented implementations of AI assistants in advanced, technical cybersecurity curricula.</a:t>
          </a:r>
        </a:p>
      </dsp:txBody>
      <dsp:txXfrm>
        <a:off x="1840237" y="680"/>
        <a:ext cx="4666066" cy="1593279"/>
      </dsp:txXfrm>
    </dsp:sp>
    <dsp:sp modelId="{B60B2EAA-05E9-4695-8245-F5AA02CEFA4F}">
      <dsp:nvSpPr>
        <dsp:cNvPr id="0" name=""/>
        <dsp:cNvSpPr/>
      </dsp:nvSpPr>
      <dsp:spPr>
        <a:xfrm>
          <a:off x="0" y="1992280"/>
          <a:ext cx="6506304" cy="159327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CA619-A443-4626-8339-B730FD7194DF}">
      <dsp:nvSpPr>
        <dsp:cNvPr id="0" name=""/>
        <dsp:cNvSpPr/>
      </dsp:nvSpPr>
      <dsp:spPr>
        <a:xfrm>
          <a:off x="481967" y="2350768"/>
          <a:ext cx="876303" cy="8763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3B81B-FD01-4F2C-90F2-D206080EC0B0}">
      <dsp:nvSpPr>
        <dsp:cNvPr id="0" name=""/>
        <dsp:cNvSpPr/>
      </dsp:nvSpPr>
      <dsp:spPr>
        <a:xfrm>
          <a:off x="1840237" y="1992280"/>
          <a:ext cx="4666066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Student feedback confirms the </a:t>
          </a:r>
          <a:r>
            <a:rPr lang="en-US" sz="2300" b="1" kern="1200" dirty="0" err="1"/>
            <a:t>vTA</a:t>
          </a:r>
          <a:r>
            <a:rPr lang="en-US" sz="2300" b="1" kern="1200" dirty="0"/>
            <a:t> as a scalable, responsive learning aid that bridges the gap in online instructional support. </a:t>
          </a:r>
        </a:p>
      </dsp:txBody>
      <dsp:txXfrm>
        <a:off x="1840237" y="1992280"/>
        <a:ext cx="4666066" cy="1593279"/>
      </dsp:txXfrm>
    </dsp:sp>
    <dsp:sp modelId="{913C2042-B922-4074-9DAE-900B961233D1}">
      <dsp:nvSpPr>
        <dsp:cNvPr id="0" name=""/>
        <dsp:cNvSpPr/>
      </dsp:nvSpPr>
      <dsp:spPr>
        <a:xfrm>
          <a:off x="0" y="3983879"/>
          <a:ext cx="6506304" cy="159327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DE3C5-9160-49C1-810F-4C34F9EFD47C}">
      <dsp:nvSpPr>
        <dsp:cNvPr id="0" name=""/>
        <dsp:cNvSpPr/>
      </dsp:nvSpPr>
      <dsp:spPr>
        <a:xfrm>
          <a:off x="481967" y="4342367"/>
          <a:ext cx="876303" cy="8763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744B5-4223-40CC-AF0B-D62C7DC67566}">
      <dsp:nvSpPr>
        <dsp:cNvPr id="0" name=""/>
        <dsp:cNvSpPr/>
      </dsp:nvSpPr>
      <dsp:spPr>
        <a:xfrm>
          <a:off x="1840237" y="3983879"/>
          <a:ext cx="4666066" cy="15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2" tIns="168622" rIns="168622" bIns="168622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Small-scale pilot involving only two classes, designed to demonstrate the potential future implementation of RAG chatbots.</a:t>
          </a:r>
        </a:p>
      </dsp:txBody>
      <dsp:txXfrm>
        <a:off x="1840237" y="3983879"/>
        <a:ext cx="4666066" cy="1593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B0FFE2-8F4B-1B45-8204-D13AA17074FA}">
      <dsp:nvSpPr>
        <dsp:cNvPr id="0" name=""/>
        <dsp:cNvSpPr/>
      </dsp:nvSpPr>
      <dsp:spPr>
        <a:xfrm>
          <a:off x="5364" y="438682"/>
          <a:ext cx="1603248" cy="11423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138 students</a:t>
          </a:r>
        </a:p>
      </dsp:txBody>
      <dsp:txXfrm>
        <a:off x="38821" y="472139"/>
        <a:ext cx="1536334" cy="1075400"/>
      </dsp:txXfrm>
    </dsp:sp>
    <dsp:sp modelId="{6F16EFFC-993D-E441-85A7-AFD791560066}">
      <dsp:nvSpPr>
        <dsp:cNvPr id="0" name=""/>
        <dsp:cNvSpPr/>
      </dsp:nvSpPr>
      <dsp:spPr>
        <a:xfrm>
          <a:off x="1768937" y="811036"/>
          <a:ext cx="339888" cy="3976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68937" y="890557"/>
        <a:ext cx="237922" cy="238563"/>
      </dsp:txXfrm>
    </dsp:sp>
    <dsp:sp modelId="{5984BDDB-9F27-AB48-B7E8-B7BDE3C1E5B0}">
      <dsp:nvSpPr>
        <dsp:cNvPr id="0" name=""/>
        <dsp:cNvSpPr/>
      </dsp:nvSpPr>
      <dsp:spPr>
        <a:xfrm>
          <a:off x="2249912" y="438682"/>
          <a:ext cx="1603248" cy="1142314"/>
        </a:xfrm>
        <a:prstGeom prst="roundRect">
          <a:avLst>
            <a:gd name="adj" fmla="val 10000"/>
          </a:avLst>
        </a:prstGeom>
        <a:solidFill>
          <a:schemeClr val="accent4">
            <a:hueOff val="2401755"/>
            <a:satOff val="9091"/>
            <a:lumOff val="-588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96 responses</a:t>
          </a:r>
        </a:p>
      </dsp:txBody>
      <dsp:txXfrm>
        <a:off x="2283369" y="472139"/>
        <a:ext cx="1536334" cy="1075400"/>
      </dsp:txXfrm>
    </dsp:sp>
    <dsp:sp modelId="{F6F9C145-389D-F34F-AAD4-A76BF531EC85}">
      <dsp:nvSpPr>
        <dsp:cNvPr id="0" name=""/>
        <dsp:cNvSpPr/>
      </dsp:nvSpPr>
      <dsp:spPr>
        <a:xfrm>
          <a:off x="4013485" y="811036"/>
          <a:ext cx="339888" cy="3976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013485" y="890557"/>
        <a:ext cx="237922" cy="238563"/>
      </dsp:txXfrm>
    </dsp:sp>
    <dsp:sp modelId="{AF0E0338-DE4A-1946-8CE2-FAE19FB2B61F}">
      <dsp:nvSpPr>
        <dsp:cNvPr id="0" name=""/>
        <dsp:cNvSpPr/>
      </dsp:nvSpPr>
      <dsp:spPr>
        <a:xfrm>
          <a:off x="4494460" y="438682"/>
          <a:ext cx="1603248" cy="1142314"/>
        </a:xfrm>
        <a:prstGeom prst="roundRect">
          <a:avLst>
            <a:gd name="adj" fmla="val 10000"/>
          </a:avLst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49 (Risk Management) &amp; 47 (Data Privacy)</a:t>
          </a:r>
        </a:p>
      </dsp:txBody>
      <dsp:txXfrm>
        <a:off x="4527917" y="472139"/>
        <a:ext cx="1536334" cy="1075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F6B73-62AA-A24A-AE4E-20FBF160602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5D3FE-0803-6541-B884-E0929205C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7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5D3FE-0803-6541-B884-E0929205C1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7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5D3FE-0803-6541-B884-E0929205C1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52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5D3FE-0803-6541-B884-E0929205C1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8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5D3FE-0803-6541-B884-E0929205C1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3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Higher coherence (closer to 0 or positive)</a:t>
            </a:r>
            <a:r>
              <a:rPr lang="en-US" dirty="0"/>
              <a:t> → Better topic quality</a:t>
            </a:r>
          </a:p>
          <a:p>
            <a:r>
              <a:rPr lang="en-US" b="1" dirty="0"/>
              <a:t>Lower / more negative coherence</a:t>
            </a:r>
            <a:r>
              <a:rPr lang="en-US" dirty="0"/>
              <a:t> → Topics are less clear or interpretable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5D3FE-0803-6541-B884-E0929205C1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4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f2d0bbe6cc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gf2d0bbe6cc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4987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663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3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42480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76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6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7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908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783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40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Prism_Bullets">
  <p:cSld name="Text with Prism_Bulle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8658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1959899" y="1591948"/>
            <a:ext cx="8272203" cy="47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1959900" y="2250571"/>
            <a:ext cx="6124251" cy="3803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8398519" y="2250571"/>
            <a:ext cx="3357965" cy="3803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FC72C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C72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493183" y="6502354"/>
            <a:ext cx="6774039" cy="2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86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770F334-4646-1345-827C-4D28D1FF56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B19DF31-F8FD-414F-A687-2552AD429A1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ieeexplore.ieee.org/abstract/document/11547122" TargetMode="Externa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ABDB-C118-36A7-75FA-30E518978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211" y="1696312"/>
            <a:ext cx="10241578" cy="2266088"/>
          </a:xfrm>
        </p:spPr>
        <p:txBody>
          <a:bodyPr>
            <a:no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Cybersecurity Education with Retrieval Augmented Generation: A Virtual Teaching Assistant Approach </a:t>
            </a:r>
            <a:b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796C7-C410-01D9-D292-92F7BCA6E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39" y="3601561"/>
            <a:ext cx="10129819" cy="2266088"/>
          </a:xfrm>
        </p:spPr>
        <p:txBody>
          <a:bodyPr>
            <a:normAutofit/>
          </a:bodyPr>
          <a:lstStyle/>
          <a:p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Presenter:</a:t>
            </a:r>
            <a:r>
              <a:rPr 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Ankur Chatterjee, PhD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Contributors: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Gaurab Baral, Sushant Shrestha and Mithlesh Sah</a:t>
            </a:r>
          </a:p>
          <a:p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&amp; Analytics, College Of Informatics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Northern Kentucky University</a:t>
            </a:r>
          </a:p>
        </p:txBody>
      </p:sp>
      <p:grpSp>
        <p:nvGrpSpPr>
          <p:cNvPr id="4" name="Google Shape;93;p18">
            <a:extLst>
              <a:ext uri="{FF2B5EF4-FFF2-40B4-BE49-F238E27FC236}">
                <a16:creationId xmlns:a16="http://schemas.microsoft.com/office/drawing/2014/main" id="{ACC70712-47AA-2339-8569-948DCA08480A}"/>
              </a:ext>
            </a:extLst>
          </p:cNvPr>
          <p:cNvGrpSpPr/>
          <p:nvPr/>
        </p:nvGrpSpPr>
        <p:grpSpPr>
          <a:xfrm>
            <a:off x="8818685" y="89232"/>
            <a:ext cx="3299555" cy="1189675"/>
            <a:chOff x="837550" y="656850"/>
            <a:chExt cx="7842475" cy="3254925"/>
          </a:xfrm>
        </p:grpSpPr>
        <p:sp>
          <p:nvSpPr>
            <p:cNvPr id="5" name="Google Shape;94;p18">
              <a:extLst>
                <a:ext uri="{FF2B5EF4-FFF2-40B4-BE49-F238E27FC236}">
                  <a16:creationId xmlns:a16="http://schemas.microsoft.com/office/drawing/2014/main" id="{0ECDA726-4B4D-083A-101A-BEA8F89082D9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6" name="Google Shape;95;p18" title="NAIRR Expansion Conference_RE lg.png">
              <a:extLst>
                <a:ext uri="{FF2B5EF4-FFF2-40B4-BE49-F238E27FC236}">
                  <a16:creationId xmlns:a16="http://schemas.microsoft.com/office/drawing/2014/main" id="{BAC0DB56-7970-7CF9-3DDB-06E52D2648C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AA33E7C-6448-5954-A858-329FA43F5B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48" y="5699623"/>
            <a:ext cx="2736850" cy="835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68F7D6-7445-D74F-8979-E1BC22BAD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815" y="5571103"/>
            <a:ext cx="4566189" cy="109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0BC6-65A4-A7A0-629F-63C6B790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33375"/>
            <a:ext cx="9601200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785B0-1B05-FBCC-B87E-775090EA5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9" y="1233487"/>
            <a:ext cx="10206251" cy="4976813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Scaling Specialized Support</a:t>
            </a:r>
          </a:p>
          <a:p>
            <a:pPr lvl="1" algn="just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Industry Demand: Significant job growth in specialized roles like Incident Response (+12.1%) and GRC (+11.8%) highlights the need for advanced training.</a:t>
            </a:r>
          </a:p>
          <a:p>
            <a:pPr lvl="1" algn="just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Support Gap: Online graduate programs struggle to provide timely, personalized guidance for complex technical topics due to limited instructional resources.</a:t>
            </a:r>
          </a:p>
          <a:p>
            <a:pPr marL="530352" lvl="1" indent="0" algn="just">
              <a:buNone/>
            </a:pP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 RAG-Powered Virtual Teaching Assistant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 Stack: Developed using a Retrieval-Augmented Generation (RAG) approach. 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OpenAI GPT-4.1 (non-reasoning) with text-embedding-3-small. 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Integrated vector database for context-aware, real-time responses. </a:t>
            </a:r>
          </a:p>
          <a:p>
            <a:pPr lvl="1" algn="just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Deployed across two specialized graduate courses: Risk Management (MCY 660) and Data Privacy (MCY 620).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oogle Shape;93;p18">
            <a:extLst>
              <a:ext uri="{FF2B5EF4-FFF2-40B4-BE49-F238E27FC236}">
                <a16:creationId xmlns:a16="http://schemas.microsoft.com/office/drawing/2014/main" id="{597B8765-C111-0FC1-3822-64B25A424C26}"/>
              </a:ext>
            </a:extLst>
          </p:cNvPr>
          <p:cNvGrpSpPr/>
          <p:nvPr/>
        </p:nvGrpSpPr>
        <p:grpSpPr>
          <a:xfrm>
            <a:off x="8827477" y="89232"/>
            <a:ext cx="3290763" cy="1189675"/>
            <a:chOff x="837550" y="656850"/>
            <a:chExt cx="7842475" cy="3254925"/>
          </a:xfrm>
        </p:grpSpPr>
        <p:sp>
          <p:nvSpPr>
            <p:cNvPr id="6" name="Google Shape;94;p18">
              <a:extLst>
                <a:ext uri="{FF2B5EF4-FFF2-40B4-BE49-F238E27FC236}">
                  <a16:creationId xmlns:a16="http://schemas.microsoft.com/office/drawing/2014/main" id="{CA86CA58-DA61-1B44-8A11-C892A960A885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7" name="Google Shape;95;p18" title="NAIRR Expansion Conference_RE lg.png">
              <a:extLst>
                <a:ext uri="{FF2B5EF4-FFF2-40B4-BE49-F238E27FC236}">
                  <a16:creationId xmlns:a16="http://schemas.microsoft.com/office/drawing/2014/main" id="{2703FA07-D7D1-EC21-AF25-064908170B0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6B1B32D-92FD-C64C-7A36-51CBEA0309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62" y="5894457"/>
            <a:ext cx="2736850" cy="835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33BF65-5109-44A3-FCC0-43B2ACC36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029" y="5765937"/>
            <a:ext cx="4566189" cy="109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6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6F3DC-A7B5-097A-15EF-0E40548D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5648E-2A3B-C003-6C66-01CE2FD0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464" y="239622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Novelty and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B9DA98-CC60-2B15-9C27-2CBB64E9D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645447"/>
              </p:ext>
            </p:extLst>
          </p:nvPr>
        </p:nvGraphicFramePr>
        <p:xfrm>
          <a:off x="4901472" y="27078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E4848E27-DBD9-8BF9-9516-47EA48AB3EB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8083" r="7185"/>
          <a:stretch/>
        </p:blipFill>
        <p:spPr>
          <a:xfrm>
            <a:off x="63439" y="115002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18068D-54F3-BB6A-950B-2742BABE5B3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18" y="1512943"/>
            <a:ext cx="2736850" cy="835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E4321A-26E8-5CFD-F4C5-DBAF84626642}"/>
              </a:ext>
            </a:extLst>
          </p:cNvPr>
          <p:cNvSpPr txBox="1"/>
          <p:nvPr/>
        </p:nvSpPr>
        <p:spPr>
          <a:xfrm>
            <a:off x="1195286" y="5567050"/>
            <a:ext cx="95522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rgbClr val="7030A0"/>
                </a:solidFill>
              </a:rPr>
              <a:t>Our Published IEEE Paper :-</a:t>
            </a:r>
            <a:endParaRPr lang="en-US" sz="2000" b="1" i="1" dirty="0">
              <a:solidFill>
                <a:srgbClr val="7030A0"/>
              </a:solidFill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2000" b="1" dirty="0">
                <a:solidFill>
                  <a:srgbClr val="0070C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Enhancing Cybersecurity Education with Retrieval-Augmented Generation: A Virtual Teaching Assistant Approach | IEEE Conference Publication | IEEE Xplore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/>
              <a:t>https://ieeexplore.ieee.org/abstract/document/11547122</a:t>
            </a:r>
          </a:p>
        </p:txBody>
      </p:sp>
    </p:spTree>
    <p:extLst>
      <p:ext uri="{BB962C8B-B14F-4D97-AF65-F5344CB8AC3E}">
        <p14:creationId xmlns:p14="http://schemas.microsoft.com/office/powerpoint/2010/main" val="24906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FA2-6B09-DB14-AEED-42FD8481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0881-9EAA-5F54-9380-9ED5EFD4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3" y="247401"/>
            <a:ext cx="9601200" cy="1485900"/>
          </a:xfrm>
        </p:spPr>
        <p:txBody>
          <a:bodyPr/>
          <a:lstStyle/>
          <a:p>
            <a:r>
              <a:rPr lang="en-US" b="1" dirty="0"/>
              <a:t>Related Works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CE0AE9-9DCC-28DF-7760-40F85BB02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5243"/>
              </p:ext>
            </p:extLst>
          </p:nvPr>
        </p:nvGraphicFramePr>
        <p:xfrm>
          <a:off x="1130105" y="1254880"/>
          <a:ext cx="10771162" cy="55054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153">
                  <a:extLst>
                    <a:ext uri="{9D8B030D-6E8A-4147-A177-3AD203B41FA5}">
                      <a16:colId xmlns:a16="http://schemas.microsoft.com/office/drawing/2014/main" val="4210999579"/>
                    </a:ext>
                  </a:extLst>
                </a:gridCol>
                <a:gridCol w="7613589">
                  <a:extLst>
                    <a:ext uri="{9D8B030D-6E8A-4147-A177-3AD203B41FA5}">
                      <a16:colId xmlns:a16="http://schemas.microsoft.com/office/drawing/2014/main" val="3877193216"/>
                    </a:ext>
                  </a:extLst>
                </a:gridCol>
                <a:gridCol w="1480420">
                  <a:extLst>
                    <a:ext uri="{9D8B030D-6E8A-4147-A177-3AD203B41FA5}">
                      <a16:colId xmlns:a16="http://schemas.microsoft.com/office/drawing/2014/main" val="1976827173"/>
                    </a:ext>
                  </a:extLst>
                </a:gridCol>
              </a:tblGrid>
              <a:tr h="6036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058664"/>
                  </a:ext>
                </a:extLst>
              </a:tr>
              <a:tr h="13511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Cybersecurity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Increasing digital threats such as cyberbullying, scams, and harmful content.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Children are often unprotected due to limited supervision and lack of structured cybersecurity education.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Schools should include cybersecurity lessons, teacher training, and awareness programs.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et al. (2020)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103720"/>
                  </a:ext>
                </a:extLst>
              </a:tr>
              <a:tr h="10997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 in Cybersecurity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platforms like AWS provide scalable and hands-on cybersecurity labs.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activities like penetration testing and packet sniffing.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setup time, provides remote access, lowers costs, and improves student engagement.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Khaled et al. (2015)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490401"/>
                  </a:ext>
                </a:extLst>
              </a:tr>
              <a:tr h="10997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RAG Systems in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Models (LLMs) provide personalized and context-aware learning.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systems improve accuracy by using domain-specific knowledge sources.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better flexibility, scalability, and contextual understanding compared to intent-based chatbots.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Alsafari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(2024); Németh et al. (2024)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450409"/>
                  </a:ext>
                </a:extLst>
              </a:tr>
              <a:tr h="13511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Cybersecurity Learning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CyberMentor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provides personalized mentorship, skill development, and updated learning resources.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CyberRAG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improves answer reliability using cybersecurity knowledge graphs.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 evaluates a RAG-based virtual teaching assistant through real classroom deployment and student learning outcomes.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 (2025); Zhao et al. (2024)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494842"/>
                  </a:ext>
                </a:extLst>
              </a:tr>
            </a:tbl>
          </a:graphicData>
        </a:graphic>
      </p:graphicFrame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A9F3A2BC-5704-682C-16F7-23EE006132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390598-EFF6-9CAB-02B9-0E60A8E12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918" y="97675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9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204F-9C8D-C2E3-5F42-20F22672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9277"/>
            <a:ext cx="9601200" cy="1485900"/>
          </a:xfrm>
        </p:spPr>
        <p:txBody>
          <a:bodyPr/>
          <a:lstStyle/>
          <a:p>
            <a:r>
              <a:rPr lang="en-US" b="1" dirty="0"/>
              <a:t>Research Questions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9BF0-DF73-A15F-E7A4-935BE5B9E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49"/>
            <a:ext cx="10541977" cy="4142353"/>
          </a:xfrm>
        </p:spPr>
        <p:txBody>
          <a:bodyPr>
            <a:noAutofit/>
          </a:bodyPr>
          <a:lstStyle/>
          <a:p>
            <a:r>
              <a:rPr lang="en-US" sz="2400" i="1" dirty="0"/>
              <a:t>How frequently do students use the chatbot during the semester?</a:t>
            </a:r>
          </a:p>
          <a:p>
            <a:r>
              <a:rPr lang="en-US" sz="2400" i="1" dirty="0"/>
              <a:t>How do students rate the usefulness and accuracy of the chatbot?</a:t>
            </a:r>
          </a:p>
          <a:p>
            <a:r>
              <a:rPr lang="en-US" sz="2400" i="1" dirty="0"/>
              <a:t>How does the chatbot impact students' academic performance in the respective courses?</a:t>
            </a:r>
          </a:p>
          <a:p>
            <a:r>
              <a:rPr lang="en-US" sz="2400" i="1" dirty="0"/>
              <a:t>In what specific ways does the chatbot support student learning and engagement?</a:t>
            </a:r>
          </a:p>
          <a:p>
            <a:r>
              <a:rPr lang="en-US" sz="2400" i="1" dirty="0"/>
              <a:t>Do students recommend the chatbot for other course settings?</a:t>
            </a:r>
          </a:p>
          <a:p>
            <a:r>
              <a:rPr lang="en-US" sz="2400" i="1" dirty="0"/>
              <a:t>What is the overall level of student satisfaction with the chatbot?</a:t>
            </a:r>
          </a:p>
          <a:p>
            <a:r>
              <a:rPr lang="en-US" sz="2400" i="1" dirty="0"/>
              <a:t>What are the pros, cons, and recommended improvements for the chatbot?</a:t>
            </a:r>
          </a:p>
        </p:txBody>
      </p:sp>
      <p:grpSp>
        <p:nvGrpSpPr>
          <p:cNvPr id="4" name="Google Shape;93;p18">
            <a:extLst>
              <a:ext uri="{FF2B5EF4-FFF2-40B4-BE49-F238E27FC236}">
                <a16:creationId xmlns:a16="http://schemas.microsoft.com/office/drawing/2014/main" id="{13B3A741-E2AD-C9B0-1B95-0BF514ACA9F3}"/>
              </a:ext>
            </a:extLst>
          </p:cNvPr>
          <p:cNvGrpSpPr/>
          <p:nvPr/>
        </p:nvGrpSpPr>
        <p:grpSpPr>
          <a:xfrm>
            <a:off x="8901237" y="90962"/>
            <a:ext cx="3290763" cy="1189675"/>
            <a:chOff x="837550" y="656850"/>
            <a:chExt cx="7842475" cy="3254925"/>
          </a:xfrm>
        </p:grpSpPr>
        <p:sp>
          <p:nvSpPr>
            <p:cNvPr id="5" name="Google Shape;94;p18">
              <a:extLst>
                <a:ext uri="{FF2B5EF4-FFF2-40B4-BE49-F238E27FC236}">
                  <a16:creationId xmlns:a16="http://schemas.microsoft.com/office/drawing/2014/main" id="{680EEA3B-90AE-2504-69E6-7C49AFAC6AE2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6" name="Google Shape;95;p18" title="NAIRR Expansion Conference_RE lg.png">
              <a:extLst>
                <a:ext uri="{FF2B5EF4-FFF2-40B4-BE49-F238E27FC236}">
                  <a16:creationId xmlns:a16="http://schemas.microsoft.com/office/drawing/2014/main" id="{FBD56CAA-6620-6883-803E-AFCFEF68B1E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6870A17-A6BF-CB87-358A-684D6B4B47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9" y="5805127"/>
            <a:ext cx="2736850" cy="835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5D0CB1-3510-D19F-6DC4-22E23AA31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556" y="5676607"/>
            <a:ext cx="4566189" cy="109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5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C27CE-9F9B-0564-3A89-B666C72B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AABF-802B-229F-5E14-0C4B28527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54" y="825437"/>
            <a:ext cx="9601200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A7BEF-997A-987B-B539-B51B56F94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849" y="1651500"/>
            <a:ext cx="5022165" cy="5094719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GPT 4.1 + Retrieval-Augmented Generation (RAG) for accurate, context-aware responses.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Pinecone vector database stores and retrieves embeddings for fast and scalable search.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materials converted from PowerPoint → PDF → cleaned text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unnecessary text removed).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Chunking (50–75 words with similarity grouping) to maintain content coherence.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queries are converted into embeddings and matched to the top 5 relevant results to generate responses.</a:t>
            </a:r>
          </a:p>
        </p:txBody>
      </p:sp>
      <p:pic>
        <p:nvPicPr>
          <p:cNvPr id="5" name="Picture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23B960C0-FD88-AEE4-054B-4759063CDC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3798"/>
            <a:ext cx="5974080" cy="5404243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Google Shape;95;p18" title="NAIRR Expansion Conference_RE lg.png">
            <a:extLst>
              <a:ext uri="{FF2B5EF4-FFF2-40B4-BE49-F238E27FC236}">
                <a16:creationId xmlns:a16="http://schemas.microsoft.com/office/drawing/2014/main" id="{8A56C58A-95A2-ABFC-7F69-37DE9CF709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C1D895-A88B-E900-1234-0FFD89B94C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5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D45A0-FCD5-557D-8DDE-C34EBEFA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4BC2-8B39-EDA1-A0E9-31512868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29" y="694592"/>
            <a:ext cx="9601200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 1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B469064-A01B-E273-9189-801FDF8BBF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9037004"/>
              </p:ext>
            </p:extLst>
          </p:nvPr>
        </p:nvGraphicFramePr>
        <p:xfrm>
          <a:off x="5839429" y="881070"/>
          <a:ext cx="6103073" cy="2019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7593F45-4FFF-26E4-4E28-0547F7A88B3E}"/>
              </a:ext>
            </a:extLst>
          </p:cNvPr>
          <p:cNvSpPr txBox="1"/>
          <p:nvPr/>
        </p:nvSpPr>
        <p:spPr>
          <a:xfrm>
            <a:off x="918949" y="1674674"/>
            <a:ext cx="4590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sample size meets the threshold required to achieve a 90% confidence level with a margin of error of ±5%, ensuring that the results are statistically representative of the broader student population.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78.05% of participants reported utilizing the chatbot at least once during the semester, with 36.25% indicating weekly usage. 7.3% of the participants also reported using the chatbot daily </a:t>
            </a:r>
          </a:p>
        </p:txBody>
      </p:sp>
      <p:pic>
        <p:nvPicPr>
          <p:cNvPr id="12" name="Graphic 4">
            <a:extLst>
              <a:ext uri="{FF2B5EF4-FFF2-40B4-BE49-F238E27FC236}">
                <a16:creationId xmlns:a16="http://schemas.microsoft.com/office/drawing/2014/main" id="{23BB1203-D32D-5473-1E27-739CAA36B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7456" y="2708031"/>
            <a:ext cx="6442624" cy="4100010"/>
          </a:xfrm>
          <a:prstGeom prst="rect">
            <a:avLst/>
          </a:prstGeom>
        </p:spPr>
      </p:pic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71DC7237-3F8D-B47E-F5B8-CC5997600E7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4D06F-C8DD-892E-03D7-FF9F59067B5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9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FE7F-8915-3B69-4276-EBC08D90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BA03-AFD6-2242-F882-BD34273E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323" y="775690"/>
            <a:ext cx="9601200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FCF1A-45F6-3B0B-3EF9-506D28A83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453" y="1758462"/>
            <a:ext cx="3519055" cy="432384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two classes, average rating provided by user,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is usefulness, how useful did the student find using the chatbot (1-5), 5 being the most useful.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is accuracy, how accurate did the student feel about the responses generated by chatbot.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67159EB-6481-2FD0-B729-4B392791BA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538" y="1758462"/>
            <a:ext cx="7025054" cy="48616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Google Shape;95;p18" title="NAIRR Expansion Conference_RE lg.png">
            <a:extLst>
              <a:ext uri="{FF2B5EF4-FFF2-40B4-BE49-F238E27FC236}">
                <a16:creationId xmlns:a16="http://schemas.microsoft.com/office/drawing/2014/main" id="{B4203610-A49E-76CF-AA22-FBE718E2F6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8B0C24-656E-8960-E009-84AB6C3CEB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1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8825D-D48B-12F6-1B96-E53ED879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03E8-D8F9-8A2C-CE56-973BB894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49" y="685800"/>
            <a:ext cx="10053851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 3</a:t>
            </a: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77FF2C46-3044-8726-17CC-6D5383920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8716" y="1260765"/>
            <a:ext cx="6601363" cy="554727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6B226E-8C21-ABAD-2393-525314E47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08" y="1554559"/>
            <a:ext cx="4526683" cy="432384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the chatbot help your performance for the respective class?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MCY 620: </a:t>
            </a:r>
          </a:p>
          <a:p>
            <a:pPr marL="530352" lvl="1" indent="0" algn="just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- 55% of students reported that the chatbot improved their academic performance</a:t>
            </a:r>
          </a:p>
          <a:p>
            <a:pPr marL="530352" lvl="1" indent="0" algn="just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- 41% indicated no noticeable effect </a:t>
            </a:r>
          </a:p>
          <a:p>
            <a:pPr marL="530352" lvl="1" indent="0" algn="just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- 4% perceived a negative impact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MCY 660: </a:t>
            </a:r>
          </a:p>
          <a:p>
            <a:pPr marL="530352" lvl="1" indent="0" algn="just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- 38% of students reported that the chatbot enhanced their learning </a:t>
            </a:r>
          </a:p>
          <a:p>
            <a:pPr marL="530352" lvl="1" indent="0" algn="just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- 5% noted no significant effect </a:t>
            </a:r>
          </a:p>
          <a:p>
            <a:pPr marL="530352" lvl="1" indent="0" algn="just">
              <a:buNone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- 4% felt it hindered their performance</a:t>
            </a:r>
          </a:p>
        </p:txBody>
      </p:sp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F87EAC25-D504-C7F7-992B-847FE2EE09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FB79BB-DCC5-600C-9B27-E32DD7CB1C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2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EEA8-D783-0B31-AAC9-2B5D3C70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C31A-8BC9-0E61-CF35-4CC4EA30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323" y="685800"/>
            <a:ext cx="9970477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 4</a:t>
            </a:r>
          </a:p>
        </p:txBody>
      </p:sp>
      <p:pic>
        <p:nvPicPr>
          <p:cNvPr id="5" name="Graphic 9">
            <a:extLst>
              <a:ext uri="{FF2B5EF4-FFF2-40B4-BE49-F238E27FC236}">
                <a16:creationId xmlns:a16="http://schemas.microsoft.com/office/drawing/2014/main" id="{DBD90A94-E972-48AB-3F89-091BB85A0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8375" y="1310054"/>
            <a:ext cx="6271704" cy="531055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E5E303-639B-CB99-FC92-E1BAF7CD22E1}"/>
              </a:ext>
            </a:extLst>
          </p:cNvPr>
          <p:cNvSpPr txBox="1">
            <a:spLocks/>
          </p:cNvSpPr>
          <p:nvPr/>
        </p:nvSpPr>
        <p:spPr>
          <a:xfrm>
            <a:off x="782515" y="1781211"/>
            <a:ext cx="4932485" cy="4323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buFont typeface="+mj-lt"/>
              <a:buAutoNum type="arabicPeriod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provided consistent information.</a:t>
            </a:r>
          </a:p>
          <a:p>
            <a:pPr lvl="0" algn="just">
              <a:buFont typeface="+mj-lt"/>
              <a:buAutoNum type="arabicPeriod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gave easy-to-understand explanations and helped with finding resources for weekly discussions.</a:t>
            </a:r>
          </a:p>
          <a:p>
            <a:pPr lvl="0" algn="just">
              <a:buFont typeface="+mj-lt"/>
              <a:buAutoNum type="arabicPeriod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was a helpful reference for quiz questions (validation and cross-checking).</a:t>
            </a:r>
          </a:p>
          <a:p>
            <a:pPr lvl="0" algn="just">
              <a:buFont typeface="+mj-lt"/>
              <a:buAutoNum type="arabicPeriod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saved time compared to waiting for instructor responses.</a:t>
            </a:r>
          </a:p>
          <a:p>
            <a:pPr lvl="0" algn="just">
              <a:buFont typeface="+mj-lt"/>
              <a:buAutoNum type="arabicPeriod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served as a useful supplement to class materials and kept students engaged.</a:t>
            </a:r>
          </a:p>
          <a:p>
            <a:pPr lvl="0" algn="just">
              <a:buFont typeface="+mj-lt"/>
              <a:buAutoNum type="arabicPeriod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preferred using the chatbot over emailing a TA or instructor.</a:t>
            </a:r>
          </a:p>
        </p:txBody>
      </p:sp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099E9F3E-0EC4-AB86-28B2-CF963333A6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068FA9-7D1C-CB12-E359-9F08FB84B5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7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F3B5-D992-CDAD-F24E-D6B2065D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CFEC-5C2D-163F-E3BF-F88696BB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187" y="685800"/>
            <a:ext cx="9945613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 5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B38F624-5E8C-9BA4-6CDC-E1B4B3B71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2346" y="2865665"/>
            <a:ext cx="5607733" cy="3942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29B7E8-BA50-3BF1-78A1-3DB061C76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063" y="2865665"/>
            <a:ext cx="5431887" cy="3942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9403B5-24A1-C105-430A-3933F89E9359}"/>
              </a:ext>
            </a:extLst>
          </p:cNvPr>
          <p:cNvSpPr txBox="1"/>
          <p:nvPr/>
        </p:nvSpPr>
        <p:spPr>
          <a:xfrm>
            <a:off x="1027187" y="1544612"/>
            <a:ext cx="517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the students recommended the chatbot for other course settings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didn’t recommend the chatbot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4DE6EF-18E9-D03E-4006-BD026D1F9051}"/>
              </a:ext>
            </a:extLst>
          </p:cNvPr>
          <p:cNvSpPr txBox="1"/>
          <p:nvPr/>
        </p:nvSpPr>
        <p:spPr>
          <a:xfrm>
            <a:off x="6802517" y="1234449"/>
            <a:ext cx="51770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51% of students on average reported being somewhat or extremely satisfied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of students on average remained neutral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19% expressed some level of dissatisfaction on average between the two courses</a:t>
            </a:r>
          </a:p>
        </p:txBody>
      </p:sp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7396BCED-0391-8B01-CAAC-B1A35EEE1B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CC2E9-53F7-30AF-B05F-56DD6E629D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1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B4A2A-2166-AF9E-8913-E67981CD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AAF5-3E30-3924-177F-4A63041A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801" y="709760"/>
            <a:ext cx="9601200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 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149897-CE09-0706-8994-6D43F838A6AD}"/>
              </a:ext>
            </a:extLst>
          </p:cNvPr>
          <p:cNvSpPr txBox="1">
            <a:spLocks/>
          </p:cNvSpPr>
          <p:nvPr/>
        </p:nvSpPr>
        <p:spPr>
          <a:xfrm>
            <a:off x="1077801" y="1660867"/>
            <a:ext cx="5495366" cy="4323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10">
            <a:extLst>
              <a:ext uri="{FF2B5EF4-FFF2-40B4-BE49-F238E27FC236}">
                <a16:creationId xmlns:a16="http://schemas.microsoft.com/office/drawing/2014/main" id="{AD027644-59EC-6F3E-BC4F-31727AB9D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8343" y="1228266"/>
            <a:ext cx="4805765" cy="2660847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BEC14AE8-90CB-FA12-B8E0-AB70BFE85C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8343" y="3941630"/>
            <a:ext cx="4805765" cy="286641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D78D64D-A84A-F8D5-E1CC-F1C95879C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8" y="1638299"/>
            <a:ext cx="5495365" cy="497351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use, quick answers, and clear explanations, timely references and discussion post aid, exam prep, assignments, and module-specific clarifications.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inaccurate or vague answers, difficulty handling complex or course-specific questions, and responses that were too general.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classroom software and the need for better error handling.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wanted more accurate, detailed answers, practical examples, interactive features, better course integration, improved formatting, and tools for tracking conversations to better support studying and assignments.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EAB1E561-AA32-8086-38C7-B559CCC2C2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F58C51-D395-4236-8AED-8C66F5C68A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8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4C24-3C33-8756-5DE6-9D1B8BD0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5777-8A22-981B-16AF-0D71FE6C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569" y="685800"/>
            <a:ext cx="10023231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Modelling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BBCA-2804-66EC-528E-2580C8092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638300"/>
            <a:ext cx="5372100" cy="358140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Dirichlet Allocation (LDA) helps categorize the student chats with the chatbot without any influence of external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between 5 and 30 clusters ( coherence scores: -19.45 vs. -19.575).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LDA model grouped the student chatbot conversations into 5 distinct topics/themes based on patterns of words that frequently appear together.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12">
            <a:extLst>
              <a:ext uri="{FF2B5EF4-FFF2-40B4-BE49-F238E27FC236}">
                <a16:creationId xmlns:a16="http://schemas.microsoft.com/office/drawing/2014/main" id="{18EF5ED4-9B08-76E3-EA3A-E841CE5E6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8420" y="1219200"/>
            <a:ext cx="5661659" cy="442546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91E6C0-C35C-A326-B673-70B36BEF6D60}"/>
              </a:ext>
            </a:extLst>
          </p:cNvPr>
          <p:cNvSpPr txBox="1">
            <a:spLocks/>
          </p:cNvSpPr>
          <p:nvPr/>
        </p:nvSpPr>
        <p:spPr>
          <a:xfrm>
            <a:off x="870438" y="5806439"/>
            <a:ext cx="10744200" cy="1051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5-topic model produced the most interpretable topics compared to other cluster counts.</a:t>
            </a:r>
          </a:p>
        </p:txBody>
      </p:sp>
      <p:pic>
        <p:nvPicPr>
          <p:cNvPr id="7" name="Google Shape;95;p18" title="NAIRR Expansion Conference_RE lg.png">
            <a:extLst>
              <a:ext uri="{FF2B5EF4-FFF2-40B4-BE49-F238E27FC236}">
                <a16:creationId xmlns:a16="http://schemas.microsoft.com/office/drawing/2014/main" id="{30CF5B1F-5B18-0778-24E2-2DC060726B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C61C88-5DD5-6F8C-AF0B-D3FA1F2EF8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57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74F5-6558-287D-8FBC-C56A980D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0DD0-6F92-8A79-5413-EA60CB4A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92" y="262892"/>
            <a:ext cx="9920208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Modelling 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1C762-0014-EF49-28D6-87849744C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04705"/>
              </p:ext>
            </p:extLst>
          </p:nvPr>
        </p:nvGraphicFramePr>
        <p:xfrm>
          <a:off x="1212214" y="1660591"/>
          <a:ext cx="10363103" cy="501512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6676244">
                  <a:extLst>
                    <a:ext uri="{9D8B030D-6E8A-4147-A177-3AD203B41FA5}">
                      <a16:colId xmlns:a16="http://schemas.microsoft.com/office/drawing/2014/main" val="3604354457"/>
                    </a:ext>
                  </a:extLst>
                </a:gridCol>
                <a:gridCol w="2222696">
                  <a:extLst>
                    <a:ext uri="{9D8B030D-6E8A-4147-A177-3AD203B41FA5}">
                      <a16:colId xmlns:a16="http://schemas.microsoft.com/office/drawing/2014/main" val="461436251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328898164"/>
                    </a:ext>
                  </a:extLst>
                </a:gridCol>
              </a:tblGrid>
              <a:tr h="41240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Words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Topic Title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4667133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</a:t>
                      </a: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bcp</a:t>
                      </a: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'risk', 'common', 'involving', 'scenario', 'describe', 'real', 'world', 'occur', 'addressing', 'mistake', 'give', 'example', 'assessment', 'page']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 Risk Scenarios and BCP Mistakes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18.9%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7789912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['risk', 'example', 'assessment', 'give', 'related', 'control', 'lab', 'compare', 'contrast', 'concept', 'important', 'course', 'used', 'mitigation', 'threat']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Comparing Risk Control and Mitigation Concepts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22.4%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9204999"/>
                  </a:ext>
                </a:extLst>
              </a:tr>
              <a:tr h="10310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['assessment', 'bcp', 'bia', 'included', 'impact', 'analysis', 'need', 'risk', 'control', 'report', 'critical', 'important', 'include', 'scope', 'business']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 and BCP Integration in Risk Assessment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16.6%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1530546"/>
                  </a:ext>
                </a:extLst>
              </a:tr>
              <a:tr h="10310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['risk', 'assessment', 'control', 'management', ‘exams, 'measure', 'effectiveness', 'objective', 'module', 'relate', 'asset', 'office', 'hour', 'important', 'vulnerability']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Measuring Risk Management Effectiveness and Asset Vulnerability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22.2%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1554652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['purpose', 'risk', 'phase', 'explain', 'list', 'business', 'objective', 'critical', 'mitigation', 'function', 'control', 'example', 'key', 'relate', 'recovery']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Phases and Purpose of Risk Mitigation in Business Recovery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19.9%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41047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7BC2696-E847-F223-3DF7-88719E47E228}"/>
              </a:ext>
            </a:extLst>
          </p:cNvPr>
          <p:cNvSpPr txBox="1"/>
          <p:nvPr/>
        </p:nvSpPr>
        <p:spPr>
          <a:xfrm>
            <a:off x="1433661" y="1233504"/>
            <a:ext cx="9920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  <a:buNone/>
            </a:pPr>
            <a:r>
              <a:rPr lang="en-US" sz="1800" b="1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Table 1: LDA Results showing common words in each topic cluster of user input for Course MCY 660</a:t>
            </a:r>
          </a:p>
        </p:txBody>
      </p:sp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395FCE8B-23FF-B07E-B20F-AED381F69F4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22E932-05F8-ECBE-22B8-2DF02C93A3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7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04CF-4382-B677-EEE2-1FE377B9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F790-0988-B49C-77C5-B423F6420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154" y="262892"/>
            <a:ext cx="10005646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Modelling 3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507F18-A059-AC4D-912E-A8FFC9D6F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168885"/>
              </p:ext>
            </p:extLst>
          </p:nvPr>
        </p:nvGraphicFramePr>
        <p:xfrm>
          <a:off x="1212214" y="1559039"/>
          <a:ext cx="10363103" cy="509940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6676244">
                  <a:extLst>
                    <a:ext uri="{9D8B030D-6E8A-4147-A177-3AD203B41FA5}">
                      <a16:colId xmlns:a16="http://schemas.microsoft.com/office/drawing/2014/main" val="3604354457"/>
                    </a:ext>
                  </a:extLst>
                </a:gridCol>
                <a:gridCol w="2222696">
                  <a:extLst>
                    <a:ext uri="{9D8B030D-6E8A-4147-A177-3AD203B41FA5}">
                      <a16:colId xmlns:a16="http://schemas.microsoft.com/office/drawing/2014/main" val="461436251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328898164"/>
                    </a:ext>
                  </a:extLst>
                </a:gridCol>
              </a:tblGrid>
              <a:tr h="41240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Words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Topic Title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4667133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['privacy', 'data', 'personal', 'processing', 'consent', 'gdpr', 'individual', 'rights', 'controller', 'lawful', 'basis', 'example', 'give', 'important', 'compliance']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GDPR Personal Data Processing and Individual Rights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17.2%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7789912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['privacy', 'design', 'engineering', 'technical', 'control', 'security', grades, 'implementation', 'architecture', 'embed', 'feature', 'capability', 'management', 'process', 'deploy']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Privacy by Design and Privacy Engineering Implementation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19.3%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9204999"/>
                  </a:ext>
                </a:extLst>
              </a:tr>
              <a:tr h="10310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['data', 'anonymization', 'identification', 'dataset', 'algorithm', 'attack', 'threat', 'vulnerability', 'processing', 'collection', 'storage', 'access', 'dissemination', 'risk', 'breach']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Anonymization Techniques and Privacy Threat Analysis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22.6%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1530546"/>
                  </a:ext>
                </a:extLst>
              </a:tr>
              <a:tr h="10310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['privacy', 'education', 'training', 'awareness', 'culture', 'staff', 'organizational', 'employee', 'stakeholder', 'responsibility', 'duty', 'program', 'learning', 'knowledge', 'understanding']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Privacy Education and Organizational Awareness Programs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21.3%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1554652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['online', 'privacy', 'internet', 'cloud', 'computing', 'iot', 'database', grades, 'prevention', 'surveillance', exams, 'domain', 'application', 'digital', 'platform']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Online Privacy and Emerging Technology Challenges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19.6%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41047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82B4B34-310D-81B2-3915-8D656807E83F}"/>
              </a:ext>
            </a:extLst>
          </p:cNvPr>
          <p:cNvSpPr txBox="1"/>
          <p:nvPr/>
        </p:nvSpPr>
        <p:spPr>
          <a:xfrm>
            <a:off x="1433661" y="1147876"/>
            <a:ext cx="9920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b="1" i="1" dirty="0">
                <a:solidFill>
                  <a:srgbClr val="44546A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Table 2: LDA Results showing common words in each topic cluster of user input for Course MCY 620</a:t>
            </a:r>
            <a:endParaRPr lang="en-US" sz="1800" b="1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3" name="Google Shape;95;p18" title="NAIRR Expansion Conference_RE lg.png">
            <a:extLst>
              <a:ext uri="{FF2B5EF4-FFF2-40B4-BE49-F238E27FC236}">
                <a16:creationId xmlns:a16="http://schemas.microsoft.com/office/drawing/2014/main" id="{3B46E19D-1C40-38FF-6D4F-7BA597D3B6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0DEAA6-5D71-497F-646F-F52E6AE3F1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3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A61AB-0A2D-5E1D-98B3-F834BB67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C4E2-42BB-2602-9E1F-3B71898BC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99313"/>
            <a:ext cx="9601200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Summary &amp;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4DB6-0629-8A1E-E168-70BFCD221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144" y="1863969"/>
            <a:ext cx="10605247" cy="454079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- a novel first of its kind experimental study with online graduate cybersecurity classes demonstrates that a Retrieval‑Augmented Generation (RAG)–based virtual teaching assistant can effectively address scalability and support challenges in graduate‑level cybersecurity education.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results indicate that the chatbot functioned best as a supplementary learning tool, supporting quizzes, discussions, assignments, and exam preparation, while not replacing instructor guidance.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modeling (LDA) revealed that student interactions focused on core learning objectives, including risk assessment, real‑world cybersecurity scenarios, privacy compliance, and applied conceptual understanding.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limitations such as occasional inaccuracies and general responses, the findings highlight strong potential for RAG‑powered teaching assistants, with future improvements needed in course integration, accuracy, and adaptive personalization.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improvements/enhancements include usage of multimodal data (textual, images &amp; media contents), and more extensive training with larger topic-specific data sets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18" title="NAIRR Expansion Conference_RE lg.png">
            <a:extLst>
              <a:ext uri="{FF2B5EF4-FFF2-40B4-BE49-F238E27FC236}">
                <a16:creationId xmlns:a16="http://schemas.microsoft.com/office/drawing/2014/main" id="{2DE006A6-4AEB-773C-972E-E554DE2C85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083" r="7185"/>
          <a:stretch/>
        </p:blipFill>
        <p:spPr>
          <a:xfrm>
            <a:off x="8581426" y="0"/>
            <a:ext cx="3488653" cy="1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7CE3FB-0CDA-5E41-99E5-516694F9F3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55" y="49959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9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6584-F69B-51F4-22F2-2D8D7245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59343A-147E-EAD6-27DD-F12F2740B1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364" y="2441105"/>
            <a:ext cx="5881118" cy="95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91D4546-A5D8-EC2B-28C5-CC5858F5B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592" y="3420872"/>
            <a:ext cx="3437128" cy="343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044A1E8-B641-5F1F-898C-D16B21A46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979" y="-518935"/>
            <a:ext cx="3422011" cy="343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B2E8EB-C94A-F2BA-C71B-6324FEEFB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204" y="2487955"/>
            <a:ext cx="4384540" cy="974763"/>
          </a:xfrm>
          <a:prstGeom prst="rect">
            <a:avLst/>
          </a:prstGeom>
        </p:spPr>
      </p:pic>
      <p:grpSp>
        <p:nvGrpSpPr>
          <p:cNvPr id="4" name="Google Shape;75;p15">
            <a:extLst>
              <a:ext uri="{FF2B5EF4-FFF2-40B4-BE49-F238E27FC236}">
                <a16:creationId xmlns:a16="http://schemas.microsoft.com/office/drawing/2014/main" id="{8EAA8F10-3DF2-339C-8873-DEA1EF3C7523}"/>
              </a:ext>
            </a:extLst>
          </p:cNvPr>
          <p:cNvGrpSpPr/>
          <p:nvPr/>
        </p:nvGrpSpPr>
        <p:grpSpPr>
          <a:xfrm>
            <a:off x="777894" y="3511973"/>
            <a:ext cx="7842475" cy="3254925"/>
            <a:chOff x="837550" y="656850"/>
            <a:chExt cx="7842475" cy="3254925"/>
          </a:xfrm>
        </p:grpSpPr>
        <p:sp>
          <p:nvSpPr>
            <p:cNvPr id="5" name="Google Shape;76;p15">
              <a:extLst>
                <a:ext uri="{FF2B5EF4-FFF2-40B4-BE49-F238E27FC236}">
                  <a16:creationId xmlns:a16="http://schemas.microsoft.com/office/drawing/2014/main" id="{EF6C0A08-CC3F-29F8-068B-C4F2BEEAD605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" name="Google Shape;77;p15" title="NAIRR Expansion Conference_RE lg.png">
              <a:extLst>
                <a:ext uri="{FF2B5EF4-FFF2-40B4-BE49-F238E27FC236}">
                  <a16:creationId xmlns:a16="http://schemas.microsoft.com/office/drawing/2014/main" id="{5C1F190C-4AB2-D44B-4E07-63008AC7D0B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81BC14D-33AA-564A-0C75-C9616594633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7" y="1471377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84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3CFD6553-FC1D-4804-B596-41E676D6A465}"/>
              </a:ext>
            </a:extLst>
          </p:cNvPr>
          <p:cNvSpPr txBox="1">
            <a:spLocks noChangeArrowheads="1"/>
          </p:cNvSpPr>
          <p:nvPr/>
        </p:nvSpPr>
        <p:spPr>
          <a:xfrm>
            <a:off x="904355" y="3429000"/>
            <a:ext cx="10579084" cy="30088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Thanks for attending this presentation &amp; for listening!</a:t>
            </a:r>
          </a:p>
          <a:p>
            <a:pPr algn="ctr"/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Any Questions and/or Comments? </a:t>
            </a:r>
          </a:p>
          <a:p>
            <a:pPr algn="ctr"/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3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&lt;Email: chattopada1@nku.edu&gt;</a:t>
            </a:r>
          </a:p>
        </p:txBody>
      </p:sp>
      <p:pic>
        <p:nvPicPr>
          <p:cNvPr id="12" name="Picture 7" descr="questions_the_show_logo.gif">
            <a:extLst>
              <a:ext uri="{FF2B5EF4-FFF2-40B4-BE49-F238E27FC236}">
                <a16:creationId xmlns:a16="http://schemas.microsoft.com/office/drawing/2014/main" id="{A124E294-92B9-4B07-BED8-7B68AAEF7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0" y="420188"/>
            <a:ext cx="2733305" cy="292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9018AE-4349-0F5C-CD8C-B3282331EC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927" y="1182550"/>
            <a:ext cx="2736850" cy="8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0775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1551</TotalTime>
  <Words>1863</Words>
  <Application>Microsoft Office PowerPoint</Application>
  <PresentationFormat>Widescreen</PresentationFormat>
  <Paragraphs>165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Franklin Gothic Book</vt:lpstr>
      <vt:lpstr>Times New Roman</vt:lpstr>
      <vt:lpstr>Crop</vt:lpstr>
      <vt:lpstr>Enhancing Cybersecurity Education with Retrieval Augmented Generation: A Virtual Teaching Assistant Approach  </vt:lpstr>
      <vt:lpstr>Introduction</vt:lpstr>
      <vt:lpstr>Novelty and Motivation</vt:lpstr>
      <vt:lpstr>Related Works</vt:lpstr>
      <vt:lpstr>Research Questions Of Interest</vt:lpstr>
      <vt:lpstr>Chatbot Development</vt:lpstr>
      <vt:lpstr>Survey Findings 1</vt:lpstr>
      <vt:lpstr>Survey Findings 2</vt:lpstr>
      <vt:lpstr>Survey Findings 3</vt:lpstr>
      <vt:lpstr>Survey Findings 4</vt:lpstr>
      <vt:lpstr>Survey Findings 5</vt:lpstr>
      <vt:lpstr>Survey Findings 6</vt:lpstr>
      <vt:lpstr>Topic Modelling 1</vt:lpstr>
      <vt:lpstr>Topic Modelling 2</vt:lpstr>
      <vt:lpstr>Topic Modelling 3</vt:lpstr>
      <vt:lpstr>Overall Summary &amp; Discussions</vt:lpstr>
      <vt:lpstr>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Gaurab Baral; Ankur Chatterjee</dc:creator>
  <cp:lastModifiedBy>Ankur Chattopadhyay</cp:lastModifiedBy>
  <cp:revision>20</cp:revision>
  <dcterms:created xsi:type="dcterms:W3CDTF">2026-02-05T23:23:56Z</dcterms:created>
  <dcterms:modified xsi:type="dcterms:W3CDTF">2026-06-17T20:05:23Z</dcterms:modified>
</cp:coreProperties>
</file>