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6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6858000" cx="12192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hgYRrjezrZAEQcR21saMT5P6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4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db8eafbb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db8eafb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db8eafbbb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db8eafbb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1E22A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12" name="Google Shape;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A PPT_Cover.png" id="13" name="Google Shape;1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">
    <p:bg>
      <p:bgPr>
        <a:solidFill>
          <a:srgbClr val="1E22A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17" name="Google Shape;1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9"/>
          <p:cNvSpPr txBox="1"/>
          <p:nvPr>
            <p:ph idx="1" type="subTitle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i="1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blue square with a white logo  Description automatically generated" id="20" name="Google Shape;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a white letter f on it  Description automatically generated" id="21" name="Google Shape;2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white letters on it  Description automatically generated" id="22" name="Google Shape;2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utterfly in a blue circle  AI-generated content may be incorrect." id="23" name="Google Shape;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  AI-generated content may be incorrect." id="24" name="Google Shape;2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Logo - Blank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Logo 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" name="Google Shape;29;p2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0" name="Google Shape;30;p21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21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b="0" i="0"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2" name="Google Shape;32;p21"/>
          <p:cNvSpPr txBox="1"/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 2">
    <p:bg>
      <p:bgPr>
        <a:solidFill>
          <a:srgbClr val="1E22A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35" name="Google Shape;3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A PPT_Cover.png" id="36" name="Google Shape;36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 txBox="1"/>
          <p:nvPr>
            <p:ph idx="1" type="subTitle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1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3">
            <a:alphaModFix/>
          </a:blip>
          <a:srcRect b="0" l="6397" r="6397" t="0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  Description automatically generated" id="41" name="Google Shape;4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3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 2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  Description automatically generated" id="45" name="Google Shape;4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4"/>
          <p:cNvSpPr txBox="1"/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  Description automatically generated" id="53" name="Google Shape;5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6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 2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  Description automatically generated" id="57" name="Google Shape;5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5"/>
          <p:cNvSpPr txBox="1"/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No logo - Two tables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1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6" name="Google Shape;66;p1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1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b="0" i="0"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8" name="Google Shape;68;p18"/>
          <p:cNvSpPr txBox="1"/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No logo - Empt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10" Type="http://schemas.openxmlformats.org/officeDocument/2006/relationships/theme" Target="../theme/theme4.xml"/><Relationship Id="rId9" Type="http://schemas.openxmlformats.org/officeDocument/2006/relationships/slideLayout" Target="../slideLayouts/slideLayout7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6" name="Google Shape;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3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" name="Google Shape;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48" name="Google Shape;48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5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3"/>
    <p:sldLayoutId id="214748365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60" name="Google Shape;60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7"/>
          <p:cNvSpPr txBox="1"/>
          <p:nvPr>
            <p:ph type="title"/>
          </p:nvPr>
        </p:nvSpPr>
        <p:spPr>
          <a:xfrm>
            <a:off x="609600" y="383886"/>
            <a:ext cx="10972800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"/>
          <p:cNvGrpSpPr/>
          <p:nvPr/>
        </p:nvGrpSpPr>
        <p:grpSpPr>
          <a:xfrm>
            <a:off x="285525" y="618775"/>
            <a:ext cx="7842475" cy="3254925"/>
            <a:chOff x="837550" y="656850"/>
            <a:chExt cx="7842475" cy="3254925"/>
          </a:xfrm>
        </p:grpSpPr>
        <p:sp>
          <p:nvSpPr>
            <p:cNvPr id="76" name="Google Shape;76;p1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7" name="Google Shape;77;p1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b="0" l="8083" r="7185" t="0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1"/>
          <p:cNvSpPr txBox="1"/>
          <p:nvPr/>
        </p:nvSpPr>
        <p:spPr>
          <a:xfrm>
            <a:off x="609600" y="4050000"/>
            <a:ext cx="109728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9" name="Google Shape;79;p1"/>
          <p:cNvSpPr txBox="1"/>
          <p:nvPr/>
        </p:nvSpPr>
        <p:spPr>
          <a:xfrm>
            <a:off x="609600" y="5500000"/>
            <a:ext cx="10972800" cy="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db8eafbbb_1_0"/>
          <p:cNvSpPr txBox="1"/>
          <p:nvPr>
            <p:ph idx="1" type="subTitle"/>
          </p:nvPr>
        </p:nvSpPr>
        <p:spPr>
          <a:xfrm>
            <a:off x="391043" y="3268046"/>
            <a:ext cx="7153500" cy="84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2400">
                <a:solidFill>
                  <a:srgbClr val="333333"/>
                </a:solidFill>
              </a:rPr>
              <a:t>Kamalamalini Nagasundaram</a:t>
            </a:r>
            <a:endParaRPr b="1" i="0" sz="2400">
              <a:solidFill>
                <a:srgbClr val="333333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0" lang="en-US" sz="2200">
                <a:solidFill>
                  <a:srgbClr val="555555"/>
                </a:solidFill>
              </a:rPr>
              <a:t>Portland State University  |  NAIRR Expansion Conference  |  Orlando, FL</a:t>
            </a:r>
            <a:endParaRPr i="0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</p:txBody>
      </p:sp>
      <p:sp>
        <p:nvSpPr>
          <p:cNvPr id="85" name="Google Shape;85;g3edb8eafbbb_1_0"/>
          <p:cNvSpPr txBox="1"/>
          <p:nvPr>
            <p:ph type="ctrTitle"/>
          </p:nvPr>
        </p:nvSpPr>
        <p:spPr>
          <a:xfrm>
            <a:off x="391050" y="1759052"/>
            <a:ext cx="8187300" cy="150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1E22AA"/>
                </a:solidFill>
              </a:rPr>
              <a:t>Teaching AI Where It's Hardest: Deploying LLM-Based Tutors in Rural and Resource-Constrained Settings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Problem: Rural CS Education at Scale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rural K-12 schools have no dedicated CS or programming instructor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 connectivity is unreliable: satellite, throttled, or absent during peak hours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institutional HPC; most cloud-based AI tools require persistent high-bandwidth access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 AI education tools assume infrastructure that does not exist in these settings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result is a compounding gap: underserved students lack access to the tools most likely to help them</a:t>
            </a:r>
            <a:endParaRPr sz="3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Talk: Three Interconnected Problems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1" lang="en-US" sz="22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Evaluation: </a:t>
            </a: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you measure whether an LLM tutor is pedagogically effective, not just fluent?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1" lang="en-US" sz="22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Infrastructure: </a:t>
            </a: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you run an LLM-based tutor when internet connectivity is unreliable?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1" lang="en-US" sz="22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NAIRR: </a:t>
            </a: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does shared compute fit in a resource-constrained deployment pipeline?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Context: Ongoing research and proposed grant project, targeting rural Oregon secondary schools with no dedicated programming instructors. Goal: a complete, replicable approach to AI-assisted CS instruction in constrained environments.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LLM-Based Coding Tutor System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Students submit code; the tutor identifies errors and generates instructional responses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Designed for settings where the AI may be the only instructional resource available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population: rural Oregon secondary students with no dedicated CS instructor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constraint: must function without persistent cloud access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Architecture: cloud inference when available; edge inference on low-cost embedded hardware as fallback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Research question: Can a constrained-resource tutor deliver pedagogically sound instruction at scale?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Evaluation is Hard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Standard LLM benchmarks measure fluency, coherence, or factual accuracy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These are not the right metrics for a coding tutor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tutor can produce fluent, confident, grammatically correct output that is pedagogically wrong. What must be measured: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600"/>
          </a:p>
          <a:p>
            <a:pPr indent="-2540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800"/>
              <a:buChar char="•"/>
            </a:pPr>
            <a:r>
              <a:rPr b="1" lang="en-US" sz="22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Error identification: </a:t>
            </a: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Did the system correctly identify the student's error?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6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22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Generating the right answer for the wrong pedagogical reason is not acceptable when the AI is the primary instructional resource.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609663" y="1303138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</a:t>
            </a:r>
            <a:r>
              <a:rPr b="1" lang="en-US" sz="2000">
                <a:solidFill>
                  <a:srgbClr val="1E22AA"/>
                </a:solidFill>
              </a:rPr>
              <a:t>wo</a:t>
            </a:r>
            <a:r>
              <a:rPr b="1" lang="en-US" sz="20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Dimensions</a:t>
            </a:r>
            <a:endParaRPr/>
          </a:p>
        </p:txBody>
      </p:sp>
      <p:sp>
        <p:nvSpPr>
          <p:cNvPr id="115" name="Google Shape;115;p6"/>
          <p:cNvSpPr txBox="1"/>
          <p:nvPr>
            <p:ph idx="2" type="body"/>
          </p:nvPr>
        </p:nvSpPr>
        <p:spPr>
          <a:xfrm>
            <a:off x="609663" y="2508350"/>
            <a:ext cx="5386800" cy="28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</a:pPr>
            <a:r>
              <a:rPr lang="en-US" sz="2000">
                <a:solidFill>
                  <a:srgbClr val="333333"/>
                </a:solidFill>
              </a:rPr>
              <a:t>Error Identification - Does the response correctly name what the student did wrong? </a:t>
            </a:r>
            <a:endParaRPr sz="2000">
              <a:solidFill>
                <a:srgbClr val="333333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33333"/>
              </a:solidFill>
            </a:endParaRPr>
          </a:p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</a:pPr>
            <a:r>
              <a:rPr lang="en-US" sz="2000">
                <a:solidFill>
                  <a:srgbClr val="333333"/>
                </a:solidFill>
              </a:rPr>
              <a:t> Response Appropriateness - Is the explanation calibrated to the student level and instructional context? </a:t>
            </a:r>
            <a:endParaRPr sz="2700"/>
          </a:p>
        </p:txBody>
      </p:sp>
      <p:sp>
        <p:nvSpPr>
          <p:cNvPr id="116" name="Google Shape;116;p6"/>
          <p:cNvSpPr txBox="1"/>
          <p:nvPr>
            <p:ph idx="3" type="body"/>
          </p:nvPr>
        </p:nvSpPr>
        <p:spPr>
          <a:xfrm>
            <a:off x="6193430" y="1304901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Validation Approach</a:t>
            </a:r>
            <a:endParaRPr/>
          </a:p>
        </p:txBody>
      </p:sp>
      <p:sp>
        <p:nvSpPr>
          <p:cNvPr id="117" name="Google Shape;117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900">
                <a:solidFill>
                  <a:srgbClr val="333333"/>
                </a:solidFill>
              </a:rPr>
              <a:t>Each LLM tutor response is rated on both dimensions independently</a:t>
            </a:r>
            <a:endParaRPr sz="1900">
              <a:solidFill>
                <a:srgbClr val="333333"/>
              </a:solidFill>
            </a:endParaRPr>
          </a:p>
          <a:p>
            <a:pPr indent="-241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900">
                <a:solidFill>
                  <a:srgbClr val="333333"/>
                </a:solidFill>
              </a:rPr>
              <a:t>Human annotators apply the rubric to real submission-response pairs</a:t>
            </a:r>
            <a:endParaRPr sz="1900">
              <a:solidFill>
                <a:srgbClr val="333333"/>
              </a:solidFill>
            </a:endParaRPr>
          </a:p>
          <a:p>
            <a:pPr indent="-241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900">
                <a:solidFill>
                  <a:srgbClr val="333333"/>
                </a:solidFill>
              </a:rPr>
              <a:t>Inter-rater agreement is computed to establish rubric reliability before use</a:t>
            </a:r>
            <a:endParaRPr sz="1900">
              <a:solidFill>
                <a:srgbClr val="333333"/>
              </a:solidFill>
            </a:endParaRPr>
          </a:p>
          <a:p>
            <a:pPr indent="-241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900">
                <a:solidFill>
                  <a:srgbClr val="333333"/>
                </a:solidFill>
              </a:rPr>
              <a:t>Enables systematic pre-deployment auditing: catch pedagogically unsound responses before students encounter them </a:t>
            </a:r>
            <a:endParaRPr sz="1900">
              <a:solidFill>
                <a:srgbClr val="333333"/>
              </a:solidFill>
            </a:endParaRPr>
          </a:p>
          <a:p>
            <a:pPr indent="-241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900">
                <a:solidFill>
                  <a:srgbClr val="333333"/>
                </a:solidFill>
              </a:rPr>
              <a:t>Designed to be replicable across institutions and deployment contexts </a:t>
            </a:r>
            <a:endParaRPr sz="2600"/>
          </a:p>
        </p:txBody>
      </p:sp>
      <p:sp>
        <p:nvSpPr>
          <p:cNvPr id="118" name="Google Shape;118;p6"/>
          <p:cNvSpPr txBox="1"/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Pedagogical Quality Framework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Annotation Study: Key Results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03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US" sz="23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1" lang="en-US" sz="23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ataset: </a:t>
            </a:r>
            <a:r>
              <a:rPr lang="en-US" sz="2300">
                <a:solidFill>
                  <a:srgbClr val="333333"/>
                </a:solidFill>
              </a:rPr>
              <a:t>Dataset: Student code submissions from introductory programming courses, paired with LLM tutor responses </a:t>
            </a:r>
            <a:endParaRPr sz="2300">
              <a:solidFill>
                <a:srgbClr val="333333"/>
              </a:solidFill>
            </a:endParaRPr>
          </a:p>
          <a:p>
            <a:pPr indent="-2603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b="1" lang="en-US" sz="23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Task: </a:t>
            </a:r>
            <a:r>
              <a:rPr lang="en-US" sz="2300">
                <a:solidFill>
                  <a:srgbClr val="333333"/>
                </a:solidFill>
              </a:rPr>
              <a:t>Each submission-response pair is evaluated on error identification and response appropriateness </a:t>
            </a:r>
            <a:endParaRPr sz="3700"/>
          </a:p>
          <a:p>
            <a:pPr indent="-2603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900"/>
              <a:buChar char="•"/>
            </a:pPr>
            <a:r>
              <a:rPr b="1" lang="en-US" sz="2300">
                <a:solidFill>
                  <a:srgbClr val="1E22AA"/>
                </a:solidFill>
              </a:rPr>
              <a:t>Reliability check: </a:t>
            </a:r>
            <a:r>
              <a:rPr lang="en-US" sz="2300">
                <a:solidFill>
                  <a:srgbClr val="333333"/>
                </a:solidFill>
              </a:rPr>
              <a:t>Inter-annotator agreement computed using Cohen's kappa to establish rubric reliability before deployment.</a:t>
            </a:r>
            <a:endParaRPr sz="37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3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7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300">
                <a:solidFill>
                  <a:srgbClr val="333333"/>
                </a:solidFill>
              </a:rPr>
              <a:t>Goal: produce a benchmark institutions can use to audit tutor behavior before students encounter the system ensuring pedagogical soundness is verified, not assumed. </a:t>
            </a:r>
            <a:endParaRPr sz="3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Infrastructure Barrier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700"/>
              <a:buChar char="•"/>
            </a:pPr>
            <a:r>
              <a:rPr b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Cloud-first deployment assumes stable, high-bandwidth internet -- unavailable in rural schools</a:t>
            </a:r>
            <a:endParaRPr sz="3500"/>
          </a:p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</a:pPr>
            <a:r>
              <a:rPr b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School networks are shared, throttled during instructional hours, or satellite-dependent</a:t>
            </a:r>
            <a:endParaRPr sz="3500"/>
          </a:p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</a:pPr>
            <a:r>
              <a:rPr b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institutional HPC at most rural K-12 schools or small regional universities</a:t>
            </a:r>
            <a:endParaRPr sz="35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5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1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tutoring system that is unavailable when students need it most is not a tutoring system.</a:t>
            </a:r>
            <a:endParaRPr sz="35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5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21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Requirement: the system must degrade gracefully when cloud access is lost. Solution: edge inference on low-cost embedded hardware as a practical fallback.</a:t>
            </a:r>
            <a:endParaRPr sz="3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609600" y="1216138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(Embedded Hardware)</a:t>
            </a:r>
            <a:endParaRPr/>
          </a:p>
        </p:txBody>
      </p:sp>
      <p:sp>
        <p:nvSpPr>
          <p:cNvPr id="136" name="Google Shape;136;p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0" lang="en-US" sz="19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Latency: Higher per-token, but independent of network conditions</a:t>
            </a:r>
            <a:endParaRPr sz="26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b="0" lang="en-US" sz="19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Availability: Functions offline; resilient to connectivity loss</a:t>
            </a:r>
            <a:endParaRPr sz="26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b="0" lang="en-US" sz="19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Response quality: Lower than cloud, sufficient for introductory-level error identification</a:t>
            </a:r>
            <a:endParaRPr sz="26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b="0" lang="en-US" sz="19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Power: Significant concern on battery-dependent or limited-power hardware</a:t>
            </a:r>
            <a:endParaRPr sz="26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</a:pPr>
            <a:r>
              <a:rPr b="0" lang="en-US" sz="19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Cost: One-time hardware investment; no recurring API costs</a:t>
            </a:r>
            <a:endParaRPr sz="2600"/>
          </a:p>
        </p:txBody>
      </p:sp>
      <p:sp>
        <p:nvSpPr>
          <p:cNvPr id="137" name="Google Shape;137;p9"/>
          <p:cNvSpPr txBox="1"/>
          <p:nvPr>
            <p:ph idx="3" type="body"/>
          </p:nvPr>
        </p:nvSpPr>
        <p:spPr>
          <a:xfrm>
            <a:off x="6323843" y="1074838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0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Cloud (Baseline)</a:t>
            </a:r>
            <a:endParaRPr/>
          </a:p>
        </p:txBody>
      </p:sp>
      <p:sp>
        <p:nvSpPr>
          <p:cNvPr id="138" name="Google Shape;138;p9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76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Latency: Lower when connectivity is stable</a:t>
            </a:r>
            <a:endParaRPr sz="2700"/>
          </a:p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Availability: Dependent on internet access; fails when connectivity drops</a:t>
            </a:r>
            <a:endParaRPr sz="2700"/>
          </a:p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Response quality: Higher; access to larger, more capable models</a:t>
            </a:r>
            <a:endParaRPr sz="2700"/>
          </a:p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Power: Offloaded to provider infrastructure</a:t>
            </a:r>
            <a:endParaRPr sz="2700"/>
          </a:p>
          <a:p>
            <a:pPr indent="-24765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Cost: Per-token API costs at scale; requires institutional account management</a:t>
            </a:r>
            <a:endParaRPr sz="2700"/>
          </a:p>
        </p:txBody>
      </p:sp>
      <p:sp>
        <p:nvSpPr>
          <p:cNvPr id="139" name="Google Shape;139;p9"/>
          <p:cNvSpPr txBox="1"/>
          <p:nvPr>
            <p:ph type="title"/>
          </p:nvPr>
        </p:nvSpPr>
        <p:spPr>
          <a:xfrm>
            <a:off x="609599" y="383886"/>
            <a:ext cx="10972801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vs Cloud: Inference Tradeoffs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NAIRR as the Middle Path</a:t>
            </a:r>
            <a:endParaRPr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hardware is accessible but limited in model capability. Institutional HPC is powerful but inaccessible to most rural institutions. NAIRR shared compute occupies a critical middle tier.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NAIRR adds the most value:</a:t>
            </a:r>
            <a:endParaRPr sz="34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 and evaluation runs that exceed edge hardware capacity</a:t>
            </a:r>
            <a:endParaRPr sz="34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Training annotation classifiers on pedagogical quality data</a:t>
            </a:r>
            <a:endParaRPr sz="34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Generating benchmark responses for human comparison studies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structure resource requests effectively:</a:t>
            </a:r>
            <a:endParaRPr sz="34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Identify which pipeline stages require GPU-class compute</a:t>
            </a:r>
            <a:endParaRPr sz="3400"/>
          </a:p>
          <a:p>
            <a:pPr indent="-241300" lvl="0" marL="45720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00"/>
              <a:buChar char="•"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 compute in batches tied to specific project milestones, not continuous access</a:t>
            </a:r>
            <a:endParaRPr sz="3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26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Takeaways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 1: Cloud vs Edge tradeoffs for AI tutoring in low-connectivity settings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inference is viable for introductory-level error identification. It trades response quality for availability. When the alternative is no response at all, edge is the correct choice</a:t>
            </a:r>
            <a:r>
              <a:rPr lang="en-US" sz="2000">
                <a:solidFill>
                  <a:srgbClr val="333333"/>
                </a:solidFill>
              </a:rPr>
              <a:t>; </a:t>
            </a: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tradeoff is context-dependent, not a deficiency.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000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Takeaway 2: Where NAIRR resources add the most value in a constrained pipeline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NAIRR is most useful for compute-intensive development tasks </a:t>
            </a:r>
            <a:r>
              <a:rPr lang="en-US" sz="2000">
                <a:solidFill>
                  <a:srgbClr val="333333"/>
                </a:solidFill>
              </a:rPr>
              <a:t>such as </a:t>
            </a: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fine-tuning, evaluation, benchmark generation rather than production inference. Institutions with limited local compute should structure requests around discrete project stages.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</a:pPr>
            <a:r>
              <a:rPr b="0" lang="en-US" sz="2000">
                <a:solidFill>
                  <a:srgbClr val="33333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400"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lang="en-US" sz="1800">
                <a:solidFill>
                  <a:srgbClr val="5555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 takeaways are grounded in a real deployment context and are directly applicable across institutions facing similar infrastructure and faculty resource limitations.</a:t>
            </a:r>
            <a:endParaRPr sz="3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db8eafbbb_1_5"/>
          <p:cNvSpPr txBox="1"/>
          <p:nvPr>
            <p:ph type="title"/>
          </p:nvPr>
        </p:nvSpPr>
        <p:spPr>
          <a:xfrm>
            <a:off x="963084" y="3216047"/>
            <a:ext cx="10363200" cy="78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/>
              <a:t>Thank you</a:t>
            </a:r>
            <a:endParaRPr sz="5200"/>
          </a:p>
        </p:txBody>
      </p:sp>
      <p:sp>
        <p:nvSpPr>
          <p:cNvPr id="157" name="Google Shape;157;g3edb8eafbbb_1_5"/>
          <p:cNvSpPr txBox="1"/>
          <p:nvPr/>
        </p:nvSpPr>
        <p:spPr>
          <a:xfrm>
            <a:off x="2557575" y="5283425"/>
            <a:ext cx="717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Contact: malinisundar1625@gmail.com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idx="1" type="subTitle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762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Follow CRA on social media</a:t>
            </a:r>
            <a:endParaRPr/>
          </a:p>
        </p:txBody>
      </p:sp>
      <p:sp>
        <p:nvSpPr>
          <p:cNvPr id="163" name="Google Shape;163;p12"/>
          <p:cNvSpPr txBox="1"/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  <p:grpSp>
        <p:nvGrpSpPr>
          <p:cNvPr id="164" name="Google Shape;164;p12"/>
          <p:cNvGrpSpPr/>
          <p:nvPr/>
        </p:nvGrpSpPr>
        <p:grpSpPr>
          <a:xfrm>
            <a:off x="1762409" y="245753"/>
            <a:ext cx="5073597" cy="1619531"/>
            <a:chOff x="1675200" y="1925918"/>
            <a:chExt cx="8622700" cy="2752431"/>
          </a:xfrm>
        </p:grpSpPr>
        <p:sp>
          <p:nvSpPr>
            <p:cNvPr id="165" name="Google Shape;165;p12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b="0" i="0" sz="8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6" name="Google Shape;166;p12" title="NAIRR Expansion Conference_General Logo (1)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 logo 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