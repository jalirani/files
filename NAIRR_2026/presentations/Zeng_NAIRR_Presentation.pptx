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4" r:id="rId4"/>
    <p:sldId id="258" r:id="rId5"/>
    <p:sldId id="259" r:id="rId6"/>
    <p:sldId id="261" r:id="rId7"/>
    <p:sldId id="260" r:id="rId8"/>
    <p:sldId id="262" r:id="rId9"/>
    <p:sldId id="265" r:id="rId10"/>
    <p:sldId id="266" r:id="rId11"/>
    <p:sldId id="267" r:id="rId12"/>
    <p:sldId id="268" r:id="rId13"/>
    <p:sldId id="263" r:id="rId14"/>
  </p:sldIdLst>
  <p:sldSz cx="12192000" cy="6858000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108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- Blank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comparis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5" descr="A blue square with a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A blue square with a white letter f on i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 descr="A blue square with white letters on i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descr="A white butterfly in a blue circl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close-up of a logo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0F2835E2-480C-F027-EDF5-15CD278A49FA}"/>
              </a:ext>
            </a:extLst>
          </p:cNvPr>
          <p:cNvSpPr/>
          <p:nvPr/>
        </p:nvSpPr>
        <p:spPr>
          <a:xfrm>
            <a:off x="2834639" y="3684914"/>
            <a:ext cx="8218843" cy="185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Bridging the Compute Divide: </a:t>
            </a:r>
            <a:br>
              <a:rPr lang="en-US" sz="2800" dirty="0"/>
            </a:br>
            <a:r>
              <a:rPr lang="en-US" sz="2800" dirty="0"/>
              <a:t>Strategies for Implementing an NLP Curriculum at a Regional Teaching Institution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7C7A7-10DC-E8D1-1C87-68C41E86EC82}"/>
              </a:ext>
            </a:extLst>
          </p:cNvPr>
          <p:cNvSpPr txBox="1"/>
          <p:nvPr/>
        </p:nvSpPr>
        <p:spPr>
          <a:xfrm>
            <a:off x="4561242" y="5556325"/>
            <a:ext cx="48947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Hong Biao Zeng</a:t>
            </a:r>
          </a:p>
          <a:p>
            <a:pPr algn="ctr"/>
            <a:r>
              <a:rPr lang="en-US" dirty="0"/>
              <a:t>Department of Computer Science</a:t>
            </a:r>
          </a:p>
          <a:p>
            <a:pPr algn="ctr"/>
            <a:r>
              <a:rPr lang="en-US" dirty="0"/>
              <a:t>Fort Hays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Why I am Here</a:t>
            </a:r>
            <a:endParaRPr dirty="0"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I am excited about NAIRR Pilot Resources. I would like to:</a:t>
            </a:r>
          </a:p>
          <a:p>
            <a:pPr lvl="1"/>
            <a:r>
              <a:rPr lang="en-US" dirty="0"/>
              <a:t>understand how to apply for NAIRR Pilot Resources.</a:t>
            </a:r>
          </a:p>
          <a:p>
            <a:pPr lvl="1"/>
            <a:r>
              <a:rPr lang="en-US" dirty="0"/>
              <a:t>learn from pioneers how to use NAIRR Pilot Resources.</a:t>
            </a:r>
          </a:p>
          <a:p>
            <a:pPr lvl="1"/>
            <a:r>
              <a:rPr lang="en-US" dirty="0"/>
              <a:t>know the difference between the Google </a:t>
            </a:r>
            <a:r>
              <a:rPr lang="en-US" dirty="0" err="1"/>
              <a:t>Colab</a:t>
            </a:r>
            <a:r>
              <a:rPr lang="en-US" dirty="0"/>
              <a:t> free GPU tier and the super-computing power provided by NAIRR Pilot Resources.</a:t>
            </a:r>
          </a:p>
          <a:p>
            <a:r>
              <a:rPr lang="en-US" dirty="0"/>
              <a:t>Thanks to the NAIRR Pilot Conference Committee, particularly Director Dr. Traian Marius Truta.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B5376B-1129-16D0-88DF-ECFED620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Need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43107-05E1-7AFF-4B70-DE79E577FB4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50878" y="1356341"/>
            <a:ext cx="9521825" cy="4770438"/>
          </a:xfrm>
        </p:spPr>
        <p:txBody>
          <a:bodyPr>
            <a:normAutofit/>
          </a:bodyPr>
          <a:lstStyle/>
          <a:p>
            <a:r>
              <a:rPr lang="en-US" dirty="0"/>
              <a:t>FHSU’s NLP course launches in Spring 2027. We need:</a:t>
            </a:r>
          </a:p>
          <a:p>
            <a:pPr lvl="1"/>
            <a:r>
              <a:rPr lang="en-US" dirty="0"/>
              <a:t>guidance on the NAIRR education allocation process,</a:t>
            </a:r>
          </a:p>
          <a:p>
            <a:pPr lvl="1"/>
            <a:r>
              <a:rPr lang="en-US" dirty="0"/>
              <a:t>a model for classroom-scale GPU access for 30 students,</a:t>
            </a:r>
          </a:p>
          <a:p>
            <a:pPr lvl="1"/>
            <a:r>
              <a:rPr lang="en-US" dirty="0"/>
              <a:t>connections with faculty who have done similar work.</a:t>
            </a:r>
          </a:p>
        </p:txBody>
      </p:sp>
    </p:spTree>
    <p:extLst>
      <p:ext uri="{BB962C8B-B14F-4D97-AF65-F5344CB8AC3E}">
        <p14:creationId xmlns:p14="http://schemas.microsoft.com/office/powerpoint/2010/main" val="306489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A4AD-9C64-9131-1AAF-31E23FBB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Current AI Curriculum at FHSU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FEF8D-B4D4-7FCB-4838-7A90963DA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3000" dirty="0"/>
              <a:t>Fort Hays State University (FHSU) is a teaching-focused, research-emerging institution.</a:t>
            </a:r>
          </a:p>
          <a:p>
            <a:r>
              <a:rPr lang="en-US" sz="3000" dirty="0"/>
              <a:t>There are two IT related departments at FHSU.</a:t>
            </a:r>
          </a:p>
          <a:p>
            <a:pPr lvl="1"/>
            <a:r>
              <a:rPr lang="en-US" sz="2200" dirty="0"/>
              <a:t>It is in the process of merging into one department</a:t>
            </a:r>
          </a:p>
          <a:p>
            <a:r>
              <a:rPr lang="en-US" sz="3000" dirty="0"/>
              <a:t>The School granted funding to establish an AI lab about one year ago.</a:t>
            </a:r>
          </a:p>
          <a:p>
            <a:pPr lvl="1"/>
            <a:r>
              <a:rPr lang="en-US" sz="2200" dirty="0"/>
              <a:t>There are only two “super-computers”.</a:t>
            </a:r>
          </a:p>
          <a:p>
            <a:r>
              <a:rPr lang="en-US" sz="3000" dirty="0"/>
              <a:t>CSCI 785 Introduction to Natural Language Processing was approved by the Graduate Council this April. The course will be first offered in Spring 2027.</a:t>
            </a:r>
          </a:p>
          <a:p>
            <a:pPr marL="762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0" dirty="0"/>
              <a:t>CSCI 785 Introduction to NLP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F81B57-FC4B-2F7F-4DCD-8C122096B0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51641" y="1179028"/>
            <a:ext cx="9521825" cy="527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Bridging Disciplines: Connecting classic linguistics with modern AI and machine learning techniques.</a:t>
            </a:r>
          </a:p>
          <a:p>
            <a:r>
              <a:rPr lang="en-US" sz="2400" dirty="0"/>
              <a:t>Code-first Foundation: Prioritize hands-on Python implementations with industry standard libraries(NLTK, </a:t>
            </a:r>
            <a:r>
              <a:rPr lang="en-US" sz="2400" dirty="0" err="1"/>
              <a:t>spaCy</a:t>
            </a:r>
            <a:r>
              <a:rPr lang="en-US" sz="2400" dirty="0"/>
              <a:t>, and Transformers).</a:t>
            </a:r>
          </a:p>
          <a:p>
            <a:r>
              <a:rPr lang="en-US" sz="2400" dirty="0"/>
              <a:t>Democratizing Access: Removing barriers for students without formal backgrounds through integrated “Bootcamp” modules.</a:t>
            </a:r>
          </a:p>
          <a:p>
            <a:pPr lvl="1"/>
            <a:r>
              <a:rPr lang="en-US" dirty="0"/>
              <a:t>Linear algebra, vector spaces, and cosine similarity for word embeddings.</a:t>
            </a:r>
          </a:p>
          <a:p>
            <a:pPr lvl="1"/>
            <a:r>
              <a:rPr lang="en-US" dirty="0"/>
              <a:t>Introduction to Machine Learning, gradient descent, and loss functions.</a:t>
            </a:r>
          </a:p>
          <a:p>
            <a:r>
              <a:rPr lang="en-US" sz="2400" dirty="0"/>
              <a:t>Ethical Awareness: Critical analysis of data bias, ethical implications, and the limitations of generative AI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0" dirty="0"/>
              <a:t>NLP Evolution: N-Grams to LLMs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B7217-43DD-2043-1095-C2145A11A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41" y="2201906"/>
            <a:ext cx="6186533" cy="2895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9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102" name="Google Shape;102;p19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103" name="Google Shape;103;p19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6F020B-4148-AD4C-A1E8-4215B999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Responsible use of Supercomputing Power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EEB9E-2235-9018-52E1-04DB9C09600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09600" y="1653419"/>
            <a:ext cx="9521825" cy="3486140"/>
          </a:xfrm>
        </p:spPr>
        <p:txBody>
          <a:bodyPr>
            <a:normAutofit/>
          </a:bodyPr>
          <a:lstStyle/>
          <a:p>
            <a:r>
              <a:rPr lang="en-US" dirty="0"/>
              <a:t>We do not waste national supercomputing resources on basic Python tokenization or string manipulation in the first half of the semester.</a:t>
            </a:r>
          </a:p>
          <a:p>
            <a:r>
              <a:rPr lang="en-US" dirty="0"/>
              <a:t>Instead, we use local environments to build foundational skills, and then strategically deploy NAIRR’s massive GPU clusters when students hit the ‘Transformer Wall’ in Week 14 and begin their high-stakes Final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C6C7-9930-2D6C-C3C9-E40800F6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When Super Computing Power Needed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7DE2-A673-129D-8D74-35C6D1B12D1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98938" y="1459405"/>
            <a:ext cx="9521825" cy="4770438"/>
          </a:xfrm>
        </p:spPr>
        <p:txBody>
          <a:bodyPr>
            <a:normAutofit/>
          </a:bodyPr>
          <a:lstStyle/>
          <a:p>
            <a:r>
              <a:rPr lang="en-US" dirty="0"/>
              <a:t>Fine-tune pre-trained models (like BERT) for downstream tasks</a:t>
            </a:r>
          </a:p>
          <a:p>
            <a:pPr lvl="1"/>
            <a:r>
              <a:rPr lang="en-US" dirty="0"/>
              <a:t>While a tiny BERT model can technically run on a free </a:t>
            </a:r>
            <a:r>
              <a:rPr lang="en-US" dirty="0" err="1"/>
              <a:t>Colab</a:t>
            </a:r>
            <a:r>
              <a:rPr lang="en-US" dirty="0"/>
              <a:t> GPU tier, a standard classroom of 30+ students attempting to run training loops simultaneously will quickly hit free-tier resource limits, causing session timeouts.</a:t>
            </a:r>
          </a:p>
          <a:p>
            <a:pPr lvl="1"/>
            <a:r>
              <a:rPr lang="en-US" dirty="0"/>
              <a:t>Graduate students need to optimize algorithmic and hardware efficiency, which requires access to professional monitoring tools available on dedicated cluster nodes. Target NAIRR cluster nodes with built-in profiling and monitoring tools to track student optimization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B402-8DEC-5845-0B0D-4C19E939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Large Language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131B8-A8F0-A19F-9394-DBF1D242A89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62152" y="1459405"/>
            <a:ext cx="9521825" cy="4770438"/>
          </a:xfrm>
        </p:spPr>
        <p:txBody>
          <a:bodyPr>
            <a:normAutofit/>
          </a:bodyPr>
          <a:lstStyle/>
          <a:p>
            <a:r>
              <a:rPr lang="en-US" dirty="0"/>
              <a:t>Large Language Models &amp; Retrieval-Augmented Generation (RAG)</a:t>
            </a:r>
          </a:p>
          <a:p>
            <a:pPr lvl="1"/>
            <a:r>
              <a:rPr lang="en-US" dirty="0"/>
              <a:t>When students transition to prompt engineering, tokenization, and vector database retrieval with models like Llama 3, hosting these models locally or managing embedding pipelines requires significant VRAM (Video RAM).</a:t>
            </a:r>
          </a:p>
          <a:p>
            <a:pPr lvl="1"/>
            <a:r>
              <a:rPr lang="en-US" dirty="0"/>
              <a:t>Leveraging NAIRR’s shared </a:t>
            </a:r>
            <a:r>
              <a:rPr lang="en-US" dirty="0" err="1"/>
              <a:t>Jupyter</a:t>
            </a:r>
            <a:r>
              <a:rPr lang="en-US" dirty="0"/>
              <a:t> environments to host a centralized model instance minimizes lag for a classroom of 30 or more concurrent users.</a:t>
            </a:r>
          </a:p>
        </p:txBody>
      </p:sp>
    </p:spTree>
    <p:extLst>
      <p:ext uri="{BB962C8B-B14F-4D97-AF65-F5344CB8AC3E}">
        <p14:creationId xmlns:p14="http://schemas.microsoft.com/office/powerpoint/2010/main" val="1410317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E7EC-0A10-3BFC-FB17-10864322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With Help of NAIRR Pilot Resource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9A14E-F9BE-6EBE-67C6-B3DD8B3A7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Students move beyond theory to practical, high compute application development, preparing them for the modern AI workforce.</a:t>
            </a:r>
          </a:p>
          <a:p>
            <a:r>
              <a:rPr lang="en-US" dirty="0"/>
              <a:t>Using NAIRR GPU clusters to facilitate transformer fine-tuning and the construction of generative chatbot applications with real-time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238922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34C8-803B-66F0-3D20-F92C8DB8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A4926-8DC2-DBBD-9DE3-4E6B4D842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developed the course and this presentation through an iterative process with Gemini.</a:t>
            </a:r>
          </a:p>
          <a:p>
            <a:pPr lvl="1"/>
            <a:r>
              <a:rPr lang="en-US" dirty="0"/>
              <a:t>Transparency: Explicitly disclosing AI collaboration to model ethical use for students</a:t>
            </a:r>
          </a:p>
          <a:p>
            <a:pPr lvl="1"/>
            <a:r>
              <a:rPr lang="en-US" dirty="0"/>
              <a:t>Efficiency: Scaling faculty productivity in “research-emerging” environments.</a:t>
            </a:r>
          </a:p>
          <a:p>
            <a:pPr lvl="1"/>
            <a:r>
              <a:rPr lang="en-US" dirty="0"/>
              <a:t>Refinement: Human-in-the-loop verification ensures academic rigor.</a:t>
            </a:r>
          </a:p>
        </p:txBody>
      </p:sp>
    </p:spTree>
    <p:extLst>
      <p:ext uri="{BB962C8B-B14F-4D97-AF65-F5344CB8AC3E}">
        <p14:creationId xmlns:p14="http://schemas.microsoft.com/office/powerpoint/2010/main" val="370201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F96A-822C-D3A0-A1F2-5926EFD1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99332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Follow CRA on social media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  <p:grpSp>
        <p:nvGrpSpPr>
          <p:cNvPr id="129" name="Google Shape;129;p22"/>
          <p:cNvGrpSpPr/>
          <p:nvPr/>
        </p:nvGrpSpPr>
        <p:grpSpPr>
          <a:xfrm>
            <a:off x="1762409" y="245754"/>
            <a:ext cx="5073597" cy="1619531"/>
            <a:chOff x="1675200" y="1925919"/>
            <a:chExt cx="8622700" cy="2752431"/>
          </a:xfrm>
        </p:grpSpPr>
        <p:sp>
          <p:nvSpPr>
            <p:cNvPr id="130" name="Google Shape;130;p22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3775" tIns="53775" rIns="53775" bIns="53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24"/>
            </a:p>
          </p:txBody>
        </p:sp>
        <p:pic>
          <p:nvPicPr>
            <p:cNvPr id="131" name="Google Shape;131;p22" title="NAIRR Expansion Conference_General Logo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662</Words>
  <Application>Microsoft Office PowerPoint</Application>
  <PresentationFormat>Widescreen</PresentationFormat>
  <Paragraphs>52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Helvetica Neue</vt:lpstr>
      <vt:lpstr>Calibri</vt:lpstr>
      <vt:lpstr>Arial</vt:lpstr>
      <vt:lpstr>Office Theme</vt:lpstr>
      <vt:lpstr>PowerPoint Presentation</vt:lpstr>
      <vt:lpstr>Why I am Here</vt:lpstr>
      <vt:lpstr>What I Need</vt:lpstr>
      <vt:lpstr>Current AI Curriculum at FHSU</vt:lpstr>
      <vt:lpstr>CSCI 785 Introduction to NLP</vt:lpstr>
      <vt:lpstr>NLP Evolution: N-Grams to LLMs</vt:lpstr>
      <vt:lpstr>Responsible use of Supercomputing Power</vt:lpstr>
      <vt:lpstr>When Super Computing Power Needed</vt:lpstr>
      <vt:lpstr>Large Language Models</vt:lpstr>
      <vt:lpstr>With Help of NAIRR Pilot Resource</vt:lpstr>
      <vt:lpstr>AI in Practice</vt:lpstr>
      <vt:lpstr>Questions?</vt:lpstr>
      <vt:lpstr>Stay Connected!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Hongbiao Zeng</cp:lastModifiedBy>
  <cp:revision>2</cp:revision>
  <dcterms:modified xsi:type="dcterms:W3CDTF">2026-06-10T15:37:57Z</dcterms:modified>
</cp:coreProperties>
</file>