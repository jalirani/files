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9" r:id="rId6"/>
    <p:sldId id="290" r:id="rId7"/>
    <p:sldId id="292" r:id="rId8"/>
    <p:sldId id="298" r:id="rId9"/>
    <p:sldId id="291" r:id="rId10"/>
    <p:sldId id="294" r:id="rId11"/>
    <p:sldId id="300" r:id="rId12"/>
    <p:sldId id="293" r:id="rId13"/>
    <p:sldId id="299" r:id="rId14"/>
    <p:sldId id="295" r:id="rId15"/>
    <p:sldId id="296" r:id="rId16"/>
    <p:sldId id="2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5763"/>
    <a:srgbClr val="0D8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95" d="100"/>
          <a:sy n="95" d="100"/>
        </p:scale>
        <p:origin x="384" y="114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18BD-B48B-6F1D-6CDF-A9395C2C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72B3D-A452-32A7-C4A7-C2183791A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B0D7A-80FB-6FF4-9A38-7CB3F60D9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C242B-52A3-2E46-FF00-09C513697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247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8295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92781"/>
            <a:ext cx="12192000" cy="1471300"/>
          </a:xfr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400" b="1" dirty="0">
                <a:solidFill>
                  <a:schemeClr val="bg1"/>
                </a:solidFill>
              </a:rPr>
              <a:t>NAIRR Pilot Resources for High-Performance Machine Learning Education</a:t>
            </a:r>
            <a:endParaRPr lang="en-US" sz="4400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F3E7F-1D3B-DCE0-DE2A-BF81AA6EABC8}"/>
              </a:ext>
            </a:extLst>
          </p:cNvPr>
          <p:cNvSpPr txBox="1"/>
          <p:nvPr/>
        </p:nvSpPr>
        <p:spPr>
          <a:xfrm>
            <a:off x="466164" y="3675383"/>
            <a:ext cx="11259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Lessons from a Graduate Course at UT San Antonio</a:t>
            </a:r>
            <a:endParaRPr lang="en-US" sz="24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EE3B6-ADAB-B92B-4F14-F188B983338A}"/>
              </a:ext>
            </a:extLst>
          </p:cNvPr>
          <p:cNvSpPr txBox="1"/>
          <p:nvPr/>
        </p:nvSpPr>
        <p:spPr>
          <a:xfrm>
            <a:off x="3047999" y="48148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Buddhi Ashan Mallika Kankanamalage</a:t>
            </a:r>
            <a:b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Sushil K. Prasad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459F70-BF8D-6F1B-C232-35BF4B14983F}"/>
              </a:ext>
            </a:extLst>
          </p:cNvPr>
          <p:cNvSpPr/>
          <p:nvPr/>
        </p:nvSpPr>
        <p:spPr>
          <a:xfrm>
            <a:off x="0" y="6076270"/>
            <a:ext cx="12192000" cy="781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2E61D8-D0B9-3CB9-473D-23DDDF06512E}"/>
              </a:ext>
            </a:extLst>
          </p:cNvPr>
          <p:cNvSpPr txBox="1"/>
          <p:nvPr/>
        </p:nvSpPr>
        <p:spPr>
          <a:xfrm>
            <a:off x="1506071" y="5740367"/>
            <a:ext cx="9179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badi" panose="020B0604020104020204" pitchFamily="34" charset="0"/>
              </a:rPr>
              <a:t>NAIRR Pilot Classroom Expansion Conferences | Friday, June 19, 2026 @Embassy Suites Eola 2, Downtown Orlando </a:t>
            </a:r>
            <a:endParaRPr lang="en-US" sz="1400" dirty="0">
              <a:latin typeface="Abadi" panose="020B0604020104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F8211E4-76C3-9ED3-C85B-D19100A0BA33}"/>
              </a:ext>
            </a:extLst>
          </p:cNvPr>
          <p:cNvGrpSpPr/>
          <p:nvPr/>
        </p:nvGrpSpPr>
        <p:grpSpPr>
          <a:xfrm>
            <a:off x="3846728" y="6124162"/>
            <a:ext cx="4498544" cy="636680"/>
            <a:chOff x="3399791" y="6124162"/>
            <a:chExt cx="4498544" cy="636680"/>
          </a:xfrm>
        </p:grpSpPr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B45F127D-11D7-DC5E-03A8-47F91853D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9791" y="6274021"/>
              <a:ext cx="2165124" cy="38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Google Shape;77;p15" title="NAIRR Expansion Conference_RE lg.png">
              <a:extLst>
                <a:ext uri="{FF2B5EF4-FFF2-40B4-BE49-F238E27FC236}">
                  <a16:creationId xmlns:a16="http://schemas.microsoft.com/office/drawing/2014/main" id="{3E898B20-F8AF-2281-CBFD-B63EEB4BD2A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8083" t="14683" r="64650" b="23875"/>
            <a:stretch>
              <a:fillRect/>
            </a:stretch>
          </p:blipFill>
          <p:spPr>
            <a:xfrm>
              <a:off x="7091298" y="6124162"/>
              <a:ext cx="807037" cy="63668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1716-110F-3051-4B55-5910D6B6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C83B2-321C-2B52-AD8D-8CE13CF92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Rapid growth of AI/ML demands advanced HPC skills for students</a:t>
            </a:r>
          </a:p>
          <a:p>
            <a:r>
              <a:rPr lang="en-US" dirty="0">
                <a:latin typeface="Abadi" panose="020B0604020104020204" pitchFamily="34" charset="0"/>
              </a:rPr>
              <a:t>Need for both theoretical understanding and practical experience in high-performance ML workloads</a:t>
            </a:r>
          </a:p>
          <a:p>
            <a:r>
              <a:rPr lang="en-US" dirty="0">
                <a:latin typeface="Abadi" panose="020B0604020104020204" pitchFamily="34" charset="0"/>
              </a:rPr>
              <a:t>National AI research infrastructure (NAIRR) offers unique opportunities for education</a:t>
            </a:r>
          </a:p>
        </p:txBody>
      </p:sp>
    </p:spTree>
    <p:extLst>
      <p:ext uri="{BB962C8B-B14F-4D97-AF65-F5344CB8AC3E}">
        <p14:creationId xmlns:p14="http://schemas.microsoft.com/office/powerpoint/2010/main" val="97453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D72C-7A51-F74E-A40E-A3DA6B14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08ED2-5E02-97FE-316E-B4C6E6794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Graduate-level Special topics: High Performance Machine Learning course at UTSA</a:t>
            </a:r>
          </a:p>
          <a:p>
            <a:r>
              <a:rPr lang="en-US" dirty="0"/>
              <a:t>Supported by NAIRR Pilot classroom allocation</a:t>
            </a:r>
          </a:p>
          <a:p>
            <a:r>
              <a:rPr lang="en-US" dirty="0"/>
              <a:t>DNN foundations + HPC</a:t>
            </a:r>
          </a:p>
          <a:p>
            <a:r>
              <a:rPr lang="en-US" dirty="0"/>
              <a:t>Hands-on coding</a:t>
            </a:r>
          </a:p>
          <a:p>
            <a:r>
              <a:rPr lang="en-US" dirty="0"/>
              <a:t>Technical paper presentations and individual term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83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A911-4CBD-D3BC-BD0E-2E6CD4C36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Curriculum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56C6-1534-3EBD-8EAE-AD9510E03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Foundations</a:t>
            </a:r>
          </a:p>
          <a:p>
            <a:pPr lvl="1"/>
            <a:r>
              <a:rPr lang="en-US" dirty="0"/>
              <a:t>Introduction to DNN models: model architectures, gradient descent, back propagation, training</a:t>
            </a:r>
          </a:p>
          <a:p>
            <a:pPr lvl="1"/>
            <a:r>
              <a:rPr lang="en-US" dirty="0"/>
              <a:t>Parallel and distributed computing: OpenMP, CUDA, MPI</a:t>
            </a:r>
          </a:p>
          <a:p>
            <a:r>
              <a:rPr lang="en-US" dirty="0"/>
              <a:t>Distributed deep learning network </a:t>
            </a:r>
            <a:r>
              <a:rPr lang="en-US" dirty="0" err="1"/>
              <a:t>traning</a:t>
            </a:r>
            <a:endParaRPr lang="en-US" dirty="0"/>
          </a:p>
          <a:p>
            <a:pPr lvl="1"/>
            <a:r>
              <a:rPr lang="en-US" dirty="0"/>
              <a:t>Data, Model, Pipeline (TensorFlow)</a:t>
            </a:r>
          </a:p>
          <a:p>
            <a:pPr lvl="1"/>
            <a:r>
              <a:rPr lang="en-US" dirty="0"/>
              <a:t>Frameworks: </a:t>
            </a:r>
            <a:r>
              <a:rPr lang="en-US" dirty="0" err="1"/>
              <a:t>Horovod</a:t>
            </a:r>
            <a:r>
              <a:rPr lang="en-US" dirty="0"/>
              <a:t>, </a:t>
            </a:r>
            <a:r>
              <a:rPr lang="en-US" dirty="0" err="1"/>
              <a:t>AxoNN</a:t>
            </a:r>
            <a:endParaRPr lang="en-US" dirty="0"/>
          </a:p>
          <a:p>
            <a:r>
              <a:rPr lang="en-US" dirty="0"/>
              <a:t>Paper discussion </a:t>
            </a:r>
          </a:p>
          <a:p>
            <a:pPr lvl="1"/>
            <a:r>
              <a:rPr lang="en-US" dirty="0"/>
              <a:t>Communication</a:t>
            </a:r>
          </a:p>
          <a:p>
            <a:pPr lvl="1"/>
            <a:r>
              <a:rPr lang="en-US" dirty="0"/>
              <a:t>Memory optimizations</a:t>
            </a:r>
          </a:p>
          <a:p>
            <a:pPr lvl="1"/>
            <a:r>
              <a:rPr lang="en-US" dirty="0"/>
              <a:t>Recent trends: at the edge, federated learning,  Architecture search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28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D56B-3FA3-3D0E-E5DD-74093A34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FD855-6551-3D02-9427-51D2D6ED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Assignments</a:t>
            </a:r>
          </a:p>
          <a:p>
            <a:r>
              <a:rPr lang="en-US" dirty="0"/>
              <a:t>Paper presentations</a:t>
            </a:r>
          </a:p>
          <a:p>
            <a:r>
              <a:rPr lang="en-US" dirty="0"/>
              <a:t>Paper critique</a:t>
            </a:r>
          </a:p>
          <a:p>
            <a:r>
              <a:rPr lang="en-US" dirty="0"/>
              <a:t>Term project:</a:t>
            </a:r>
          </a:p>
          <a:p>
            <a:pPr lvl="1"/>
            <a:r>
              <a:rPr lang="en-US" dirty="0"/>
              <a:t>survey project</a:t>
            </a:r>
          </a:p>
          <a:p>
            <a:pPr lvl="1"/>
            <a:r>
              <a:rPr lang="en-US" dirty="0"/>
              <a:t>implementation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ACF7B-1E95-A8C7-01B3-63F19B577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30"/>
          <a:stretch>
            <a:fillRect/>
          </a:stretch>
        </p:blipFill>
        <p:spPr>
          <a:xfrm>
            <a:off x="6113323" y="2022335"/>
            <a:ext cx="5240477" cy="395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26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90F03-C44E-FC41-2507-C8E92C9FB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and Using NAIRR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BF35-CDF2-4D5C-6FD9-72938B988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UTSA Arc cluster: GPU node availability was low. Not a teaching-dedicated resource </a:t>
            </a:r>
          </a:p>
          <a:p>
            <a:endParaRPr lang="en-US" dirty="0"/>
          </a:p>
          <a:p>
            <a:r>
              <a:rPr lang="en-US" dirty="0"/>
              <a:t>Applied for NAIRR Pilot classroom allocation for computing resources</a:t>
            </a:r>
          </a:p>
          <a:p>
            <a:r>
              <a:rPr lang="en-US" dirty="0"/>
              <a:t>Initial preference: Indiana Jetstream2 GPU resources.</a:t>
            </a:r>
          </a:p>
          <a:p>
            <a:r>
              <a:rPr lang="en-US" dirty="0"/>
              <a:t>Jetstream2's VM-per-student model: good for isolation, but limited for distributed/multi-GPU experiments</a:t>
            </a:r>
          </a:p>
          <a:p>
            <a:r>
              <a:rPr lang="en-US" dirty="0"/>
              <a:t>Applied for NCSA Delta: SLURM compute cluster</a:t>
            </a:r>
          </a:p>
        </p:txBody>
      </p:sp>
    </p:spTree>
    <p:extLst>
      <p:ext uri="{BB962C8B-B14F-4D97-AF65-F5344CB8AC3E}">
        <p14:creationId xmlns:p14="http://schemas.microsoft.com/office/powerpoint/2010/main" val="4076119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4D6A-CB33-5B4E-ACF7-C3EB44F6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Integration &amp; Onboarding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E5F4D-C63E-6C7D-AB11-F70DF6D28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access resources via SSH and </a:t>
            </a:r>
            <a:r>
              <a:rPr lang="en-US" dirty="0" err="1"/>
              <a:t>Jupyter</a:t>
            </a:r>
            <a:r>
              <a:rPr lang="en-US" dirty="0"/>
              <a:t> Notebooks.</a:t>
            </a:r>
          </a:p>
          <a:p>
            <a:r>
              <a:rPr lang="en-US" dirty="0"/>
              <a:t>Onboarding included login, SLURM job scheduling, interactive sessions, and batch scripts.</a:t>
            </a:r>
          </a:p>
          <a:p>
            <a:r>
              <a:rPr lang="en-US" dirty="0"/>
              <a:t>Lowered barriers for students with limited HPC experience.</a:t>
            </a:r>
          </a:p>
          <a:p>
            <a:endParaRPr lang="en-US" dirty="0"/>
          </a:p>
          <a:p>
            <a:r>
              <a:rPr lang="en-US" dirty="0"/>
              <a:t>Hands-on demonstrations: SSH, </a:t>
            </a:r>
            <a:r>
              <a:rPr lang="en-US" dirty="0" err="1"/>
              <a:t>Jupyter</a:t>
            </a:r>
            <a:r>
              <a:rPr lang="en-US" dirty="0"/>
              <a:t> Notebooks, and standard ML datasets (ImageNet, CIFAR-10/100, Sentinel-2, IceSat-2).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1E21-4D2F-F2A0-6A4B-A49A2C7A5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973CF27E-87D7-A1E3-7F15-C0679A0F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320B42-66CB-B939-0A21-F9F972403B3B}"/>
              </a:ext>
            </a:extLst>
          </p:cNvPr>
          <p:cNvSpPr/>
          <p:nvPr/>
        </p:nvSpPr>
        <p:spPr>
          <a:xfrm>
            <a:off x="1230086" y="1347561"/>
            <a:ext cx="4967514" cy="36576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2025 Spring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2815E23-0E18-A339-7C3C-7F3B2A0298AB}"/>
              </a:ext>
            </a:extLst>
          </p:cNvPr>
          <p:cNvSpPr/>
          <p:nvPr/>
        </p:nvSpPr>
        <p:spPr>
          <a:xfrm>
            <a:off x="6313716" y="1347561"/>
            <a:ext cx="4967514" cy="36576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2026 Spring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E85A4C-E979-12A0-C4C0-ABB6D640E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5888" y="4457593"/>
            <a:ext cx="989534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C545EF-D555-D90D-8F28-8D66F3F66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55658" y="2104573"/>
            <a:ext cx="0" cy="4078515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F62F3B5-6D68-7E14-8570-400DEB192D55}"/>
              </a:ext>
            </a:extLst>
          </p:cNvPr>
          <p:cNvSpPr/>
          <p:nvPr/>
        </p:nvSpPr>
        <p:spPr>
          <a:xfrm>
            <a:off x="1632408" y="2218979"/>
            <a:ext cx="4162870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5 undergraduate students by permission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13 graduate students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5EA83A-DA5A-6197-C646-AC109768F25E}"/>
              </a:ext>
            </a:extLst>
          </p:cNvPr>
          <p:cNvSpPr/>
          <p:nvPr/>
        </p:nvSpPr>
        <p:spPr>
          <a:xfrm>
            <a:off x="1632399" y="4943338"/>
            <a:ext cx="4162870" cy="830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UTSA Arc 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NCSA Delta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Jetstream2 was not a good fit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61CD03-87E4-EA58-71FB-1BB6FF06A74B}"/>
              </a:ext>
            </a:extLst>
          </p:cNvPr>
          <p:cNvSpPr/>
          <p:nvPr/>
        </p:nvSpPr>
        <p:spPr>
          <a:xfrm>
            <a:off x="1632399" y="1812682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Participation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D133A57-8C17-874A-463F-F0995DC02171}"/>
              </a:ext>
            </a:extLst>
          </p:cNvPr>
          <p:cNvSpPr/>
          <p:nvPr/>
        </p:nvSpPr>
        <p:spPr>
          <a:xfrm>
            <a:off x="1632390" y="4537033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Compute Resources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E9E8D2-D344-14C8-A12E-D28938532CE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Course Overview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2B863C-1CF8-8BF3-F71E-929A1C30EDCE}"/>
              </a:ext>
            </a:extLst>
          </p:cNvPr>
          <p:cNvSpPr/>
          <p:nvPr/>
        </p:nvSpPr>
        <p:spPr>
          <a:xfrm>
            <a:off x="1632399" y="3258778"/>
            <a:ext cx="4162870" cy="11079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Coding assignments, paper critique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3 paper presentations by each student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8 implementation projects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10 survey projects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B1E4E5-E143-6DDA-5353-74E09A3AEDE8}"/>
              </a:ext>
            </a:extLst>
          </p:cNvPr>
          <p:cNvSpPr/>
          <p:nvPr/>
        </p:nvSpPr>
        <p:spPr>
          <a:xfrm>
            <a:off x="1632390" y="2852473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Assessment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97AE54-FDB4-A4A1-68EE-D755A397E6C6}"/>
              </a:ext>
            </a:extLst>
          </p:cNvPr>
          <p:cNvSpPr/>
          <p:nvPr/>
        </p:nvSpPr>
        <p:spPr>
          <a:xfrm>
            <a:off x="6962559" y="2218979"/>
            <a:ext cx="4162870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4 undergraduate students by permission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16 graduate students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B0742D-43B9-39F9-9E33-B85FE9495F89}"/>
              </a:ext>
            </a:extLst>
          </p:cNvPr>
          <p:cNvSpPr/>
          <p:nvPr/>
        </p:nvSpPr>
        <p:spPr>
          <a:xfrm>
            <a:off x="6962550" y="4943338"/>
            <a:ext cx="4162870" cy="830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2-node small cluster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NCSA Delta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UTSA Arc (optional)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53912E-B6C6-FDE5-9457-048CBF8A6FEE}"/>
              </a:ext>
            </a:extLst>
          </p:cNvPr>
          <p:cNvSpPr/>
          <p:nvPr/>
        </p:nvSpPr>
        <p:spPr>
          <a:xfrm>
            <a:off x="6962550" y="1812682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Participation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FF4942-E3F9-E4EC-E34A-43A0018A7DC8}"/>
              </a:ext>
            </a:extLst>
          </p:cNvPr>
          <p:cNvSpPr/>
          <p:nvPr/>
        </p:nvSpPr>
        <p:spPr>
          <a:xfrm>
            <a:off x="6962541" y="4537033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Compute Resources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39AA30-22CE-2A79-13A7-A4EAB31603D9}"/>
              </a:ext>
            </a:extLst>
          </p:cNvPr>
          <p:cNvSpPr/>
          <p:nvPr/>
        </p:nvSpPr>
        <p:spPr>
          <a:xfrm>
            <a:off x="6962550" y="3258778"/>
            <a:ext cx="4162870" cy="11079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Coding assignments, paper critique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3 paper presentations by each student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20 implementation projects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20 survey projects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3D0F29-9397-0500-2539-58E06C5C2A30}"/>
              </a:ext>
            </a:extLst>
          </p:cNvPr>
          <p:cNvSpPr/>
          <p:nvPr/>
        </p:nvSpPr>
        <p:spPr>
          <a:xfrm>
            <a:off x="6962541" y="2852473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Assessment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415C9F-6C8C-F0B0-FA77-11C05184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66045" y="2826236"/>
            <a:ext cx="989534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5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A6F8-DF6A-E7CE-DA44-BD261F56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Experience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6D316-228B-5087-173A-0B9B4B3A6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Strongly positive overall feedback</a:t>
            </a:r>
          </a:p>
          <a:p>
            <a:r>
              <a:rPr lang="en-US" dirty="0"/>
              <a:t>2025 Spring: 8 students completed implementation projects; 4 continued research (including 1 undergraduate)</a:t>
            </a:r>
          </a:p>
          <a:p>
            <a:r>
              <a:rPr lang="en-US" dirty="0"/>
              <a:t>Strong undergraduate interest led to proposing a dedicated undergraduate section</a:t>
            </a:r>
          </a:p>
        </p:txBody>
      </p:sp>
    </p:spTree>
    <p:extLst>
      <p:ext uri="{BB962C8B-B14F-4D97-AF65-F5344CB8AC3E}">
        <p14:creationId xmlns:p14="http://schemas.microsoft.com/office/powerpoint/2010/main" val="104868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7361D-7380-1133-318D-A5582B0B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C2E7-7FB7-156A-E37D-F8F81CA4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Updated: Resource Integration &amp; Onboarding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93FC-F8E8-5898-6B49-4B776851F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98341" cy="4351338"/>
          </a:xfrm>
        </p:spPr>
        <p:txBody>
          <a:bodyPr/>
          <a:lstStyle/>
          <a:p>
            <a:r>
              <a:rPr lang="en-US" dirty="0"/>
              <a:t>Small cluster of 2 nodes each equipped with 2 Nvidia Quadro 5000 cards</a:t>
            </a:r>
          </a:p>
          <a:p>
            <a:r>
              <a:rPr lang="en-US" dirty="0"/>
              <a:t>Setup for distributed TensorFlow, </a:t>
            </a:r>
            <a:r>
              <a:rPr lang="en-US" dirty="0" err="1"/>
              <a:t>PyTorch</a:t>
            </a:r>
            <a:r>
              <a:rPr lang="en-US" dirty="0"/>
              <a:t>, and MPI</a:t>
            </a:r>
          </a:p>
          <a:p>
            <a:endParaRPr lang="en-US" dirty="0"/>
          </a:p>
          <a:p>
            <a:r>
              <a:rPr lang="en-US" dirty="0"/>
              <a:t>NCSA Delta</a:t>
            </a:r>
          </a:p>
          <a:p>
            <a:pPr lvl="1"/>
            <a:r>
              <a:rPr lang="en-US" dirty="0"/>
              <a:t>SLURM job scheduling related instructions</a:t>
            </a:r>
          </a:p>
          <a:p>
            <a:pPr lvl="1"/>
            <a:r>
              <a:rPr lang="en-US" dirty="0"/>
              <a:t>Access to better GPUs and configurations</a:t>
            </a:r>
          </a:p>
          <a:p>
            <a:pPr lvl="1"/>
            <a:r>
              <a:rPr lang="en-US" dirty="0"/>
              <a:t>Large-scale experiments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560F5-EFFC-40FE-7CBF-85707F83D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882" y="1690688"/>
            <a:ext cx="3299012" cy="2474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AAF4DC-8F4D-A5AB-C376-6B93D4A73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15528" y="4777384"/>
            <a:ext cx="1960561" cy="147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8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A6A7-8DC1-F4EC-3863-ABEB9052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&amp; Course Redesign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08526-D313-25EB-470A-C0EB3BD41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demonstrations on DNN parallel methods improved project outcomes</a:t>
            </a:r>
          </a:p>
          <a:p>
            <a:r>
              <a:rPr lang="en-US" dirty="0"/>
              <a:t>Choosing the right resource. Jetstream2 was not a good fit for this type of course</a:t>
            </a:r>
          </a:p>
          <a:p>
            <a:r>
              <a:rPr lang="en-US" dirty="0"/>
              <a:t>Resource availability timing is critical (late access to Delta limited utility)</a:t>
            </a:r>
          </a:p>
          <a:p>
            <a:r>
              <a:rPr lang="en-US" dirty="0"/>
              <a:t>Added local cluster (two-node, four-GPU; later expanded with NVIDIA Blackwell GPUs) for instruction and local prototyping</a:t>
            </a:r>
          </a:p>
        </p:txBody>
      </p:sp>
    </p:spTree>
    <p:extLst>
      <p:ext uri="{BB962C8B-B14F-4D97-AF65-F5344CB8AC3E}">
        <p14:creationId xmlns:p14="http://schemas.microsoft.com/office/powerpoint/2010/main" val="120924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7D39-41B8-DA05-EE67-040597B6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Future Directions &amp;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97E56-2F8B-D3BE-172B-559B8B70F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Adapting course for undergraduates: less research-intensive, but hands-on HPC/ML focus retained.</a:t>
            </a:r>
          </a:p>
          <a:p>
            <a:r>
              <a:rPr lang="en-US" dirty="0"/>
              <a:t>Open to collaboration with peer institutions on curriculum and resource strategies.</a:t>
            </a:r>
          </a:p>
        </p:txBody>
      </p:sp>
    </p:spTree>
    <p:extLst>
      <p:ext uri="{BB962C8B-B14F-4D97-AF65-F5344CB8AC3E}">
        <p14:creationId xmlns:p14="http://schemas.microsoft.com/office/powerpoint/2010/main" val="287575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Custom 28">
      <a:majorFont>
        <a:latin typeface="Century Gothic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653</TotalTime>
  <Words>576</Words>
  <Application>Microsoft Office PowerPoint</Application>
  <PresentationFormat>Widescreen</PresentationFormat>
  <Paragraphs>97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Abadi</vt:lpstr>
      <vt:lpstr>Arial</vt:lpstr>
      <vt:lpstr>Calibri</vt:lpstr>
      <vt:lpstr>Century Gothic</vt:lpstr>
      <vt:lpstr>Segoe UI</vt:lpstr>
      <vt:lpstr>Segoe UI Light</vt:lpstr>
      <vt:lpstr>Office Theme</vt:lpstr>
      <vt:lpstr>NAIRR Pilot Resources for High-Performance Machine Learning Education</vt:lpstr>
      <vt:lpstr>Motivation </vt:lpstr>
      <vt:lpstr>Course Overview</vt:lpstr>
      <vt:lpstr>Course Curriculum</vt:lpstr>
      <vt:lpstr>Student Assessment</vt:lpstr>
      <vt:lpstr>Securing and Using NAIRR Resources</vt:lpstr>
      <vt:lpstr>Resource Integration &amp; Onboarding</vt:lpstr>
      <vt:lpstr>Project analysis slide 8</vt:lpstr>
      <vt:lpstr>Student Experience &amp; Outcomes</vt:lpstr>
      <vt:lpstr>Updated: Resource Integration &amp; Onboarding</vt:lpstr>
      <vt:lpstr>Lessons Learned &amp; Course Redesign</vt:lpstr>
      <vt:lpstr> Future Directions &amp; Collaboration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Buddhi Ashan Mallika Kankanamalage</dc:creator>
  <cp:lastModifiedBy>Buddhi Ashan Mallika Kankanamalage</cp:lastModifiedBy>
  <cp:revision>98</cp:revision>
  <dcterms:created xsi:type="dcterms:W3CDTF">2026-06-14T15:43:05Z</dcterms:created>
  <dcterms:modified xsi:type="dcterms:W3CDTF">2026-06-19T02:30:44Z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