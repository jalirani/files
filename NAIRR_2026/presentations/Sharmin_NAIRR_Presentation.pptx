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8"/>
  </p:notesMasterIdLst>
  <p:sldIdLst>
    <p:sldId id="257" r:id="rId2"/>
    <p:sldId id="258" r:id="rId3"/>
    <p:sldId id="270" r:id="rId4"/>
    <p:sldId id="271" r:id="rId5"/>
    <p:sldId id="272" r:id="rId6"/>
    <p:sldId id="269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AAFAD-980A-43DC-881E-DA7AA3310446}">
  <a:tblStyle styleId="{906AAFAD-980A-43DC-881E-DA7AA33104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tcBdr/>
        <a:fill>
          <a:solidFill>
            <a:srgbClr val="CACA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A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00000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0000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en-US"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en-US"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en-US"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en-US"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en-US"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en-US"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en-US"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en-US"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en-US"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en-US"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5024960e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5024960ec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 descr="Decorative presentation template graphic." title="Decorative template graphi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 descr="Decorative presentation template graphic." title="Decorative template graphic"/>
          <p:cNvSpPr/>
          <p:nvPr/>
        </p:nvSpPr>
        <p:spPr>
          <a:xfrm>
            <a:off x="152400" y="152400"/>
            <a:ext cx="8818200" cy="4848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" descr="Decorative presentation template graphic." title="Decorative template graphic"/>
          <p:cNvSpPr/>
          <p:nvPr/>
        </p:nvSpPr>
        <p:spPr>
          <a:xfrm>
            <a:off x="219750" y="212850"/>
            <a:ext cx="8683500" cy="4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p2" descr="Appalachian State University logo." title="App State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2475" y="4702400"/>
            <a:ext cx="878237" cy="1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1550" y="2121825"/>
            <a:ext cx="57624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lang="en-US" sz="1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81025" y="1418625"/>
            <a:ext cx="64512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None/>
              <a:defRPr lang="en-US" sz="3400" b="1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 descr="Decorative presentation template graphic." title="Decorative template graphi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 descr="Decorative presentation template graphic." title="Decorative template graphic"/>
          <p:cNvSpPr/>
          <p:nvPr/>
        </p:nvSpPr>
        <p:spPr>
          <a:xfrm>
            <a:off x="152400" y="152400"/>
            <a:ext cx="8818200" cy="4848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 descr="Decorative presentation template graphic." title="Decorative template graphic"/>
          <p:cNvSpPr/>
          <p:nvPr/>
        </p:nvSpPr>
        <p:spPr>
          <a:xfrm>
            <a:off x="219750" y="212850"/>
            <a:ext cx="8683500" cy="4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37775" y="0"/>
            <a:ext cx="79713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lang="en-US" sz="2800" b="1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  <p:sp>
        <p:nvSpPr>
          <p:cNvPr id="18" name="Google Shape;18;p3" descr="Decorative presentation template graphic." title="Decorative template graphic"/>
          <p:cNvSpPr txBox="1"/>
          <p:nvPr/>
        </p:nvSpPr>
        <p:spPr>
          <a:xfrm>
            <a:off x="2060762" y="4666412"/>
            <a:ext cx="502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337775" y="1065150"/>
            <a:ext cx="8351400" cy="31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lang="en-US" sz="1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  <p:pic>
        <p:nvPicPr>
          <p:cNvPr id="20" name="Google Shape;20;p3" descr="Appalachian State University logo." title="App State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2475" y="4702400"/>
            <a:ext cx="878237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 descr="Decorative presentation template graphic." title="Decorative template graphi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 descr="Decorative presentation template graphic." title="Decorative template graphic"/>
          <p:cNvSpPr/>
          <p:nvPr/>
        </p:nvSpPr>
        <p:spPr>
          <a:xfrm>
            <a:off x="152400" y="152400"/>
            <a:ext cx="8818200" cy="4848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 descr="Decorative presentation template graphic." title="Decorative template graphic"/>
          <p:cNvSpPr/>
          <p:nvPr/>
        </p:nvSpPr>
        <p:spPr>
          <a:xfrm>
            <a:off x="219750" y="212850"/>
            <a:ext cx="8683500" cy="4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4" descr="Appalachian State University logo." title="App State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2475" y="4702400"/>
            <a:ext cx="878237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 descr="Decorative presentation template graphic." title="Decorative template graphi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 descr="Decorative presentation template graphic." title="Decorative template graphic"/>
          <p:cNvSpPr/>
          <p:nvPr/>
        </p:nvSpPr>
        <p:spPr>
          <a:xfrm>
            <a:off x="152400" y="152400"/>
            <a:ext cx="8818200" cy="484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 descr="Decorative presentation template graphic." title="Decorative template graphic"/>
          <p:cNvSpPr/>
          <p:nvPr/>
        </p:nvSpPr>
        <p:spPr>
          <a:xfrm>
            <a:off x="219750" y="212850"/>
            <a:ext cx="8683500" cy="4720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621550" y="2121825"/>
            <a:ext cx="57624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lang="en-US" sz="1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581025" y="1418625"/>
            <a:ext cx="64512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None/>
              <a:defRPr lang="en-US" sz="3400" b="1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 descr="Decorative presentation template graphic." title="Decorative template graphi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 descr="Decorative presentation template graphic." title="Decorative template graphic"/>
          <p:cNvSpPr/>
          <p:nvPr/>
        </p:nvSpPr>
        <p:spPr>
          <a:xfrm>
            <a:off x="152400" y="152400"/>
            <a:ext cx="8818200" cy="4848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 descr="Decorative presentation template graphic." title="Decorative template graphic"/>
          <p:cNvSpPr/>
          <p:nvPr/>
        </p:nvSpPr>
        <p:spPr>
          <a:xfrm>
            <a:off x="219750" y="212850"/>
            <a:ext cx="8683500" cy="4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6" descr="Appalachian State University logo." title="App State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2475" y="4702400"/>
            <a:ext cx="878237" cy="1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 descr="Decorative presentation template graphic." title="Decorative template graphic"/>
          <p:cNvSpPr/>
          <p:nvPr/>
        </p:nvSpPr>
        <p:spPr>
          <a:xfrm>
            <a:off x="219750" y="212850"/>
            <a:ext cx="8681700" cy="3675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 descr="Decorative presentation template graphic." title="Decorative template graphic"/>
          <p:cNvSpPr/>
          <p:nvPr/>
        </p:nvSpPr>
        <p:spPr>
          <a:xfrm>
            <a:off x="3834114" y="2917346"/>
            <a:ext cx="1475700" cy="4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 descr="Decorative presentation template graphic." title="Decorative template graphic"/>
          <p:cNvSpPr/>
          <p:nvPr/>
        </p:nvSpPr>
        <p:spPr>
          <a:xfrm rot="10800000">
            <a:off x="376129" y="3860891"/>
            <a:ext cx="1100400" cy="5613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586325" y="1113825"/>
            <a:ext cx="7971300" cy="1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lang="en-US" sz="3000" b="1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title" idx="2"/>
          </p:nvPr>
        </p:nvSpPr>
        <p:spPr>
          <a:xfrm>
            <a:off x="586775" y="2178400"/>
            <a:ext cx="7971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None/>
              <a:defRPr lang="en-US" sz="22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lang="en-US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19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6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US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>
            <a:spLocks noGrp="1"/>
          </p:cNvSpPr>
          <p:nvPr>
            <p:ph type="title"/>
          </p:nvPr>
        </p:nvSpPr>
        <p:spPr>
          <a:xfrm>
            <a:off x="359229" y="236764"/>
            <a:ext cx="7984671" cy="775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Responsible AI Adoption in Higher Education</a:t>
            </a:r>
            <a:br>
              <a:rPr lang="en-US" dirty="0"/>
            </a:br>
            <a:endParaRPr dirty="0"/>
          </a:p>
        </p:txBody>
      </p:sp>
      <p:sp>
        <p:nvSpPr>
          <p:cNvPr id="117" name="Text: Presented by Dr. Nazia  Sharmin Assistant Professor, Ap"/>
          <p:cNvSpPr txBox="1">
            <a:spLocks noGrp="1"/>
          </p:cNvSpPr>
          <p:nvPr>
            <p:ph type="subTitle" idx="1"/>
          </p:nvPr>
        </p:nvSpPr>
        <p:spPr>
          <a:xfrm>
            <a:off x="359229" y="955221"/>
            <a:ext cx="57624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br>
              <a:rPr lang="en-US" dirty="0"/>
            </a:br>
            <a:r>
              <a:rPr lang="en-US" dirty="0"/>
              <a:t>Presented by Dr. Nazia  Sharmin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dirty="0"/>
              <a:t>Assistant Professor, Appalachian State University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title"/>
          </p:nvPr>
        </p:nvSpPr>
        <p:spPr>
          <a:xfrm>
            <a:off x="337775" y="0"/>
            <a:ext cx="7971300" cy="9145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Responsible AI in Education</a:t>
            </a:r>
            <a:endParaRPr b="1" dirty="0"/>
          </a:p>
        </p:txBody>
      </p:sp>
      <p:sp>
        <p:nvSpPr>
          <p:cNvPr id="123" name="Text: Successful adoption of responsible AI tools in Educatio"/>
          <p:cNvSpPr txBox="1">
            <a:spLocks noGrp="1"/>
          </p:cNvSpPr>
          <p:nvPr>
            <p:ph type="subTitle" idx="1"/>
          </p:nvPr>
        </p:nvSpPr>
        <p:spPr>
          <a:xfrm>
            <a:off x="337775" y="1183821"/>
            <a:ext cx="8424000" cy="30451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Successful adoption of responsible AI tools in Education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	Shared practices, not just tools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	Trust, inclusion, and long-term use must be designed into the system.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	Shift the conversation from “Which tool?” to “Which practices make AI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responsible?”	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 descr="Decorative graphic element used for layout or diagram structure." title="Decorative graphic"/>
          <p:cNvSpPr/>
          <p:nvPr/>
        </p:nvSpPr>
        <p:spPr>
          <a:xfrm>
            <a:off x="1" y="0"/>
            <a:ext cx="9143771" cy="123444"/>
          </a:xfrm>
          <a:prstGeom prst="rect">
            <a:avLst/>
          </a:prstGeom>
          <a:solidFill>
            <a:srgbClr val="E9E0CF"/>
          </a:solidFill>
          <a:ln w="12700">
            <a:solidFill>
              <a:srgbClr val="E9E0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5" name="Shape 3" descr="Decorative graphic element used for layout or diagram structure." title="Decorative graphic"/>
          <p:cNvSpPr/>
          <p:nvPr/>
        </p:nvSpPr>
        <p:spPr>
          <a:xfrm>
            <a:off x="4567428" y="2318004"/>
            <a:ext cx="0" cy="0"/>
          </a:xfrm>
          <a:prstGeom prst="line">
            <a:avLst/>
          </a:prstGeom>
          <a:noFill/>
          <a:ln w="15240">
            <a:solidFill>
              <a:srgbClr val="ADB9C2"/>
            </a:solidFill>
            <a:prstDash val="solid"/>
            <a:tailEnd type="triangle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" name="Shape 4" descr="Decorative graphic element used for layout or diagram structure." title="Decorative graphic"/>
          <p:cNvSpPr/>
          <p:nvPr/>
        </p:nvSpPr>
        <p:spPr>
          <a:xfrm flipV="1">
            <a:off x="4567427" y="2132185"/>
            <a:ext cx="3216399" cy="185819"/>
          </a:xfrm>
          <a:prstGeom prst="line">
            <a:avLst/>
          </a:prstGeom>
          <a:noFill/>
          <a:ln w="15240">
            <a:solidFill>
              <a:srgbClr val="ADB9C2"/>
            </a:solidFill>
            <a:prstDash val="solid"/>
            <a:tailEnd type="triangle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" name="Shape 5" descr="Decorative graphic element used for layout or diagram structure." title="Decorative graphic"/>
          <p:cNvSpPr/>
          <p:nvPr/>
        </p:nvSpPr>
        <p:spPr>
          <a:xfrm>
            <a:off x="4567428" y="2318004"/>
            <a:ext cx="0" cy="1303020"/>
          </a:xfrm>
          <a:prstGeom prst="line">
            <a:avLst/>
          </a:prstGeom>
          <a:noFill/>
          <a:ln w="15240">
            <a:solidFill>
              <a:srgbClr val="ADB9C2"/>
            </a:solidFill>
            <a:prstDash val="solid"/>
            <a:tailEnd type="triangle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8" name="Shape 6" descr="Decorative graphic element used for layout or diagram structure." title="Decorative graphic"/>
          <p:cNvSpPr/>
          <p:nvPr/>
        </p:nvSpPr>
        <p:spPr>
          <a:xfrm>
            <a:off x="4847629" y="2032744"/>
            <a:ext cx="3140964" cy="1303020"/>
          </a:xfrm>
          <a:prstGeom prst="line">
            <a:avLst/>
          </a:prstGeom>
          <a:noFill/>
          <a:ln w="15240">
            <a:solidFill>
              <a:srgbClr val="ADB9C2"/>
            </a:solidFill>
            <a:prstDash val="solid"/>
            <a:tailEnd type="triangle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9" name="Shape 7" descr="Decorative graphic element used for layout or diagram structure." title="Decorative graphic"/>
          <p:cNvSpPr/>
          <p:nvPr/>
        </p:nvSpPr>
        <p:spPr>
          <a:xfrm>
            <a:off x="3675888" y="1796796"/>
            <a:ext cx="1783080" cy="1042416"/>
          </a:xfrm>
          <a:prstGeom prst="roundRect">
            <a:avLst>
              <a:gd name="adj" fmla="val 5263"/>
            </a:avLst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11" name="Shape 9" descr="Decorative graphic element used for layout or diagram structure." title="Decorative graphic"/>
          <p:cNvSpPr/>
          <p:nvPr/>
        </p:nvSpPr>
        <p:spPr>
          <a:xfrm>
            <a:off x="354331" y="1299591"/>
            <a:ext cx="215341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7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12" name="Shape 10" descr="Decorative graphic element used for layout or diagram structure." title="Decorative graphic"/>
          <p:cNvSpPr/>
          <p:nvPr/>
        </p:nvSpPr>
        <p:spPr>
          <a:xfrm>
            <a:off x="617220" y="1275588"/>
            <a:ext cx="54864" cy="720090"/>
          </a:xfrm>
          <a:prstGeom prst="rect">
            <a:avLst/>
          </a:prstGeom>
          <a:solidFill>
            <a:srgbClr val="2F73A3"/>
          </a:solidFill>
          <a:ln w="12700">
            <a:solidFill>
              <a:srgbClr val="2F73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15" name="Shape 13" descr="Decorative graphic element used for layout or diagram structure." title="Decorative graphic"/>
          <p:cNvSpPr/>
          <p:nvPr/>
        </p:nvSpPr>
        <p:spPr>
          <a:xfrm>
            <a:off x="6542532" y="1275588"/>
            <a:ext cx="2153412" cy="8092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7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16" name="Shape 14" descr="Decorative graphic element used for layout or diagram structure." title="Decorative graphic"/>
          <p:cNvSpPr/>
          <p:nvPr/>
        </p:nvSpPr>
        <p:spPr>
          <a:xfrm>
            <a:off x="6501384" y="1265301"/>
            <a:ext cx="54864" cy="720090"/>
          </a:xfrm>
          <a:prstGeom prst="rect">
            <a:avLst/>
          </a:prstGeom>
          <a:solidFill>
            <a:srgbClr val="6AA77B"/>
          </a:solidFill>
          <a:ln w="12700">
            <a:solidFill>
              <a:srgbClr val="6AA7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19" name="Shape 17" descr="Decorative graphic element used for layout or diagram structure." title="Decorative graphic"/>
          <p:cNvSpPr/>
          <p:nvPr/>
        </p:nvSpPr>
        <p:spPr>
          <a:xfrm>
            <a:off x="309589" y="3239265"/>
            <a:ext cx="2252037" cy="96011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7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0" name="Shape 18" descr="Decorative graphic element used for layout or diagram structure." title="Decorative graphic"/>
          <p:cNvSpPr/>
          <p:nvPr/>
        </p:nvSpPr>
        <p:spPr>
          <a:xfrm>
            <a:off x="348778" y="3488434"/>
            <a:ext cx="54864" cy="720090"/>
          </a:xfrm>
          <a:prstGeom prst="rect">
            <a:avLst/>
          </a:prstGeom>
          <a:solidFill>
            <a:srgbClr val="E3A038"/>
          </a:solidFill>
          <a:ln w="12700">
            <a:solidFill>
              <a:srgbClr val="E3A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3" name="Shape 21" descr="Decorative graphic element used for layout or diagram structure." title="Decorative graphic"/>
          <p:cNvSpPr/>
          <p:nvPr/>
        </p:nvSpPr>
        <p:spPr>
          <a:xfrm>
            <a:off x="6641812" y="3384422"/>
            <a:ext cx="1971836" cy="906387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7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4" name="Shape 22" descr="Decorative graphic element used for layout or diagram structure." title="Decorative graphic"/>
          <p:cNvSpPr/>
          <p:nvPr/>
        </p:nvSpPr>
        <p:spPr>
          <a:xfrm>
            <a:off x="6641812" y="3442716"/>
            <a:ext cx="54864" cy="720090"/>
          </a:xfrm>
          <a:prstGeom prst="rect">
            <a:avLst/>
          </a:prstGeom>
          <a:solidFill>
            <a:srgbClr val="7463A7"/>
          </a:solidFill>
          <a:ln w="12700">
            <a:solidFill>
              <a:srgbClr val="7463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" name="Shape 25" descr="Decorative graphic element used for layout or diagram structure." title="Decorative graphic"/>
          <p:cNvSpPr/>
          <p:nvPr/>
        </p:nvSpPr>
        <p:spPr>
          <a:xfrm>
            <a:off x="2770632" y="4224528"/>
            <a:ext cx="3593592" cy="0"/>
          </a:xfrm>
          <a:prstGeom prst="line">
            <a:avLst/>
          </a:prstGeom>
          <a:noFill/>
          <a:ln w="25400">
            <a:solidFill>
              <a:srgbClr val="E3A03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9" name="Shape 27" descr="Decorative graphic element used for layout or diagram structure." title="Decorative graphic"/>
          <p:cNvSpPr/>
          <p:nvPr/>
        </p:nvSpPr>
        <p:spPr>
          <a:xfrm>
            <a:off x="425196" y="4834890"/>
            <a:ext cx="8263890" cy="0"/>
          </a:xfrm>
          <a:prstGeom prst="line">
            <a:avLst/>
          </a:prstGeom>
          <a:noFill/>
          <a:ln w="7620">
            <a:solidFill>
              <a:srgbClr val="D3DBE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5197" y="217180"/>
            <a:ext cx="8351410" cy="68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multi-module AI feedback system</a:t>
            </a:r>
            <a:endParaRPr lang="en-US" sz="2800" dirty="0"/>
          </a:p>
        </p:txBody>
      </p:sp>
      <p:sp>
        <p:nvSpPr>
          <p:cNvPr id="10" name="Text: AI feedback hub"/>
          <p:cNvSpPr/>
          <p:nvPr/>
        </p:nvSpPr>
        <p:spPr>
          <a:xfrm>
            <a:off x="3895344" y="2084832"/>
            <a:ext cx="1344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1575" b="1" dirty="0">
                <a:solidFill>
                  <a:srgbClr val="FFFFFF"/>
                </a:solidFill>
              </a:rPr>
              <a:t>AI feedback</a:t>
            </a:r>
            <a:endParaRPr lang="en-US" sz="1575" dirty="0"/>
          </a:p>
          <a:p>
            <a:pPr algn="ctr"/>
            <a:r>
              <a:rPr lang="en-US" sz="1575" b="1" dirty="0">
                <a:solidFill>
                  <a:srgbClr val="FFFFFF"/>
                </a:solidFill>
              </a:rPr>
              <a:t>hub</a:t>
            </a:r>
            <a:endParaRPr lang="en-US" sz="1575" dirty="0"/>
          </a:p>
        </p:txBody>
      </p:sp>
      <p:sp>
        <p:nvSpPr>
          <p:cNvPr id="13" name="Text: Faculty"/>
          <p:cNvSpPr/>
          <p:nvPr/>
        </p:nvSpPr>
        <p:spPr>
          <a:xfrm>
            <a:off x="699516" y="1371599"/>
            <a:ext cx="1783080" cy="264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Faculty</a:t>
            </a:r>
            <a:endParaRPr lang="en-US" sz="1800" dirty="0"/>
          </a:p>
        </p:txBody>
      </p:sp>
      <p:sp>
        <p:nvSpPr>
          <p:cNvPr id="14" name="Text: teaching practices, assignment design, classroom needs"/>
          <p:cNvSpPr/>
          <p:nvPr/>
        </p:nvSpPr>
        <p:spPr>
          <a:xfrm>
            <a:off x="699516" y="150875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5F6B78"/>
                </a:solidFill>
              </a:rPr>
              <a:t>teaching practices, assignment design, classroom needs</a:t>
            </a:r>
            <a:endParaRPr lang="en-US" dirty="0"/>
          </a:p>
        </p:txBody>
      </p:sp>
      <p:sp>
        <p:nvSpPr>
          <p:cNvPr id="17" name="Text: Students"/>
          <p:cNvSpPr/>
          <p:nvPr/>
        </p:nvSpPr>
        <p:spPr>
          <a:xfrm>
            <a:off x="6597396" y="1251587"/>
            <a:ext cx="2002536" cy="29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8" name="Text: learning experience, access, feedback clarity"/>
          <p:cNvSpPr/>
          <p:nvPr/>
        </p:nvSpPr>
        <p:spPr>
          <a:xfrm>
            <a:off x="6652260" y="1536192"/>
            <a:ext cx="1947672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5F6B78"/>
                </a:solidFill>
              </a:rPr>
              <a:t>learning experience, access, feedback clarity</a:t>
            </a:r>
            <a:endParaRPr lang="en-US" dirty="0"/>
          </a:p>
        </p:txBody>
      </p:sp>
      <p:sp>
        <p:nvSpPr>
          <p:cNvPr id="21" name="Text: Staff"/>
          <p:cNvSpPr/>
          <p:nvPr/>
        </p:nvSpPr>
        <p:spPr>
          <a:xfrm>
            <a:off x="461773" y="3145529"/>
            <a:ext cx="1938528" cy="288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</a:t>
            </a:r>
            <a:endParaRPr lang="en-US" sz="1800" dirty="0"/>
          </a:p>
        </p:txBody>
      </p:sp>
      <p:sp>
        <p:nvSpPr>
          <p:cNvPr id="22" name="Text: advising, workflow, campus communication"/>
          <p:cNvSpPr/>
          <p:nvPr/>
        </p:nvSpPr>
        <p:spPr>
          <a:xfrm>
            <a:off x="544068" y="3717034"/>
            <a:ext cx="1938527" cy="19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600" dirty="0">
                <a:solidFill>
                  <a:srgbClr val="5F6B78"/>
                </a:solidFill>
              </a:rPr>
              <a:t>advising, workflow, campus communication</a:t>
            </a:r>
            <a:endParaRPr lang="en-US" sz="1600" dirty="0"/>
          </a:p>
        </p:txBody>
      </p:sp>
      <p:sp>
        <p:nvSpPr>
          <p:cNvPr id="25" name="Text: Administrators"/>
          <p:cNvSpPr/>
          <p:nvPr/>
        </p:nvSpPr>
        <p:spPr>
          <a:xfrm>
            <a:off x="6803790" y="3360419"/>
            <a:ext cx="179614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Administrators</a:t>
            </a:r>
            <a:endParaRPr lang="en-US" dirty="0"/>
          </a:p>
        </p:txBody>
      </p:sp>
      <p:sp>
        <p:nvSpPr>
          <p:cNvPr id="26" name="Text: resources, policy, secure platforms, evaluation"/>
          <p:cNvSpPr/>
          <p:nvPr/>
        </p:nvSpPr>
        <p:spPr>
          <a:xfrm>
            <a:off x="6858001" y="3593592"/>
            <a:ext cx="18516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5F6B78"/>
                </a:solidFill>
              </a:rPr>
              <a:t>resources, policy, secure platforms, evaluation</a:t>
            </a:r>
            <a:endParaRPr lang="en-US" dirty="0"/>
          </a:p>
        </p:txBody>
      </p:sp>
      <p:sp>
        <p:nvSpPr>
          <p:cNvPr id="28" name="Text: Feedback becomes a learning loop, not a compliance repo"/>
          <p:cNvSpPr/>
          <p:nvPr/>
        </p:nvSpPr>
        <p:spPr>
          <a:xfrm>
            <a:off x="2482596" y="4402836"/>
            <a:ext cx="4251960" cy="123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5" b="1" dirty="0">
                <a:solidFill>
                  <a:srgbClr val="15324A"/>
                </a:solidFill>
              </a:rPr>
              <a:t>Feedback becomes a learning loop, not a compliance report.</a:t>
            </a:r>
            <a:endParaRPr lang="en-US" sz="1095" dirty="0"/>
          </a:p>
        </p:txBody>
      </p:sp>
      <p:sp>
        <p:nvSpPr>
          <p:cNvPr id="30" name="Text: Responsible AI Adoption in Higher Education"/>
          <p:cNvSpPr/>
          <p:nvPr/>
        </p:nvSpPr>
        <p:spPr>
          <a:xfrm>
            <a:off x="452628" y="4896612"/>
            <a:ext cx="64465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8" dirty="0">
                <a:solidFill>
                  <a:srgbClr val="7C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 Adoption in Higher Education</a:t>
            </a:r>
            <a:endParaRPr lang="en-US" sz="548" dirty="0"/>
          </a:p>
        </p:txBody>
      </p:sp>
      <p:sp>
        <p:nvSpPr>
          <p:cNvPr id="31" name="Text: 03"/>
          <p:cNvSpPr/>
          <p:nvPr/>
        </p:nvSpPr>
        <p:spPr>
          <a:xfrm>
            <a:off x="8401050" y="4869180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b="1" dirty="0">
                <a:solidFill>
                  <a:srgbClr val="E3A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738B-1207-2113-B120-089F8E41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SHARED RESOURCES</a:t>
            </a:r>
          </a:p>
        </p:txBody>
      </p:sp>
      <p:sp>
        <p:nvSpPr>
          <p:cNvPr id="3" name="Text: Build shared repositories • Collect teaching materials,">
            <a:extLst>
              <a:ext uri="{FF2B5EF4-FFF2-40B4-BE49-F238E27FC236}">
                <a16:creationId xmlns:a16="http://schemas.microsoft.com/office/drawing/2014/main" id="{EE734AF3-C420-1288-9E70-567383AAA4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 shared repositories</a:t>
            </a:r>
          </a:p>
          <a:p>
            <a:r>
              <a:rPr lang="en-US" dirty="0"/>
              <a:t>• Collect teaching materials, prompts, datasets, rubrics, and case studies.</a:t>
            </a:r>
          </a:p>
          <a:p>
            <a:endParaRPr lang="en-US" dirty="0"/>
          </a:p>
          <a:p>
            <a:r>
              <a:rPr lang="en-US" dirty="0"/>
              <a:t>• Make resources adaptable across disciplines </a:t>
            </a:r>
          </a:p>
          <a:p>
            <a:endParaRPr lang="en-US" dirty="0"/>
          </a:p>
          <a:p>
            <a:r>
              <a:rPr lang="en-US" dirty="0"/>
              <a:t>• Reduce duplication so instructors do not have to work alone.</a:t>
            </a:r>
          </a:p>
          <a:p>
            <a:endParaRPr lang="en-US" dirty="0"/>
          </a:p>
          <a:p>
            <a:r>
              <a:rPr lang="en-US" dirty="0"/>
              <a:t>• Support transparency by documenting what works, what fails, and</a:t>
            </a:r>
          </a:p>
          <a:p>
            <a:r>
              <a:rPr lang="en-US" dirty="0"/>
              <a:t>why.</a:t>
            </a:r>
          </a:p>
          <a:p>
            <a:r>
              <a:rPr lang="en-US" dirty="0"/>
              <a:t>Make reuse and adaptation the default practice.</a:t>
            </a:r>
          </a:p>
        </p:txBody>
      </p:sp>
    </p:spTree>
    <p:extLst>
      <p:ext uri="{BB962C8B-B14F-4D97-AF65-F5344CB8AC3E}">
        <p14:creationId xmlns:p14="http://schemas.microsoft.com/office/powerpoint/2010/main" val="53756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B348-3541-7F2D-1782-8628339F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50" y="351064"/>
            <a:ext cx="7971300" cy="1004700"/>
          </a:xfrm>
        </p:spPr>
        <p:txBody>
          <a:bodyPr/>
          <a:lstStyle/>
          <a:p>
            <a:pPr algn="ctr"/>
            <a:r>
              <a:rPr lang="en-US" dirty="0"/>
              <a:t>GOVERNANCE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: Set clear policies before scaling • Privacy and data us">
            <a:extLst>
              <a:ext uri="{FF2B5EF4-FFF2-40B4-BE49-F238E27FC236}">
                <a16:creationId xmlns:a16="http://schemas.microsoft.com/office/drawing/2014/main" id="{A50324D3-F1E0-B326-6167-770AE0466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300" y="1065150"/>
            <a:ext cx="8351400" cy="3163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Set clear policies before scaling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>
                <a:solidFill>
                  <a:srgbClr val="00B050"/>
                </a:solidFill>
              </a:rPr>
              <a:t>Privacy and data use: </a:t>
            </a:r>
            <a:r>
              <a:rPr lang="en-US" dirty="0"/>
              <a:t>define collection, consent, access, and</a:t>
            </a:r>
          </a:p>
          <a:p>
            <a:pPr>
              <a:lnSpc>
                <a:spcPct val="150000"/>
              </a:lnSpc>
            </a:pPr>
            <a:r>
              <a:rPr lang="en-US" dirty="0"/>
              <a:t>retention.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</a:rPr>
              <a:t>• </a:t>
            </a:r>
            <a:r>
              <a:rPr lang="en-US" b="1" dirty="0">
                <a:solidFill>
                  <a:srgbClr val="0070C0"/>
                </a:solidFill>
              </a:rPr>
              <a:t>Transparency: </a:t>
            </a:r>
            <a:r>
              <a:rPr lang="en-US" dirty="0"/>
              <a:t>explain when AI is used and how outputs should be</a:t>
            </a:r>
          </a:p>
          <a:p>
            <a:pPr>
              <a:lnSpc>
                <a:spcPct val="150000"/>
              </a:lnSpc>
            </a:pPr>
            <a:r>
              <a:rPr lang="en-US" dirty="0"/>
              <a:t>interpreted.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>
                <a:solidFill>
                  <a:srgbClr val="7030A0"/>
                </a:solidFill>
              </a:rPr>
              <a:t>Academic freedom and expression:</a:t>
            </a:r>
            <a:r>
              <a:rPr lang="en-US" b="1" dirty="0"/>
              <a:t> </a:t>
            </a:r>
            <a:r>
              <a:rPr lang="en-US" dirty="0"/>
              <a:t>protect open inquiry and teaching</a:t>
            </a:r>
          </a:p>
          <a:p>
            <a:pPr>
              <a:lnSpc>
                <a:spcPct val="150000"/>
              </a:lnSpc>
            </a:pPr>
            <a:r>
              <a:rPr lang="en-US" dirty="0"/>
              <a:t>agency.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>
                <a:solidFill>
                  <a:srgbClr val="FF0000"/>
                </a:solidFill>
              </a:rPr>
              <a:t>Safeguards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reduce harmful, biased, or inappropriate outputs.</a:t>
            </a:r>
          </a:p>
          <a:p>
            <a:pPr>
              <a:lnSpc>
                <a:spcPct val="150000"/>
              </a:lnSpc>
            </a:pPr>
            <a:r>
              <a:rPr lang="en-US" dirty="0"/>
              <a:t>Good governance enables responsible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203520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F605C-FBA5-9B84-5E2A-C938C353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COMMUNITY SUPPORT</a:t>
            </a:r>
          </a:p>
        </p:txBody>
      </p:sp>
      <p:sp>
        <p:nvSpPr>
          <p:cNvPr id="3" name="Text: Create faculty communities of practice for peer learnin">
            <a:extLst>
              <a:ext uri="{FF2B5EF4-FFF2-40B4-BE49-F238E27FC236}">
                <a16:creationId xmlns:a16="http://schemas.microsoft.com/office/drawing/2014/main" id="{6355BBA4-25DE-73AE-D300-E89B5A13A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774" y="1065150"/>
            <a:ext cx="8357189" cy="3449700"/>
          </a:xfrm>
        </p:spPr>
        <p:txBody>
          <a:bodyPr/>
          <a:lstStyle/>
          <a:p>
            <a:r>
              <a:rPr lang="en-US" dirty="0"/>
              <a:t>Create faculty communities of practice for peer learning and testing.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• Develop common standards for ethical and effective implementation.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• Improve feedback literacy across faculty, students, and staff.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• Treat local classroom experience as evidence for better decisions.</a:t>
            </a: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Community support makes policies usable rather than abstract.</a:t>
            </a:r>
          </a:p>
        </p:txBody>
      </p:sp>
    </p:spTree>
    <p:extLst>
      <p:ext uri="{BB962C8B-B14F-4D97-AF65-F5344CB8AC3E}">
        <p14:creationId xmlns:p14="http://schemas.microsoft.com/office/powerpoint/2010/main" val="33335642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316</Words>
  <Application>Microsoft Office PowerPoint</Application>
  <PresentationFormat>On-screen Show (16:9)</PresentationFormat>
  <Paragraphs>55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Simple Light</vt:lpstr>
      <vt:lpstr>Responsible AI Adoption in Higher Education </vt:lpstr>
      <vt:lpstr>Responsible AI in Education</vt:lpstr>
      <vt:lpstr>A multi-module AI feedback system</vt:lpstr>
      <vt:lpstr>SHARED RESOURCES</vt:lpstr>
      <vt:lpstr>GOVERNANCE </vt:lpstr>
      <vt:lpstr> COMMUNITY SUPPORT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 Adoption in Higher Education</dc:title>
  <dc:subject>Responsible AI adoption practices for higher education</dc:subject>
  <dc:creator>Dr. Nazia Sharmin</dc:creator>
  <dc:description>Accessible PowerPoint presentation preserving the original Appalachian State template and graphics.</dc:description>
  <cp:lastModifiedBy>Sharmin, Nazia</cp:lastModifiedBy>
  <cp:revision>8</cp:revision>
  <dcterms:modified xsi:type="dcterms:W3CDTF">2026-06-17T11:38:58Z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2026-06-17T07:42:50Z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6a4078b4-1c2d-4ad9-86b1-76f9fd0656a9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10, 3, 0, 1</vt:lpwstr>
  </property>
</Properties>
</file>