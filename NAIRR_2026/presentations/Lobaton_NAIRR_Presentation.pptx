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6" r:id="rId2"/>
  </p:sldMasterIdLst>
  <p:notesMasterIdLst>
    <p:notesMasterId r:id="rId17"/>
  </p:notesMasterIdLst>
  <p:sldIdLst>
    <p:sldId id="256" r:id="rId3"/>
    <p:sldId id="262" r:id="rId4"/>
    <p:sldId id="526" r:id="rId5"/>
    <p:sldId id="528" r:id="rId6"/>
    <p:sldId id="529" r:id="rId7"/>
    <p:sldId id="536" r:id="rId8"/>
    <p:sldId id="537" r:id="rId9"/>
    <p:sldId id="538" r:id="rId10"/>
    <p:sldId id="539" r:id="rId11"/>
    <p:sldId id="530" r:id="rId12"/>
    <p:sldId id="534" r:id="rId13"/>
    <p:sldId id="535" r:id="rId14"/>
    <p:sldId id="532" r:id="rId15"/>
    <p:sldId id="49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0" autoAdjust="0"/>
    <p:restoredTop sz="84314" autoAdjust="0"/>
  </p:normalViewPr>
  <p:slideViewPr>
    <p:cSldViewPr snapToGrid="0">
      <p:cViewPr varScale="1">
        <p:scale>
          <a:sx n="77" d="100"/>
          <a:sy n="77" d="100"/>
        </p:scale>
        <p:origin x="115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5F10D-8458-4E6F-9618-534AA69928F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1747A-3704-42CB-8C14-E436D8D4F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3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bushes with a building in the background&#10;&#10;Description automatically generated">
            <a:extLst>
              <a:ext uri="{FF2B5EF4-FFF2-40B4-BE49-F238E27FC236}">
                <a16:creationId xmlns:a16="http://schemas.microsoft.com/office/drawing/2014/main" id="{2EA78DA7-0E3B-49C1-BDB4-8D3AA3143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85"/>
          <a:stretch/>
        </p:blipFill>
        <p:spPr>
          <a:xfrm>
            <a:off x="0" y="701531"/>
            <a:ext cx="12208478" cy="61511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546" y="1122363"/>
            <a:ext cx="10010454" cy="1507821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7546" y="2878241"/>
            <a:ext cx="5743254" cy="106775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93F1D-697A-47B2-B9ED-0091CEBD812B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1A997-B3DA-4417-AE93-3D49F3E1B9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4" r="40744" b="52174"/>
          <a:stretch/>
        </p:blipFill>
        <p:spPr>
          <a:xfrm flipV="1">
            <a:off x="372661" y="6437823"/>
            <a:ext cx="11835817" cy="6002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7790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863A-31D0-4051-B21D-7E99A3B44E4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3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CC7D-1F77-469E-9FBA-05709B4CCF5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4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84086"/>
            <a:ext cx="5181600" cy="48928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84086"/>
            <a:ext cx="5181600" cy="48928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30A5A-37BE-4240-AD84-7C099E7DA54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5CC2-626A-41D5-B173-1FB79F793787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8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BE4C-219A-4962-99AC-F20CA2FB7C84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2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48AFF-0FE6-44A4-A109-4D38EEC5C9A5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3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559E1-7C36-4B39-A322-8E6E2FF81DC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4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614F5-3728-4BB3-9D8A-FA0CBBA1C40E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0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CACA-F8D8-4863-B98F-CB0F69C05234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D945-12F6-488D-9781-E6085D0DAA0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1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7" y="233965"/>
            <a:ext cx="10853547" cy="121876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7" y="5230717"/>
            <a:ext cx="10853547" cy="1002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677337" y="1637733"/>
            <a:ext cx="10853547" cy="3425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1B8D28-B110-E345-A511-39B3D08E73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052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5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5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5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C93D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5893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4E22-7EBE-5818-7291-4DCD82C15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1DF6A-8498-726C-84AC-0B83112B7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AA09C-E8AC-31BC-0CA1-5B38F5E7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B2315-6A2D-3751-8EB8-2F55C4CD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6A8D3-2B51-8E85-D559-BA39F2C6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BE9E-8CA8-85D6-C3E7-5F2AEDE8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65C75-E507-268E-3E12-FEF07051A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12CD2-2816-8914-BBFB-B2C0E52A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0FF46-223C-2D4A-2513-DBD0EBDB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2A1C-201A-78E4-2F44-09C9ABFC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82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0A23-8374-99DD-A185-B5403DFB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E80E-D6B7-6F5F-AF04-9328F261E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38BE-7E03-511E-2485-9240C21E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8CBB1-EACF-E4E1-8ADC-422CBD26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1FD0-F112-7C05-A368-3283FC75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87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8120-5629-356B-6B5B-5AC38A18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5C31-0DAE-5691-8E9F-D2A9E13A8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0C16A-EF42-B0E2-8E72-1F9EECA73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777BA-8B92-74AB-30B0-7E2B6D9E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485C9-9D83-CC10-7A54-0F1AE8C9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BC3E7-F446-A990-FF1D-B1DBE7E2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6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3E43-FC92-20E2-C2C5-5C6DB603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A2124-700C-03FF-5169-34F8AAD90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00F8F-9F13-89BF-48BE-7C7448F01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AC365-97F2-E337-67B0-A506E93D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72627-63D9-0D31-48A2-04A3A2294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C4670-80E9-7102-B7BE-D1EB394C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2C3E4-C811-EC02-7EAE-499FC667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2C509-C103-5E70-AE22-B68AB836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92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8666-FDA2-1CD1-C82C-54626463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E1A47-F0FD-6A02-CA9D-A6EB588A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E7AF-2A9E-D29B-12C5-30F17558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79E6E-4D18-91B0-DA1E-2942034C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39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16960-661E-7F39-C864-7D6ED2DA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4593E-8814-FE17-2930-83578425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AB1EE-8B55-28F5-4E7B-76451803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15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647A-703E-DBF0-9D3D-65742F1A3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04E3-093D-E6ED-0931-40BEBCFE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31467-9692-E5EC-6DFF-8394DD02C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ACFE1-14BC-A90C-D1A0-A509365F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8A5B7-35E5-A3A9-6245-3D0534DD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2E10E-A6D9-E17D-02B0-E2C27351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15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EBAD-6516-30C6-CEED-FAD2FE43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297D4-7A69-3421-3AB0-03B831E18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540F1-3F79-B837-B6A9-3B28692CB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A3620-566F-9B42-9EEC-FCD76BB6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02C37-08EC-F651-9DAA-53D0C152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06C9F-E9B8-18B5-8E22-DBCBAE62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57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2AD8-5812-A031-10EF-247E93A8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82BB6-58AC-EB70-4021-9DBCB773C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CBAB2-7D68-1812-2570-55EBE5BC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88704-3DB8-7067-7049-CBE1FBDE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B6DE1-8046-1483-AC9F-E7A68898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749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7E46B5-E94C-DF72-7787-6C392D9D3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99A5C-CA58-7064-8A94-3D20B5FCC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11F89-DEB6-952C-7D5F-F96DE6CE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C084D-4D44-6808-A6BB-CC513480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139CF-134C-BF35-4CBC-829EC3A0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65274"/>
            <a:ext cx="10515600" cy="506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488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5FF9B-43D3-481B-8B5E-80F9958DD9C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51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488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14B29-2612-49B7-BCD5-5B417A3C39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F3379-88AD-4542-B578-55A6248E9327}"/>
              </a:ext>
            </a:extLst>
          </p:cNvPr>
          <p:cNvSpPr/>
          <p:nvPr userDrawn="1"/>
        </p:nvSpPr>
        <p:spPr>
          <a:xfrm>
            <a:off x="0" y="3"/>
            <a:ext cx="12192000" cy="9020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70DB7D-F1F6-4372-95F9-E7CCAA7CF6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4" r="40744" b="52174"/>
          <a:stretch/>
        </p:blipFill>
        <p:spPr>
          <a:xfrm flipV="1">
            <a:off x="372661" y="6437823"/>
            <a:ext cx="11835817" cy="6002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2" descr="https://brand.ncsu.edu/assets/logos/ncstate-brick-4x1-blk-max.png">
            <a:extLst>
              <a:ext uri="{FF2B5EF4-FFF2-40B4-BE49-F238E27FC236}">
                <a16:creationId xmlns:a16="http://schemas.microsoft.com/office/drawing/2014/main" id="{D56807FD-AECF-41D6-9A0E-40A82D027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212655"/>
            <a:ext cx="30861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2661" y="10633"/>
            <a:ext cx="10515600" cy="995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246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D646D-1A00-F4D3-3BD0-FA14B146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A4A3F-493F-78B9-688F-06A477F2B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35D6C-4ACB-8B2A-D231-3D910E4A8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68BAC-B6B6-466B-9E40-BD58A398930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6B8B-6BC3-B6D9-90CE-5061C946E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B038-64CA-5C62-5131-1F1479CE2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1649F-CF35-4A5A-9638-B1379BBE8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6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ecomputing.blogspot.com/2015/12/developing-computational-thinking-in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jecomputing.blogspot.com/2015/12/developing-computational-thinking-in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ailto:Edgar.lobaton@ncsu.edu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416" y="1058238"/>
            <a:ext cx="10767441" cy="2155225"/>
          </a:xfrm>
          <a:solidFill>
            <a:schemeClr val="bg2">
              <a:alpha val="75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Scaling Neural Networks Education with NAIRR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and AI-Assisted Assignments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8575" y="5363110"/>
            <a:ext cx="5210709" cy="1078786"/>
          </a:xfrm>
          <a:solidFill>
            <a:schemeClr val="bg2">
              <a:alpha val="75000"/>
            </a:schemeClr>
          </a:solidFill>
        </p:spPr>
        <p:txBody>
          <a:bodyPr anchor="ctr">
            <a:normAutofit/>
          </a:bodyPr>
          <a:lstStyle/>
          <a:p>
            <a:pPr marL="114300" algn="l">
              <a:lnSpc>
                <a:spcPct val="110000"/>
              </a:lnSpc>
              <a:spcBef>
                <a:spcPts val="0"/>
              </a:spcBef>
            </a:pPr>
            <a:r>
              <a:rPr lang="en-US" sz="1800" b="1" dirty="0"/>
              <a:t>Edgar Lobaton, PhD</a:t>
            </a:r>
            <a:endParaRPr lang="en-US" sz="1800" dirty="0"/>
          </a:p>
          <a:p>
            <a:pPr marL="114300" algn="l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Professor, Electrical and Computer Engineering Dept.</a:t>
            </a:r>
          </a:p>
          <a:p>
            <a:pPr marL="114300" algn="l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Director, Applied AI Initiative, College of Engr. </a:t>
            </a:r>
          </a:p>
        </p:txBody>
      </p:sp>
    </p:spTree>
    <p:extLst>
      <p:ext uri="{BB962C8B-B14F-4D97-AF65-F5344CB8AC3E}">
        <p14:creationId xmlns:p14="http://schemas.microsoft.com/office/powerpoint/2010/main" val="46769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8FFDE-BB52-37F2-4A66-B93D5CFF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6351EC-B979-9EDD-25EC-32FA4BE068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344" r="153" b="-1"/>
          <a:stretch>
            <a:fillRect/>
          </a:stretch>
        </p:blipFill>
        <p:spPr>
          <a:xfrm>
            <a:off x="9462" y="0"/>
            <a:ext cx="12144960" cy="6676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D4867A-B445-476B-710C-7ED811E03723}"/>
              </a:ext>
            </a:extLst>
          </p:cNvPr>
          <p:cNvSpPr txBox="1"/>
          <p:nvPr/>
        </p:nvSpPr>
        <p:spPr>
          <a:xfrm>
            <a:off x="818321" y="1002273"/>
            <a:ext cx="10165218" cy="28065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 w="1270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Neural Nets and Deep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98B6-7581-29FD-9CAD-62B7A28192E3}"/>
              </a:ext>
            </a:extLst>
          </p:cNvPr>
          <p:cNvSpPr txBox="1"/>
          <p:nvPr/>
        </p:nvSpPr>
        <p:spPr>
          <a:xfrm>
            <a:off x="818321" y="4767361"/>
            <a:ext cx="10165218" cy="190906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10000"/>
              </a:lnSpc>
              <a:spcAft>
                <a:spcPts val="600"/>
              </a:spcAft>
              <a:defRPr sz="1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Prerequisites: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Python, Linear Algebra, Vector Calculus, Probability and  Statistics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Topics Covered: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Techniques for the design of neural networks for machine learning. An introduction to deep learning. Emphasis on theoretical and practical aspects including implementations using state-of-the-art software libraries.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Goal: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Student should learn fundamental about techniques and how to apply them.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FD69F-A51C-BC40-EE76-5B05E3444C5C}"/>
              </a:ext>
            </a:extLst>
          </p:cNvPr>
          <p:cNvSpPr txBox="1"/>
          <p:nvPr/>
        </p:nvSpPr>
        <p:spPr>
          <a:xfrm>
            <a:off x="7714268" y="343128"/>
            <a:ext cx="3900204" cy="1305809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10000"/>
              </a:lnSpc>
              <a:spcAft>
                <a:spcPts val="600"/>
              </a:spcAft>
              <a:defRPr sz="1600" b="1"/>
            </a:lvl1pPr>
          </a:lstStyle>
          <a:p>
            <a:pPr marL="168275"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Target: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Undergrads and Grads</a:t>
            </a:r>
          </a:p>
          <a:p>
            <a:pPr marL="168275"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E2841">
                    <a:lumMod val="50000"/>
                    <a:lumOff val="50000"/>
                  </a:srgbClr>
                </a:solidFill>
                <a:latin typeface="Aptos" panose="02110004020202020204"/>
              </a:rPr>
              <a:t>Departments: </a:t>
            </a:r>
            <a:r>
              <a:rPr lang="en-US" sz="2000" b="0" dirty="0">
                <a:solidFill>
                  <a:schemeClr val="bg1"/>
                </a:solidFill>
                <a:latin typeface="Aptos" panose="02110004020202020204"/>
              </a:rPr>
              <a:t>50% CSC, 40% ECE, 10% Other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67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6AAE-8B4B-FC06-37D3-C1890BFD2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48BDF9-2FD5-3D8B-9248-0B8E07CF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DD4E4-1CCB-EBEE-9E4A-1EE87480B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84086"/>
            <a:ext cx="6456219" cy="48928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Assignments:</a:t>
            </a:r>
          </a:p>
          <a:p>
            <a:r>
              <a:rPr lang="en-US" dirty="0"/>
              <a:t>Programming Assignments</a:t>
            </a:r>
          </a:p>
          <a:p>
            <a:r>
              <a:rPr lang="en-US" dirty="0"/>
              <a:t>Competition Project</a:t>
            </a:r>
          </a:p>
          <a:p>
            <a:r>
              <a:rPr lang="en-US" dirty="0"/>
              <a:t>Final Project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200" b="1" dirty="0"/>
              <a:t>Challenges:</a:t>
            </a:r>
          </a:p>
          <a:p>
            <a:r>
              <a:rPr lang="en-US" dirty="0"/>
              <a:t>How do we scale infrastructure? Going beyond Google Colab.</a:t>
            </a:r>
          </a:p>
          <a:p>
            <a:r>
              <a:rPr lang="en-US" dirty="0"/>
              <a:t>How do we scale higher-order activities?</a:t>
            </a:r>
          </a:p>
          <a:p>
            <a:r>
              <a:rPr lang="en-US" dirty="0"/>
              <a:t>How do we scale tutoring?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649D99-54AD-93DE-E445-32058301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15050D-F8D3-DC91-E603-6AB4F6ACFA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3408" t="-1" r="15246" b="-1"/>
          <a:stretch>
            <a:fillRect/>
          </a:stretch>
        </p:blipFill>
        <p:spPr>
          <a:xfrm>
            <a:off x="7824355" y="1284086"/>
            <a:ext cx="3875809" cy="492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6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>
            <a:extLst>
              <a:ext uri="{FF2B5EF4-FFF2-40B4-BE49-F238E27FC236}">
                <a16:creationId xmlns:a16="http://schemas.microsoft.com/office/drawing/2014/main" id="{1F8569A7-BA7D-5E51-7EE2-A87AE287D1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32"/>
          <a:stretch>
            <a:fillRect/>
          </a:stretch>
        </p:blipFill>
        <p:spPr>
          <a:xfrm>
            <a:off x="760344" y="1705908"/>
            <a:ext cx="7994374" cy="445712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09BEBF-9199-9D83-3EB9-205E179F1A36}"/>
              </a:ext>
            </a:extLst>
          </p:cNvPr>
          <p:cNvSpPr/>
          <p:nvPr/>
        </p:nvSpPr>
        <p:spPr>
          <a:xfrm>
            <a:off x="8040757" y="2263671"/>
            <a:ext cx="3882886" cy="995226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51663D-BFB4-DB15-2315-4E6A4352BF8A}"/>
              </a:ext>
            </a:extLst>
          </p:cNvPr>
          <p:cNvSpPr/>
          <p:nvPr/>
        </p:nvSpPr>
        <p:spPr>
          <a:xfrm>
            <a:off x="8040757" y="1324546"/>
            <a:ext cx="3882886" cy="69223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08909-147A-4587-9B70-54385AAC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E1CE7-2EDD-40B4-C9D1-A8BC43C2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8E00BF-5C93-62AE-FB57-FD7614A168B4}"/>
              </a:ext>
            </a:extLst>
          </p:cNvPr>
          <p:cNvSpPr txBox="1">
            <a:spLocks/>
          </p:cNvSpPr>
          <p:nvPr/>
        </p:nvSpPr>
        <p:spPr>
          <a:xfrm>
            <a:off x="8189843" y="1427554"/>
            <a:ext cx="3733800" cy="70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b="1" dirty="0"/>
              <a:t>Year 1: </a:t>
            </a:r>
            <a:r>
              <a:rPr lang="en-US" sz="2400" dirty="0"/>
              <a:t>GitHub Classroom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69F2D94-E8A6-7903-3072-1AAB96A75CB6}"/>
              </a:ext>
            </a:extLst>
          </p:cNvPr>
          <p:cNvSpPr txBox="1">
            <a:spLocks/>
          </p:cNvSpPr>
          <p:nvPr/>
        </p:nvSpPr>
        <p:spPr>
          <a:xfrm>
            <a:off x="8115300" y="2302565"/>
            <a:ext cx="3733800" cy="1126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Wingdings" panose="05000000000000000000" pitchFamily="2" charset="2"/>
              <a:buNone/>
            </a:pPr>
            <a:r>
              <a:rPr lang="en-US" sz="2400" b="1" dirty="0"/>
              <a:t>Year 2: </a:t>
            </a:r>
            <a:r>
              <a:rPr lang="en-US" sz="2400" dirty="0"/>
              <a:t>GitHub Org + Local Server for Grading</a:t>
            </a:r>
          </a:p>
        </p:txBody>
      </p:sp>
    </p:spTree>
    <p:extLst>
      <p:ext uri="{BB962C8B-B14F-4D97-AF65-F5344CB8AC3E}">
        <p14:creationId xmlns:p14="http://schemas.microsoft.com/office/powerpoint/2010/main" val="35396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7911-A206-6738-97CA-14224C87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AD54-9EE9-F5B0-B248-4B8C9E85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Higher-Order Thinking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D53FB79-BECD-8736-C382-6D308D2CBF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focused on final project activities, e.g., the proposal.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dk1"/>
                </a:solidFill>
              </a:rPr>
              <a:t>Structure of Proposal (500 words):</a:t>
            </a:r>
            <a:endParaRPr lang="en-US" dirty="0"/>
          </a:p>
          <a:p>
            <a:r>
              <a:rPr lang="en-US" sz="2400" dirty="0">
                <a:solidFill>
                  <a:schemeClr val="dk1"/>
                </a:solidFill>
              </a:rPr>
              <a:t>Introduction and Motivation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Problem Statement and Objectives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Methodology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Expected Outcomes and Impact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2CD863-4778-2719-20C6-4D98ABF9D6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dk1"/>
                </a:solidFill>
              </a:rPr>
              <a:t>Peer-Review Rubric:</a:t>
            </a:r>
            <a:endParaRPr lang="en-US" dirty="0"/>
          </a:p>
          <a:p>
            <a:r>
              <a:rPr lang="en-US" sz="2400" dirty="0">
                <a:solidFill>
                  <a:schemeClr val="dk1"/>
                </a:solidFill>
              </a:rPr>
              <a:t>Introduction and Motivation Content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Problem Statement and Object Content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Methodology Content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Expected Outcomes and Impact Content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Writing Clarity and Organization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</a:rPr>
              <a:t>Originality and Creativity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13358-6760-04AC-90EC-B236E183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0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D9E3-A3C2-57EA-3FD1-6D4ED57B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3827-805C-D5DD-1B84-7A1F172B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Higher-Order Thinking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F5E533-14C2-E6DB-4F10-C7BF786B9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Year 1 </a:t>
            </a:r>
            <a:r>
              <a:rPr lang="en-US" sz="2400" dirty="0"/>
              <a:t>– Peer Review + Unmonitored AI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Challenges</a:t>
            </a:r>
            <a:endParaRPr lang="en-US" sz="2400" b="1" dirty="0"/>
          </a:p>
          <a:p>
            <a:r>
              <a:rPr lang="en-US" sz="2400" dirty="0"/>
              <a:t>Wide-Range of Student Expertise in the Physical Domain (Depth and Breadth)</a:t>
            </a:r>
          </a:p>
          <a:p>
            <a:r>
              <a:rPr lang="en-US" sz="2400" dirty="0"/>
              <a:t>How do we monitor the use of AI tools?</a:t>
            </a:r>
          </a:p>
          <a:p>
            <a:r>
              <a:rPr lang="en-US" sz="2400" dirty="0"/>
              <a:t>How do we ensure that the AI tools are not overused?</a:t>
            </a:r>
          </a:p>
          <a:p>
            <a:r>
              <a:rPr lang="en-US" sz="2400" dirty="0"/>
              <a:t>Can we decouple knowledge gained from expertise gained in interacting with AI?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Year 1.5 </a:t>
            </a:r>
            <a:r>
              <a:rPr lang="en-US" sz="2400" dirty="0"/>
              <a:t>– Peer Review + Constrained AI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F664F-2701-F7EA-C9B0-164D1E8E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12DB-6209-4893-3F60-0FD71397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a Constrained Guide*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BBCE-9D74-E0F0-74BD-1D472AE00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12974"/>
            <a:ext cx="10515600" cy="1921074"/>
          </a:xfrm>
        </p:spPr>
        <p:txBody>
          <a:bodyPr/>
          <a:lstStyle/>
          <a:p>
            <a:r>
              <a:rPr lang="en-US" dirty="0"/>
              <a:t>Measurement Framework</a:t>
            </a:r>
          </a:p>
          <a:p>
            <a:r>
              <a:rPr lang="en-US" dirty="0"/>
              <a:t>Kritik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8045E-C212-9A17-E667-61AE60DD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7</a:t>
            </a:fld>
            <a:endParaRPr lang="en-US"/>
          </a:p>
        </p:txBody>
      </p:sp>
      <p:sp>
        <p:nvSpPr>
          <p:cNvPr id="5" name="Google Shape;165;p8">
            <a:extLst>
              <a:ext uri="{FF2B5EF4-FFF2-40B4-BE49-F238E27FC236}">
                <a16:creationId xmlns:a16="http://schemas.microsoft.com/office/drawing/2014/main" id="{9CA59D3E-7400-03CC-5C36-8E38C86D4B1D}"/>
              </a:ext>
            </a:extLst>
          </p:cNvPr>
          <p:cNvSpPr/>
          <p:nvPr/>
        </p:nvSpPr>
        <p:spPr>
          <a:xfrm>
            <a:off x="795404" y="1398769"/>
            <a:ext cx="3384646" cy="21892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 cap="flat" cmpd="sng">
            <a:solidFill>
              <a:srgbClr val="4844A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68575" rIns="9142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66;p8">
            <a:extLst>
              <a:ext uri="{FF2B5EF4-FFF2-40B4-BE49-F238E27FC236}">
                <a16:creationId xmlns:a16="http://schemas.microsoft.com/office/drawing/2014/main" id="{5AC11342-B958-A35F-F81D-30E4728A56B1}"/>
              </a:ext>
            </a:extLst>
          </p:cNvPr>
          <p:cNvSpPr/>
          <p:nvPr/>
        </p:nvSpPr>
        <p:spPr>
          <a:xfrm>
            <a:off x="1013330" y="1643817"/>
            <a:ext cx="1179492" cy="473922"/>
          </a:xfrm>
          <a:prstGeom prst="roundRect">
            <a:avLst>
              <a:gd name="adj" fmla="val 30000"/>
            </a:avLst>
          </a:prstGeom>
          <a:solidFill>
            <a:srgbClr val="4844A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PHASE 1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7;p8">
            <a:extLst>
              <a:ext uri="{FF2B5EF4-FFF2-40B4-BE49-F238E27FC236}">
                <a16:creationId xmlns:a16="http://schemas.microsoft.com/office/drawing/2014/main" id="{AC1D4661-114D-C001-BFF8-5CFE85905108}"/>
              </a:ext>
            </a:extLst>
          </p:cNvPr>
          <p:cNvSpPr txBox="1"/>
          <p:nvPr/>
        </p:nvSpPr>
        <p:spPr>
          <a:xfrm>
            <a:off x="1013330" y="2231932"/>
            <a:ext cx="2948538" cy="52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lang="en" sz="2000" b="1" i="0" u="none" strike="noStrike" cap="none" dirty="0">
                <a:solidFill>
                  <a:srgbClr val="4844A3"/>
                </a:solidFill>
                <a:latin typeface="Tajawal"/>
                <a:ea typeface="Tajawal"/>
                <a:cs typeface="Tajawal"/>
                <a:sym typeface="Tajawal"/>
              </a:rPr>
              <a:t>Pre-Proposal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68;p8">
            <a:extLst>
              <a:ext uri="{FF2B5EF4-FFF2-40B4-BE49-F238E27FC236}">
                <a16:creationId xmlns:a16="http://schemas.microsoft.com/office/drawing/2014/main" id="{2344D3ED-2E9A-ACF6-727E-DBE8FB6236C5}"/>
              </a:ext>
            </a:extLst>
          </p:cNvPr>
          <p:cNvSpPr txBox="1"/>
          <p:nvPr/>
        </p:nvSpPr>
        <p:spPr>
          <a:xfrm>
            <a:off x="1013330" y="2689354"/>
            <a:ext cx="2948538" cy="78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00" b="0" i="0" u="none" strike="noStrike" cap="none">
                <a:solidFill>
                  <a:srgbClr val="2A2A3C"/>
                </a:solidFill>
                <a:latin typeface="Tajawal"/>
                <a:ea typeface="Tajawal"/>
                <a:cs typeface="Tajawal"/>
                <a:sym typeface="Tajawal"/>
              </a:rPr>
              <a:t>Start of semester, before core instruction. Students draft a 500-word physics-aware proposal.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9;p8">
            <a:extLst>
              <a:ext uri="{FF2B5EF4-FFF2-40B4-BE49-F238E27FC236}">
                <a16:creationId xmlns:a16="http://schemas.microsoft.com/office/drawing/2014/main" id="{BCC87C5B-0364-4614-0E5F-425A4CBD853C}"/>
              </a:ext>
            </a:extLst>
          </p:cNvPr>
          <p:cNvSpPr/>
          <p:nvPr/>
        </p:nvSpPr>
        <p:spPr>
          <a:xfrm>
            <a:off x="4564497" y="1398769"/>
            <a:ext cx="3384646" cy="21892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 cap="flat" cmpd="sng">
            <a:solidFill>
              <a:srgbClr val="C93DB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68575" rIns="9142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70;p8">
            <a:extLst>
              <a:ext uri="{FF2B5EF4-FFF2-40B4-BE49-F238E27FC236}">
                <a16:creationId xmlns:a16="http://schemas.microsoft.com/office/drawing/2014/main" id="{3B787B6A-D383-FEA3-F31E-1338637F2E66}"/>
              </a:ext>
            </a:extLst>
          </p:cNvPr>
          <p:cNvSpPr/>
          <p:nvPr/>
        </p:nvSpPr>
        <p:spPr>
          <a:xfrm>
            <a:off x="4782423" y="1643817"/>
            <a:ext cx="1179492" cy="473922"/>
          </a:xfrm>
          <a:prstGeom prst="roundRect">
            <a:avLst>
              <a:gd name="adj" fmla="val 30000"/>
            </a:avLst>
          </a:prstGeom>
          <a:solidFill>
            <a:srgbClr val="C93D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Tajawal"/>
                <a:ea typeface="Tajawal"/>
                <a:cs typeface="Tajawal"/>
                <a:sym typeface="Tajawal"/>
              </a:rPr>
              <a:t>GUIDED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71;p8">
            <a:extLst>
              <a:ext uri="{FF2B5EF4-FFF2-40B4-BE49-F238E27FC236}">
                <a16:creationId xmlns:a16="http://schemas.microsoft.com/office/drawing/2014/main" id="{96B2B34E-8833-D742-8B91-041C216AB808}"/>
              </a:ext>
            </a:extLst>
          </p:cNvPr>
          <p:cNvSpPr txBox="1"/>
          <p:nvPr/>
        </p:nvSpPr>
        <p:spPr>
          <a:xfrm>
            <a:off x="4782423" y="2231932"/>
            <a:ext cx="2948538" cy="52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lang="en" sz="2000" b="1" i="0" u="none" strike="noStrike" cap="none">
                <a:solidFill>
                  <a:srgbClr val="C93DB8"/>
                </a:solidFill>
                <a:latin typeface="Tajawal"/>
                <a:ea typeface="Tajawal"/>
                <a:cs typeface="Tajawal"/>
                <a:sym typeface="Tajawal"/>
              </a:rPr>
              <a:t>Constrained AI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72;p8">
            <a:extLst>
              <a:ext uri="{FF2B5EF4-FFF2-40B4-BE49-F238E27FC236}">
                <a16:creationId xmlns:a16="http://schemas.microsoft.com/office/drawing/2014/main" id="{A3A18C39-16F4-8EC4-BB8A-D6734D91A326}"/>
              </a:ext>
            </a:extLst>
          </p:cNvPr>
          <p:cNvSpPr txBox="1"/>
          <p:nvPr/>
        </p:nvSpPr>
        <p:spPr>
          <a:xfrm>
            <a:off x="4782423" y="2689354"/>
            <a:ext cx="2948538" cy="78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00" b="0" i="0" u="none" strike="noStrike" cap="none">
                <a:solidFill>
                  <a:srgbClr val="2A2A3C"/>
                </a:solidFill>
                <a:latin typeface="Tajawal"/>
                <a:ea typeface="Tajawal"/>
                <a:cs typeface="Tajawal"/>
                <a:sym typeface="Tajawal"/>
              </a:rPr>
              <a:t>Assistant gives only structure, critique, definitions &amp; clarification — never solutions.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7;p8">
            <a:extLst>
              <a:ext uri="{FF2B5EF4-FFF2-40B4-BE49-F238E27FC236}">
                <a16:creationId xmlns:a16="http://schemas.microsoft.com/office/drawing/2014/main" id="{33130CE6-3ED1-7A93-C931-33D7FD57E93F}"/>
              </a:ext>
            </a:extLst>
          </p:cNvPr>
          <p:cNvSpPr txBox="1"/>
          <p:nvPr/>
        </p:nvSpPr>
        <p:spPr>
          <a:xfrm>
            <a:off x="4141464" y="2101239"/>
            <a:ext cx="461490" cy="78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600" b="1" i="0" u="none" strike="noStrike" cap="none">
                <a:solidFill>
                  <a:srgbClr val="C93DB8"/>
                </a:solidFill>
                <a:latin typeface="Tajawal"/>
                <a:ea typeface="Tajawal"/>
                <a:cs typeface="Tajawal"/>
                <a:sym typeface="Tajawal"/>
              </a:rPr>
              <a:t>→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8AB955-0269-8EB2-6D49-9BEA04081DF5}"/>
              </a:ext>
            </a:extLst>
          </p:cNvPr>
          <p:cNvGrpSpPr/>
          <p:nvPr/>
        </p:nvGrpSpPr>
        <p:grpSpPr>
          <a:xfrm>
            <a:off x="5534576" y="4526615"/>
            <a:ext cx="5716519" cy="1375136"/>
            <a:chOff x="4902000" y="3400000"/>
            <a:chExt cx="3720350" cy="730000"/>
          </a:xfrm>
        </p:grpSpPr>
        <p:sp>
          <p:nvSpPr>
            <p:cNvPr id="20" name="Google Shape;187;p8">
              <a:extLst>
                <a:ext uri="{FF2B5EF4-FFF2-40B4-BE49-F238E27FC236}">
                  <a16:creationId xmlns:a16="http://schemas.microsoft.com/office/drawing/2014/main" id="{BAA8F530-E1DB-EA82-E218-F0EE7BCDD5AC}"/>
                </a:ext>
              </a:extLst>
            </p:cNvPr>
            <p:cNvSpPr/>
            <p:nvPr/>
          </p:nvSpPr>
          <p:spPr>
            <a:xfrm>
              <a:off x="4902000" y="3400000"/>
              <a:ext cx="1795200" cy="3000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9525" cap="flat" cmpd="sng">
              <a:solidFill>
                <a:srgbClr val="484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"/>
                <a:buFont typeface="Arial"/>
                <a:buNone/>
              </a:pPr>
              <a:r>
                <a:rPr lang="en" b="1" i="0" u="none" strike="noStrike" cap="none">
                  <a:solidFill>
                    <a:srgbClr val="4844A3"/>
                  </a:solidFill>
                  <a:latin typeface="Tajawal"/>
                  <a:ea typeface="Tajawal"/>
                  <a:cs typeface="Tajawal"/>
                  <a:sym typeface="Tajawal"/>
                </a:rPr>
                <a:t>Quality (Q)</a:t>
              </a:r>
              <a:endPara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88;p8">
              <a:extLst>
                <a:ext uri="{FF2B5EF4-FFF2-40B4-BE49-F238E27FC236}">
                  <a16:creationId xmlns:a16="http://schemas.microsoft.com/office/drawing/2014/main" id="{B8E54AB9-7547-ABEA-8C1E-6902C60A458A}"/>
                </a:ext>
              </a:extLst>
            </p:cNvPr>
            <p:cNvSpPr/>
            <p:nvPr/>
          </p:nvSpPr>
          <p:spPr>
            <a:xfrm>
              <a:off x="6827150" y="3400000"/>
              <a:ext cx="1795200" cy="3000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9525" cap="flat" cmpd="sng">
              <a:solidFill>
                <a:srgbClr val="484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"/>
                <a:buFont typeface="Arial"/>
                <a:buNone/>
              </a:pPr>
              <a:r>
                <a:rPr lang="en" b="1" i="0" u="none" strike="noStrike" cap="none" dirty="0">
                  <a:solidFill>
                    <a:srgbClr val="4844A3"/>
                  </a:solidFill>
                  <a:latin typeface="Tajawal"/>
                  <a:ea typeface="Tajawal"/>
                  <a:cs typeface="Tajawal"/>
                  <a:sym typeface="Tajawal"/>
                </a:rPr>
                <a:t>Technical Depth</a:t>
              </a:r>
              <a:endParaRPr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89;p8">
              <a:extLst>
                <a:ext uri="{FF2B5EF4-FFF2-40B4-BE49-F238E27FC236}">
                  <a16:creationId xmlns:a16="http://schemas.microsoft.com/office/drawing/2014/main" id="{F172DCE9-33AB-6657-5ECF-48FC7189818C}"/>
                </a:ext>
              </a:extLst>
            </p:cNvPr>
            <p:cNvSpPr/>
            <p:nvPr/>
          </p:nvSpPr>
          <p:spPr>
            <a:xfrm>
              <a:off x="4902000" y="3830000"/>
              <a:ext cx="1795200" cy="3000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9525" cap="flat" cmpd="sng">
              <a:solidFill>
                <a:srgbClr val="484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"/>
                <a:buFont typeface="Arial"/>
                <a:buNone/>
              </a:pPr>
              <a:r>
                <a:rPr lang="en" b="1" i="0" u="none" strike="noStrike" cap="none">
                  <a:solidFill>
                    <a:srgbClr val="4844A3"/>
                  </a:solidFill>
                  <a:latin typeface="Tajawal"/>
                  <a:ea typeface="Tajawal"/>
                  <a:cs typeface="Tajawal"/>
                  <a:sym typeface="Tajawal"/>
                </a:rPr>
                <a:t>Feasibility</a:t>
              </a:r>
              <a:endPara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90;p8">
              <a:extLst>
                <a:ext uri="{FF2B5EF4-FFF2-40B4-BE49-F238E27FC236}">
                  <a16:creationId xmlns:a16="http://schemas.microsoft.com/office/drawing/2014/main" id="{4343926B-1DE5-2849-5B9F-FFB15A7C47A7}"/>
                </a:ext>
              </a:extLst>
            </p:cNvPr>
            <p:cNvSpPr/>
            <p:nvPr/>
          </p:nvSpPr>
          <p:spPr>
            <a:xfrm>
              <a:off x="6827150" y="3830000"/>
              <a:ext cx="1795200" cy="3000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9525" cap="flat" cmpd="sng">
              <a:solidFill>
                <a:srgbClr val="484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"/>
                <a:buFont typeface="Arial"/>
                <a:buNone/>
              </a:pPr>
              <a:r>
                <a:rPr lang="en" b="1" i="0" u="none" strike="noStrike" cap="none">
                  <a:solidFill>
                    <a:srgbClr val="4844A3"/>
                  </a:solidFill>
                  <a:latin typeface="Tajawal"/>
                  <a:ea typeface="Tajawal"/>
                  <a:cs typeface="Tajawal"/>
                  <a:sym typeface="Tajawal"/>
                </a:rPr>
                <a:t>Structure</a:t>
              </a:r>
              <a:endPara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B56DD0D-F483-8803-4899-E217ACF02E88}"/>
              </a:ext>
            </a:extLst>
          </p:cNvPr>
          <p:cNvSpPr txBox="1"/>
          <p:nvPr/>
        </p:nvSpPr>
        <p:spPr>
          <a:xfrm>
            <a:off x="288234" y="6477489"/>
            <a:ext cx="10885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Md H. Mondol, C. Marette, E. Lobaton, “AI as a Constrained Guide: Measuring Knowledge Transfer in a Graduate Engineering Course,” ASEE 2026.</a:t>
            </a:r>
          </a:p>
        </p:txBody>
      </p:sp>
    </p:spTree>
    <p:extLst>
      <p:ext uri="{BB962C8B-B14F-4D97-AF65-F5344CB8AC3E}">
        <p14:creationId xmlns:p14="http://schemas.microsoft.com/office/powerpoint/2010/main" val="47736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7017-6223-419B-2BD3-14B3A3E1B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 Metrics Reveal?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F869-0DF8-5BA0-84E5-E7AF1C17B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274"/>
            <a:ext cx="3408626" cy="6265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Strongest Correlations: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0EEA4-313B-F98A-CC7B-1B385930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oogle Shape;289;p10">
            <a:extLst>
              <a:ext uri="{FF2B5EF4-FFF2-40B4-BE49-F238E27FC236}">
                <a16:creationId xmlns:a16="http://schemas.microsoft.com/office/drawing/2014/main" id="{E76E332D-EBF5-CD56-68D6-65DE3F1A1304}"/>
              </a:ext>
            </a:extLst>
          </p:cNvPr>
          <p:cNvGrpSpPr/>
          <p:nvPr/>
        </p:nvGrpSpPr>
        <p:grpSpPr>
          <a:xfrm>
            <a:off x="706311" y="2094910"/>
            <a:ext cx="4447014" cy="3736355"/>
            <a:chOff x="446000" y="1849271"/>
            <a:chExt cx="3832573" cy="3220105"/>
          </a:xfrm>
        </p:grpSpPr>
        <p:pic>
          <p:nvPicPr>
            <p:cNvPr id="6" name="Google Shape;290;p10">
              <a:extLst>
                <a:ext uri="{FF2B5EF4-FFF2-40B4-BE49-F238E27FC236}">
                  <a16:creationId xmlns:a16="http://schemas.microsoft.com/office/drawing/2014/main" id="{E4230B2C-93A3-B952-13C0-1F1CE6300B5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5427" r="4372"/>
            <a:stretch/>
          </p:blipFill>
          <p:spPr>
            <a:xfrm>
              <a:off x="446000" y="1849271"/>
              <a:ext cx="3832573" cy="3220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291;p10">
              <a:extLst>
                <a:ext uri="{FF2B5EF4-FFF2-40B4-BE49-F238E27FC236}">
                  <a16:creationId xmlns:a16="http://schemas.microsoft.com/office/drawing/2014/main" id="{8E878533-E9D4-1213-8586-A47CAB2122DE}"/>
                </a:ext>
              </a:extLst>
            </p:cNvPr>
            <p:cNvSpPr/>
            <p:nvPr/>
          </p:nvSpPr>
          <p:spPr>
            <a:xfrm>
              <a:off x="975815" y="2756848"/>
              <a:ext cx="416256" cy="395785"/>
            </a:xfrm>
            <a:prstGeom prst="rect">
              <a:avLst/>
            </a:prstGeom>
            <a:solidFill>
              <a:srgbClr val="AFDC2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92;p10">
              <a:extLst>
                <a:ext uri="{FF2B5EF4-FFF2-40B4-BE49-F238E27FC236}">
                  <a16:creationId xmlns:a16="http://schemas.microsoft.com/office/drawing/2014/main" id="{C1557AFD-5C24-0721-2003-9DEE32875853}"/>
                </a:ext>
              </a:extLst>
            </p:cNvPr>
            <p:cNvSpPr/>
            <p:nvPr/>
          </p:nvSpPr>
          <p:spPr>
            <a:xfrm>
              <a:off x="1694598" y="3423601"/>
              <a:ext cx="416256" cy="395785"/>
            </a:xfrm>
            <a:prstGeom prst="rect">
              <a:avLst/>
            </a:prstGeom>
            <a:solidFill>
              <a:srgbClr val="23888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93;p10">
              <a:extLst>
                <a:ext uri="{FF2B5EF4-FFF2-40B4-BE49-F238E27FC236}">
                  <a16:creationId xmlns:a16="http://schemas.microsoft.com/office/drawing/2014/main" id="{99348178-D33A-83AE-1F0F-13C456B8E280}"/>
                </a:ext>
              </a:extLst>
            </p:cNvPr>
            <p:cNvSpPr/>
            <p:nvPr/>
          </p:nvSpPr>
          <p:spPr>
            <a:xfrm>
              <a:off x="975815" y="3423601"/>
              <a:ext cx="416256" cy="395785"/>
            </a:xfrm>
            <a:prstGeom prst="rect">
              <a:avLst/>
            </a:prstGeom>
            <a:solidFill>
              <a:srgbClr val="26AC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94;p10">
              <a:extLst>
                <a:ext uri="{FF2B5EF4-FFF2-40B4-BE49-F238E27FC236}">
                  <a16:creationId xmlns:a16="http://schemas.microsoft.com/office/drawing/2014/main" id="{447289AB-E7BE-CD5D-28AD-A5F66838BCF7}"/>
                </a:ext>
              </a:extLst>
            </p:cNvPr>
            <p:cNvSpPr/>
            <p:nvPr/>
          </p:nvSpPr>
          <p:spPr>
            <a:xfrm>
              <a:off x="975815" y="4185607"/>
              <a:ext cx="416256" cy="395785"/>
            </a:xfrm>
            <a:prstGeom prst="rect">
              <a:avLst/>
            </a:prstGeom>
            <a:solidFill>
              <a:srgbClr val="D4E11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95;p10">
              <a:extLst>
                <a:ext uri="{FF2B5EF4-FFF2-40B4-BE49-F238E27FC236}">
                  <a16:creationId xmlns:a16="http://schemas.microsoft.com/office/drawing/2014/main" id="{AED94CC5-8B8C-0821-7547-8583C5398CA8}"/>
                </a:ext>
              </a:extLst>
            </p:cNvPr>
            <p:cNvSpPr/>
            <p:nvPr/>
          </p:nvSpPr>
          <p:spPr>
            <a:xfrm>
              <a:off x="1694598" y="4185606"/>
              <a:ext cx="416256" cy="395785"/>
            </a:xfrm>
            <a:prstGeom prst="rect">
              <a:avLst/>
            </a:prstGeom>
            <a:solidFill>
              <a:srgbClr val="8BD54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96;p10">
              <a:extLst>
                <a:ext uri="{FF2B5EF4-FFF2-40B4-BE49-F238E27FC236}">
                  <a16:creationId xmlns:a16="http://schemas.microsoft.com/office/drawing/2014/main" id="{F5F52DC9-9132-CC33-0F27-BA3484A06E32}"/>
                </a:ext>
              </a:extLst>
            </p:cNvPr>
            <p:cNvSpPr/>
            <p:nvPr/>
          </p:nvSpPr>
          <p:spPr>
            <a:xfrm>
              <a:off x="2362286" y="4185605"/>
              <a:ext cx="416256" cy="395785"/>
            </a:xfrm>
            <a:prstGeom prst="rect">
              <a:avLst/>
            </a:prstGeom>
            <a:solidFill>
              <a:srgbClr val="1E998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97;p10">
              <a:extLst>
                <a:ext uri="{FF2B5EF4-FFF2-40B4-BE49-F238E27FC236}">
                  <a16:creationId xmlns:a16="http://schemas.microsoft.com/office/drawing/2014/main" id="{D3358508-BFED-13C7-FF63-02A9A417F314}"/>
                </a:ext>
              </a:extLst>
            </p:cNvPr>
            <p:cNvSpPr/>
            <p:nvPr/>
          </p:nvSpPr>
          <p:spPr>
            <a:xfrm>
              <a:off x="975815" y="2040481"/>
              <a:ext cx="416256" cy="395785"/>
            </a:xfrm>
            <a:prstGeom prst="rect">
              <a:avLst/>
            </a:prstGeom>
            <a:solidFill>
              <a:srgbClr val="FDE7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98;p10">
              <a:extLst>
                <a:ext uri="{FF2B5EF4-FFF2-40B4-BE49-F238E27FC236}">
                  <a16:creationId xmlns:a16="http://schemas.microsoft.com/office/drawing/2014/main" id="{19283CCE-DA1C-AD00-CD1F-D466462E0097}"/>
                </a:ext>
              </a:extLst>
            </p:cNvPr>
            <p:cNvSpPr/>
            <p:nvPr/>
          </p:nvSpPr>
          <p:spPr>
            <a:xfrm>
              <a:off x="1694598" y="2776846"/>
              <a:ext cx="416256" cy="395785"/>
            </a:xfrm>
            <a:prstGeom prst="rect">
              <a:avLst/>
            </a:prstGeom>
            <a:solidFill>
              <a:srgbClr val="FDE7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99;p10">
              <a:extLst>
                <a:ext uri="{FF2B5EF4-FFF2-40B4-BE49-F238E27FC236}">
                  <a16:creationId xmlns:a16="http://schemas.microsoft.com/office/drawing/2014/main" id="{2CB0C0B8-C144-3AD0-FBF2-66BC96B5A125}"/>
                </a:ext>
              </a:extLst>
            </p:cNvPr>
            <p:cNvSpPr/>
            <p:nvPr/>
          </p:nvSpPr>
          <p:spPr>
            <a:xfrm>
              <a:off x="2362286" y="3423601"/>
              <a:ext cx="416256" cy="395785"/>
            </a:xfrm>
            <a:prstGeom prst="rect">
              <a:avLst/>
            </a:prstGeom>
            <a:solidFill>
              <a:srgbClr val="FDE7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00;p10">
              <a:extLst>
                <a:ext uri="{FF2B5EF4-FFF2-40B4-BE49-F238E27FC236}">
                  <a16:creationId xmlns:a16="http://schemas.microsoft.com/office/drawing/2014/main" id="{940836CB-E832-C1EC-92CB-A24E362E946E}"/>
                </a:ext>
              </a:extLst>
            </p:cNvPr>
            <p:cNvSpPr/>
            <p:nvPr/>
          </p:nvSpPr>
          <p:spPr>
            <a:xfrm>
              <a:off x="3081069" y="4185604"/>
              <a:ext cx="416256" cy="395785"/>
            </a:xfrm>
            <a:prstGeom prst="rect">
              <a:avLst/>
            </a:prstGeom>
            <a:solidFill>
              <a:srgbClr val="FDE7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" name="Google Shape;301;p10">
            <a:extLst>
              <a:ext uri="{FF2B5EF4-FFF2-40B4-BE49-F238E27FC236}">
                <a16:creationId xmlns:a16="http://schemas.microsoft.com/office/drawing/2014/main" id="{65962F0E-29CB-46A6-8438-A32407414C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2488" y="2659904"/>
            <a:ext cx="5991312" cy="3674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02;p10">
            <a:extLst>
              <a:ext uri="{FF2B5EF4-FFF2-40B4-BE49-F238E27FC236}">
                <a16:creationId xmlns:a16="http://schemas.microsoft.com/office/drawing/2014/main" id="{7388A711-352E-0EB7-116B-958EE2254EF5}"/>
              </a:ext>
            </a:extLst>
          </p:cNvPr>
          <p:cNvSpPr/>
          <p:nvPr/>
        </p:nvSpPr>
        <p:spPr>
          <a:xfrm>
            <a:off x="2058555" y="2210354"/>
            <a:ext cx="709985" cy="709985"/>
          </a:xfrm>
          <a:prstGeom prst="ellipse">
            <a:avLst/>
          </a:prstGeom>
          <a:solidFill>
            <a:srgbClr val="FF0000">
              <a:alpha val="25098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03;p10">
            <a:extLst>
              <a:ext uri="{FF2B5EF4-FFF2-40B4-BE49-F238E27FC236}">
                <a16:creationId xmlns:a16="http://schemas.microsoft.com/office/drawing/2014/main" id="{8D3178DB-A010-A7D6-F890-014D178C4A8D}"/>
              </a:ext>
            </a:extLst>
          </p:cNvPr>
          <p:cNvSpPr/>
          <p:nvPr/>
        </p:nvSpPr>
        <p:spPr>
          <a:xfrm>
            <a:off x="3675790" y="3022618"/>
            <a:ext cx="709985" cy="709985"/>
          </a:xfrm>
          <a:prstGeom prst="ellipse">
            <a:avLst/>
          </a:prstGeom>
          <a:solidFill>
            <a:srgbClr val="FF0000">
              <a:alpha val="25098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304;p10">
            <a:extLst>
              <a:ext uri="{FF2B5EF4-FFF2-40B4-BE49-F238E27FC236}">
                <a16:creationId xmlns:a16="http://schemas.microsoft.com/office/drawing/2014/main" id="{7D231382-F3E7-3DE6-0B72-000FCA20B65D}"/>
              </a:ext>
            </a:extLst>
          </p:cNvPr>
          <p:cNvSpPr/>
          <p:nvPr/>
        </p:nvSpPr>
        <p:spPr>
          <a:xfrm>
            <a:off x="3675790" y="2208021"/>
            <a:ext cx="709985" cy="709985"/>
          </a:xfrm>
          <a:prstGeom prst="ellipse">
            <a:avLst/>
          </a:prstGeom>
          <a:solidFill>
            <a:srgbClr val="FF0000">
              <a:alpha val="25098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305;p10">
            <a:extLst>
              <a:ext uri="{FF2B5EF4-FFF2-40B4-BE49-F238E27FC236}">
                <a16:creationId xmlns:a16="http://schemas.microsoft.com/office/drawing/2014/main" id="{A1D9E4CA-C4CC-7BB0-F9B7-D86550B967D9}"/>
              </a:ext>
            </a:extLst>
          </p:cNvPr>
          <p:cNvSpPr/>
          <p:nvPr/>
        </p:nvSpPr>
        <p:spPr>
          <a:xfrm>
            <a:off x="8552197" y="4768116"/>
            <a:ext cx="709985" cy="709985"/>
          </a:xfrm>
          <a:prstGeom prst="ellipse">
            <a:avLst/>
          </a:prstGeom>
          <a:solidFill>
            <a:srgbClr val="FF0000">
              <a:alpha val="25098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7CE3AC7-A93E-B746-2685-6E5F354C4062}"/>
              </a:ext>
            </a:extLst>
          </p:cNvPr>
          <p:cNvSpPr txBox="1">
            <a:spLocks/>
          </p:cNvSpPr>
          <p:nvPr/>
        </p:nvSpPr>
        <p:spPr>
          <a:xfrm>
            <a:off x="5853556" y="1265274"/>
            <a:ext cx="5417418" cy="12798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/>
              <a:t>Structure</a:t>
            </a:r>
            <a:r>
              <a:rPr lang="en-US" dirty="0"/>
              <a:t> is the strongest predictor of perceived quality — and most tied to Outcomes &amp; Impact</a:t>
            </a:r>
          </a:p>
        </p:txBody>
      </p:sp>
    </p:spTree>
    <p:extLst>
      <p:ext uri="{BB962C8B-B14F-4D97-AF65-F5344CB8AC3E}">
        <p14:creationId xmlns:p14="http://schemas.microsoft.com/office/powerpoint/2010/main" val="275903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95A8-C75E-30AA-DA60-4A331C6C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Students Think?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2C09E-F454-3A18-C355-6B829259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“Helpful for brainstorming, clarifying concepts, and organizing arguments.”</a:t>
            </a:r>
          </a:p>
          <a:p>
            <a:r>
              <a:rPr lang="en-US" dirty="0">
                <a:solidFill>
                  <a:schemeClr val="accent1"/>
                </a:solidFill>
              </a:rPr>
              <a:t>“Good for clarifying concepts without giving away answers.”</a:t>
            </a:r>
          </a:p>
          <a:p>
            <a:r>
              <a:rPr lang="en-US" dirty="0">
                <a:solidFill>
                  <a:srgbClr val="FF0000"/>
                </a:solidFill>
              </a:rPr>
              <a:t>“Too constrained when I lacked background knowledge.”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Year 2 - </a:t>
            </a:r>
            <a:r>
              <a:rPr lang="en-US" dirty="0"/>
              <a:t>Hybrid Approach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EB000-8366-11FE-E055-D31BAD78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9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29A6F5-0D3A-2181-D626-417A397D64A0}"/>
              </a:ext>
            </a:extLst>
          </p:cNvPr>
          <p:cNvGrpSpPr/>
          <p:nvPr/>
        </p:nvGrpSpPr>
        <p:grpSpPr>
          <a:xfrm>
            <a:off x="1017377" y="4134676"/>
            <a:ext cx="10710796" cy="1769165"/>
            <a:chOff x="311700" y="1560000"/>
            <a:chExt cx="8520600" cy="1140000"/>
          </a:xfrm>
        </p:grpSpPr>
        <p:sp>
          <p:nvSpPr>
            <p:cNvPr id="5" name="Google Shape;371;p13">
              <a:extLst>
                <a:ext uri="{FF2B5EF4-FFF2-40B4-BE49-F238E27FC236}">
                  <a16:creationId xmlns:a16="http://schemas.microsoft.com/office/drawing/2014/main" id="{926A953C-9E92-5DB7-99E3-74C421895FA3}"/>
                </a:ext>
              </a:extLst>
            </p:cNvPr>
            <p:cNvSpPr/>
            <p:nvPr/>
          </p:nvSpPr>
          <p:spPr>
            <a:xfrm>
              <a:off x="311700" y="1560000"/>
              <a:ext cx="4140300" cy="114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875" cap="flat" cmpd="sng">
              <a:solidFill>
                <a:srgbClr val="C93DB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14117"/>
                </a:srgbClr>
              </a:outerShdw>
            </a:effectLst>
          </p:spPr>
          <p:txBody>
            <a:bodyPr spcFirstLastPara="1" wrap="square" lIns="91425" tIns="68575" rIns="9142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372;p13">
              <a:extLst>
                <a:ext uri="{FF2B5EF4-FFF2-40B4-BE49-F238E27FC236}">
                  <a16:creationId xmlns:a16="http://schemas.microsoft.com/office/drawing/2014/main" id="{6F6B076C-DD16-F1D9-D4DA-2D5FC29FA959}"/>
                </a:ext>
              </a:extLst>
            </p:cNvPr>
            <p:cNvSpPr/>
            <p:nvPr/>
          </p:nvSpPr>
          <p:spPr>
            <a:xfrm>
              <a:off x="491700" y="1720000"/>
              <a:ext cx="1620000" cy="300000"/>
            </a:xfrm>
            <a:prstGeom prst="roundRect">
              <a:avLst>
                <a:gd name="adj" fmla="val 28000"/>
              </a:avLst>
            </a:prstGeom>
            <a:solidFill>
              <a:srgbClr val="C93DB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0"/>
                <a:buFont typeface="Arial"/>
                <a:buNone/>
              </a:pPr>
              <a:r>
                <a:rPr lang="en" sz="1050" b="1" i="0" u="none" strike="noStrike" cap="none">
                  <a:solidFill>
                    <a:srgbClr val="FFFFFF"/>
                  </a:solidFill>
                  <a:latin typeface="Tajawal"/>
                  <a:ea typeface="Tajawal"/>
                  <a:cs typeface="Tajawal"/>
                  <a:sym typeface="Tajawal"/>
                </a:rPr>
                <a:t>IDEATION PHASE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373;p13">
              <a:extLst>
                <a:ext uri="{FF2B5EF4-FFF2-40B4-BE49-F238E27FC236}">
                  <a16:creationId xmlns:a16="http://schemas.microsoft.com/office/drawing/2014/main" id="{45FC7D96-8097-47D8-EEB5-0FD1795914A2}"/>
                </a:ext>
              </a:extLst>
            </p:cNvPr>
            <p:cNvSpPr txBox="1"/>
            <p:nvPr/>
          </p:nvSpPr>
          <p:spPr>
            <a:xfrm>
              <a:off x="491700" y="2100000"/>
              <a:ext cx="37803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0" rIns="4570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lang="en" b="1" i="0" u="none" strike="noStrike" cap="none" dirty="0">
                  <a:solidFill>
                    <a:srgbClr val="C93DB8"/>
                  </a:solidFill>
                  <a:latin typeface="Tajawal"/>
                  <a:ea typeface="Tajawal"/>
                  <a:cs typeface="Tajawal"/>
                  <a:sym typeface="Tajawal"/>
                </a:rPr>
                <a:t>Unrestricted AI</a:t>
              </a: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74;p13">
              <a:extLst>
                <a:ext uri="{FF2B5EF4-FFF2-40B4-BE49-F238E27FC236}">
                  <a16:creationId xmlns:a16="http://schemas.microsoft.com/office/drawing/2014/main" id="{296962FB-6D9D-425D-C589-40533CE097F4}"/>
                </a:ext>
              </a:extLst>
            </p:cNvPr>
            <p:cNvSpPr txBox="1"/>
            <p:nvPr/>
          </p:nvSpPr>
          <p:spPr>
            <a:xfrm>
              <a:off x="491700" y="2360000"/>
              <a:ext cx="37803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0" rIns="4570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2A2A3C"/>
                  </a:solidFill>
                  <a:latin typeface="Tajawal"/>
                  <a:ea typeface="Tajawal"/>
                  <a:cs typeface="Tajawal"/>
                  <a:sym typeface="Tajawal"/>
                </a:rPr>
                <a:t>Explore unfamiliar domains, surface background, identify applications.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75;p13">
              <a:extLst>
                <a:ext uri="{FF2B5EF4-FFF2-40B4-BE49-F238E27FC236}">
                  <a16:creationId xmlns:a16="http://schemas.microsoft.com/office/drawing/2014/main" id="{7A2E262F-04A8-E497-0696-FC6491EEAEFA}"/>
                </a:ext>
              </a:extLst>
            </p:cNvPr>
            <p:cNvSpPr/>
            <p:nvPr/>
          </p:nvSpPr>
          <p:spPr>
            <a:xfrm>
              <a:off x="4692000" y="1560000"/>
              <a:ext cx="4140300" cy="114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875" cap="flat" cmpd="sng">
              <a:solidFill>
                <a:srgbClr val="4844A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14117"/>
                </a:srgbClr>
              </a:outerShdw>
            </a:effectLst>
          </p:spPr>
          <p:txBody>
            <a:bodyPr spcFirstLastPara="1" wrap="square" lIns="91425" tIns="68575" rIns="9142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376;p13">
              <a:extLst>
                <a:ext uri="{FF2B5EF4-FFF2-40B4-BE49-F238E27FC236}">
                  <a16:creationId xmlns:a16="http://schemas.microsoft.com/office/drawing/2014/main" id="{61F68B71-0565-348A-FFCE-7E2302E5275B}"/>
                </a:ext>
              </a:extLst>
            </p:cNvPr>
            <p:cNvSpPr/>
            <p:nvPr/>
          </p:nvSpPr>
          <p:spPr>
            <a:xfrm>
              <a:off x="4872000" y="1720000"/>
              <a:ext cx="1620000" cy="300000"/>
            </a:xfrm>
            <a:prstGeom prst="roundRect">
              <a:avLst>
                <a:gd name="adj" fmla="val 28000"/>
              </a:avLst>
            </a:prstGeom>
            <a:solidFill>
              <a:srgbClr val="4844A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0"/>
                <a:buFont typeface="Arial"/>
                <a:buNone/>
              </a:pPr>
              <a:r>
                <a:rPr lang="en" sz="1050" b="1" i="0" u="none" strike="noStrike" cap="none">
                  <a:solidFill>
                    <a:srgbClr val="FFFFFF"/>
                  </a:solidFill>
                  <a:latin typeface="Tajawal"/>
                  <a:ea typeface="Tajawal"/>
                  <a:cs typeface="Tajawal"/>
                  <a:sym typeface="Tajawal"/>
                </a:rPr>
                <a:t>METHODOLOGY PHASE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77;p13">
              <a:extLst>
                <a:ext uri="{FF2B5EF4-FFF2-40B4-BE49-F238E27FC236}">
                  <a16:creationId xmlns:a16="http://schemas.microsoft.com/office/drawing/2014/main" id="{F1FE487E-3D70-ED5E-BC63-99BCB9F5B8C9}"/>
                </a:ext>
              </a:extLst>
            </p:cNvPr>
            <p:cNvSpPr txBox="1"/>
            <p:nvPr/>
          </p:nvSpPr>
          <p:spPr>
            <a:xfrm>
              <a:off x="4872000" y="2100000"/>
              <a:ext cx="37803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0" rIns="4570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lang="en" b="1" i="0" u="none" strike="noStrike" cap="none">
                  <a:solidFill>
                    <a:srgbClr val="4844A3"/>
                  </a:solidFill>
                  <a:latin typeface="Tajawal"/>
                  <a:ea typeface="Tajawal"/>
                  <a:cs typeface="Tajawal"/>
                  <a:sym typeface="Tajawal"/>
                </a:rPr>
                <a:t>Constrained AI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78;p13">
              <a:extLst>
                <a:ext uri="{FF2B5EF4-FFF2-40B4-BE49-F238E27FC236}">
                  <a16:creationId xmlns:a16="http://schemas.microsoft.com/office/drawing/2014/main" id="{D5BF0558-0AD6-EF35-6C77-DE5A4E2542DE}"/>
                </a:ext>
              </a:extLst>
            </p:cNvPr>
            <p:cNvSpPr txBox="1"/>
            <p:nvPr/>
          </p:nvSpPr>
          <p:spPr>
            <a:xfrm>
              <a:off x="4872000" y="2360000"/>
              <a:ext cx="37803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0" rIns="45700" bIns="0" anchor="t" anchorCtr="0">
              <a:noAutofit/>
            </a:bodyPr>
            <a:lstStyle/>
            <a:p>
              <a:pPr marL="0" marR="0" lvl="0" indent="0" algn="l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2A2A3C"/>
                  </a:solidFill>
                  <a:latin typeface="Tajawal"/>
                  <a:ea typeface="Tajawal"/>
                  <a:cs typeface="Tajawal"/>
                  <a:sym typeface="Tajawal"/>
                </a:rPr>
                <a:t>Reinforce concepts, structure plans, and critique reasoning.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780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BF76-71C7-05A4-5E97-EE02AA95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615573-5FB5-BDC9-3E2F-76CA74AA6246}"/>
              </a:ext>
            </a:extLst>
          </p:cNvPr>
          <p:cNvSpPr/>
          <p:nvPr/>
        </p:nvSpPr>
        <p:spPr>
          <a:xfrm>
            <a:off x="715618" y="1570383"/>
            <a:ext cx="7623312" cy="108336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02B1B-13EA-D18C-CBA7-B4E4618D7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Addressing Personalized Tutoring?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52F4-807D-7D2B-C4F8-EC0F7A93A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78"/>
            <a:ext cx="7421217" cy="4713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Goal: </a:t>
            </a:r>
            <a:r>
              <a:rPr lang="en" dirty="0"/>
              <a:t>Expand existing infrastructure to accommodate AI tutors for scientific and engineering coding.</a:t>
            </a:r>
            <a:endParaRPr lang="en-US" dirty="0"/>
          </a:p>
          <a:p>
            <a:endParaRPr lang="en-US" dirty="0"/>
          </a:p>
          <a:p>
            <a:r>
              <a:rPr lang="en" dirty="0"/>
              <a:t>Going beyond a standard deployment by adding pedagogical behavior to the agents based on context and rules set by the instructor.</a:t>
            </a:r>
          </a:p>
          <a:p>
            <a:r>
              <a:rPr lang="en" dirty="0"/>
              <a:t>Personalization and scalability beyond single courses.</a:t>
            </a:r>
          </a:p>
          <a:p>
            <a:r>
              <a:rPr lang="en" dirty="0"/>
              <a:t>AI code assistants are a sageway to other agentic tutors, e.g., robotic applications.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34D1-44C9-BD27-B986-6723AAE4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7AC368-E31B-F5D0-035C-108B135DD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848" y="1240477"/>
            <a:ext cx="2874952" cy="51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8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A288-DC4E-E5FC-7C5C-92501D97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Coding Tutors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90E3-D081-7E78-AAB2-1B9EA984D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26"/>
            <a:ext cx="7311887" cy="480342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Conversational AI vs Agentic AI</a:t>
            </a:r>
          </a:p>
          <a:p>
            <a:r>
              <a:rPr lang="en-US" dirty="0"/>
              <a:t>LLMs are conversational bots not actionable agents.</a:t>
            </a:r>
          </a:p>
          <a:p>
            <a:r>
              <a:rPr lang="en-US" dirty="0"/>
              <a:t>Code assistants are agents that can produce source code but also create files, run scripts, install packages, and much more.</a:t>
            </a:r>
          </a:p>
          <a:p>
            <a:r>
              <a:rPr lang="en-US" dirty="0"/>
              <a:t>We must consider safety / privacy and how to restrict code assistants.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0B1A-8222-A660-CE1E-EBB34DE4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AC398-91B7-1A48-86F6-587D8C111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848" y="1240477"/>
            <a:ext cx="2874952" cy="51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B1DE-3E31-CA73-637C-DD1B1E14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11DED8-C008-CFC5-9901-C9CB4D4B2E4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2864" y="242807"/>
            <a:ext cx="11913118" cy="649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8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;p18">
            <a:extLst>
              <a:ext uri="{FF2B5EF4-FFF2-40B4-BE49-F238E27FC236}">
                <a16:creationId xmlns:a16="http://schemas.microsoft.com/office/drawing/2014/main" id="{3952159F-3E06-93ED-D699-E5DF93173CF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rcRect t="17055" b="11431"/>
          <a:stretch>
            <a:fillRect/>
          </a:stretch>
        </p:blipFill>
        <p:spPr>
          <a:xfrm>
            <a:off x="2845606" y="1120627"/>
            <a:ext cx="9082310" cy="362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6C0F7D-2AD2-03A9-E26E-3466BE2D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AI Coding Tutors - What is Needed?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874C-3377-0E67-A829-94CBDCC39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6504"/>
            <a:ext cx="10515600" cy="24975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VLM and agentic backends</a:t>
            </a:r>
          </a:p>
          <a:p>
            <a:r>
              <a:rPr lang="en-US" dirty="0"/>
              <a:t>Sandboxed environments</a:t>
            </a:r>
          </a:p>
          <a:p>
            <a:r>
              <a:rPr lang="en-US" dirty="0"/>
              <a:t>Customization and personalization of agents</a:t>
            </a:r>
          </a:p>
          <a:p>
            <a:r>
              <a:rPr lang="en-US" dirty="0"/>
              <a:t>Evaluation mechanisms of usage and outcomes</a:t>
            </a:r>
          </a:p>
          <a:p>
            <a:r>
              <a:rPr lang="en-US" dirty="0"/>
              <a:t>AI frontend interface for instructors and AI backend for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18269-F87A-07BA-9316-4739575D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14B29-2612-49B7-BCD5-5B417A3C392C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01624-F768-28F5-2FE9-8688A44A8E97}"/>
              </a:ext>
            </a:extLst>
          </p:cNvPr>
          <p:cNvSpPr txBox="1"/>
          <p:nvPr/>
        </p:nvSpPr>
        <p:spPr>
          <a:xfrm>
            <a:off x="372661" y="6478035"/>
            <a:ext cx="701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Support from Sustainable Research Pathways (SRP) Program and NAIRR</a:t>
            </a:r>
          </a:p>
        </p:txBody>
      </p:sp>
    </p:spTree>
    <p:extLst>
      <p:ext uri="{BB962C8B-B14F-4D97-AF65-F5344CB8AC3E}">
        <p14:creationId xmlns:p14="http://schemas.microsoft.com/office/powerpoint/2010/main" val="108288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84BAD0-1ACE-4BF8-B3F1-7735D0AE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… El Fin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462F-3D7F-4E21-8D37-3F540A5F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214B29-2612-49B7-BCD5-5B417A3C392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002173B-1AF4-6B11-EE2D-07506BB9D50B}"/>
              </a:ext>
            </a:extLst>
          </p:cNvPr>
          <p:cNvSpPr txBox="1">
            <a:spLocks/>
          </p:cNvSpPr>
          <p:nvPr/>
        </p:nvSpPr>
        <p:spPr>
          <a:xfrm>
            <a:off x="6254914" y="4966252"/>
            <a:ext cx="5210709" cy="107878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Edgar Lobaton, PhD</a:t>
            </a:r>
          </a:p>
          <a:p>
            <a:pPr marL="11430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Edgar.Lobaton@ncsu.edu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C3928-4190-D68C-C76C-202592C34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897" y="872583"/>
            <a:ext cx="6465405" cy="226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73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1721</TotalTime>
  <Words>672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Tajawal</vt:lpstr>
      <vt:lpstr>Wingdings</vt:lpstr>
      <vt:lpstr>Office Theme</vt:lpstr>
      <vt:lpstr>1_Office Theme</vt:lpstr>
      <vt:lpstr>Scaling Neural Networks Education with NAIRR and AI-Assisted Assignments</vt:lpstr>
      <vt:lpstr>PowerPoint Presentation</vt:lpstr>
      <vt:lpstr>Assignments</vt:lpstr>
      <vt:lpstr>Addressing Infrastructure</vt:lpstr>
      <vt:lpstr>Addressing Higher-Order Thinking</vt:lpstr>
      <vt:lpstr>Addressing Higher-Order Thinking</vt:lpstr>
      <vt:lpstr>AI as a Constrained Guide*</vt:lpstr>
      <vt:lpstr>What do the Metrics Reveal?</vt:lpstr>
      <vt:lpstr>What do Students Think?</vt:lpstr>
      <vt:lpstr>What about Addressing Personalized Tutoring?</vt:lpstr>
      <vt:lpstr>AI Coding Tutors</vt:lpstr>
      <vt:lpstr>PowerPoint Presentation</vt:lpstr>
      <vt:lpstr>AI Coding Tutors - What is Needed?</vt:lpstr>
      <vt:lpstr>… El Fin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Learning and Topological Inference with Cyborg-Insect Networks</dc:title>
  <dc:creator>Edgar Lobaton</dc:creator>
  <cp:lastModifiedBy>Edgar J Lobaton</cp:lastModifiedBy>
  <cp:revision>257</cp:revision>
  <dcterms:created xsi:type="dcterms:W3CDTF">2016-03-10T14:29:39Z</dcterms:created>
  <dcterms:modified xsi:type="dcterms:W3CDTF">2026-06-17T21:43:47Z</dcterms:modified>
</cp:coreProperties>
</file>