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24"/>
  </p:notesMasterIdLst>
  <p:sldIdLst>
    <p:sldId id="256" r:id="rId4"/>
    <p:sldId id="281" r:id="rId5"/>
    <p:sldId id="257" r:id="rId6"/>
    <p:sldId id="264" r:id="rId7"/>
    <p:sldId id="265" r:id="rId8"/>
    <p:sldId id="266" r:id="rId9"/>
    <p:sldId id="267" r:id="rId10"/>
    <p:sldId id="268" r:id="rId11"/>
    <p:sldId id="269" r:id="rId12"/>
    <p:sldId id="280" r:id="rId13"/>
    <p:sldId id="270" r:id="rId14"/>
    <p:sldId id="27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835FC-F1AE-4417-8B48-3A4BE12B6A03}" v="2" dt="2026-06-13T17:24:09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9700"/>
  </p:normalViewPr>
  <p:slideViewPr>
    <p:cSldViewPr snapToGrid="0">
      <p:cViewPr varScale="1">
        <p:scale>
          <a:sx n="108" d="100"/>
          <a:sy n="108" d="100"/>
        </p:scale>
        <p:origin x="92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id, Abdur Rahman Bin" userId="7670fb78-979f-4f3c-9c94-369f9360313e" providerId="ADAL" clId="{B42AFD2A-6BBF-444E-A0A3-2C9A8364E56C}"/>
    <pc:docChg chg="custSel modSld">
      <pc:chgData name="Shahid, Abdur Rahman Bin" userId="7670fb78-979f-4f3c-9c94-369f9360313e" providerId="ADAL" clId="{B42AFD2A-6BBF-444E-A0A3-2C9A8364E56C}" dt="2026-06-13T17:24:09.133" v="23" actId="164"/>
      <pc:docMkLst>
        <pc:docMk/>
      </pc:docMkLst>
      <pc:sldChg chg="addSp modSp mod">
        <pc:chgData name="Shahid, Abdur Rahman Bin" userId="7670fb78-979f-4f3c-9c94-369f9360313e" providerId="ADAL" clId="{B42AFD2A-6BBF-444E-A0A3-2C9A8364E56C}" dt="2026-06-13T17:24:09.133" v="23" actId="164"/>
        <pc:sldMkLst>
          <pc:docMk/>
          <pc:sldMk cId="0" sldId="268"/>
        </pc:sldMkLst>
        <pc:spChg chg="add mod">
          <ac:chgData name="Shahid, Abdur Rahman Bin" userId="7670fb78-979f-4f3c-9c94-369f9360313e" providerId="ADAL" clId="{B42AFD2A-6BBF-444E-A0A3-2C9A8364E56C}" dt="2026-06-13T17:24:09.133" v="23" actId="164"/>
          <ac:spMkLst>
            <pc:docMk/>
            <pc:sldMk cId="0" sldId="268"/>
            <ac:spMk id="2" creationId="{EA051795-F281-7486-1699-A3C82079992A}"/>
          </ac:spMkLst>
        </pc:spChg>
        <pc:grpChg chg="add mod">
          <ac:chgData name="Shahid, Abdur Rahman Bin" userId="7670fb78-979f-4f3c-9c94-369f9360313e" providerId="ADAL" clId="{B42AFD2A-6BBF-444E-A0A3-2C9A8364E56C}" dt="2026-06-13T17:24:09.133" v="23" actId="164"/>
          <ac:grpSpMkLst>
            <pc:docMk/>
            <pc:sldMk cId="0" sldId="268"/>
            <ac:grpSpMk id="3" creationId="{A85B1F13-2585-31DE-D4DA-83589FDDD4D1}"/>
          </ac:grpSpMkLst>
        </pc:grpChg>
        <pc:picChg chg="mod modCrop">
          <ac:chgData name="Shahid, Abdur Rahman Bin" userId="7670fb78-979f-4f3c-9c94-369f9360313e" providerId="ADAL" clId="{B42AFD2A-6BBF-444E-A0A3-2C9A8364E56C}" dt="2026-06-13T17:24:09.133" v="23" actId="164"/>
          <ac:picMkLst>
            <pc:docMk/>
            <pc:sldMk cId="0" sldId="268"/>
            <ac:picMk id="4" creationId="{10B49F1B-282F-7B78-B31A-9EA934C950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projects collectively advance the SHIELD Lab’s vision of building secure, private, trustworthy, and resource-aware intelligent systems for real-world human-AI and cyber-physical environments. </a:t>
            </a:r>
          </a:p>
          <a:p>
            <a:r>
              <a:rPr lang="en-US" dirty="0"/>
              <a:t>The first project investigates security, privacy, and forensic risks in multimodal human-AI interaction, including speech, sketch, virtual collaboration, and generative AI systems. </a:t>
            </a:r>
          </a:p>
          <a:p>
            <a:r>
              <a:rPr lang="en-US" dirty="0"/>
              <a:t>The second project focuses on wearable AI, studying security and privacy across the system lifecycle from sensing and data collection to federated learning and activity recognition. </a:t>
            </a:r>
          </a:p>
          <a:p>
            <a:r>
              <a:rPr lang="en-US" dirty="0"/>
              <a:t>The third project develops trustworthy and resource-aware AI methods that balance security, latency, robustness, and sustainability in distributed and edge-AI systems. </a:t>
            </a:r>
          </a:p>
          <a:p>
            <a:r>
              <a:rPr lang="en-US" dirty="0"/>
              <a:t>The fourth project explores the use of large and small language models for trustworthy cyber-physical intelligence, including fall detection, emergency response, sensor-data reasoning, and poisoning detection and sanitization.</a:t>
            </a:r>
          </a:p>
          <a:p>
            <a:r>
              <a:rPr lang="en-US" dirty="0"/>
              <a:t>Together, these projects address a common challenge: how to make AI systems useful in real-world settings while ensuring that they remain secure, privacy-preserving, reliable,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90113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0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No logo - Empt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No logo - Two tables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2" descr="CRA PPT_page ba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physics-toolbox-sensor-suite/id1128914250" TargetMode="External"/><Relationship Id="rId2" Type="http://schemas.openxmlformats.org/officeDocument/2006/relationships/hyperlink" Target="https://play.google.com/store/apps/details?id=com.chrystianvieyra.physicstoolboxsuite&amp;hl=en_U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76" name="Google Shape;76;p15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7" name="Google Shape;77;p15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WhiteBG"/>
          <p:cNvSpPr/>
          <p:nvPr/>
        </p:nvSpPr>
        <p:spPr>
          <a:xfrm>
            <a:off x="0" y="3962400"/>
            <a:ext cx="7620000" cy="28956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TitleText"/>
          <p:cNvSpPr txBox="1"/>
          <p:nvPr/>
        </p:nvSpPr>
        <p:spPr>
          <a:xfrm>
            <a:off x="228600" y="4000000"/>
            <a:ext cx="720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3000" b="1" dirty="0">
                <a:solidFill>
                  <a:srgbClr val="1E22AA"/>
                </a:solidFill>
                <a:latin typeface="Helvetica Neue"/>
              </a:rPr>
              <a:t>Developing Core AI Competencies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0" dirty="0">
                <a:solidFill>
                  <a:srgbClr val="1E22AA"/>
                </a:solidFill>
                <a:latin typeface="Helvetica Neue"/>
              </a:rPr>
              <a:t>Through Sensor Data and Large Language Models</a:t>
            </a:r>
          </a:p>
        </p:txBody>
      </p:sp>
      <p:sp>
        <p:nvSpPr>
          <p:cNvPr id="201" name="AuthorText"/>
          <p:cNvSpPr txBox="1"/>
          <p:nvPr/>
        </p:nvSpPr>
        <p:spPr>
          <a:xfrm>
            <a:off x="228600" y="5200000"/>
            <a:ext cx="72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Dr. Abdur Rahman Bin Shahid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1700" b="0" dirty="0">
                <a:solidFill>
                  <a:srgbClr val="333333"/>
                </a:solidFill>
                <a:latin typeface="Helvetica Neue"/>
              </a:rPr>
              <a:t>Assistant Professor &amp; Director, SHIELD Lab  |  School of Computing, SIUC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700" b="0" dirty="0">
                <a:solidFill>
                  <a:srgbClr val="333333"/>
                </a:solidFill>
                <a:latin typeface="Helvetica Neue"/>
              </a:rPr>
              <a:t>shahid@cs.siu.edu  |  shieldlab.info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6E51F-9CBB-37EA-BF18-4716A255E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8" y="253342"/>
            <a:ext cx="7915695" cy="6604658"/>
          </a:xfrm>
          <a:prstGeom prst="rect">
            <a:avLst/>
          </a:prstGeom>
        </p:spPr>
      </p:pic>
      <p:sp>
        <p:nvSpPr>
          <p:cNvPr id="5" name="AuthorText">
            <a:extLst>
              <a:ext uri="{FF2B5EF4-FFF2-40B4-BE49-F238E27FC236}">
                <a16:creationId xmlns:a16="http://schemas.microsoft.com/office/drawing/2014/main" id="{706DF10B-F59B-FD42-8AB0-FEC41DDF2AB4}"/>
              </a:ext>
            </a:extLst>
          </p:cNvPr>
          <p:cNvSpPr txBox="1"/>
          <p:nvPr/>
        </p:nvSpPr>
        <p:spPr>
          <a:xfrm>
            <a:off x="8190571" y="4077391"/>
            <a:ext cx="4001429" cy="219695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1E22AA"/>
                </a:solidFill>
                <a:latin typeface="Helvetica Neue"/>
              </a:rPr>
              <a:t>Dr. Abdur Rahman Bin Shahid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1600" b="0" dirty="0">
                <a:solidFill>
                  <a:srgbClr val="333333"/>
                </a:solidFill>
                <a:latin typeface="Helvetica Neue"/>
              </a:rPr>
              <a:t>Assistant Professor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1600" b="0" dirty="0">
                <a:solidFill>
                  <a:srgbClr val="333333"/>
                </a:solidFill>
                <a:latin typeface="Helvetica Neue"/>
              </a:rPr>
              <a:t>Director, SHIELD Lab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1600" b="0" dirty="0">
                <a:solidFill>
                  <a:srgbClr val="333333"/>
                </a:solidFill>
                <a:latin typeface="Helvetica Neue"/>
              </a:rPr>
              <a:t>School of Computing, SIUC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600" b="0" dirty="0" err="1">
                <a:solidFill>
                  <a:srgbClr val="333333"/>
                </a:solidFill>
                <a:latin typeface="Helvetica Neue"/>
              </a:rPr>
              <a:t>shahid@cs.siu.edu</a:t>
            </a:r>
            <a:r>
              <a:rPr lang="en-US" sz="1600" b="0" dirty="0">
                <a:solidFill>
                  <a:srgbClr val="333333"/>
                </a:solidFill>
                <a:latin typeface="Helvetica Neue"/>
              </a:rPr>
              <a:t> 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600" b="0" dirty="0">
                <a:solidFill>
                  <a:srgbClr val="333333"/>
                </a:solidFill>
                <a:latin typeface="Helvetica Neue"/>
              </a:rPr>
              <a:t> </a:t>
            </a:r>
            <a:endParaRPr lang="en-US" sz="1600" dirty="0">
              <a:solidFill>
                <a:srgbClr val="333333"/>
              </a:solidFill>
              <a:latin typeface="Helvetica Neue"/>
            </a:endParaRPr>
          </a:p>
          <a:p>
            <a:pPr algn="l">
              <a:spcBef>
                <a:spcPts val="100"/>
              </a:spcBef>
              <a:buNone/>
            </a:pPr>
            <a:r>
              <a:rPr lang="en-US" sz="1600" b="0" dirty="0" err="1">
                <a:solidFill>
                  <a:srgbClr val="333333"/>
                </a:solidFill>
                <a:latin typeface="Helvetica Neue"/>
              </a:rPr>
              <a:t>shieldlab.info</a:t>
            </a:r>
            <a:endParaRPr lang="en-US" sz="1600" b="0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7B28D-FDF1-D05A-8F2F-C43BA9776A22}"/>
              </a:ext>
            </a:extLst>
          </p:cNvPr>
          <p:cNvSpPr txBox="1"/>
          <p:nvPr/>
        </p:nvSpPr>
        <p:spPr>
          <a:xfrm>
            <a:off x="8279173" y="583658"/>
            <a:ext cx="26515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How to make AI systems useful in real-world settings while ensuring that they remain secure, privacy-preserving, reliable, and efficient?</a:t>
            </a:r>
          </a:p>
        </p:txBody>
      </p:sp>
    </p:spTree>
    <p:extLst>
      <p:ext uri="{BB962C8B-B14F-4D97-AF65-F5344CB8AC3E}">
        <p14:creationId xmlns:p14="http://schemas.microsoft.com/office/powerpoint/2010/main" val="42748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What We Cover in the CPS Course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10079696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An applied course at the School of Computing, SIUC — bridging embedded systems, AI, and the physical world.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1.  CPS Foundations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Embedded systems, IoT, sensing, communication, and physical-cyber interaction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2.  Sensors and Real-World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Accelerometer, gyroscope, GPS, motion sensing, wearable and smartphone-based sensing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3.  CPS Applications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Smart health, smart homes, transportation, agriculture, smart grids, robotics, and human activity recognition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4.  CPS Security and Trust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False data injection, DoS/DDoS, man-in-the-middle attacks, cyber-physical attacks, and system resilience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5.  AI for CPS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Machine learning, HAR, AI-assisted sensing, </a:t>
            </a:r>
            <a:r>
              <a:rPr lang="en-US" sz="1800" b="1" dirty="0">
                <a:solidFill>
                  <a:srgbClr val="00B050"/>
                </a:solidFill>
                <a:latin typeface="Helvetica Neue"/>
              </a:rPr>
              <a:t>LLM reasoning</a:t>
            </a: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, and trustworthy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The Teaching Challenge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How Do We Introduce CPS + AI Without Full Physical Infrastructure?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The Problem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CPS is naturally physical — students should ideally work with real sensors, devices, actuators, and infrastructure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Common Barriers in Many Teaching Settings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Full CPS testbeds are often unavailable or expensive to set up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Hardware configuration takes significant time away from learning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have varying programming backgrounds and comfort levels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Public datasets are useful, but hide how real data is actually generated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Key Question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1E22AA"/>
                </a:solidFill>
                <a:latin typeface="Helvetica Neue"/>
              </a:rPr>
              <a:t>How can we help students experience the full AI-CPS pipeline — not just download a dataset and run a model?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From Running Code to Solving Real-World Problems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The Educational Shift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Helvetica Neue"/>
              </a:rPr>
              <a:t>Traditional Student Experience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C0392B"/>
                </a:solidFill>
                <a:latin typeface="Helvetica Neue"/>
              </a:rPr>
              <a:t>Download dataset  →  Run code  →  Train model  →  Report accuracy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What We Want Instead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Observe a real-world problem and understand why it matters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Collect sensor data using tools students already own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Clean and interpret noisy real-world signals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Apply AI and LLMs thoughtfully to analyze the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Evaluate results against ground truth and real-world context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Reflect on reliability, privacy, and safety implications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1E22AA"/>
                </a:solidFill>
                <a:latin typeface="Helvetica Neue"/>
              </a:rPr>
              <a:t>AI education should teach students how to use AI to solve real-world problems — not just build a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109057"/>
            <a:ext cx="9518768" cy="96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Many Students Are Still Developing Programming Confidence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Diverse Skills in a CPS/AI Classroom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Student Profiles We Encounter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Strong programmers comfortable with Python and implementation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Conceptual learners who understand ideas but struggle with code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new to sensor data or time-series signals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who have used ChatGPT/Claude for writing but not for data analysis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Key Insight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1E22AA"/>
                </a:solidFill>
                <a:latin typeface="Helvetica Neue"/>
              </a:rPr>
              <a:t>Students are already familiar with LLMs — but most do not know how to use LLMs to reason about real-world sensor data.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This creates a unique teachable moment: we can meet students where they are and build upward from their existing familiarity with AI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Everyone Already Carries a Sensor-Rich CPS Device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Smartphones as Low-Cost Cyber-Physical Learning Platforms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Sensors Available on Most Smartphones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Accelerometer and Gyroscope — motion, orientation, and activity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Magnetometer — direction and compass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GPS / Location — position and movement tracking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Barometer — altitude and air pressure changes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Proximity and Ambient Light sensors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Microphone, Camera, and Touchscreen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Step Counter, Bluetooth signals, and WiFi signals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1E22AA"/>
                </a:solidFill>
                <a:latin typeface="Helvetica Neue"/>
              </a:rPr>
              <a:t>A smartphone is not just a communication device — it is a low-cost cyber-physical sensing platform that students already own.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No hardware purchases. No lab setup time. Students can start collecting real sensor data on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Smartphone Sensor Data + LLMs for AI-CPS Learning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My Teaching Approach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Use smartphones to collect real-world sensor data, then use AI and LLMs to analyze, interpret, explain, and evaluate that data.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The Learning Pipeline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1.  Identify a real-world activity or problem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2.  Collect sensor data using a smartphone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3.  Process or summarize the sensor data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4.  Use ML or rule-based methods when appropriate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5.  Use LLMs for interpretation, explanation, coding support, and reflection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6.  Evaluate whether the AI output is useful, reliable, and trustworthy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404040"/>
                </a:solidFill>
                <a:latin typeface="Helvetica Neue"/>
              </a:rPr>
              <a:t>This gives students an end-to-end view of AI-CPS systems — from physical sensing to trustworthy AI evaluation.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FF0E9-64D2-65F4-46EC-AD37B2D01FFB}"/>
              </a:ext>
            </a:extLst>
          </p:cNvPr>
          <p:cNvSpPr txBox="1"/>
          <p:nvPr/>
        </p:nvSpPr>
        <p:spPr>
          <a:xfrm>
            <a:off x="609599" y="6299082"/>
            <a:ext cx="97801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2"/>
              </a:rPr>
              <a:t>https://play.google.com/store/apps/details?id=com.chrystianvieyra.physicstoolboxsuite&amp;hl=en_US</a:t>
            </a:r>
            <a:endParaRPr lang="en-US" sz="1050" dirty="0"/>
          </a:p>
          <a:p>
            <a:r>
              <a:rPr lang="en-US" sz="1050" dirty="0">
                <a:hlinkClick r:id="rId3"/>
              </a:rPr>
              <a:t>https://apps.apple.com/us/app/physics-toolbox-sensor-suite/id1128914250</a:t>
            </a:r>
            <a:r>
              <a:rPr lang="en-US" sz="1050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5B1F13-2585-31DE-D4DA-83589FDDD4D1}"/>
              </a:ext>
            </a:extLst>
          </p:cNvPr>
          <p:cNvGrpSpPr/>
          <p:nvPr/>
        </p:nvGrpSpPr>
        <p:grpSpPr>
          <a:xfrm>
            <a:off x="9383613" y="2181137"/>
            <a:ext cx="1513292" cy="3198067"/>
            <a:chOff x="9383613" y="2181137"/>
            <a:chExt cx="1513292" cy="31980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B49F1B-282F-7B78-B31A-9EA934C95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220" t="16488" r="14871" b="6616"/>
            <a:stretch>
              <a:fillRect/>
            </a:stretch>
          </p:blipFill>
          <p:spPr>
            <a:xfrm>
              <a:off x="9397694" y="2181137"/>
              <a:ext cx="1499211" cy="289029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A051795-F281-7486-1699-A3C82079992A}"/>
                </a:ext>
              </a:extLst>
            </p:cNvPr>
            <p:cNvSpPr txBox="1"/>
            <p:nvPr/>
          </p:nvSpPr>
          <p:spPr>
            <a:xfrm>
              <a:off x="9383613" y="5071427"/>
              <a:ext cx="1489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Physics Toolbox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Core AI Competencies Developed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What Students Learn from This Approach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1.  Data Literacy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Understanding how real-world data is generated, noisy, incomplete, and context-dependent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2.  Sensor and Time-Series Reasoning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Understanding motion, activity, signal patterns, and feature extraction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3.  Machine Learning Basics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Training, testing, classification, accuracy, confusion matrix, and model limitations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4.  LLM Literacy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Prompting, summarization, explanation, structured reasoning, and hallucination checking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5.  Responsible AI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Privacy, safety, reliability, false alarms, and human-centered impact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6.  Problem-Centered AI Thinking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b="0" dirty="0">
                <a:solidFill>
                  <a:srgbClr val="404040"/>
                </a:solidFill>
                <a:latin typeface="Helvetica Neue"/>
              </a:rPr>
              <a:t>Starting from a real-world need rather than starting from a model or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491F-3719-B924-031B-520F5D38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Pilot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9368-90FE-1AC7-8D1E-70839CFAB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rgbClr val="1E22AA"/>
                </a:solidFill>
              </a:rPr>
              <a:t>Wearable Data Chatbot </a:t>
            </a:r>
            <a:r>
              <a:rPr lang="en-US" sz="2000" dirty="0"/>
              <a:t>— students build a conversational agent that answers questions about wearable sensor datasets (activity patterns, sleep, movement trends) </a:t>
            </a:r>
          </a:p>
          <a:p>
            <a:r>
              <a:rPr lang="en-US" sz="2000" b="1" dirty="0">
                <a:solidFill>
                  <a:srgbClr val="1E22AA"/>
                </a:solidFill>
              </a:rPr>
              <a:t>Smartphone-Based Activity Recognition (HAR) </a:t>
            </a:r>
            <a:r>
              <a:rPr lang="en-US" sz="2000" dirty="0"/>
              <a:t>— using accelerometer, gyroscope, and step counter to classify activities like walking, running, sitting, standing, and stair climbing </a:t>
            </a:r>
          </a:p>
          <a:p>
            <a:r>
              <a:rPr lang="en-US" sz="2000" b="1" dirty="0">
                <a:solidFill>
                  <a:srgbClr val="1E22AA"/>
                </a:solidFill>
              </a:rPr>
              <a:t>Personal Activity Notebook via LLMs </a:t>
            </a:r>
            <a:r>
              <a:rPr lang="en-US" sz="2000" dirty="0"/>
              <a:t>— collecting motion data, generating structured summaries (step count, motion intensity, inactive periods), then using an LLM to produce a natural-language daily activity report </a:t>
            </a:r>
          </a:p>
          <a:p>
            <a:r>
              <a:rPr lang="en-US" sz="2000" b="1" dirty="0">
                <a:solidFill>
                  <a:srgbClr val="1E22AA"/>
                </a:solidFill>
              </a:rPr>
              <a:t>Data Quality, Noise, and Reliability </a:t>
            </a:r>
            <a:r>
              <a:rPr lang="en-US" sz="2000" dirty="0"/>
              <a:t>— collecting sensor data under different phone placements (hand, pocket, backpack) to study how context and noise affect data and AI interpretation </a:t>
            </a:r>
          </a:p>
          <a:p>
            <a:r>
              <a:rPr lang="en-US" sz="2000" b="1" dirty="0">
                <a:solidFill>
                  <a:srgbClr val="1E22AA"/>
                </a:solidFill>
              </a:rPr>
              <a:t>Fall Detection </a:t>
            </a:r>
            <a:r>
              <a:rPr lang="en-US" sz="2000" dirty="0"/>
              <a:t>— designing a safety-critical system using accelerometer and gyroscope signals, with explicit attention to false positives and false negatives and their real-world consequences</a:t>
            </a:r>
          </a:p>
        </p:txBody>
      </p:sp>
    </p:spTree>
    <p:extLst>
      <p:ext uri="{BB962C8B-B14F-4D97-AF65-F5344CB8AC3E}">
        <p14:creationId xmlns:p14="http://schemas.microsoft.com/office/powerpoint/2010/main" val="336776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Project Theme 1: Conversational AI for Wearable Datasets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Wearable Data Chatbot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404040"/>
                </a:solidFill>
                <a:latin typeface="Helvetica Neue"/>
              </a:rPr>
              <a:t>Students build a chatbot that answers questions about wearable sensor data and human activities.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Example Interactions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Daily activity pattern questions (How active was I today?)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Sleep behavior summaries and trend interpretation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Exercise and movement analysis across different days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Health-monitoring scenarios and personal activity explanations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 Competency Developed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learn how LLMs can interact with structured CPS data — not just plain text. They practice prompt engineering and output verification against real sensor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2CFCD2-BD09-1DED-45F1-062A1020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23" y="634845"/>
            <a:ext cx="10117195" cy="568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0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Project Theme 2: Smartphone-Based Activity Recognition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From Phone Sensors to Human Activity Recognition (HAR)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404040"/>
                </a:solidFill>
                <a:latin typeface="Helvetica Neue"/>
              </a:rPr>
              <a:t>Students use smartphone sensors — accelerometer, gyroscope, step counter — to detect everyday activities.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Target Activities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Walking, Running, Sitting, Standing, Climbing stairs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Data Sources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UCI HAR Dataset for training and benchmark validation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collect small personal datasets for testing or comparison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What Students Do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Explore how sensor signals differ across activities and individuals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Train and evaluate a classifier on real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Use LLMs to explain classification decisions and model behavior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 Competency Developed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learn how HAR systems are developed from sensor data — not only how to run a classifier on a pre-packaged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Project Theme 3: Personal Activity Notebook via LLMs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LLM-Assisted Interpretation of Personal Sensor Data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collect motion data during daily activities and transform raw signals into structured summaries, then use an LLM to generate a digital activity report.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Phase 1: Collect and Summarize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Step count, motion intensity, activity duration, inactive periods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Statistical summaries of movement patterns across time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Phase 2: LLM Interpretation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Generate a natural-language activity notebook entry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Explain behavior patterns in plain language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Compare activities across different days or conditions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Phase 3: Verification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Check whether LLM-generated explanations match actual sensor behavior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Identify where the LLM hallucinated, over-generalized, or was accurate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 Competency Developed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learn how LLMs can explain structured sensor summaries — and how to critically verify those explanations.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Project Theme 4: Data Quality, Noise, and Reliability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Real-World Sensor Data Is Messy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collect sensor data under different placement conditions and analyze how context and noise affect data quality and AI interpretation.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Experimental Conditions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Phone in hand vs. pocket vs. backpack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Walking, running, standing, or mixed activities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What Students Analyze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How device placement creates different signal profiles for the same activity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How noise, vibration, and environmental factors affect sensor readings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How AI model performance varies across clean vs. noisy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Why the same model can succeed in one context and fail in another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 Competency Developed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learn that AI performance depends heavily on data quality, sensing context, and collection conditions — not just model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Project Theme 5: Fall Detection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AI-CPS for Safety-Critical Applications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design a simple fall detection system using smartphone accelerometer and gyroscope signals.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System Components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Acceleration magnitude and sudden motion spikes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Orientation change and impact intensity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Rule-based or ML-based event classification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LLM-generated explanation of why an event may be a fall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Critical Design Consideration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Helvetica Neue"/>
              </a:rPr>
              <a:t>False positives and false negatives both have real-world consequences in safety-critical systems. Students must reason about the human impact of AI errors.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AI Competency Developed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Students connect sensor AI to a real-world safety problem where model reliability directly impacts human lives — introducing responsible AI in a concrete and memorable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LLMs as Learning Partners, Not Automatic Answers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How LLMs Are Used in the Course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LLMs serve as active learning partners throughout the course — supporting code, explanation, and critical reflection.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LLM Uses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Code generation support, debugging, and visualization help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Data interpretation and explanation of sensor patterns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Prompt-based analysis of sensor summaries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Comparing different AI-generated interpretations of the same data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Reflecting on privacy, security, and responsible use implications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Helvetica Neue"/>
              </a:rPr>
              <a:t>Important Teaching Point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Helvetica Neue"/>
              </a:rPr>
              <a:t>Students are NOT asked to blindly trust LLMs. They must verify all LLM outputs against actual data, plots, metrics, and real-world context.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This trains the habit of critical evaluation — a core skill for working with any AI system in professional or research settings.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Scaling AI Learning at Research-Emerging Institutions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Why This Matters for NAIRR and AI Capacity Building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This Model Aligns Well with NAIRR Because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It lowers the entry barrier for AI education — students use devices they already own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It supports hands-on learning without requiring expensive physical CPS labs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It can scale from small local datasets to larger NAIRR-supported shared datasets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NAIRR resources can support notebooks, model experiments, LLM analysis, and classroom modules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It helps faculty develop reusable, portable AI-CPS teaching modules</a:t>
            </a:r>
          </a:p>
          <a:p>
            <a:pPr marL="457200" marR="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It bridges the gap between isolated AI assignments and scalable, evidence-based learning experiences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Key Message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NAIRR can help research-emerging institutions move from isolated AI assignments to scalable, hands-on AI learning experiences that develop genuine competency.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2AA"/>
                </a:solidFill>
                <a:latin typeface="Helvetica Neue"/>
              </a:rPr>
              <a:t>Lessons Learned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E22AA"/>
                </a:solidFill>
                <a:latin typeface="Helvetica Neue"/>
              </a:rPr>
              <a:t>Main Takeaways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1.  CPS is a strong entry point for teaching real-world AI.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2.  Smartphone sensors make CPS learning accessible to every student.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3.  Students need to understand how data is created — not just how to use it.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4.  LLMs can support students with coding, explanation, and interpretation when used critically.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5.  The real educational value comes from connecting data, models, physical context, and responsible AI.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0" dirty="0">
                <a:solidFill>
                  <a:srgbClr val="404040"/>
                </a:solidFill>
                <a:latin typeface="Helvetica Neue"/>
              </a:rPr>
              <a:t>6.  This creates a practical pathway for developing core AI competencies at research-emerging institutions.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2AA"/>
                </a:solidFill>
                <a:latin typeface="Helvetica Neue"/>
              </a:rPr>
              <a:t>Goal: Help students move from being users of AI tools to becoming developers and evaluators of trustworthy AI systems grounded in real-world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4428C-2E39-296C-0F80-F00642384C48}"/>
              </a:ext>
            </a:extLst>
          </p:cNvPr>
          <p:cNvSpPr txBox="1"/>
          <p:nvPr/>
        </p:nvSpPr>
        <p:spPr>
          <a:xfrm>
            <a:off x="1717675" y="5851615"/>
            <a:ext cx="7394575" cy="4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300" dirty="0">
                <a:latin typeface="Helvetica Neue"/>
              </a:rPr>
              <a:t> 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800" b="0" dirty="0">
                <a:solidFill>
                  <a:srgbClr val="666666"/>
                </a:solidFill>
                <a:latin typeface="Helvetica Neue"/>
              </a:rPr>
              <a:t>Dr. Abdur Rahman Bin Shahid  |  shahid@cs.siu.edu  |  shieldlab.info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Follow CRA on social media</a:t>
            </a:r>
            <a:endParaRPr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30" name="Google Shape;130;p22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3775" tIns="53775" rIns="53775" bIns="53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4"/>
            </a:p>
          </p:txBody>
        </p:sp>
        <p:pic>
          <p:nvPicPr>
            <p:cNvPr id="131" name="Google Shape;131;p22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57a98e7-744d-43f9-bc91-08de1ff3710d}" enabled="0" method="" siteId="{d57a98e7-744d-43f9-bc91-08de1ff371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2286</Words>
  <Application>Microsoft Macintosh PowerPoint</Application>
  <PresentationFormat>Widescreen</PresentationFormat>
  <Paragraphs>270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Helvetica Neue</vt:lpstr>
      <vt:lpstr>Arial</vt:lpstr>
      <vt:lpstr>Calibri</vt:lpstr>
      <vt:lpstr>Office Theme</vt:lpstr>
      <vt:lpstr>Office Theme</vt:lpstr>
      <vt:lpstr>No logo </vt:lpstr>
      <vt:lpstr>PowerPoint Presentation</vt:lpstr>
      <vt:lpstr>PowerPoint Presentation</vt:lpstr>
      <vt:lpstr>What We Cover in the CPS Course</vt:lpstr>
      <vt:lpstr>The Teaching Challenge</vt:lpstr>
      <vt:lpstr>From Running Code to Solving Real-World Problems</vt:lpstr>
      <vt:lpstr>Many Students Are Still Developing Programming Confidence</vt:lpstr>
      <vt:lpstr>Everyone Already Carries a Sensor-Rich CPS Device</vt:lpstr>
      <vt:lpstr>Smartphone Sensor Data + LLMs for AI-CPS Learning</vt:lpstr>
      <vt:lpstr>Core AI Competencies Developed</vt:lpstr>
      <vt:lpstr>Pilot Projects</vt:lpstr>
      <vt:lpstr>Project Theme 1: Conversational AI for Wearable Datasets</vt:lpstr>
      <vt:lpstr>PowerPoint Presentation</vt:lpstr>
      <vt:lpstr>Project Theme 2: Smartphone-Based Activity Recognition</vt:lpstr>
      <vt:lpstr>Project Theme 3: Personal Activity Notebook via LLMs</vt:lpstr>
      <vt:lpstr>Project Theme 4: Data Quality, Noise, and Reliability</vt:lpstr>
      <vt:lpstr>Project Theme 5: Fall Detection</vt:lpstr>
      <vt:lpstr>LLMs as Learning Partners, Not Automatic Answers</vt:lpstr>
      <vt:lpstr>Scaling AI Learning at Research-Emerging Institutions</vt:lpstr>
      <vt:lpstr>Lessons Learned</vt:lpstr>
      <vt:lpstr>Stay Connected!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Shahid, Abdur Rahman Bin</cp:lastModifiedBy>
  <cp:revision>24</cp:revision>
  <dcterms:modified xsi:type="dcterms:W3CDTF">2026-06-18T19:32:11Z</dcterms:modified>
</cp:coreProperties>
</file>