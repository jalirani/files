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60" r:id="rId4"/>
    <p:sldId id="261" r:id="rId5"/>
    <p:sldId id="270" r:id="rId6"/>
    <p:sldId id="263" r:id="rId7"/>
    <p:sldId id="264" r:id="rId8"/>
    <p:sldId id="268" r:id="rId9"/>
    <p:sldId id="265" r:id="rId10"/>
    <p:sldId id="272" r:id="rId11"/>
    <p:sldId id="267" r:id="rId12"/>
    <p:sldId id="266" r:id="rId13"/>
    <p:sldId id="271" r:id="rId14"/>
    <p:sldId id="273" r:id="rId15"/>
    <p:sldId id="274" r:id="rId16"/>
    <p:sldId id="275" r:id="rId17"/>
    <p:sldId id="276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26"/>
  </p:normalViewPr>
  <p:slideViewPr>
    <p:cSldViewPr snapToGrid="0" snapToObjects="1">
      <p:cViewPr>
        <p:scale>
          <a:sx n="83" d="100"/>
          <a:sy n="83" d="100"/>
        </p:scale>
        <p:origin x="327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/>
          <a:lstStyle>
            <a:lvl1pPr algn="ctr">
              <a:defRPr sz="6000"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0D986-81ED-114D-8203-86FA26A38B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70611" y="4630210"/>
            <a:ext cx="2650776" cy="170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7392" y="6248163"/>
            <a:ext cx="2635332" cy="365125"/>
          </a:xfrm>
        </p:spPr>
        <p:txBody>
          <a:bodyPr/>
          <a:lstStyle>
            <a:lvl1pPr>
              <a:defRPr b="1"/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3F511-DEB8-0BCF-07EE-CF1EC1217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7781" y="365125"/>
            <a:ext cx="1546168" cy="72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2017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DC64B-5CD5-7341-B6E0-9B4F677F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8467-A91D-B840-9781-A402C93E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6502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6BBB3-B281-2BC3-81AD-D3D516973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0495" y="506512"/>
            <a:ext cx="1794785" cy="8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1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E802-B46A-204D-94D4-E50D913A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7812B-2A55-D049-A1C2-A4C973AC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8766B-6B24-3B45-B55F-3D85F881F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7F728-2418-1540-9191-5FDFA36D8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48585-BFC1-9148-A0B5-07C83C2F2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371BF-1A9F-5641-95DB-6C0FE67B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21846-D4EB-5949-B8F3-E4009916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283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3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6707" y="6163534"/>
            <a:ext cx="2670958" cy="365125"/>
          </a:xfrm>
        </p:spPr>
        <p:txBody>
          <a:bodyPr/>
          <a:lstStyle>
            <a:lvl1pPr>
              <a:defRPr b="1"/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102A9-BAAA-CB62-8EFF-1F5465B1FF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3912" y="485456"/>
            <a:ext cx="1908213" cy="7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69C9D7-2614-634E-A7CE-EA1EB881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1377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991BC-E157-B340-860E-81A4EBD0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05CF-1707-5749-8109-20FA449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0564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36C52B-AB09-EAC3-19F6-FE30D606F4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0752" y="494249"/>
            <a:ext cx="1749946" cy="81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4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54A1-6207-5141-AAB1-9A7630DA9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F95B-0887-9F4F-BA1C-0B9CBE5AE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15B1-8A32-AB43-82F2-51A60BC2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D973-68F9-5B46-A3D8-B7AF20B0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68CE-A588-FE4D-9C1E-5BE4A1A8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5185-7056-B946-8F27-7890BB2A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AF3B6-3151-9346-B00D-EBED7ED75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EF208-3C62-3840-A816-A69F27E0B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C1DD0-6624-6048-953E-41055A0D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C492C-9027-2B43-9637-56046A06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6896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0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56521"/>
            <a:ext cx="10515600" cy="2187986"/>
          </a:xfrm>
        </p:spPr>
        <p:txBody>
          <a:bodyPr anchor="t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Email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949A2D-3958-D549-8B04-F4625B651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94318" y="5618042"/>
            <a:ext cx="42291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1A4019-0535-C748-9261-72B745C09AD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8610600" y="5952641"/>
            <a:ext cx="2951480" cy="46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hyperlink" Target="https://drsc.usccreate.org/otbsc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345" y="1096607"/>
            <a:ext cx="11488903" cy="14762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CHAI With NLP: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r>
              <a:rPr lang="en-US" b="1" dirty="0"/>
              <a:t>onnecting </a:t>
            </a:r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b="1" dirty="0"/>
              <a:t>umanities and </a:t>
            </a:r>
            <a:r>
              <a:rPr lang="en-US" b="1" dirty="0">
                <a:solidFill>
                  <a:srgbClr val="C00000"/>
                </a:solidFill>
              </a:rPr>
              <a:t>AI</a:t>
            </a:r>
            <a:r>
              <a:rPr lang="en-US" b="1" dirty="0"/>
              <a:t> Through Text Mining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4976" y="3029598"/>
            <a:ext cx="9144000" cy="601713"/>
          </a:xfrm>
        </p:spPr>
        <p:txBody>
          <a:bodyPr/>
          <a:lstStyle/>
          <a:p>
            <a:r>
              <a:rPr lang="en-US" b="1" dirty="0"/>
              <a:t>June 19,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86B83-0DF3-8C63-75BF-7BDEA810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366" y="4790783"/>
            <a:ext cx="3460228" cy="143413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E3BA819-C549-EFB3-9043-5B524F555A8F}"/>
              </a:ext>
            </a:extLst>
          </p:cNvPr>
          <p:cNvGrpSpPr/>
          <p:nvPr/>
        </p:nvGrpSpPr>
        <p:grpSpPr>
          <a:xfrm>
            <a:off x="488223" y="4863763"/>
            <a:ext cx="3976762" cy="1426893"/>
            <a:chOff x="443345" y="4728873"/>
            <a:chExt cx="3976762" cy="1426893"/>
          </a:xfrm>
        </p:grpSpPr>
        <p:pic>
          <p:nvPicPr>
            <p:cNvPr id="9" name="Picture 2" descr="A person with long black hair&#10;&#10;AI-generated content may be incorrect.">
              <a:extLst>
                <a:ext uri="{FF2B5EF4-FFF2-40B4-BE49-F238E27FC236}">
                  <a16:creationId xmlns:a16="http://schemas.microsoft.com/office/drawing/2014/main" id="{28B75C56-B524-FE7C-9005-A3355A162A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345" y="4728873"/>
              <a:ext cx="1264886" cy="1343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3E8B2A-0A9B-92CA-CFE6-71957446022C}"/>
                </a:ext>
              </a:extLst>
            </p:cNvPr>
            <p:cNvSpPr txBox="1"/>
            <p:nvPr/>
          </p:nvSpPr>
          <p:spPr>
            <a:xfrm>
              <a:off x="1708231" y="5324769"/>
              <a:ext cx="27118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Vandana Srivastava</a:t>
              </a:r>
            </a:p>
            <a:p>
              <a:r>
                <a:rPr lang="en-US" sz="1600" dirty="0"/>
                <a:t>AI/Data Science Specialist</a:t>
              </a:r>
            </a:p>
            <a:p>
              <a:r>
                <a:rPr lang="en-US" sz="1600" dirty="0"/>
                <a:t>University Libraries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9E152-24B8-2796-F0AA-04EE74D9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517869" y="375516"/>
            <a:ext cx="10515600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ABOUT MYSELF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517869" y="1696962"/>
            <a:ext cx="5020056" cy="65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Experience (~15 years)</a:t>
            </a:r>
            <a:endParaRPr dirty="0"/>
          </a:p>
        </p:txBody>
      </p:sp>
      <p:sp>
        <p:nvSpPr>
          <p:cNvPr id="82" name="Google Shape;82;p2"/>
          <p:cNvSpPr txBox="1"/>
          <p:nvPr/>
        </p:nvSpPr>
        <p:spPr>
          <a:xfrm>
            <a:off x="517869" y="2351871"/>
            <a:ext cx="5841367" cy="423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AI/Data Science Specialist</a:t>
            </a:r>
            <a:r>
              <a:rPr lang="en-US" sz="15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15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2024 - Present</a:t>
            </a:r>
            <a:endParaRPr dirty="0">
              <a:solidFill>
                <a:srgbClr val="C0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   Digital Research Services, University Libraries</a:t>
            </a:r>
            <a:endParaRPr dirty="0">
              <a:solidFill>
                <a:srgbClr val="C0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   University of South Carolina</a:t>
            </a:r>
            <a:endParaRPr dirty="0">
              <a:solidFill>
                <a:srgbClr val="C00000"/>
              </a:solidFill>
            </a:endParaRPr>
          </a:p>
          <a:p>
            <a:pPr marL="2286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Co-founde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| 2019 - 24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ViSER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 educational services company, USA </a:t>
            </a:r>
            <a:endParaRPr dirty="0"/>
          </a:p>
          <a:p>
            <a:pPr marL="2286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Vice President, Investor Relations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2016 - 17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Tantiv4, USA </a:t>
            </a:r>
            <a:endParaRPr dirty="0"/>
          </a:p>
          <a:p>
            <a:pPr marL="2286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Guest Faculty 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2014 - 16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Indian Institute of Technology (IIT), Delhi, India</a:t>
            </a:r>
            <a:endParaRPr dirty="0"/>
          </a:p>
          <a:p>
            <a:pPr marL="2286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Incentive Analyst 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2008 - 09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IBM Corporate Office, Armonk, USA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 2003 - 06</a:t>
            </a:r>
            <a:endParaRPr sz="1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JSS Academy of Technical Education/Amity University, India</a:t>
            </a:r>
            <a:endParaRPr dirty="0"/>
          </a:p>
        </p:txBody>
      </p:sp>
      <p:sp>
        <p:nvSpPr>
          <p:cNvPr id="83" name="Google Shape;83;p2"/>
          <p:cNvSpPr txBox="1"/>
          <p:nvPr/>
        </p:nvSpPr>
        <p:spPr>
          <a:xfrm>
            <a:off x="6818661" y="1696962"/>
            <a:ext cx="4777140" cy="65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 dirty="0"/>
          </a:p>
        </p:txBody>
      </p:sp>
      <p:sp>
        <p:nvSpPr>
          <p:cNvPr id="84" name="Google Shape;84;p2"/>
          <p:cNvSpPr txBox="1"/>
          <p:nvPr/>
        </p:nvSpPr>
        <p:spPr>
          <a:xfrm>
            <a:off x="6654077" y="2351870"/>
            <a:ext cx="5216106" cy="39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rgbClr val="C00000"/>
                </a:solidFill>
                <a:ea typeface="Arial"/>
                <a:cs typeface="Arial"/>
                <a:sym typeface="Arial"/>
              </a:rPr>
              <a:t>PhD Candidate (Computer Science)  | 2021 - Present       </a:t>
            </a:r>
            <a:r>
              <a:rPr lang="en-US" sz="1500" b="0" i="0" u="none" strike="noStrike" cap="none" dirty="0">
                <a:solidFill>
                  <a:srgbClr val="C00000"/>
                </a:solidFill>
                <a:ea typeface="Arial"/>
                <a:cs typeface="Arial"/>
                <a:sym typeface="Arial"/>
              </a:rPr>
              <a:t>Artificial Intelligence Institute                                                    University of South Carolina </a:t>
            </a:r>
          </a:p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endParaRPr sz="800" dirty="0">
              <a:solidFill>
                <a:srgbClr val="C00000"/>
              </a:solidFill>
            </a:endParaRPr>
          </a:p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MBA</a:t>
            </a:r>
            <a:r>
              <a:rPr lang="en-US" sz="1500" b="0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(Financial Management) | 2009                                                     Pace University, NY, USA </a:t>
            </a:r>
          </a:p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endParaRPr sz="800" dirty="0"/>
          </a:p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Master of Natural Science </a:t>
            </a:r>
          </a:p>
          <a:p>
            <a:pPr marL="230188">
              <a:buClr>
                <a:schemeClr val="dk1"/>
              </a:buClr>
              <a:buSzPts val="1500"/>
            </a:pPr>
            <a:r>
              <a:rPr lang="en-US" sz="1500" b="0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Computational Mathematics | 2001                                                                                            Arizona State University, AZ, USA </a:t>
            </a:r>
          </a:p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endParaRPr sz="800" dirty="0"/>
          </a:p>
          <a:p>
            <a:pPr marL="228600" marR="0" lvl="0" indent="-228600" algn="l" rtl="0"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 b="1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M.Sc. </a:t>
            </a:r>
            <a:r>
              <a:rPr lang="en-US" sz="1500" b="0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(Mathematics) | 1997                                                                   </a:t>
            </a:r>
            <a:r>
              <a:rPr lang="en-US" sz="1500" b="1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B.Sc. </a:t>
            </a:r>
            <a:r>
              <a:rPr lang="en-US" sz="1500" b="0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(Mathematics / Statistics) | 1995                                                                              University of Lucknow, India</a:t>
            </a:r>
            <a:endParaRPr dirty="0"/>
          </a:p>
        </p:txBody>
      </p:sp>
      <p:sp>
        <p:nvSpPr>
          <p:cNvPr id="85" name="Google Shape;85;p2"/>
          <p:cNvSpPr txBox="1">
            <a:spLocks noGrp="1"/>
          </p:cNvSpPr>
          <p:nvPr>
            <p:ph type="sldNum" idx="12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0F86-93BF-44BC-4635-2D62F8CE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26839"/>
            <a:ext cx="10668000" cy="889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011AD4-AE08-050A-4E75-5E875F3B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3856" y="6066036"/>
            <a:ext cx="2605644" cy="365125"/>
          </a:xfrm>
        </p:spPr>
        <p:txBody>
          <a:bodyPr/>
          <a:lstStyle/>
          <a:p>
            <a:fld id="{B4E9AFF7-6653-6A4D-A979-64D2F5BECA26}" type="slidenum">
              <a:rPr lang="en-US" b="1" smtClean="0"/>
              <a:t>3</a:t>
            </a:fld>
            <a:endParaRPr lang="en-US" b="1" dirty="0"/>
          </a:p>
        </p:txBody>
      </p:sp>
      <p:sp>
        <p:nvSpPr>
          <p:cNvPr id="100" name="Number 1"/>
          <p:cNvSpPr/>
          <p:nvPr/>
        </p:nvSpPr>
        <p:spPr>
          <a:xfrm>
            <a:off x="762000" y="2032000"/>
            <a:ext cx="3556000" cy="127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n-US" sz="7200" b="1" dirty="0">
                <a:solidFill>
                  <a:srgbClr val="73000A"/>
                </a:solidFill>
              </a:rPr>
              <a:t>1</a:t>
            </a:r>
          </a:p>
        </p:txBody>
      </p:sp>
      <p:sp>
        <p:nvSpPr>
          <p:cNvPr id="101" name="Title 1"/>
          <p:cNvSpPr/>
          <p:nvPr/>
        </p:nvSpPr>
        <p:spPr>
          <a:xfrm>
            <a:off x="1016000" y="3492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Part One</a:t>
            </a:r>
          </a:p>
        </p:txBody>
      </p:sp>
      <p:sp>
        <p:nvSpPr>
          <p:cNvPr id="102" name="Desc 1"/>
          <p:cNvSpPr/>
          <p:nvPr/>
        </p:nvSpPr>
        <p:spPr>
          <a:xfrm>
            <a:off x="1016000" y="4133966"/>
            <a:ext cx="3048000" cy="16721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dirty="0"/>
              <a:t>AI and Text Mining</a:t>
            </a:r>
          </a:p>
          <a:p>
            <a:pPr algn="ctr"/>
            <a:endParaRPr lang="en-US" sz="1000" dirty="0"/>
          </a:p>
          <a:p>
            <a:pPr algn="ctr"/>
            <a:r>
              <a:rPr lang="en-US" sz="1600" dirty="0"/>
              <a:t>Background and Motivation for Text Mining Workshops by Libraries</a:t>
            </a:r>
          </a:p>
          <a:p>
            <a:pPr algn="ctr"/>
            <a:endParaRPr lang="en-US" sz="1000" dirty="0"/>
          </a:p>
          <a:p>
            <a:pPr algn="ctr"/>
            <a:r>
              <a:rPr lang="en-US" sz="1600" dirty="0"/>
              <a:t>Introduction of first workshop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>
              <a:solidFill>
                <a:srgbClr val="404040"/>
              </a:solidFill>
            </a:endParaRPr>
          </a:p>
          <a:p>
            <a:pPr algn="ctr"/>
            <a:endParaRPr lang="en-US" sz="1600" dirty="0">
              <a:solidFill>
                <a:srgbClr val="404040"/>
              </a:solidFill>
            </a:endParaRPr>
          </a:p>
        </p:txBody>
      </p:sp>
      <p:cxnSp>
        <p:nvCxnSpPr>
          <p:cNvPr id="103" name="Separator 1"/>
          <p:cNvCxnSpPr>
            <a:cxnSpLocks/>
          </p:cNvCxnSpPr>
          <p:nvPr/>
        </p:nvCxnSpPr>
        <p:spPr>
          <a:xfrm>
            <a:off x="4318000" y="2540000"/>
            <a:ext cx="0" cy="3159573"/>
          </a:xfrm>
          <a:prstGeom prst="line">
            <a:avLst/>
          </a:prstGeom>
          <a:ln w="12700">
            <a:solidFill>
              <a:srgbClr val="73000A"/>
            </a:solidFill>
          </a:ln>
        </p:spPr>
      </p:cxnSp>
      <p:sp>
        <p:nvSpPr>
          <p:cNvPr id="104" name="Number 2"/>
          <p:cNvSpPr/>
          <p:nvPr/>
        </p:nvSpPr>
        <p:spPr>
          <a:xfrm>
            <a:off x="4318000" y="2032000"/>
            <a:ext cx="3556000" cy="127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n-US" sz="7200" b="1" dirty="0">
                <a:solidFill>
                  <a:srgbClr val="73000A"/>
                </a:solidFill>
              </a:rPr>
              <a:t>2</a:t>
            </a:r>
          </a:p>
        </p:txBody>
      </p:sp>
      <p:sp>
        <p:nvSpPr>
          <p:cNvPr id="105" name="Title 2"/>
          <p:cNvSpPr/>
          <p:nvPr/>
        </p:nvSpPr>
        <p:spPr>
          <a:xfrm>
            <a:off x="4572000" y="3492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Part Two</a:t>
            </a:r>
          </a:p>
        </p:txBody>
      </p:sp>
      <p:sp>
        <p:nvSpPr>
          <p:cNvPr id="106" name="Desc 2"/>
          <p:cNvSpPr/>
          <p:nvPr/>
        </p:nvSpPr>
        <p:spPr>
          <a:xfrm>
            <a:off x="4622489" y="4127499"/>
            <a:ext cx="3048000" cy="15720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dirty="0"/>
              <a:t>Issues identified from the first workshop</a:t>
            </a:r>
          </a:p>
          <a:p>
            <a:pPr algn="ctr"/>
            <a:endParaRPr lang="en-US" sz="1000" dirty="0"/>
          </a:p>
          <a:p>
            <a:pPr algn="ctr"/>
            <a:r>
              <a:rPr lang="en-US" sz="1600" dirty="0"/>
              <a:t>Revamping the workshops (Phase 1 and Phase 2)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cxnSp>
        <p:nvCxnSpPr>
          <p:cNvPr id="107" name="Separator 2"/>
          <p:cNvCxnSpPr>
            <a:cxnSpLocks/>
          </p:cNvCxnSpPr>
          <p:nvPr/>
        </p:nvCxnSpPr>
        <p:spPr>
          <a:xfrm>
            <a:off x="7874000" y="2540000"/>
            <a:ext cx="0" cy="3120304"/>
          </a:xfrm>
          <a:prstGeom prst="line">
            <a:avLst/>
          </a:prstGeom>
          <a:ln w="12700">
            <a:solidFill>
              <a:srgbClr val="73000A"/>
            </a:solidFill>
          </a:ln>
        </p:spPr>
      </p:cxnSp>
      <p:sp>
        <p:nvSpPr>
          <p:cNvPr id="108" name="Number 3"/>
          <p:cNvSpPr/>
          <p:nvPr/>
        </p:nvSpPr>
        <p:spPr>
          <a:xfrm>
            <a:off x="7874000" y="2032000"/>
            <a:ext cx="3556000" cy="127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n-US" sz="7200" b="1" dirty="0">
                <a:solidFill>
                  <a:srgbClr val="73000A"/>
                </a:solidFill>
              </a:rPr>
              <a:t>3</a:t>
            </a:r>
          </a:p>
        </p:txBody>
      </p:sp>
      <p:sp>
        <p:nvSpPr>
          <p:cNvPr id="109" name="Title 3"/>
          <p:cNvSpPr/>
          <p:nvPr/>
        </p:nvSpPr>
        <p:spPr>
          <a:xfrm>
            <a:off x="8128000" y="34925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Part Three</a:t>
            </a:r>
          </a:p>
        </p:txBody>
      </p:sp>
      <p:sp>
        <p:nvSpPr>
          <p:cNvPr id="110" name="Desc 3"/>
          <p:cNvSpPr/>
          <p:nvPr/>
        </p:nvSpPr>
        <p:spPr>
          <a:xfrm>
            <a:off x="8128000" y="4119785"/>
            <a:ext cx="3048000" cy="173125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dirty="0"/>
              <a:t>Challenges in using University computing resources</a:t>
            </a:r>
          </a:p>
          <a:p>
            <a:pPr algn="ctr"/>
            <a:endParaRPr lang="en-US" sz="1000" dirty="0"/>
          </a:p>
          <a:p>
            <a:pPr algn="ctr"/>
            <a:r>
              <a:rPr lang="en-US" sz="1600" dirty="0"/>
              <a:t>How NAIRR Classroom Resources are helping?</a:t>
            </a:r>
          </a:p>
          <a:p>
            <a:pPr algn="ctr"/>
            <a:endParaRPr lang="en-US" sz="1000" dirty="0"/>
          </a:p>
          <a:p>
            <a:pPr algn="ctr"/>
            <a:r>
              <a:rPr lang="en-US" sz="16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03565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8394-92C0-82C2-ED30-C8F4E232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6" y="284833"/>
            <a:ext cx="10515600" cy="926888"/>
          </a:xfrm>
        </p:spPr>
        <p:txBody>
          <a:bodyPr/>
          <a:lstStyle/>
          <a:p>
            <a:r>
              <a:rPr lang="en-US" dirty="0"/>
              <a:t>AI and text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2839-C180-70A9-FDCA-97714EF8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4</a:t>
            </a:fld>
            <a:endParaRPr lang="en-US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0B55F3-A307-C7D6-6221-E4A0BAB39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13" y="1144402"/>
            <a:ext cx="5602287" cy="504862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Text Mining: Also known as “</a:t>
            </a:r>
            <a:r>
              <a:rPr lang="en-US" sz="2400" b="1" dirty="0">
                <a:solidFill>
                  <a:srgbClr val="C00000"/>
                </a:solidFill>
              </a:rPr>
              <a:t>T</a:t>
            </a:r>
            <a:r>
              <a:rPr lang="en-US" sz="2400" dirty="0"/>
              <a:t>ext </a:t>
            </a:r>
            <a:r>
              <a:rPr lang="en-US" sz="2400" b="1" dirty="0">
                <a:solidFill>
                  <a:srgbClr val="C00000"/>
                </a:solidFill>
              </a:rPr>
              <a:t>D</a:t>
            </a:r>
            <a:r>
              <a:rPr lang="en-US" sz="2400" dirty="0"/>
              <a:t>ata </a:t>
            </a:r>
            <a:r>
              <a:rPr lang="en-US" sz="2400" b="1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ining”, commonly done as part of “</a:t>
            </a:r>
            <a:r>
              <a:rPr lang="en-US" sz="2400" b="1" dirty="0">
                <a:solidFill>
                  <a:srgbClr val="002060"/>
                </a:solidFill>
              </a:rPr>
              <a:t>N</a:t>
            </a:r>
            <a:r>
              <a:rPr lang="en-US" sz="2400" dirty="0"/>
              <a:t>atural </a:t>
            </a:r>
            <a:r>
              <a:rPr lang="en-US" sz="2400" b="1" dirty="0">
                <a:solidFill>
                  <a:srgbClr val="002060"/>
                </a:solidFill>
              </a:rPr>
              <a:t>L</a:t>
            </a:r>
            <a:r>
              <a:rPr lang="en-US" sz="2400" dirty="0"/>
              <a:t>anguage </a:t>
            </a:r>
            <a:r>
              <a:rPr lang="en-US" sz="2400" b="1" dirty="0">
                <a:solidFill>
                  <a:srgbClr val="002060"/>
                </a:solidFill>
              </a:rPr>
              <a:t>P</a:t>
            </a:r>
            <a:r>
              <a:rPr lang="en-US" sz="2400" dirty="0"/>
              <a:t>rocessing”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Automated process that is used to </a:t>
            </a:r>
            <a:r>
              <a:rPr lang="en-US" sz="2400" dirty="0">
                <a:solidFill>
                  <a:srgbClr val="0070C0"/>
                </a:solidFill>
              </a:rPr>
              <a:t>find patterns and relationships </a:t>
            </a:r>
            <a:r>
              <a:rPr lang="en-US" sz="2400" dirty="0"/>
              <a:t>in</a:t>
            </a:r>
            <a:r>
              <a:rPr lang="en-US" sz="2400" dirty="0">
                <a:solidFill>
                  <a:srgbClr val="0070C0"/>
                </a:solidFill>
              </a:rPr>
              <a:t> unstructured </a:t>
            </a:r>
            <a:r>
              <a:rPr lang="en-US" sz="2400" dirty="0"/>
              <a:t>data such as documents, websites, surveys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Using </a:t>
            </a:r>
            <a:r>
              <a:rPr lang="en-US" sz="2400" b="1" dirty="0"/>
              <a:t>text mining </a:t>
            </a:r>
            <a:r>
              <a:rPr lang="en-US" sz="2400" dirty="0"/>
              <a:t>and </a:t>
            </a:r>
            <a:r>
              <a:rPr lang="en-US" sz="2400" b="1" dirty="0"/>
              <a:t>Machine Learning</a:t>
            </a:r>
            <a:r>
              <a:rPr lang="en-US" sz="2400" dirty="0"/>
              <a:t>, systems can extract key entities, interpret sentiment, identify latent themes or classify textual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4E94C8-9759-9068-83AF-02BEC5FF6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935" y="1669861"/>
            <a:ext cx="5055352" cy="39977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99C0E-66BE-371C-B4F6-C259C8B4F31A}"/>
              </a:ext>
            </a:extLst>
          </p:cNvPr>
          <p:cNvSpPr txBox="1"/>
          <p:nvPr/>
        </p:nvSpPr>
        <p:spPr>
          <a:xfrm>
            <a:off x="6642935" y="1262208"/>
            <a:ext cx="497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Sentiment Analysis of Tweets on Brexit 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068A42-A8C4-7E95-D71D-776FD92BA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58" y="5677202"/>
            <a:ext cx="6096528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5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66D1-DE7E-D757-9597-3855F4D05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46" y="1709738"/>
            <a:ext cx="10921104" cy="2852737"/>
          </a:xfrm>
        </p:spPr>
        <p:txBody>
          <a:bodyPr>
            <a:normAutofit/>
          </a:bodyPr>
          <a:lstStyle/>
          <a:p>
            <a:r>
              <a:rPr lang="en-US" sz="5400" dirty="0"/>
              <a:t>Part 1: background and motivation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11C6E-F372-EA6A-5BE1-9B72341BE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University Libraries started text mining workshops?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Strong humanities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Availability of digitized corpora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C58C-4647-1BAA-AF59-227C0B529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6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7FA4-2991-2214-281B-D221C33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9" y="365125"/>
            <a:ext cx="10907751" cy="902693"/>
          </a:xfrm>
        </p:spPr>
        <p:txBody>
          <a:bodyPr/>
          <a:lstStyle/>
          <a:p>
            <a:r>
              <a:rPr lang="en-US" dirty="0"/>
              <a:t>Humanities presence at </a:t>
            </a:r>
            <a:r>
              <a:rPr lang="en-US" dirty="0" err="1"/>
              <a:t>usc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E5569-2E80-90FF-4359-D307CBEAB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49" y="1413674"/>
            <a:ext cx="5529181" cy="423541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Humanities research and collaboration center under College of Arts and Science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Humanities Collaborative (HC)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Digital humanities group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Sponsored by HC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Supports research backed by computational methods (example: digitizing collections)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Consists of scholars, researchers and </a:t>
            </a:r>
            <a:r>
              <a:rPr lang="en-US" b="1" dirty="0"/>
              <a:t>librarians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6EDBA-87B6-3629-F9A8-CAC5307B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6</a:t>
            </a:fld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FC516-E31E-8C8C-B415-80F0ED78E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180" y="1625605"/>
            <a:ext cx="5645085" cy="21666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D78475-713A-E5F7-3EAF-17DC54EB9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7" y="4360409"/>
            <a:ext cx="5107777" cy="944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6991BE3C-FD36-90CA-1A8B-4B56A961A196}"/>
              </a:ext>
            </a:extLst>
          </p:cNvPr>
          <p:cNvSpPr/>
          <p:nvPr/>
        </p:nvSpPr>
        <p:spPr>
          <a:xfrm>
            <a:off x="8986722" y="3792235"/>
            <a:ext cx="140449" cy="568174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537895-494E-5AB1-5F25-3FF0333F1C7A}"/>
              </a:ext>
            </a:extLst>
          </p:cNvPr>
          <p:cNvSpPr txBox="1"/>
          <p:nvPr/>
        </p:nvSpPr>
        <p:spPr>
          <a:xfrm>
            <a:off x="526894" y="6307614"/>
            <a:ext cx="76134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https://sc.edu/study/colleges_schools/artsandsciences/centers_and_institutes/humanities_collaborative/index.php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210EB-13C2-F668-F144-FAA26D9A2D7C}"/>
              </a:ext>
            </a:extLst>
          </p:cNvPr>
          <p:cNvSpPr txBox="1"/>
          <p:nvPr/>
        </p:nvSpPr>
        <p:spPr>
          <a:xfrm>
            <a:off x="633909" y="5718844"/>
            <a:ext cx="783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Strong Research and Collaboration in Humanities Department </a:t>
            </a:r>
          </a:p>
        </p:txBody>
      </p:sp>
    </p:spTree>
    <p:extLst>
      <p:ext uri="{BB962C8B-B14F-4D97-AF65-F5344CB8AC3E}">
        <p14:creationId xmlns:p14="http://schemas.microsoft.com/office/powerpoint/2010/main" val="91184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9A47-B0A8-8191-B8C5-FA0383A7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34" y="365126"/>
            <a:ext cx="10515600" cy="639031"/>
          </a:xfrm>
        </p:spPr>
        <p:txBody>
          <a:bodyPr>
            <a:noAutofit/>
          </a:bodyPr>
          <a:lstStyle/>
          <a:p>
            <a:r>
              <a:rPr lang="en-US" dirty="0"/>
              <a:t>Motivation for text mining workshops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C9AF-5B00-5F4B-3787-A30C973DB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34" y="1118457"/>
            <a:ext cx="11318272" cy="2765355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000" dirty="0"/>
              <a:t>Availability of large corpora of textual data (e.g. SC civil rights collection)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000" dirty="0"/>
              <a:t>Projects undertaken by other Universities such as UNC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6400" dirty="0"/>
              <a:t>“On the Books” Project by UNC Chapel Hill, University of South Carolina, and University of Virginia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sz="3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000" dirty="0"/>
              <a:t>Research funding opportunities for both libraries and humanities by agencies such as National Endowment for the Humanities (NEH) and Mellon Foundation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sz="3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800" dirty="0"/>
              <a:t>Faculty/Graduate students’ interest in text mining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6400" dirty="0"/>
              <a:t>Faculty project: analyze </a:t>
            </a:r>
            <a:r>
              <a:rPr lang="en-US" sz="6400" dirty="0">
                <a:solidFill>
                  <a:srgbClr val="0070C0"/>
                </a:solidFill>
              </a:rPr>
              <a:t>Freeland edition of federal income tax books </a:t>
            </a:r>
            <a:r>
              <a:rPr lang="en-US" sz="6400" dirty="0"/>
              <a:t>published between 1969 – 2016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6400" dirty="0"/>
              <a:t>Student dissertation: Mining of </a:t>
            </a:r>
            <a:r>
              <a:rPr lang="en-US" sz="6400" dirty="0">
                <a:solidFill>
                  <a:srgbClr val="0070C0"/>
                </a:solidFill>
              </a:rPr>
              <a:t>Brazilian cookbooks </a:t>
            </a:r>
            <a:r>
              <a:rPr lang="en-US" sz="6400" dirty="0"/>
              <a:t>for identifying trends in recipes and ingredients over 100 years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55B1-C915-6EC5-8945-13218C3D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7</a:t>
            </a:fld>
            <a:endParaRPr lang="en-US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2827B31-3881-E422-3828-E7BCB49CE1C5}"/>
              </a:ext>
            </a:extLst>
          </p:cNvPr>
          <p:cNvSpPr txBox="1">
            <a:spLocks/>
          </p:cNvSpPr>
          <p:nvPr/>
        </p:nvSpPr>
        <p:spPr>
          <a:xfrm>
            <a:off x="400634" y="4063004"/>
            <a:ext cx="7736369" cy="21851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dirty="0"/>
              <a:t>Why University Libraries?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It is a </a:t>
            </a:r>
            <a:r>
              <a:rPr lang="en-US" sz="2100" dirty="0">
                <a:solidFill>
                  <a:srgbClr val="0070C0"/>
                </a:solidFill>
              </a:rPr>
              <a:t>research support-hub </a:t>
            </a:r>
            <a:r>
              <a:rPr lang="en-US" sz="2100" dirty="0"/>
              <a:t>for the whole University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>
                <a:solidFill>
                  <a:srgbClr val="0070C0"/>
                </a:solidFill>
              </a:rPr>
              <a:t>Experience </a:t>
            </a:r>
            <a:r>
              <a:rPr lang="en-US" sz="2100" dirty="0"/>
              <a:t>as a collaborator</a:t>
            </a:r>
            <a:r>
              <a:rPr lang="en-US" sz="2100" dirty="0">
                <a:solidFill>
                  <a:srgbClr val="0070C0"/>
                </a:solidFill>
              </a:rPr>
              <a:t> </a:t>
            </a:r>
            <a:r>
              <a:rPr lang="en-US" sz="2100" dirty="0"/>
              <a:t>on “text mining” projects with other libraries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/>
              <a:t>Can </a:t>
            </a:r>
            <a:r>
              <a:rPr lang="en-US" sz="2100" dirty="0">
                <a:solidFill>
                  <a:srgbClr val="0070C0"/>
                </a:solidFill>
              </a:rPr>
              <a:t>reach more patrons </a:t>
            </a:r>
            <a:r>
              <a:rPr lang="en-US" sz="2100" dirty="0"/>
              <a:t>including affiliated colleges and other USC campuses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100" dirty="0">
                <a:solidFill>
                  <a:srgbClr val="0070C0"/>
                </a:solidFill>
              </a:rPr>
              <a:t>Licensing</a:t>
            </a:r>
            <a:r>
              <a:rPr lang="en-US" sz="2100" dirty="0"/>
              <a:t> with various platforms providing text mining support such as Constellate from JSTOR (</a:t>
            </a:r>
            <a:r>
              <a:rPr lang="en-US" sz="2100" dirty="0" err="1"/>
              <a:t>sunsetted</a:t>
            </a:r>
            <a:r>
              <a:rPr lang="en-US" sz="2100" dirty="0"/>
              <a:t> on July 1, 2025) and </a:t>
            </a:r>
            <a:r>
              <a:rPr lang="en-US" sz="2100" dirty="0" err="1"/>
              <a:t>HathiTrust</a:t>
            </a:r>
            <a:r>
              <a:rPr lang="en-US" sz="2100" dirty="0"/>
              <a:t> Research Center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2F4A4-2827-EB27-ABE4-67BBDDB23BEF}"/>
              </a:ext>
            </a:extLst>
          </p:cNvPr>
          <p:cNvSpPr txBox="1"/>
          <p:nvPr/>
        </p:nvSpPr>
        <p:spPr>
          <a:xfrm>
            <a:off x="590433" y="6369763"/>
            <a:ext cx="60950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https://analytics.hathitrust.org/   https://labs.jstor.org/projects/text-mining/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79618-D321-A335-899D-1EDAC0F9A7D6}"/>
              </a:ext>
            </a:extLst>
          </p:cNvPr>
          <p:cNvSpPr txBox="1"/>
          <p:nvPr/>
        </p:nvSpPr>
        <p:spPr>
          <a:xfrm>
            <a:off x="8270245" y="4250930"/>
            <a:ext cx="3462511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</a:rPr>
              <a:t>Identified the need to educate humanities faculty and students on text mining to prepare them for emerging trends in AI and digital scholarship</a:t>
            </a:r>
          </a:p>
        </p:txBody>
      </p:sp>
    </p:spTree>
    <p:extLst>
      <p:ext uri="{BB962C8B-B14F-4D97-AF65-F5344CB8AC3E}">
        <p14:creationId xmlns:p14="http://schemas.microsoft.com/office/powerpoint/2010/main" val="60322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6667-759D-0CCE-8C2C-EA11FDA7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70" y="204719"/>
            <a:ext cx="8604355" cy="914941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dirty="0"/>
              <a:t>“on the books” Project (2022 –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6636-1FA6-C610-9054-8D6AA61B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8525" y="5484967"/>
            <a:ext cx="2635332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/>
              </a:rPr>
              <a:t>https://drsc.usccreate.org/otbsc/</a:t>
            </a:r>
            <a:endParaRPr lang="en-US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Google Shape;437;p20">
            <a:extLst>
              <a:ext uri="{FF2B5EF4-FFF2-40B4-BE49-F238E27FC236}">
                <a16:creationId xmlns:a16="http://schemas.microsoft.com/office/drawing/2014/main" id="{A2693151-9443-F674-F43D-9C819FE3E263}"/>
              </a:ext>
            </a:extLst>
          </p:cNvPr>
          <p:cNvSpPr txBox="1">
            <a:spLocks/>
          </p:cNvSpPr>
          <p:nvPr/>
        </p:nvSpPr>
        <p:spPr>
          <a:xfrm>
            <a:off x="146273" y="716919"/>
            <a:ext cx="7685762" cy="10124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Impact" panose="020B0806030902050204" pitchFamily="34" charset="0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endParaRPr lang="en-US" dirty="0"/>
          </a:p>
        </p:txBody>
      </p:sp>
      <p:sp>
        <p:nvSpPr>
          <p:cNvPr id="25" name="Google Shape;438;p20">
            <a:extLst>
              <a:ext uri="{FF2B5EF4-FFF2-40B4-BE49-F238E27FC236}">
                <a16:creationId xmlns:a16="http://schemas.microsoft.com/office/drawing/2014/main" id="{7628B41A-13C8-55EC-34DF-7CF390111760}"/>
              </a:ext>
            </a:extLst>
          </p:cNvPr>
          <p:cNvSpPr txBox="1"/>
          <p:nvPr/>
        </p:nvSpPr>
        <p:spPr>
          <a:xfrm>
            <a:off x="361367" y="1100636"/>
            <a:ext cx="7470668" cy="16604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Analyzing South Carolina Legislative Acts to predict Jim Crow language from scanned books (1868 - 1968)</a:t>
            </a:r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OCRed data to generate text files from image files</a:t>
            </a:r>
            <a:endParaRPr sz="2000" dirty="0"/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a Machine Learning prediction model 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r>
              <a:rPr lang="en-US" sz="20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Jim Crow sentences</a:t>
            </a:r>
          </a:p>
          <a:p>
            <a:pPr marR="0" lvl="0" algn="l" rtl="0">
              <a:spcAft>
                <a:spcPts val="0"/>
              </a:spcAft>
              <a:buClr>
                <a:schemeClr val="dk1"/>
              </a:buClr>
              <a:buSzPts val="2200"/>
            </a:pPr>
            <a:endParaRPr sz="2000" dirty="0">
              <a:solidFill>
                <a:srgbClr val="0070C0"/>
              </a:solidFill>
            </a:endParaRPr>
          </a:p>
        </p:txBody>
      </p:sp>
      <p:sp>
        <p:nvSpPr>
          <p:cNvPr id="29" name="Google Shape;442;p20">
            <a:extLst>
              <a:ext uri="{FF2B5EF4-FFF2-40B4-BE49-F238E27FC236}">
                <a16:creationId xmlns:a16="http://schemas.microsoft.com/office/drawing/2014/main" id="{79D4AB0D-1768-1C72-32A4-67B90B7C5A92}"/>
              </a:ext>
            </a:extLst>
          </p:cNvPr>
          <p:cNvSpPr txBox="1">
            <a:spLocks/>
          </p:cNvSpPr>
          <p:nvPr/>
        </p:nvSpPr>
        <p:spPr>
          <a:xfrm>
            <a:off x="0" y="6259626"/>
            <a:ext cx="637909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 lang="en-US" dirty="0"/>
          </a:p>
        </p:txBody>
      </p:sp>
      <p:sp>
        <p:nvSpPr>
          <p:cNvPr id="30" name="Google Shape;443;p20">
            <a:extLst>
              <a:ext uri="{FF2B5EF4-FFF2-40B4-BE49-F238E27FC236}">
                <a16:creationId xmlns:a16="http://schemas.microsoft.com/office/drawing/2014/main" id="{9CFDEA59-F40D-2957-EA44-F8921C0C3B1D}"/>
              </a:ext>
            </a:extLst>
          </p:cNvPr>
          <p:cNvSpPr txBox="1"/>
          <p:nvPr/>
        </p:nvSpPr>
        <p:spPr>
          <a:xfrm>
            <a:off x="361367" y="4323953"/>
            <a:ext cx="4662048" cy="1015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On The Books: A joint research project with UNC, USC, and UVA Libraries (Funded by Mellon grant)</a:t>
            </a:r>
            <a:endParaRPr sz="2000" dirty="0"/>
          </a:p>
        </p:txBody>
      </p:sp>
      <p:pic>
        <p:nvPicPr>
          <p:cNvPr id="31" name="Picture 30" descr="A screenshot of a computer">
            <a:extLst>
              <a:ext uri="{FF2B5EF4-FFF2-40B4-BE49-F238E27FC236}">
                <a16:creationId xmlns:a16="http://schemas.microsoft.com/office/drawing/2014/main" id="{A7E59145-D8E5-56E3-DFD5-AC9E864F6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712" y="1171241"/>
            <a:ext cx="3857921" cy="2541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6E50ECA-6EDE-54DB-7933-89209E865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671" y="3802272"/>
            <a:ext cx="1682695" cy="168269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EC1A6AC-39FE-7547-F449-37E5CE2372A6}"/>
              </a:ext>
            </a:extLst>
          </p:cNvPr>
          <p:cNvSpPr txBox="1"/>
          <p:nvPr/>
        </p:nvSpPr>
        <p:spPr>
          <a:xfrm>
            <a:off x="361368" y="2942343"/>
            <a:ext cx="466204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“Jim Crow” represents the legal and cultural practices </a:t>
            </a:r>
            <a:r>
              <a:rPr lang="en-US" u="sng" dirty="0"/>
              <a:t>of racial discrimination and segregation </a:t>
            </a:r>
            <a:r>
              <a:rPr lang="en-US" dirty="0"/>
              <a:t>instituted in Southern US following Reconstruction.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70EF54-CA20-017F-DDE3-F17695996B15}"/>
              </a:ext>
            </a:extLst>
          </p:cNvPr>
          <p:cNvSpPr txBox="1"/>
          <p:nvPr/>
        </p:nvSpPr>
        <p:spPr>
          <a:xfrm>
            <a:off x="579659" y="6348943"/>
            <a:ext cx="2748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https://drsc.usccreate.org/otbsc/lawsintro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91EF39D-8172-3208-80F0-38A2640EB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091" y="2870522"/>
            <a:ext cx="2667943" cy="349577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33024C0-C072-0908-E386-E2AF912FAD3E}"/>
              </a:ext>
            </a:extLst>
          </p:cNvPr>
          <p:cNvSpPr txBox="1"/>
          <p:nvPr/>
        </p:nvSpPr>
        <p:spPr>
          <a:xfrm>
            <a:off x="345909" y="5640992"/>
            <a:ext cx="474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Used many text mining concepts</a:t>
            </a:r>
          </a:p>
        </p:txBody>
      </p:sp>
    </p:spTree>
    <p:extLst>
      <p:ext uri="{BB962C8B-B14F-4D97-AF65-F5344CB8AC3E}">
        <p14:creationId xmlns:p14="http://schemas.microsoft.com/office/powerpoint/2010/main" val="4143839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E4AE-1905-4B11-5262-BC14A8DE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29" y="365126"/>
            <a:ext cx="9811568" cy="675169"/>
          </a:xfrm>
        </p:spPr>
        <p:txBody>
          <a:bodyPr>
            <a:normAutofit/>
          </a:bodyPr>
          <a:lstStyle/>
          <a:p>
            <a:r>
              <a:rPr lang="en-US" sz="3600" dirty="0"/>
              <a:t>text mining workshops at university 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8BB28-FBA3-4EE6-FDCE-DEA826A6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9</a:t>
            </a:fld>
            <a:endParaRPr lang="en-US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D0C392-7D49-0810-8BBB-4579ECC42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11" y="1072235"/>
            <a:ext cx="6298055" cy="4829291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Started in </a:t>
            </a:r>
            <a:r>
              <a:rPr lang="en-US" sz="2400" dirty="0">
                <a:solidFill>
                  <a:srgbClr val="0070C0"/>
                </a:solidFill>
              </a:rPr>
              <a:t>Spring 2024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3 ONLINE workshops </a:t>
            </a:r>
            <a:r>
              <a:rPr lang="en-US" sz="2400" dirty="0"/>
              <a:t>per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semester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Focused</a:t>
            </a:r>
            <a:r>
              <a:rPr lang="en-US" sz="2400" dirty="0"/>
              <a:t> on giving overview of the field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C00000"/>
                </a:solidFill>
              </a:rPr>
              <a:t>Application areas </a:t>
            </a:r>
            <a:r>
              <a:rPr lang="en-US" sz="2000" dirty="0"/>
              <a:t>(reference to research using text mining in diverse domains)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C00000"/>
                </a:solidFill>
              </a:rPr>
              <a:t>Introduction of basic concepts </a:t>
            </a:r>
            <a:r>
              <a:rPr lang="en-US" sz="2000" dirty="0"/>
              <a:t>(word frequency, topic modeling, TF-IDF, collocation, concordance, Named Entity Recognition, sentiment analysis, n-gram)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C00000"/>
                </a:solidFill>
              </a:rPr>
              <a:t>Data preparation steps </a:t>
            </a:r>
            <a:r>
              <a:rPr lang="en-US" sz="2000" dirty="0"/>
              <a:t>(such as, stop words, punctuation, and number removal, tokenization)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C00000"/>
                </a:solidFill>
              </a:rPr>
              <a:t>Provided online resources </a:t>
            </a:r>
            <a:r>
              <a:rPr lang="en-US" sz="2000" dirty="0"/>
              <a:t>(</a:t>
            </a:r>
            <a:r>
              <a:rPr lang="en-US" sz="2000" i="1" dirty="0"/>
              <a:t>Constellate</a:t>
            </a:r>
            <a:r>
              <a:rPr lang="en-US" sz="2000" dirty="0"/>
              <a:t> using python, </a:t>
            </a:r>
            <a:r>
              <a:rPr lang="en-US" sz="2000" i="1" dirty="0"/>
              <a:t>Voyant</a:t>
            </a:r>
            <a:r>
              <a:rPr lang="en-US" sz="2000" dirty="0"/>
              <a:t> online tool, </a:t>
            </a:r>
            <a:r>
              <a:rPr lang="en-US" sz="2000" i="1" dirty="0" err="1"/>
              <a:t>AntConc</a:t>
            </a:r>
            <a:r>
              <a:rPr lang="en-US" sz="2000" dirty="0"/>
              <a:t> software)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918E5-27E7-84A6-FCFF-17FB3A7F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954" y="1206049"/>
            <a:ext cx="2211509" cy="20059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3028E6-827D-3B35-C598-7CC36E51B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476" y="1847437"/>
            <a:ext cx="2604413" cy="1364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9488B4-CB3C-6A32-CE96-A18CA763B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497" y="3646036"/>
            <a:ext cx="3250268" cy="20065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DF0A06-772D-D9A2-6CF4-CB56920F82BA}"/>
              </a:ext>
            </a:extLst>
          </p:cNvPr>
          <p:cNvSpPr txBox="1"/>
          <p:nvPr/>
        </p:nvSpPr>
        <p:spPr>
          <a:xfrm>
            <a:off x="1032208" y="5969060"/>
            <a:ext cx="7553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highlight>
                  <a:srgbClr val="FFFF00"/>
                </a:highlight>
              </a:rPr>
              <a:t>Low registrations (10 – 12) despite stated interest</a:t>
            </a:r>
          </a:p>
        </p:txBody>
      </p:sp>
    </p:spTree>
    <p:extLst>
      <p:ext uri="{BB962C8B-B14F-4D97-AF65-F5344CB8AC3E}">
        <p14:creationId xmlns:p14="http://schemas.microsoft.com/office/powerpoint/2010/main" val="361800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F7C6-8E85-FDD7-BB31-B8067664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" y="267639"/>
            <a:ext cx="10515600" cy="887984"/>
          </a:xfrm>
        </p:spPr>
        <p:txBody>
          <a:bodyPr/>
          <a:lstStyle/>
          <a:p>
            <a:r>
              <a:rPr lang="en-US" dirty="0"/>
              <a:t>Identifying key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244AB-2AE0-EC80-1E9F-DB7C99F9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48" y="1486600"/>
            <a:ext cx="10944283" cy="442647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</a:rPr>
              <a:t>Registration numbers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feedback </a:t>
            </a:r>
            <a:r>
              <a:rPr lang="en-US" dirty="0"/>
              <a:t>from the participants initiated the need for updating the workshops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Key issues identified: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Participants </a:t>
            </a:r>
            <a:r>
              <a:rPr lang="en-US" b="1" dirty="0"/>
              <a:t>could not relate to the concepts </a:t>
            </a:r>
            <a:r>
              <a:rPr lang="en-US" dirty="0"/>
              <a:t>and their significance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How the text mining can be done on real-world datasets?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No technical support </a:t>
            </a:r>
            <a:r>
              <a:rPr lang="en-US" b="1" dirty="0"/>
              <a:t>after</a:t>
            </a:r>
            <a:r>
              <a:rPr lang="en-US" dirty="0"/>
              <a:t> the workshop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17DD-B808-AB51-6826-88631826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7382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7209-CE53-AEBB-0485-30162891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Part 2: Revamping the workshops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BDC68-1E7E-D7F5-6FFB-F50825B1A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Phase 1 and Phase 2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81D14-60ED-4C02-55D7-2FB24BF7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03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1DFF-1858-85E5-56A9-3D035F63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49" y="329815"/>
            <a:ext cx="10935410" cy="583467"/>
          </a:xfrm>
        </p:spPr>
        <p:txBody>
          <a:bodyPr>
            <a:noAutofit/>
          </a:bodyPr>
          <a:lstStyle/>
          <a:p>
            <a:r>
              <a:rPr lang="en-US" sz="4000" dirty="0"/>
              <a:t>Revamping the workshops – phase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7DA6-BD79-10AC-F43A-2F7D13099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392" y="993768"/>
            <a:ext cx="9267861" cy="5370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Introduced </a:t>
            </a:r>
            <a:r>
              <a:rPr lang="en-US" sz="2400" dirty="0">
                <a:solidFill>
                  <a:srgbClr val="C00000"/>
                </a:solidFill>
              </a:rPr>
              <a:t>three major changes </a:t>
            </a:r>
            <a:r>
              <a:rPr lang="en-US" sz="2400" dirty="0"/>
              <a:t>in </a:t>
            </a:r>
            <a:r>
              <a:rPr lang="en-US" sz="2400" b="1" dirty="0"/>
              <a:t>Spring 2025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38DE8-20C9-3959-66FF-99B49C0D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12</a:t>
            </a:fld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E49C06-68F4-3F2D-E4EB-947D48AB9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4" y="1530799"/>
            <a:ext cx="3800947" cy="450536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E38ABBB-851D-EDA5-AF89-FEC143FF2670}"/>
              </a:ext>
            </a:extLst>
          </p:cNvPr>
          <p:cNvGrpSpPr/>
          <p:nvPr/>
        </p:nvGrpSpPr>
        <p:grpSpPr>
          <a:xfrm>
            <a:off x="4402483" y="1530799"/>
            <a:ext cx="3554108" cy="4505363"/>
            <a:chOff x="4563098" y="1670687"/>
            <a:chExt cx="3290644" cy="456576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C654771-58FE-CD47-A725-6C3AC3E84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63098" y="1670687"/>
              <a:ext cx="3290644" cy="9539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055329-F18F-CEBD-96F9-9EC211A1D7E4}"/>
                </a:ext>
              </a:extLst>
            </p:cNvPr>
            <p:cNvSpPr txBox="1"/>
            <p:nvPr/>
          </p:nvSpPr>
          <p:spPr>
            <a:xfrm>
              <a:off x="4563098" y="2647561"/>
              <a:ext cx="3290644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</a:rPr>
                <a:t>Supplemented by </a:t>
              </a:r>
              <a:r>
                <a:rPr lang="en-US" sz="1600" b="1" dirty="0"/>
                <a:t>↓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312E44-A97C-1E55-A3F9-F486D4D7B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63098" y="3009089"/>
              <a:ext cx="3290644" cy="322736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124A36D-C18A-4CAC-6EFC-BC67D823F98E}"/>
              </a:ext>
            </a:extLst>
          </p:cNvPr>
          <p:cNvSpPr txBox="1"/>
          <p:nvPr/>
        </p:nvSpPr>
        <p:spPr>
          <a:xfrm>
            <a:off x="521713" y="6107559"/>
            <a:ext cx="3863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1. Use Cases from real world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13136D-1452-A35C-097F-660AB06BC840}"/>
              </a:ext>
            </a:extLst>
          </p:cNvPr>
          <p:cNvSpPr txBox="1"/>
          <p:nvPr/>
        </p:nvSpPr>
        <p:spPr>
          <a:xfrm>
            <a:off x="4385653" y="6058832"/>
            <a:ext cx="3928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2. Pre-processing steps supplemented by example and python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01D72E-5B7A-887F-C979-98B4B17144EC}"/>
              </a:ext>
            </a:extLst>
          </p:cNvPr>
          <p:cNvSpPr txBox="1"/>
          <p:nvPr/>
        </p:nvSpPr>
        <p:spPr>
          <a:xfrm>
            <a:off x="8212918" y="1670915"/>
            <a:ext cx="344427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3. Providing technical support AFTER the workshop by having NLP expert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635F92-58DF-AC2C-B2A5-BC656C87E86F}"/>
              </a:ext>
            </a:extLst>
          </p:cNvPr>
          <p:cNvSpPr txBox="1"/>
          <p:nvPr/>
        </p:nvSpPr>
        <p:spPr>
          <a:xfrm>
            <a:off x="8212918" y="2849211"/>
            <a:ext cx="35541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Workshop registrations increased to 17. </a:t>
            </a:r>
          </a:p>
          <a:p>
            <a:pPr algn="ctr"/>
            <a:endParaRPr lang="en-US" b="1" dirty="0">
              <a:highlight>
                <a:srgbClr val="FFFF00"/>
              </a:highlight>
            </a:endParaRPr>
          </a:p>
          <a:p>
            <a:pPr algn="ctr"/>
            <a:r>
              <a:rPr lang="en-US" b="1" dirty="0">
                <a:highlight>
                  <a:srgbClr val="FFFF00"/>
                </a:highlight>
              </a:rPr>
              <a:t>Feedback still reflected the need for relating concepts with text.</a:t>
            </a:r>
          </a:p>
          <a:p>
            <a:pPr algn="ctr"/>
            <a:endParaRPr lang="en-US" b="1" dirty="0">
              <a:highlight>
                <a:srgbClr val="FFFF00"/>
              </a:highlight>
            </a:endParaRPr>
          </a:p>
          <a:p>
            <a:pPr algn="ctr"/>
            <a:r>
              <a:rPr lang="en-US" b="1" dirty="0">
                <a:highlight>
                  <a:srgbClr val="FFFF00"/>
                </a:highlight>
              </a:rPr>
              <a:t>Participants unanimously agreed to the importance of text mining</a:t>
            </a:r>
          </a:p>
        </p:txBody>
      </p:sp>
    </p:spTree>
    <p:extLst>
      <p:ext uri="{BB962C8B-B14F-4D97-AF65-F5344CB8AC3E}">
        <p14:creationId xmlns:p14="http://schemas.microsoft.com/office/powerpoint/2010/main" val="38871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9A65-3270-406B-3D2E-4C6FE841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87" y="327111"/>
            <a:ext cx="10515600" cy="784887"/>
          </a:xfrm>
        </p:spPr>
        <p:txBody>
          <a:bodyPr>
            <a:normAutofit/>
          </a:bodyPr>
          <a:lstStyle/>
          <a:p>
            <a:r>
              <a:rPr lang="en-US" sz="4000" dirty="0"/>
              <a:t>Revamping the workshops – 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C281B-1854-960D-E469-E6481479E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40" y="1234201"/>
            <a:ext cx="6325535" cy="1706482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Created </a:t>
            </a:r>
            <a:r>
              <a:rPr lang="en-US" sz="2400" dirty="0">
                <a:solidFill>
                  <a:srgbClr val="C00000"/>
                </a:solidFill>
              </a:rPr>
              <a:t>GitHub webpage </a:t>
            </a:r>
            <a:r>
              <a:rPr lang="en-US" sz="2400" dirty="0"/>
              <a:t>for University Libraries with Python and R notebooks in </a:t>
            </a:r>
            <a:r>
              <a:rPr lang="en-US" sz="2400" u="sng" dirty="0"/>
              <a:t>Text mining, Data Analysis, and Machine Learning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100" u="sng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rgbClr val="C00000"/>
                </a:solidFill>
              </a:rPr>
              <a:t>Two major additions </a:t>
            </a:r>
            <a:r>
              <a:rPr lang="en-US" sz="2400" dirty="0"/>
              <a:t>in </a:t>
            </a:r>
            <a:r>
              <a:rPr lang="en-US" sz="2400" b="1" dirty="0"/>
              <a:t>Fall 2025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3F8F8-7187-F3E4-32FD-70B4E983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13</a:t>
            </a:fld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E7A4B-965D-04CA-70B7-C0DD55B9268C}"/>
              </a:ext>
            </a:extLst>
          </p:cNvPr>
          <p:cNvSpPr txBox="1"/>
          <p:nvPr/>
        </p:nvSpPr>
        <p:spPr>
          <a:xfrm>
            <a:off x="824643" y="6125960"/>
            <a:ext cx="7820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1. Explaining ALL concepts using the SAME dataset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0AFA83-775D-5D30-A86A-B6304CAF3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37" y="1469773"/>
            <a:ext cx="5013307" cy="45551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9545E99-5663-F78D-EB77-8EF552023777}"/>
              </a:ext>
            </a:extLst>
          </p:cNvPr>
          <p:cNvSpPr txBox="1"/>
          <p:nvPr/>
        </p:nvSpPr>
        <p:spPr>
          <a:xfrm>
            <a:off x="326794" y="3137219"/>
            <a:ext cx="6231520" cy="28931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SAMPLE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 watched Inception last night, directed by Christopher Nolan, and set partly in Paris—what an incredible </a:t>
            </a:r>
            <a:r>
              <a:rPr lang="en-US" sz="1400" b="1" dirty="0">
                <a:solidFill>
                  <a:srgbClr val="FF0000"/>
                </a:solidFill>
              </a:rPr>
              <a:t>film</a:t>
            </a:r>
            <a:r>
              <a:rPr lang="en-US" sz="1400" dirty="0"/>
              <a:t>! I loved the </a:t>
            </a:r>
            <a:r>
              <a:rPr lang="en-US" sz="1400" b="1" dirty="0"/>
              <a:t>movie</a:t>
            </a:r>
            <a:r>
              <a:rPr lang="en-US" sz="1400" dirty="0"/>
              <a:t>. It was fantastic, exciting, and beautifully shot.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>
                <a:solidFill>
                  <a:srgbClr val="FF0000"/>
                </a:solidFill>
              </a:rPr>
              <a:t>film</a:t>
            </a:r>
            <a:r>
              <a:rPr lang="en-US" sz="1400" dirty="0"/>
              <a:t> was terrible. I hated it and would not recommend it to anyone.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 excellent </a:t>
            </a:r>
            <a:r>
              <a:rPr lang="en-US" sz="1400" b="1" dirty="0">
                <a:solidFill>
                  <a:srgbClr val="FF0000"/>
                </a:solidFill>
              </a:rPr>
              <a:t>film</a:t>
            </a:r>
            <a:r>
              <a:rPr lang="en-US" sz="1400" dirty="0"/>
              <a:t> with brilliant performances and a moving 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boring and predictable </a:t>
            </a:r>
            <a:r>
              <a:rPr lang="en-US" sz="1400" b="1" dirty="0"/>
              <a:t>movie</a:t>
            </a:r>
            <a:r>
              <a:rPr lang="en-US" sz="1400" dirty="0"/>
              <a:t>. It lacked originality and emotion.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a masterpiece! Absolutely gripping from start to finish.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 my type of </a:t>
            </a:r>
            <a:r>
              <a:rPr lang="en-US" sz="1400" b="1" dirty="0"/>
              <a:t>movie</a:t>
            </a:r>
            <a:r>
              <a:rPr lang="en-US" sz="1400" dirty="0"/>
              <a:t>. Too slow and not engaging enough.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powerful and inspiring story. Great acting and cinematography.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Terrible plot, bad acting, and poorly written dialogue.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delightful </a:t>
            </a:r>
            <a:r>
              <a:rPr lang="en-US" sz="1400" b="1" dirty="0">
                <a:solidFill>
                  <a:srgbClr val="FF0000"/>
                </a:solidFill>
              </a:rPr>
              <a:t>film</a:t>
            </a:r>
            <a:r>
              <a:rPr lang="en-US" sz="1400" dirty="0"/>
              <a:t> that kept me entertained and happy throughout.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was okay. Not the best, not the worst. Just average.</a:t>
            </a:r>
          </a:p>
        </p:txBody>
      </p:sp>
    </p:spTree>
    <p:extLst>
      <p:ext uri="{BB962C8B-B14F-4D97-AF65-F5344CB8AC3E}">
        <p14:creationId xmlns:p14="http://schemas.microsoft.com/office/powerpoint/2010/main" val="34165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95C7-7051-C839-8312-2CD90609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E6AEC-C548-E46E-DA89-2FE487C42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87" y="327112"/>
            <a:ext cx="10515600" cy="640506"/>
          </a:xfrm>
        </p:spPr>
        <p:txBody>
          <a:bodyPr>
            <a:normAutofit/>
          </a:bodyPr>
          <a:lstStyle/>
          <a:p>
            <a:r>
              <a:rPr lang="en-US" sz="4000" dirty="0"/>
              <a:t>Revamping the workshops – phase 2 contd..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F01CA-9569-3947-07E6-FF13F19C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14</a:t>
            </a:fld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385BA0-22F9-5DB4-1E3B-3255623E24D6}"/>
              </a:ext>
            </a:extLst>
          </p:cNvPr>
          <p:cNvSpPr txBox="1"/>
          <p:nvPr/>
        </p:nvSpPr>
        <p:spPr>
          <a:xfrm>
            <a:off x="6372750" y="1508269"/>
            <a:ext cx="5514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2. Added demo on the “Romeo and Juliet” by Shakespeare from </a:t>
            </a:r>
            <a:r>
              <a:rPr lang="en-US" sz="2000" b="1" i="1" dirty="0">
                <a:solidFill>
                  <a:srgbClr val="0070C0"/>
                </a:solidFill>
              </a:rPr>
              <a:t>Project Guttenberg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A4E779-286D-9867-4258-EB9716FD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61" y="1040722"/>
            <a:ext cx="5514356" cy="54927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843B0A-49DE-814A-F5A5-74A7CAE24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368" y="2408780"/>
            <a:ext cx="3710711" cy="2040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842D6F-3B10-0BA6-977F-9A588EE8DD6A}"/>
              </a:ext>
            </a:extLst>
          </p:cNvPr>
          <p:cNvSpPr txBox="1"/>
          <p:nvPr/>
        </p:nvSpPr>
        <p:spPr>
          <a:xfrm>
            <a:off x="6453598" y="4616342"/>
            <a:ext cx="5360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highlight>
                  <a:srgbClr val="FFFF00"/>
                </a:highlight>
              </a:rPr>
              <a:t>Total registrations increased to 46</a:t>
            </a:r>
          </a:p>
          <a:p>
            <a:pPr algn="ctr"/>
            <a:r>
              <a:rPr lang="en-US" sz="2400" b="1" dirty="0">
                <a:highlight>
                  <a:srgbClr val="FFFF00"/>
                </a:highlight>
              </a:rPr>
              <a:t>Got very positive feedback</a:t>
            </a:r>
          </a:p>
          <a:p>
            <a:pPr algn="ctr"/>
            <a:r>
              <a:rPr lang="en-US" sz="2400" b="1" dirty="0">
                <a:highlight>
                  <a:srgbClr val="FFFF00"/>
                </a:highlight>
              </a:rPr>
              <a:t>Requests for Hands-on experience</a:t>
            </a:r>
          </a:p>
        </p:txBody>
      </p:sp>
    </p:spTree>
    <p:extLst>
      <p:ext uri="{BB962C8B-B14F-4D97-AF65-F5344CB8AC3E}">
        <p14:creationId xmlns:p14="http://schemas.microsoft.com/office/powerpoint/2010/main" val="403820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AD21-0D84-65EC-D0C4-ED066193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Part 3: introduction of hands-on experience in workshops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6ED39-01D8-6164-391B-AE45BEB84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1111448" cy="1201737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Challenges in using existing University resources such as high performance  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computing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Impact of NAIRR Classroom resources</a:t>
            </a:r>
          </a:p>
          <a:p>
            <a:pPr marL="457200" indent="-457200">
              <a:buAutoNum type="arabicPeriod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AEBA7-AE6A-D20F-AFAB-2CBB3A36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6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8871-1D7F-0A30-CB9F-E944D90A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00" y="415614"/>
            <a:ext cx="10583386" cy="85220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Challenges in using university computing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5785B-0630-B139-576C-8FC8FDEA4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05" y="1532055"/>
            <a:ext cx="11351930" cy="259173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Steep learning curve </a:t>
            </a:r>
            <a:r>
              <a:rPr lang="en-US" sz="2400" dirty="0"/>
              <a:t>for participants who were primarily from non-computing background</a:t>
            </a:r>
          </a:p>
          <a:p>
            <a:pPr marL="457200" lvl="1" indent="0">
              <a:buNone/>
            </a:pPr>
            <a:r>
              <a:rPr lang="en-US" sz="2000" dirty="0"/>
              <a:t>(a) Python/R programming  (b) Using High Performance Computing</a:t>
            </a:r>
          </a:p>
          <a:p>
            <a:r>
              <a:rPr lang="en-US" sz="2400" dirty="0">
                <a:solidFill>
                  <a:srgbClr val="C00000"/>
                </a:solidFill>
              </a:rPr>
              <a:t>Access to dedicated workspace </a:t>
            </a:r>
            <a:r>
              <a:rPr lang="en-US" sz="2400" dirty="0"/>
              <a:t>for participants was a multistep process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Request login credentials → create temporary accounts → share login details with participants → monitor workspace (</a:t>
            </a:r>
            <a:r>
              <a:rPr lang="en-US" sz="2000" dirty="0">
                <a:highlight>
                  <a:srgbClr val="FFFF00"/>
                </a:highlight>
              </a:rPr>
              <a:t>tested for one workshop in collaboration with Research Computing department; decided not to continue</a:t>
            </a:r>
            <a:r>
              <a:rPr lang="en-US" sz="2000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6B178-B5E4-34E9-9AE4-7C5806AD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16</a:t>
            </a:fld>
            <a:endParaRPr lang="en-US" b="1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FA1E270-C502-BAA1-5B4E-1A922071F919}"/>
              </a:ext>
            </a:extLst>
          </p:cNvPr>
          <p:cNvSpPr/>
          <p:nvPr/>
        </p:nvSpPr>
        <p:spPr>
          <a:xfrm>
            <a:off x="4171762" y="4166347"/>
            <a:ext cx="325369" cy="521713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3EE61-E34F-1279-E8B0-3B95F44B5CC8}"/>
              </a:ext>
            </a:extLst>
          </p:cNvPr>
          <p:cNvSpPr txBox="1"/>
          <p:nvPr/>
        </p:nvSpPr>
        <p:spPr>
          <a:xfrm>
            <a:off x="926552" y="4688060"/>
            <a:ext cx="68157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</a:rPr>
              <a:t>Applying for NAIRR Pilot Classroom Resources</a:t>
            </a:r>
          </a:p>
          <a:p>
            <a:pPr algn="ctr"/>
            <a:endParaRPr lang="en-US" sz="1000" b="1" dirty="0">
              <a:solidFill>
                <a:srgbClr val="C00000"/>
              </a:solidFill>
            </a:endParaRPr>
          </a:p>
          <a:p>
            <a:pPr algn="ctr"/>
            <a:r>
              <a:rPr lang="en-US" sz="2200" b="1" dirty="0">
                <a:solidFill>
                  <a:srgbClr val="C00000"/>
                </a:solidFill>
              </a:rPr>
              <a:t>Resources awarded in March 2026</a:t>
            </a:r>
          </a:p>
          <a:p>
            <a:pPr algn="ctr"/>
            <a:endParaRPr lang="en-US" sz="1000" b="1" dirty="0">
              <a:solidFill>
                <a:srgbClr val="C00000"/>
              </a:solidFill>
            </a:endParaRPr>
          </a:p>
          <a:p>
            <a:pPr algn="ctr"/>
            <a:r>
              <a:rPr lang="en-US" sz="2200" b="1" dirty="0">
                <a:solidFill>
                  <a:srgbClr val="C00000"/>
                </a:solidFill>
              </a:rPr>
              <a:t>Conducted one out of two (1/2) Spring 2026 workshops using </a:t>
            </a:r>
            <a:r>
              <a:rPr lang="en-US" sz="2200" b="1" dirty="0" err="1">
                <a:solidFill>
                  <a:srgbClr val="C00000"/>
                </a:solidFill>
              </a:rPr>
              <a:t>Vocareum</a:t>
            </a:r>
            <a:r>
              <a:rPr lang="en-US" sz="2200" b="1" dirty="0">
                <a:solidFill>
                  <a:srgbClr val="C00000"/>
                </a:solidFill>
              </a:rPr>
              <a:t> platform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A9525F-2EF8-5665-B568-9B480C371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654" y="4173704"/>
            <a:ext cx="2995699" cy="16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83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E472-9457-5E6D-89BC-0F966284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58" y="328440"/>
            <a:ext cx="10515600" cy="701707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4A47-A422-C011-C768-D0D505127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11171"/>
            <a:ext cx="11296185" cy="468774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University of South Carolina has a </a:t>
            </a:r>
            <a:r>
              <a:rPr lang="en-US" sz="2400" dirty="0">
                <a:solidFill>
                  <a:srgbClr val="C00000"/>
                </a:solidFill>
              </a:rPr>
              <a:t>thriving Humanities research community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9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Humanities community with support from Libraries identified the </a:t>
            </a:r>
            <a:r>
              <a:rPr lang="en-US" sz="2400" dirty="0">
                <a:solidFill>
                  <a:srgbClr val="C00000"/>
                </a:solidFill>
              </a:rPr>
              <a:t>need of text mining workshops</a:t>
            </a:r>
            <a:r>
              <a:rPr lang="en-US" sz="2400" dirty="0"/>
              <a:t> to prepare faculty and students </a:t>
            </a:r>
            <a:r>
              <a:rPr lang="en-US" sz="2400" b="1" dirty="0"/>
              <a:t>for emerging AI trends and digital scholarship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9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Iteratively adapted the workshops using feedback, which led to increase in participation by more than 100%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Adding </a:t>
            </a:r>
            <a:r>
              <a:rPr lang="en-US" sz="2000" dirty="0">
                <a:solidFill>
                  <a:srgbClr val="C00000"/>
                </a:solidFill>
              </a:rPr>
              <a:t>use cases </a:t>
            </a:r>
            <a:r>
              <a:rPr lang="en-US" sz="2000" dirty="0"/>
              <a:t>from our projects, explaining concepts on </a:t>
            </a:r>
            <a:r>
              <a:rPr lang="en-US" sz="2000" dirty="0">
                <a:solidFill>
                  <a:srgbClr val="C00000"/>
                </a:solidFill>
              </a:rPr>
              <a:t>dummy and real-world dataset</a:t>
            </a:r>
            <a:r>
              <a:rPr lang="en-US" sz="2000" dirty="0"/>
              <a:t>, creating </a:t>
            </a:r>
            <a:r>
              <a:rPr lang="en-US" sz="2000" dirty="0">
                <a:solidFill>
                  <a:srgbClr val="C00000"/>
                </a:solidFill>
              </a:rPr>
              <a:t>GitHub</a:t>
            </a:r>
            <a:r>
              <a:rPr lang="en-US" sz="2000" dirty="0"/>
              <a:t> website, showing demo, and providing </a:t>
            </a:r>
            <a:r>
              <a:rPr lang="en-US" sz="2000" dirty="0">
                <a:solidFill>
                  <a:srgbClr val="C00000"/>
                </a:solidFill>
              </a:rPr>
              <a:t>hands-on experience using NAIRR resources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Using a simple, real-world, and familiar dataset (e.g., Romeo and Juliet) helped in explaining the complex text-mining concepts</a:t>
            </a:r>
          </a:p>
          <a:p>
            <a:pPr lvl="1"/>
            <a:endParaRPr lang="en-US" sz="9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/>
              <a:t>NAIRR Resources made our workshops </a:t>
            </a:r>
            <a:r>
              <a:rPr lang="en-US" sz="2400" dirty="0">
                <a:solidFill>
                  <a:srgbClr val="C00000"/>
                </a:solidFill>
              </a:rPr>
              <a:t>more inclusive with lesser technical barriers</a:t>
            </a:r>
            <a:r>
              <a:rPr lang="en-US" sz="2400" dirty="0"/>
              <a:t> and provided continued learning opportunities, even after the workshop ended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A242B-23F8-06D0-1A6A-45791022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pPr/>
              <a:t>17</a:t>
            </a:fld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56489-9D2D-1E4E-6E6D-12AEE71EF1A8}"/>
              </a:ext>
            </a:extLst>
          </p:cNvPr>
          <p:cNvSpPr txBox="1"/>
          <p:nvPr/>
        </p:nvSpPr>
        <p:spPr>
          <a:xfrm>
            <a:off x="1678328" y="5879941"/>
            <a:ext cx="666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FALL 2026: Students can bring their own datasets for practice</a:t>
            </a:r>
          </a:p>
        </p:txBody>
      </p:sp>
    </p:spTree>
    <p:extLst>
      <p:ext uri="{BB962C8B-B14F-4D97-AF65-F5344CB8AC3E}">
        <p14:creationId xmlns:p14="http://schemas.microsoft.com/office/powerpoint/2010/main" val="194820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01479"/>
            <a:ext cx="3723321" cy="1166657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Name: </a:t>
            </a:r>
            <a:r>
              <a:rPr lang="en-US" dirty="0"/>
              <a:t>Vandana Srivastava</a:t>
            </a:r>
          </a:p>
          <a:p>
            <a:r>
              <a:rPr lang="en-US" dirty="0">
                <a:solidFill>
                  <a:srgbClr val="FFFF00"/>
                </a:solidFill>
              </a:rPr>
              <a:t>Title: </a:t>
            </a:r>
            <a:r>
              <a:rPr lang="en-US" dirty="0"/>
              <a:t>AI/Data Science Specialist</a:t>
            </a:r>
          </a:p>
          <a:p>
            <a:r>
              <a:rPr lang="en-US" dirty="0">
                <a:solidFill>
                  <a:srgbClr val="FFFF00"/>
                </a:solidFill>
              </a:rPr>
              <a:t>Email: </a:t>
            </a:r>
            <a:r>
              <a:rPr lang="en-US" dirty="0"/>
              <a:t>vandana@email.sc.edu</a:t>
            </a:r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c_libraries_powerpoint" id="{31DDFEF4-70F4-F640-B2C0-5EA3FD2DBA35}" vid="{B07F9ECE-E56F-504C-890A-455DA5D4C4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06E464-9EFF-4776-9D7C-394D3C5865B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ba21ac7-3652-424f-86a0-68bea31f559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VandanaSrivastava_NAIRR_Presentation_2026</Template>
  <TotalTime>7350</TotalTime>
  <Words>1539</Words>
  <Application>Microsoft Office PowerPoint</Application>
  <PresentationFormat>Widescreen</PresentationFormat>
  <Paragraphs>204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Impact</vt:lpstr>
      <vt:lpstr>UofSC Simple Theme</vt:lpstr>
      <vt:lpstr>CHAI With NLP: Connecting Humanities and AI Through Text Mining</vt:lpstr>
      <vt:lpstr>ABOUT MYSELF</vt:lpstr>
      <vt:lpstr>Outline</vt:lpstr>
      <vt:lpstr>AI and text mining</vt:lpstr>
      <vt:lpstr>Part 1: background and motivation </vt:lpstr>
      <vt:lpstr>Humanities presence at usc</vt:lpstr>
      <vt:lpstr>Motivation for text mining workshops</vt:lpstr>
      <vt:lpstr>“on the books” Project (2022 – 2024)</vt:lpstr>
      <vt:lpstr>text mining workshops at university libraries</vt:lpstr>
      <vt:lpstr>Identifying key issues</vt:lpstr>
      <vt:lpstr>Part 2: Revamping the workshops </vt:lpstr>
      <vt:lpstr>Revamping the workshops – phase 1 </vt:lpstr>
      <vt:lpstr>Revamping the workshops – phase 2</vt:lpstr>
      <vt:lpstr>Revamping the workshops – phase 2 contd..</vt:lpstr>
      <vt:lpstr>Part 3: introduction of hands-on experience in workshops</vt:lpstr>
      <vt:lpstr>Challenges in using university computing resources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Srivastava, Vandana</dc:creator>
  <cp:lastModifiedBy>Srivastava, Vandana</cp:lastModifiedBy>
  <cp:revision>83</cp:revision>
  <dcterms:created xsi:type="dcterms:W3CDTF">2026-06-03T01:34:11Z</dcterms:created>
  <dcterms:modified xsi:type="dcterms:W3CDTF">2026-06-17T15:46:51Z</dcterms:modified>
</cp:coreProperties>
</file>