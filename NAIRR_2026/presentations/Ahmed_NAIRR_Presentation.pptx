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  <p:sldMasterId id="2147483661" r:id="rId3"/>
  </p:sldMasterIdLst>
  <p:notesMasterIdLst>
    <p:notesMasterId r:id="rId1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70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736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tableStyles" Target="tableStyle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3" name="Google Shape;7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d8d62bb90_1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g3ed8d62bb90_1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ed8d62bb90_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ed8d62bb90_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d8d62bb90_1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g3ed8d62bb90_1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d8d62bb90_1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g3ed8d62bb90_1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d8d62bb90_1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g3ed8d62bb90_1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d8d62bb90_1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g3ed8d62bb90_1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ed8d62bb90_1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g3ed8d62bb90_1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bg>
      <p:bgPr>
        <a:solidFill>
          <a:srgbClr val="1E22AA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417445" y="937933"/>
            <a:ext cx="9119325" cy="291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- Blank slid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9087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Logo comparison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8772939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">
    <p:bg>
      <p:bgPr>
        <a:solidFill>
          <a:srgbClr val="1E22AA"/>
        </a:solidFill>
        <a:effectLst/>
      </p:bgPr>
    </p:bg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" name="Google Shape;25;p5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5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2800" i="1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–"/>
              <a:defRPr/>
            </a:lvl2pPr>
            <a:lvl3pPr lvl="2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/>
            </a:lvl4pPr>
            <a:lvl5pPr lvl="4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28" name="Google Shape;28;p5" descr="A blue square with a white logo  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70220" y="2935063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5" descr="A blue square with a white letter f on it  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219289" y="3590677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" name="Google Shape;30;p5" descr="A blue square with white letters on it  Description automatically generated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8898" y="2905368"/>
            <a:ext cx="2181773" cy="1090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5" descr="A white butterfly in a blue circle  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43617" y="3605589"/>
            <a:ext cx="2201828" cy="1100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" name="Google Shape;32;p5" descr="A close-up of a logo  AI-generated content may be incorrect.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98170" y="-54312"/>
            <a:ext cx="5494550" cy="1758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>
  <p:cSld name="1_Title Slide 2">
    <p:bg>
      <p:bgPr>
        <a:solidFill>
          <a:srgbClr val="1E22AA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0" y="0"/>
            <a:ext cx="10050612" cy="581073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40000" dist="2300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5" name="Google Shape;35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" y="-10027"/>
            <a:ext cx="12192000" cy="6868027"/>
          </a:xfrm>
          <a:prstGeom prst="rect">
            <a:avLst/>
          </a:prstGeom>
          <a:noFill/>
          <a:ln>
            <a:noFill/>
          </a:ln>
        </p:spPr>
      </p:pic>
      <p:pic>
        <p:nvPicPr>
          <p:cNvPr id="36" name="Google Shape;36;p6" descr="CRA PPT_Cov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68027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6"/>
          <p:cNvSpPr txBox="1">
            <a:spLocks noGrp="1"/>
          </p:cNvSpPr>
          <p:nvPr>
            <p:ph type="subTitle" idx="1"/>
          </p:nvPr>
        </p:nvSpPr>
        <p:spPr>
          <a:xfrm>
            <a:off x="391043" y="3268046"/>
            <a:ext cx="715350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200" b="0" i="1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ctrTitle"/>
          </p:nvPr>
        </p:nvSpPr>
        <p:spPr>
          <a:xfrm>
            <a:off x="391043" y="1810748"/>
            <a:ext cx="8187179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39" name="Google Shape;39;p6"/>
          <p:cNvPicPr preferRelativeResize="0"/>
          <p:nvPr/>
        </p:nvPicPr>
        <p:blipFill rotWithShape="1">
          <a:blip r:embed="rId3">
            <a:alphaModFix/>
          </a:blip>
          <a:srcRect l="6397" r="6397"/>
          <a:stretch/>
        </p:blipFill>
        <p:spPr>
          <a:xfrm>
            <a:off x="138898" y="249444"/>
            <a:ext cx="5705750" cy="8496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7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8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">
    <p:bg>
      <p:bgPr>
        <a:solidFill>
          <a:schemeClr val="lt1"/>
        </a:solidFill>
        <a:effectLst/>
      </p:bgPr>
    </p:bg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0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0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625475" y="1301750"/>
            <a:ext cx="9521825" cy="4770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 sz="32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Font typeface="Arial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–"/>
              <a:defRPr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600"/>
              <a:buChar char="»"/>
              <a:defRPr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>
  <p:cSld name="1_Section Header 2">
    <p:bg>
      <p:bgPr>
        <a:solidFill>
          <a:schemeClr val="lt1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11" descr="A white background with black dots  Description automatically generated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1"/>
          <p:cNvSpPr txBox="1">
            <a:spLocks noGrp="1"/>
          </p:cNvSpPr>
          <p:nvPr>
            <p:ph type="title"/>
          </p:nvPr>
        </p:nvSpPr>
        <p:spPr>
          <a:xfrm>
            <a:off x="963084" y="3216047"/>
            <a:ext cx="10363200" cy="784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3600" b="1" i="0" cap="none">
                <a:solidFill>
                  <a:srgbClr val="213E99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No logo - Empty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3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>
  <p:cSld name="No logo - Two tables">
    <p:bg>
      <p:bgPr>
        <a:solidFill>
          <a:schemeClr val="lt1"/>
        </a:solid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body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7F7F7F"/>
              </a:buClr>
              <a:buSzPts val="1800"/>
              <a:buNone/>
              <a:defRPr sz="2800" b="0" i="1">
                <a:solidFill>
                  <a:srgbClr val="7F7F7F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body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2400" b="0" i="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•"/>
              <a:defRPr sz="1800" b="0" i="0">
                <a:latin typeface="Arial"/>
                <a:ea typeface="Arial"/>
                <a:cs typeface="Arial"/>
                <a:sym typeface="Arial"/>
              </a:defRPr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–"/>
              <a:defRPr sz="1800" b="0" i="0">
                <a:latin typeface="Arial"/>
                <a:ea typeface="Arial"/>
                <a:cs typeface="Arial"/>
                <a:sym typeface="Arial"/>
              </a:defRPr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1E22AA"/>
              </a:buClr>
              <a:buSzPts val="1800"/>
              <a:buChar char="»"/>
              <a:defRPr sz="1800" b="0" i="0">
                <a:latin typeface="Arial"/>
                <a:ea typeface="Arial"/>
                <a:cs typeface="Arial"/>
                <a:sym typeface="Arial"/>
              </a:defRPr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609600" y="488058"/>
            <a:ext cx="9518768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1" descr="CRA PPT_page bars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9" descr="CRA PPT_page ba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9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8395252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51" name="Google Shape;51;p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04853" y="131433"/>
            <a:ext cx="3289850" cy="105275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2" descr="CRA PPT_page bar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785" y="-20484"/>
            <a:ext cx="12229655" cy="6896422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2"/>
          <p:cNvSpPr txBox="1">
            <a:spLocks noGrp="1"/>
          </p:cNvSpPr>
          <p:nvPr>
            <p:ph type="title"/>
          </p:nvPr>
        </p:nvSpPr>
        <p:spPr>
          <a:xfrm>
            <a:off x="609600" y="383886"/>
            <a:ext cx="10972800" cy="6909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22AA"/>
              </a:buClr>
              <a:buSzPts val="3600"/>
              <a:buFont typeface="Arial"/>
              <a:buNone/>
              <a:defRPr sz="3600" b="1" i="0" u="none" strike="noStrike" cap="none">
                <a:solidFill>
                  <a:srgbClr val="1E22AA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2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" name="Google Shape;75;p15"/>
          <p:cNvGrpSpPr/>
          <p:nvPr/>
        </p:nvGrpSpPr>
        <p:grpSpPr>
          <a:xfrm>
            <a:off x="285525" y="618775"/>
            <a:ext cx="7842475" cy="3254925"/>
            <a:chOff x="837550" y="656850"/>
            <a:chExt cx="7842475" cy="3254925"/>
          </a:xfrm>
        </p:grpSpPr>
        <p:sp>
          <p:nvSpPr>
            <p:cNvPr id="76" name="Google Shape;76;p15"/>
            <p:cNvSpPr/>
            <p:nvPr/>
          </p:nvSpPr>
          <p:spPr>
            <a:xfrm>
              <a:off x="837550" y="685275"/>
              <a:ext cx="7766400" cy="3226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pic>
          <p:nvPicPr>
            <p:cNvPr id="77" name="Google Shape;77;p15" title="NAIRR Expansion Conference_RE lg.png"/>
            <p:cNvPicPr preferRelativeResize="0"/>
            <p:nvPr/>
          </p:nvPicPr>
          <p:blipFill rotWithShape="1">
            <a:blip r:embed="rId3">
              <a:alphaModFix/>
            </a:blip>
            <a:srcRect l="8083" r="7185"/>
            <a:stretch/>
          </p:blipFill>
          <p:spPr>
            <a:xfrm>
              <a:off x="894650" y="656850"/>
              <a:ext cx="7785375" cy="321682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TB1002"/>
          <p:cNvSpPr txBox="1"/>
          <p:nvPr/>
        </p:nvSpPr>
        <p:spPr>
          <a:xfrm>
            <a:off x="760000" y="1500000"/>
            <a:ext cx="10672000" cy="170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000" b="1">
                <a:solidFill>
                  <a:srgbClr val="EB532A"/>
                </a:solidFill>
                <a:latin typeface="Calibri"/>
                <a:cs typeface="Calibri"/>
              </a:rPr>
              <a:t>Integrating AI into Software Project Development Courses</a:t>
            </a:r>
          </a:p>
        </p:txBody>
      </p:sp>
      <p:sp>
        <p:nvSpPr>
          <p:cNvPr id="1013" name="TB1014"/>
          <p:cNvSpPr txBox="1"/>
          <p:nvPr/>
        </p:nvSpPr>
        <p:spPr>
          <a:xfrm>
            <a:off x="759999" y="4072954"/>
            <a:ext cx="10672000" cy="19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400" b="1">
                <a:solidFill>
                  <a:srgbClr val="1A2A87"/>
                </a:solidFill>
                <a:latin typeface="Calibri"/>
                <a:cs typeface="Calibri"/>
              </a:rPr>
              <a:t>Shibbir Ahmed</a:t>
            </a:r>
          </a:p>
          <a:p>
            <a:pPr marL="0" indent="0" algn="ctr">
              <a:spcBef>
                <a:spcPts val="25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Assistant Professor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Department of Computer Science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Texas State University</a:t>
            </a:r>
          </a:p>
          <a:p>
            <a:pPr marL="0" indent="0" algn="ctr">
              <a:spcBef>
                <a:spcPts val="100"/>
              </a:spcBef>
              <a:buNone/>
            </a:pPr>
            <a:r>
              <a:rPr lang="en-US" sz="1800" b="0">
                <a:solidFill>
                  <a:srgbClr val="62A1C5"/>
                </a:solidFill>
                <a:latin typeface="Calibri"/>
                <a:cs typeface="Calibri"/>
              </a:rPr>
              <a:t>shibbir@txstate.edu</a:t>
            </a:r>
          </a:p>
        </p:txBody>
      </p:sp>
      <p:sp>
        <p:nvSpPr>
          <p:cNvPr id="1015" name="TB1016"/>
          <p:cNvSpPr txBox="1"/>
          <p:nvPr/>
        </p:nvSpPr>
        <p:spPr>
          <a:xfrm>
            <a:off x="759999" y="5972954"/>
            <a:ext cx="10672000" cy="45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0" i="1">
                <a:solidFill>
                  <a:srgbClr val="595959"/>
                </a:solidFill>
                <a:latin typeface="Calibri"/>
                <a:cs typeface="Calibri"/>
              </a:rPr>
              <a:t>NAIRR Expansion Conference   |   Research Emerging, Large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226CE88-1593-D07B-286C-5E292368EC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1666" y="3015689"/>
            <a:ext cx="1248667" cy="1057265"/>
          </a:xfrm>
          <a:prstGeom prst="rect">
            <a:avLst/>
          </a:prstGeom>
        </p:spPr>
      </p:pic>
      <p:sp>
        <p:nvSpPr>
          <p:cNvPr id="3" name="TB1016">
            <a:extLst>
              <a:ext uri="{FF2B5EF4-FFF2-40B4-BE49-F238E27FC236}">
                <a16:creationId xmlns:a16="http://schemas.microsoft.com/office/drawing/2014/main" id="{FDD498F8-8978-DF2E-6AA9-9D5409615668}"/>
              </a:ext>
            </a:extLst>
          </p:cNvPr>
          <p:cNvSpPr txBox="1"/>
          <p:nvPr/>
        </p:nvSpPr>
        <p:spPr>
          <a:xfrm>
            <a:off x="759999" y="6547336"/>
            <a:ext cx="10672000" cy="45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0" i="1">
                <a:solidFill>
                  <a:srgbClr val="595959"/>
                </a:solidFill>
                <a:latin typeface="Calibri"/>
                <a:cs typeface="Calibri"/>
              </a:rPr>
              <a:t>Orlando, Florida  |   June 19,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7" name="TB1018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Why Integrate AI into a Project Course?</a:t>
            </a:r>
          </a:p>
        </p:txBody>
      </p:sp>
      <p:sp>
        <p:nvSpPr>
          <p:cNvPr id="1019" name="R1020"/>
          <p:cNvSpPr/>
          <p:nvPr/>
        </p:nvSpPr>
        <p:spPr>
          <a:xfrm>
            <a:off x="609600" y="1500000"/>
            <a:ext cx="5276400" cy="3350000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>
            <a:noFill/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21" name="C1022"/>
          <p:cNvSpPr/>
          <p:nvPr/>
        </p:nvSpPr>
        <p:spPr>
          <a:xfrm>
            <a:off x="2937800" y="1190000"/>
            <a:ext cx="620000" cy="620000"/>
          </a:xfrm>
          <a:prstGeom prst="ellipse">
            <a:avLst/>
          </a:prstGeom>
          <a:solidFill>
            <a:srgbClr val="62A1C5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cs typeface="Calibri"/>
              </a:rPr>
              <a:t>!</a:t>
            </a:r>
          </a:p>
        </p:txBody>
      </p:sp>
      <p:sp>
        <p:nvSpPr>
          <p:cNvPr id="1023" name="TB1024"/>
          <p:cNvSpPr txBox="1"/>
          <p:nvPr/>
        </p:nvSpPr>
        <p:spPr>
          <a:xfrm>
            <a:off x="609600" y="1840000"/>
            <a:ext cx="5276400" cy="4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400" b="1">
                <a:solidFill>
                  <a:srgbClr val="1A2A87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1025" name="TB1026"/>
          <p:cNvSpPr txBox="1"/>
          <p:nvPr/>
        </p:nvSpPr>
        <p:spPr>
          <a:xfrm>
            <a:off x="969600" y="2370000"/>
            <a:ext cx="4556400" cy="242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274320" indent="-228600" algn="l">
              <a:spcBef>
                <a:spcPts val="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Students reach for AI tools the moment they start coding.</a:t>
            </a:r>
          </a:p>
          <a:p>
            <a:pPr marL="274320" indent="-228600" algn="l">
              <a:spcBef>
                <a:spcPts val="36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Taught separately, AI feels disconnected from real engineering work.</a:t>
            </a:r>
          </a:p>
          <a:p>
            <a:pPr marL="274320" indent="-228600" algn="l">
              <a:spcBef>
                <a:spcPts val="36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They miss the fundamentals: iteration, testing, teamwork, judgment.</a:t>
            </a:r>
          </a:p>
        </p:txBody>
      </p:sp>
      <p:sp>
        <p:nvSpPr>
          <p:cNvPr id="1027" name="R1028"/>
          <p:cNvSpPr/>
          <p:nvPr/>
        </p:nvSpPr>
        <p:spPr>
          <a:xfrm>
            <a:off x="6306000" y="1500000"/>
            <a:ext cx="5276400" cy="335000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29" name="C1030"/>
          <p:cNvSpPr/>
          <p:nvPr/>
        </p:nvSpPr>
        <p:spPr>
          <a:xfrm>
            <a:off x="8634200" y="1190000"/>
            <a:ext cx="620000" cy="620000"/>
          </a:xfrm>
          <a:prstGeom prst="ellipse">
            <a:avLst/>
          </a:prstGeom>
          <a:solidFill>
            <a:srgbClr val="EB532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031" name="TB1032"/>
          <p:cNvSpPr txBox="1"/>
          <p:nvPr/>
        </p:nvSpPr>
        <p:spPr>
          <a:xfrm>
            <a:off x="6306000" y="1840000"/>
            <a:ext cx="5276400" cy="4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400" b="1">
                <a:solidFill>
                  <a:srgbClr val="EB532A"/>
                </a:solidFill>
                <a:latin typeface="Calibri"/>
                <a:cs typeface="Calibri"/>
              </a:rPr>
              <a:t>This Approach</a:t>
            </a:r>
          </a:p>
        </p:txBody>
      </p:sp>
      <p:sp>
        <p:nvSpPr>
          <p:cNvPr id="1033" name="TB1034"/>
          <p:cNvSpPr txBox="1"/>
          <p:nvPr/>
        </p:nvSpPr>
        <p:spPr>
          <a:xfrm>
            <a:off x="6666000" y="2370000"/>
            <a:ext cx="4556400" cy="242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274320" indent="-228600" algn="l">
              <a:spcBef>
                <a:spcPts val="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Teach the fundamentals first, without AI.</a:t>
            </a:r>
          </a:p>
          <a:p>
            <a:pPr marL="274320" indent="-228600" algn="l">
              <a:spcBef>
                <a:spcPts val="36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Then bring AI into the same project they already understand.</a:t>
            </a:r>
          </a:p>
          <a:p>
            <a:pPr marL="274320" indent="-228600" algn="l">
              <a:spcBef>
                <a:spcPts val="36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Compare both, so students see where AI helps and where judgment matters.</a:t>
            </a:r>
          </a:p>
        </p:txBody>
      </p:sp>
      <p:sp>
        <p:nvSpPr>
          <p:cNvPr id="1035" name="TB1036"/>
          <p:cNvSpPr txBox="1"/>
          <p:nvPr/>
        </p:nvSpPr>
        <p:spPr>
          <a:xfrm>
            <a:off x="609600" y="6330000"/>
            <a:ext cx="10972800" cy="4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500" b="0" i="1">
                <a:solidFill>
                  <a:srgbClr val="595959"/>
                </a:solidFill>
                <a:latin typeface="Calibri"/>
                <a:cs typeface="Calibri"/>
              </a:rPr>
              <a:t>Responsible AI use, taught inside an existing course, not bolted on as a separate topic.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TB1038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The Course: Software Project Development</a:t>
            </a:r>
          </a:p>
        </p:txBody>
      </p:sp>
      <p:sp>
        <p:nvSpPr>
          <p:cNvPr id="1039" name="R1040"/>
          <p:cNvSpPr/>
          <p:nvPr/>
        </p:nvSpPr>
        <p:spPr>
          <a:xfrm>
            <a:off x="609600" y="1820000"/>
            <a:ext cx="3350933" cy="3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13E99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41" name="C1042"/>
          <p:cNvSpPr/>
          <p:nvPr/>
        </p:nvSpPr>
        <p:spPr>
          <a:xfrm>
            <a:off x="1785065" y="2100000"/>
            <a:ext cx="1178851" cy="1000000"/>
          </a:xfrm>
          <a:prstGeom prst="ellipse">
            <a:avLst/>
          </a:prstGeom>
          <a:solidFill>
            <a:srgbClr val="213E9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200" b="1">
                <a:solidFill>
                  <a:srgbClr val="FFFFFF"/>
                </a:solidFill>
                <a:latin typeface="Calibri"/>
                <a:cs typeface="Calibri"/>
              </a:rPr>
              <a:t>50+</a:t>
            </a:r>
          </a:p>
        </p:txBody>
      </p:sp>
      <p:sp>
        <p:nvSpPr>
          <p:cNvPr id="1043" name="TB1044"/>
          <p:cNvSpPr txBox="1"/>
          <p:nvPr/>
        </p:nvSpPr>
        <p:spPr>
          <a:xfrm>
            <a:off x="729600" y="3300000"/>
            <a:ext cx="3110933" cy="5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213E99"/>
                </a:solidFill>
                <a:latin typeface="Calibri"/>
                <a:cs typeface="Calibri"/>
              </a:rPr>
              <a:t>Students</a:t>
            </a:r>
          </a:p>
        </p:txBody>
      </p:sp>
      <p:sp>
        <p:nvSpPr>
          <p:cNvPr id="1045" name="TB1046"/>
          <p:cNvSpPr txBox="1"/>
          <p:nvPr/>
        </p:nvSpPr>
        <p:spPr>
          <a:xfrm>
            <a:off x="849600" y="3820000"/>
            <a:ext cx="2870933" cy="9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CS 4398 / 5394, undergraduate and graduate sections.</a:t>
            </a:r>
          </a:p>
        </p:txBody>
      </p:sp>
      <p:sp>
        <p:nvSpPr>
          <p:cNvPr id="1047" name="R1048"/>
          <p:cNvSpPr/>
          <p:nvPr/>
        </p:nvSpPr>
        <p:spPr>
          <a:xfrm>
            <a:off x="4420533" y="1820000"/>
            <a:ext cx="3350933" cy="3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A6CF59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49" name="C1050"/>
          <p:cNvSpPr/>
          <p:nvPr/>
        </p:nvSpPr>
        <p:spPr>
          <a:xfrm>
            <a:off x="5595999" y="2100000"/>
            <a:ext cx="1000000" cy="1000000"/>
          </a:xfrm>
          <a:prstGeom prst="ellipse">
            <a:avLst/>
          </a:prstGeom>
          <a:solidFill>
            <a:srgbClr val="A6CF5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200" b="1">
                <a:solidFill>
                  <a:srgbClr val="FFFFFF"/>
                </a:solidFill>
                <a:latin typeface="Calibri"/>
                <a:cs typeface="Calibri"/>
              </a:rPr>
              <a:t>☰</a:t>
            </a:r>
          </a:p>
        </p:txBody>
      </p:sp>
      <p:sp>
        <p:nvSpPr>
          <p:cNvPr id="1051" name="TB1052"/>
          <p:cNvSpPr txBox="1"/>
          <p:nvPr/>
        </p:nvSpPr>
        <p:spPr>
          <a:xfrm>
            <a:off x="4540533" y="3300000"/>
            <a:ext cx="3110933" cy="5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A6CF59"/>
                </a:solidFill>
                <a:latin typeface="Calibri"/>
                <a:cs typeface="Calibri"/>
              </a:rPr>
              <a:t>Team Projects</a:t>
            </a:r>
          </a:p>
        </p:txBody>
      </p:sp>
      <p:sp>
        <p:nvSpPr>
          <p:cNvPr id="1053" name="TB1054"/>
          <p:cNvSpPr txBox="1"/>
          <p:nvPr/>
        </p:nvSpPr>
        <p:spPr>
          <a:xfrm>
            <a:off x="4660533" y="3820000"/>
            <a:ext cx="2870933" cy="9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Real features built in teams across the semester.</a:t>
            </a:r>
          </a:p>
        </p:txBody>
      </p:sp>
      <p:sp>
        <p:nvSpPr>
          <p:cNvPr id="1055" name="R1056"/>
          <p:cNvSpPr/>
          <p:nvPr/>
        </p:nvSpPr>
        <p:spPr>
          <a:xfrm>
            <a:off x="8231466" y="1820000"/>
            <a:ext cx="3350933" cy="3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B532A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57" name="C1058"/>
          <p:cNvSpPr/>
          <p:nvPr/>
        </p:nvSpPr>
        <p:spPr>
          <a:xfrm>
            <a:off x="9406932" y="2100000"/>
            <a:ext cx="1000000" cy="1000000"/>
          </a:xfrm>
          <a:prstGeom prst="ellipse">
            <a:avLst/>
          </a:prstGeom>
          <a:solidFill>
            <a:srgbClr val="EB532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200" b="1">
                <a:solidFill>
                  <a:srgbClr val="FFFFFF"/>
                </a:solidFill>
                <a:latin typeface="Calibri"/>
                <a:cs typeface="Calibri"/>
              </a:rPr>
              <a:t>↺</a:t>
            </a:r>
          </a:p>
        </p:txBody>
      </p:sp>
      <p:sp>
        <p:nvSpPr>
          <p:cNvPr id="1059" name="TB1060"/>
          <p:cNvSpPr txBox="1"/>
          <p:nvPr/>
        </p:nvSpPr>
        <p:spPr>
          <a:xfrm>
            <a:off x="8351466" y="3300000"/>
            <a:ext cx="3110933" cy="5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EB532A"/>
                </a:solidFill>
                <a:latin typeface="Calibri"/>
                <a:cs typeface="Calibri"/>
              </a:rPr>
              <a:t>Agile + XP + TDD</a:t>
            </a:r>
          </a:p>
        </p:txBody>
      </p:sp>
      <p:sp>
        <p:nvSpPr>
          <p:cNvPr id="1061" name="TB1062"/>
          <p:cNvSpPr txBox="1"/>
          <p:nvPr/>
        </p:nvSpPr>
        <p:spPr>
          <a:xfrm>
            <a:off x="8471466" y="3820000"/>
            <a:ext cx="2870933" cy="9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User stories, iteration, tests first, continuous improvement.</a:t>
            </a:r>
          </a:p>
        </p:txBody>
      </p:sp>
      <p:sp>
        <p:nvSpPr>
          <p:cNvPr id="1063" name="TB1064"/>
          <p:cNvSpPr txBox="1"/>
          <p:nvPr/>
        </p:nvSpPr>
        <p:spPr>
          <a:xfrm>
            <a:off x="609600" y="6330000"/>
            <a:ext cx="10972800" cy="4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500" b="0" i="1">
                <a:solidFill>
                  <a:srgbClr val="595959"/>
                </a:solidFill>
                <a:latin typeface="Calibri"/>
                <a:cs typeface="Calibri"/>
              </a:rPr>
              <a:t>A project-based course where AI fits naturally into work students already do.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TB1066"/>
          <p:cNvSpPr txBox="1"/>
          <p:nvPr/>
        </p:nvSpPr>
        <p:spPr>
          <a:xfrm>
            <a:off x="760000" y="1850000"/>
            <a:ext cx="10672000" cy="130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5600" b="1">
                <a:solidFill>
                  <a:srgbClr val="1A2A87"/>
                </a:solidFill>
                <a:latin typeface="Calibri"/>
                <a:cs typeface="Calibri"/>
              </a:rPr>
              <a:t>Two Phases</a:t>
            </a:r>
          </a:p>
        </p:txBody>
      </p:sp>
      <p:sp>
        <p:nvSpPr>
          <p:cNvPr id="1067" name="TB1068"/>
          <p:cNvSpPr txBox="1"/>
          <p:nvPr/>
        </p:nvSpPr>
        <p:spPr>
          <a:xfrm>
            <a:off x="760000" y="3150000"/>
            <a:ext cx="10672000" cy="70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600" b="0" i="1">
                <a:solidFill>
                  <a:srgbClr val="595959"/>
                </a:solidFill>
                <a:latin typeface="Calibri"/>
                <a:cs typeface="Calibri"/>
              </a:rPr>
              <a:t>First the discipline. Then the AI.</a:t>
            </a:r>
          </a:p>
        </p:txBody>
      </p:sp>
      <p:sp>
        <p:nvSpPr>
          <p:cNvPr id="1069" name="C1070"/>
          <p:cNvSpPr/>
          <p:nvPr/>
        </p:nvSpPr>
        <p:spPr>
          <a:xfrm>
            <a:off x="4416000" y="4350000"/>
            <a:ext cx="980000" cy="980000"/>
          </a:xfrm>
          <a:prstGeom prst="ellipse">
            <a:avLst/>
          </a:prstGeom>
          <a:solidFill>
            <a:srgbClr val="213E9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4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71" name="C1072"/>
          <p:cNvSpPr/>
          <p:nvPr/>
        </p:nvSpPr>
        <p:spPr>
          <a:xfrm>
            <a:off x="6796000" y="4350000"/>
            <a:ext cx="980000" cy="980000"/>
          </a:xfrm>
          <a:prstGeom prst="ellipse">
            <a:avLst/>
          </a:prstGeom>
          <a:solidFill>
            <a:srgbClr val="EB532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4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73" name="TB1074"/>
          <p:cNvSpPr txBox="1"/>
          <p:nvPr/>
        </p:nvSpPr>
        <p:spPr>
          <a:xfrm>
            <a:off x="3916000" y="5390000"/>
            <a:ext cx="1980000" cy="7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700" b="1">
                <a:solidFill>
                  <a:srgbClr val="1A2A87"/>
                </a:solidFill>
                <a:latin typeface="Calibri"/>
                <a:cs typeface="Calibri"/>
              </a:rPr>
              <a:t>Traditional
XP + TDD</a:t>
            </a:r>
          </a:p>
        </p:txBody>
      </p:sp>
      <p:sp>
        <p:nvSpPr>
          <p:cNvPr id="1075" name="TB1076"/>
          <p:cNvSpPr txBox="1"/>
          <p:nvPr/>
        </p:nvSpPr>
        <p:spPr>
          <a:xfrm>
            <a:off x="6296000" y="5390000"/>
            <a:ext cx="1980000" cy="7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700" b="1">
                <a:solidFill>
                  <a:srgbClr val="EB532A"/>
                </a:solidFill>
                <a:latin typeface="Calibri"/>
                <a:cs typeface="Calibri"/>
              </a:rPr>
              <a:t>AI-Assisted
Development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TB1078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Phase 1: Traditional Software Engineering First</a:t>
            </a:r>
          </a:p>
        </p:txBody>
      </p:sp>
      <p:sp>
        <p:nvSpPr>
          <p:cNvPr id="1079" name="TB1080"/>
          <p:cNvSpPr txBox="1"/>
          <p:nvPr/>
        </p:nvSpPr>
        <p:spPr>
          <a:xfrm>
            <a:off x="609600" y="1340000"/>
            <a:ext cx="10972800" cy="56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900" b="1">
                <a:solidFill>
                  <a:srgbClr val="1A2A87"/>
                </a:solidFill>
                <a:latin typeface="Calibri"/>
                <a:cs typeface="Calibri"/>
              </a:rPr>
              <a:t>What they do:  </a:t>
            </a: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Build real features in teams using Agile, XP, and TDD, with no instruction to use AI.</a:t>
            </a:r>
          </a:p>
        </p:txBody>
      </p:sp>
      <p:sp>
        <p:nvSpPr>
          <p:cNvPr id="1081" name="R1082"/>
          <p:cNvSpPr/>
          <p:nvPr/>
        </p:nvSpPr>
        <p:spPr>
          <a:xfrm>
            <a:off x="609600" y="2020000"/>
            <a:ext cx="5306400" cy="9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3" name="C1084"/>
          <p:cNvSpPr/>
          <p:nvPr/>
        </p:nvSpPr>
        <p:spPr>
          <a:xfrm>
            <a:off x="839600" y="2300000"/>
            <a:ext cx="360000" cy="360000"/>
          </a:xfrm>
          <a:prstGeom prst="ellipse">
            <a:avLst/>
          </a:prstGeom>
          <a:solidFill>
            <a:srgbClr val="213E9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085" name="TB1086"/>
          <p:cNvSpPr txBox="1"/>
          <p:nvPr/>
        </p:nvSpPr>
        <p:spPr>
          <a:xfrm>
            <a:off x="1329600" y="2140000"/>
            <a:ext cx="4406400" cy="6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213E99"/>
                </a:solidFill>
                <a:latin typeface="Calibri"/>
                <a:cs typeface="Calibri"/>
              </a:rPr>
              <a:t>User stories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1700" b="0">
                <a:solidFill>
                  <a:srgbClr val="000000"/>
                </a:solidFill>
                <a:latin typeface="Calibri"/>
                <a:cs typeface="Calibri"/>
              </a:rPr>
              <a:t>Break work into small, testable pieces.</a:t>
            </a:r>
          </a:p>
        </p:txBody>
      </p:sp>
      <p:sp>
        <p:nvSpPr>
          <p:cNvPr id="1087" name="R1088"/>
          <p:cNvSpPr/>
          <p:nvPr/>
        </p:nvSpPr>
        <p:spPr>
          <a:xfrm>
            <a:off x="6276000" y="2020000"/>
            <a:ext cx="5306400" cy="9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89" name="C1090"/>
          <p:cNvSpPr/>
          <p:nvPr/>
        </p:nvSpPr>
        <p:spPr>
          <a:xfrm>
            <a:off x="6506000" y="2300000"/>
            <a:ext cx="360000" cy="360000"/>
          </a:xfrm>
          <a:prstGeom prst="ellipse">
            <a:avLst/>
          </a:prstGeom>
          <a:solidFill>
            <a:srgbClr val="A6CF5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091" name="TB1092"/>
          <p:cNvSpPr txBox="1"/>
          <p:nvPr/>
        </p:nvSpPr>
        <p:spPr>
          <a:xfrm>
            <a:off x="6996000" y="2140000"/>
            <a:ext cx="4406400" cy="6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A6CF59"/>
                </a:solidFill>
                <a:latin typeface="Calibri"/>
                <a:cs typeface="Calibri"/>
              </a:rPr>
              <a:t>Tests first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1700" b="0">
                <a:solidFill>
                  <a:srgbClr val="000000"/>
                </a:solidFill>
                <a:latin typeface="Calibri"/>
                <a:cs typeface="Calibri"/>
              </a:rPr>
              <a:t>Write a failing test, then the code to pass it.</a:t>
            </a:r>
          </a:p>
        </p:txBody>
      </p:sp>
      <p:sp>
        <p:nvSpPr>
          <p:cNvPr id="1093" name="R1094"/>
          <p:cNvSpPr/>
          <p:nvPr/>
        </p:nvSpPr>
        <p:spPr>
          <a:xfrm>
            <a:off x="609600" y="3280000"/>
            <a:ext cx="5306400" cy="9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95" name="C1096"/>
          <p:cNvSpPr/>
          <p:nvPr/>
        </p:nvSpPr>
        <p:spPr>
          <a:xfrm>
            <a:off x="839600" y="3560000"/>
            <a:ext cx="360000" cy="360000"/>
          </a:xfrm>
          <a:prstGeom prst="ellipse">
            <a:avLst/>
          </a:prstGeom>
          <a:solidFill>
            <a:srgbClr val="EB532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097" name="TB1098"/>
          <p:cNvSpPr txBox="1"/>
          <p:nvPr/>
        </p:nvSpPr>
        <p:spPr>
          <a:xfrm>
            <a:off x="1329600" y="3400000"/>
            <a:ext cx="4406400" cy="6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EB532A"/>
                </a:solidFill>
                <a:latin typeface="Calibri"/>
                <a:cs typeface="Calibri"/>
              </a:rPr>
              <a:t>Iteration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1700" b="0">
                <a:solidFill>
                  <a:srgbClr val="000000"/>
                </a:solidFill>
                <a:latin typeface="Calibri"/>
                <a:cs typeface="Calibri"/>
              </a:rPr>
              <a:t>Small increments, refactor, repeat.</a:t>
            </a:r>
          </a:p>
        </p:txBody>
      </p:sp>
      <p:sp>
        <p:nvSpPr>
          <p:cNvPr id="1099" name="R1100"/>
          <p:cNvSpPr/>
          <p:nvPr/>
        </p:nvSpPr>
        <p:spPr>
          <a:xfrm>
            <a:off x="6276000" y="3280000"/>
            <a:ext cx="5306400" cy="92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01" name="C1102"/>
          <p:cNvSpPr/>
          <p:nvPr/>
        </p:nvSpPr>
        <p:spPr>
          <a:xfrm>
            <a:off x="6506000" y="3560000"/>
            <a:ext cx="360000" cy="360000"/>
          </a:xfrm>
          <a:prstGeom prst="ellipse">
            <a:avLst/>
          </a:prstGeom>
          <a:solidFill>
            <a:srgbClr val="857FB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103" name="TB1104"/>
          <p:cNvSpPr txBox="1"/>
          <p:nvPr/>
        </p:nvSpPr>
        <p:spPr>
          <a:xfrm>
            <a:off x="6996000" y="3400000"/>
            <a:ext cx="4406400" cy="6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 fontScale="92500" lnSpcReduction="20000"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857FBA"/>
                </a:solidFill>
                <a:latin typeface="Calibri"/>
                <a:cs typeface="Calibri"/>
              </a:rPr>
              <a:t>Teamwork</a:t>
            </a:r>
          </a:p>
          <a:p>
            <a:pPr marL="0" indent="0" algn="l">
              <a:spcBef>
                <a:spcPts val="120"/>
              </a:spcBef>
              <a:buNone/>
            </a:pPr>
            <a:r>
              <a:rPr lang="en-US" sz="1700" b="0">
                <a:solidFill>
                  <a:srgbClr val="000000"/>
                </a:solidFill>
                <a:latin typeface="Calibri"/>
                <a:cs typeface="Calibri"/>
              </a:rPr>
              <a:t>Shared ownership, code review, continuous improvement.</a:t>
            </a:r>
          </a:p>
        </p:txBody>
      </p:sp>
      <p:sp>
        <p:nvSpPr>
          <p:cNvPr id="1105" name="R1106"/>
          <p:cNvSpPr/>
          <p:nvPr/>
        </p:nvSpPr>
        <p:spPr>
          <a:xfrm>
            <a:off x="609600" y="4320000"/>
            <a:ext cx="10972800" cy="760000"/>
          </a:xfrm>
          <a:prstGeom prst="roundRect">
            <a:avLst>
              <a:gd name="adj" fmla="val 6000"/>
            </a:avLst>
          </a:prstGeom>
          <a:solidFill>
            <a:srgbClr val="FDF6E3"/>
          </a:solidFill>
          <a:ln w="19050">
            <a:solidFill>
              <a:srgbClr val="FFDA1C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07" name="TB1108"/>
          <p:cNvSpPr txBox="1"/>
          <p:nvPr/>
        </p:nvSpPr>
        <p:spPr>
          <a:xfrm>
            <a:off x="929600" y="4320000"/>
            <a:ext cx="1033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1">
                <a:solidFill>
                  <a:srgbClr val="EB532A"/>
                </a:solidFill>
                <a:latin typeface="Calibri"/>
                <a:cs typeface="Calibri"/>
              </a:rPr>
              <a:t>Why first?  </a:t>
            </a: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Students internalize why these practices matter before AI can paper over the gaps. They feel the cost of skipping tests or unclear stories, firsthand.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9" name="TB1110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Phase 2: AI-Assisted Development</a:t>
            </a:r>
          </a:p>
        </p:txBody>
      </p:sp>
      <p:sp>
        <p:nvSpPr>
          <p:cNvPr id="1111" name="TB1112"/>
          <p:cNvSpPr txBox="1"/>
          <p:nvPr/>
        </p:nvSpPr>
        <p:spPr>
          <a:xfrm>
            <a:off x="609600" y="1320000"/>
            <a:ext cx="10972800" cy="56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900" b="1">
                <a:solidFill>
                  <a:srgbClr val="EB532A"/>
                </a:solidFill>
                <a:latin typeface="Calibri"/>
                <a:cs typeface="Calibri"/>
              </a:rPr>
              <a:t>What changes:  </a:t>
            </a: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Same project, same stories, now supported by an AI IDE (Cursor, Copilot, Claude Code).</a:t>
            </a:r>
          </a:p>
        </p:txBody>
      </p:sp>
      <p:sp>
        <p:nvSpPr>
          <p:cNvPr id="1113" name="CH1114"/>
          <p:cNvSpPr/>
          <p:nvPr/>
        </p:nvSpPr>
        <p:spPr>
          <a:xfrm>
            <a:off x="609600" y="2080000"/>
            <a:ext cx="2413200" cy="1020000"/>
          </a:xfrm>
          <a:prstGeom prst="roundRect">
            <a:avLst>
              <a:gd name="adj" fmla="val 16000"/>
            </a:avLst>
          </a:prstGeom>
          <a:solidFill>
            <a:srgbClr val="213E99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Story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US" sz="1500" b="0" i="1">
                <a:solidFill>
                  <a:srgbClr val="FFFFFF"/>
                </a:solidFill>
                <a:latin typeface="Calibri"/>
                <a:cs typeface="Calibri"/>
              </a:rPr>
              <a:t>analyze</a:t>
            </a:r>
          </a:p>
        </p:txBody>
      </p:sp>
      <p:sp>
        <p:nvSpPr>
          <p:cNvPr id="1115" name="AR1116"/>
          <p:cNvSpPr/>
          <p:nvPr/>
        </p:nvSpPr>
        <p:spPr>
          <a:xfrm>
            <a:off x="3052800" y="2390000"/>
            <a:ext cx="380000" cy="40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13E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17" name="CH1118"/>
          <p:cNvSpPr/>
          <p:nvPr/>
        </p:nvSpPr>
        <p:spPr>
          <a:xfrm>
            <a:off x="3462800" y="2080000"/>
            <a:ext cx="2413200" cy="1020000"/>
          </a:xfrm>
          <a:prstGeom prst="roundRect">
            <a:avLst>
              <a:gd name="adj" fmla="val 16000"/>
            </a:avLst>
          </a:prstGeom>
          <a:solidFill>
            <a:srgbClr val="EB532A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Tests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US" sz="1500" b="0" i="1">
                <a:solidFill>
                  <a:srgbClr val="FFFFFF"/>
                </a:solidFill>
                <a:latin typeface="Calibri"/>
                <a:cs typeface="Calibri"/>
              </a:rPr>
              <a:t>write failing</a:t>
            </a:r>
          </a:p>
        </p:txBody>
      </p:sp>
      <p:sp>
        <p:nvSpPr>
          <p:cNvPr id="1119" name="AR1120"/>
          <p:cNvSpPr/>
          <p:nvPr/>
        </p:nvSpPr>
        <p:spPr>
          <a:xfrm>
            <a:off x="5906000" y="2390000"/>
            <a:ext cx="380000" cy="40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13E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1" name="CH1122"/>
          <p:cNvSpPr/>
          <p:nvPr/>
        </p:nvSpPr>
        <p:spPr>
          <a:xfrm>
            <a:off x="6316000" y="2080000"/>
            <a:ext cx="2413200" cy="1020000"/>
          </a:xfrm>
          <a:prstGeom prst="roundRect">
            <a:avLst>
              <a:gd name="adj" fmla="val 16000"/>
            </a:avLst>
          </a:prstGeom>
          <a:solidFill>
            <a:srgbClr val="A6CF59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Code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US" sz="1500" b="0" i="1">
                <a:solidFill>
                  <a:srgbClr val="FFFFFF"/>
                </a:solidFill>
                <a:latin typeface="Calibri"/>
                <a:cs typeface="Calibri"/>
              </a:rPr>
              <a:t>make pass</a:t>
            </a:r>
          </a:p>
        </p:txBody>
      </p:sp>
      <p:sp>
        <p:nvSpPr>
          <p:cNvPr id="1123" name="AR1124"/>
          <p:cNvSpPr/>
          <p:nvPr/>
        </p:nvSpPr>
        <p:spPr>
          <a:xfrm>
            <a:off x="8759200" y="2390000"/>
            <a:ext cx="380000" cy="40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13E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25" name="CH1126"/>
          <p:cNvSpPr/>
          <p:nvPr/>
        </p:nvSpPr>
        <p:spPr>
          <a:xfrm>
            <a:off x="9169200" y="2080000"/>
            <a:ext cx="2413200" cy="1020000"/>
          </a:xfrm>
          <a:prstGeom prst="roundRect">
            <a:avLst>
              <a:gd name="adj" fmla="val 16000"/>
            </a:avLst>
          </a:prstGeom>
          <a:solidFill>
            <a:srgbClr val="857FBA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Refactor</a:t>
            </a:r>
          </a:p>
          <a:p>
            <a:pPr marL="0" indent="0" algn="ctr">
              <a:spcBef>
                <a:spcPts val="200"/>
              </a:spcBef>
              <a:buNone/>
            </a:pPr>
            <a:r>
              <a:rPr lang="en-US" sz="1500" b="0" i="1">
                <a:solidFill>
                  <a:srgbClr val="FFFFFF"/>
                </a:solidFill>
                <a:latin typeface="Calibri"/>
                <a:cs typeface="Calibri"/>
              </a:rPr>
              <a:t>keep green</a:t>
            </a:r>
          </a:p>
        </p:txBody>
      </p:sp>
      <p:sp>
        <p:nvSpPr>
          <p:cNvPr id="1127" name="TB1128"/>
          <p:cNvSpPr txBox="1"/>
          <p:nvPr/>
        </p:nvSpPr>
        <p:spPr>
          <a:xfrm>
            <a:off x="609600" y="3300000"/>
            <a:ext cx="10972800" cy="56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0" i="1">
                <a:solidFill>
                  <a:srgbClr val="595959"/>
                </a:solidFill>
                <a:latin typeface="Calibri"/>
                <a:cs typeface="Calibri"/>
              </a:rPr>
              <a:t>AI drafts story analysis, design diagrams, tests, and code. Students keep the TDD loop in control.</a:t>
            </a:r>
          </a:p>
        </p:txBody>
      </p:sp>
      <p:sp>
        <p:nvSpPr>
          <p:cNvPr id="1129" name="R1130"/>
          <p:cNvSpPr/>
          <p:nvPr/>
        </p:nvSpPr>
        <p:spPr>
          <a:xfrm>
            <a:off x="609600" y="4280000"/>
            <a:ext cx="10972800" cy="1500000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 w="19050">
            <a:solidFill>
              <a:srgbClr val="62A1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131" name="TB1132"/>
          <p:cNvSpPr txBox="1"/>
          <p:nvPr/>
        </p:nvSpPr>
        <p:spPr>
          <a:xfrm>
            <a:off x="969600" y="4400000"/>
            <a:ext cx="10252800" cy="12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700" b="1">
                <a:solidFill>
                  <a:srgbClr val="1A2A87"/>
                </a:solidFill>
                <a:latin typeface="Calibri"/>
                <a:cs typeface="Calibri"/>
              </a:rPr>
              <a:t>Example prompt</a:t>
            </a:r>
          </a:p>
          <a:p>
            <a:pPr marL="0" indent="0" algn="l">
              <a:spcBef>
                <a:spcPts val="200"/>
              </a:spcBef>
              <a:buNone/>
            </a:pPr>
            <a:r>
              <a:rPr lang="en-US" sz="1800" b="0" i="1">
                <a:solidFill>
                  <a:srgbClr val="000000"/>
                </a:solidFill>
                <a:latin typeface="Calibri"/>
                <a:cs typeface="Calibri"/>
              </a:rPr>
              <a:t>“Write the smallest failing tests for AuthService: valid signup, invalid email, short password, duplicate email. Do not implement production code yet.”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TB1134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Inside One Class Session: Demo, Build, Reflect</a:t>
            </a:r>
          </a:p>
        </p:txBody>
      </p:sp>
      <p:sp>
        <p:nvSpPr>
          <p:cNvPr id="1135" name="R1136"/>
          <p:cNvSpPr/>
          <p:nvPr/>
        </p:nvSpPr>
        <p:spPr>
          <a:xfrm>
            <a:off x="609600" y="1640000"/>
            <a:ext cx="34176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13E99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37" name="C1138"/>
          <p:cNvSpPr/>
          <p:nvPr/>
        </p:nvSpPr>
        <p:spPr>
          <a:xfrm>
            <a:off x="1858400" y="1900000"/>
            <a:ext cx="920000" cy="920000"/>
          </a:xfrm>
          <a:prstGeom prst="ellipse">
            <a:avLst/>
          </a:prstGeom>
          <a:solidFill>
            <a:srgbClr val="213E9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139" name="TB1140"/>
          <p:cNvSpPr txBox="1"/>
          <p:nvPr/>
        </p:nvSpPr>
        <p:spPr>
          <a:xfrm>
            <a:off x="729600" y="3000000"/>
            <a:ext cx="3177600" cy="5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213E99"/>
                </a:solidFill>
                <a:latin typeface="Calibri"/>
                <a:cs typeface="Calibri"/>
              </a:rPr>
              <a:t>Live demo</a:t>
            </a:r>
          </a:p>
        </p:txBody>
      </p:sp>
      <p:sp>
        <p:nvSpPr>
          <p:cNvPr id="1141" name="TB1142"/>
          <p:cNvSpPr txBox="1"/>
          <p:nvPr/>
        </p:nvSpPr>
        <p:spPr>
          <a:xfrm>
            <a:off x="869600" y="3600000"/>
            <a:ext cx="2897600" cy="12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Instructor traces the signup story end to end in Cursor: story, tests, code, refactor.</a:t>
            </a:r>
          </a:p>
        </p:txBody>
      </p:sp>
      <p:sp>
        <p:nvSpPr>
          <p:cNvPr id="1143" name="AR1144"/>
          <p:cNvSpPr/>
          <p:nvPr/>
        </p:nvSpPr>
        <p:spPr>
          <a:xfrm>
            <a:off x="4067200" y="3090000"/>
            <a:ext cx="280000" cy="40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213E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45" name="R1146"/>
          <p:cNvSpPr/>
          <p:nvPr/>
        </p:nvSpPr>
        <p:spPr>
          <a:xfrm>
            <a:off x="4387200" y="1640000"/>
            <a:ext cx="34176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A6CF59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47" name="C1148"/>
          <p:cNvSpPr/>
          <p:nvPr/>
        </p:nvSpPr>
        <p:spPr>
          <a:xfrm>
            <a:off x="5636000" y="1900000"/>
            <a:ext cx="920000" cy="920000"/>
          </a:xfrm>
          <a:prstGeom prst="ellipse">
            <a:avLst/>
          </a:prstGeom>
          <a:solidFill>
            <a:srgbClr val="A6CF5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149" name="TB1150"/>
          <p:cNvSpPr txBox="1"/>
          <p:nvPr/>
        </p:nvSpPr>
        <p:spPr>
          <a:xfrm>
            <a:off x="4507200" y="3000000"/>
            <a:ext cx="3177600" cy="5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A6CF59"/>
                </a:solidFill>
                <a:latin typeface="Calibri"/>
                <a:cs typeface="Calibri"/>
              </a:rPr>
              <a:t>In-class build</a:t>
            </a:r>
          </a:p>
        </p:txBody>
      </p:sp>
      <p:sp>
        <p:nvSpPr>
          <p:cNvPr id="1151" name="TB1152"/>
          <p:cNvSpPr txBox="1"/>
          <p:nvPr/>
        </p:nvSpPr>
        <p:spPr>
          <a:xfrm>
            <a:off x="4647200" y="3600000"/>
            <a:ext cx="2897600" cy="12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Teams implement the same thin slice with their own AI IDE, tests leading every step.</a:t>
            </a:r>
          </a:p>
        </p:txBody>
      </p:sp>
      <p:sp>
        <p:nvSpPr>
          <p:cNvPr id="1153" name="AR1154"/>
          <p:cNvSpPr/>
          <p:nvPr/>
        </p:nvSpPr>
        <p:spPr>
          <a:xfrm>
            <a:off x="7844800" y="3090000"/>
            <a:ext cx="280000" cy="400000"/>
          </a:xfrm>
          <a:prstGeom prst="rightArrow">
            <a:avLst>
              <a:gd name="adj1" fmla="val 50000"/>
              <a:gd name="adj2" fmla="val 55000"/>
            </a:avLst>
          </a:prstGeom>
          <a:solidFill>
            <a:srgbClr val="A6CF5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55" name="R1156"/>
          <p:cNvSpPr/>
          <p:nvPr/>
        </p:nvSpPr>
        <p:spPr>
          <a:xfrm>
            <a:off x="8164800" y="1640000"/>
            <a:ext cx="3417600" cy="330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B532A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57" name="C1158"/>
          <p:cNvSpPr/>
          <p:nvPr/>
        </p:nvSpPr>
        <p:spPr>
          <a:xfrm>
            <a:off x="9413600" y="1900000"/>
            <a:ext cx="920000" cy="920000"/>
          </a:xfrm>
          <a:prstGeom prst="ellipse">
            <a:avLst/>
          </a:prstGeom>
          <a:solidFill>
            <a:srgbClr val="EB532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40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59" name="TB1160"/>
          <p:cNvSpPr txBox="1"/>
          <p:nvPr/>
        </p:nvSpPr>
        <p:spPr>
          <a:xfrm>
            <a:off x="8284800" y="3000000"/>
            <a:ext cx="3177600" cy="5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EB532A"/>
                </a:solidFill>
                <a:latin typeface="Calibri"/>
                <a:cs typeface="Calibri"/>
              </a:rPr>
              <a:t>Same-day survey</a:t>
            </a:r>
          </a:p>
        </p:txBody>
      </p:sp>
      <p:sp>
        <p:nvSpPr>
          <p:cNvPr id="1161" name="TB1162"/>
          <p:cNvSpPr txBox="1"/>
          <p:nvPr/>
        </p:nvSpPr>
        <p:spPr>
          <a:xfrm>
            <a:off x="8424800" y="3600000"/>
            <a:ext cx="2897600" cy="12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0">
                <a:solidFill>
                  <a:srgbClr val="000000"/>
                </a:solidFill>
                <a:latin typeface="Calibri"/>
                <a:cs typeface="Calibri"/>
              </a:rPr>
              <a:t>Students rate the experience right after building. 32 responses across both sections.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TB1166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Comparing the Two: Process and Experience</a:t>
            </a:r>
          </a:p>
        </p:txBody>
      </p:sp>
      <p:sp>
        <p:nvSpPr>
          <p:cNvPr id="1167" name="R1168"/>
          <p:cNvSpPr/>
          <p:nvPr/>
        </p:nvSpPr>
        <p:spPr>
          <a:xfrm>
            <a:off x="609600" y="1620000"/>
            <a:ext cx="5276400" cy="3450000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>
            <a:noFill/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69" name="HB1170"/>
          <p:cNvSpPr/>
          <p:nvPr/>
        </p:nvSpPr>
        <p:spPr>
          <a:xfrm>
            <a:off x="889600" y="1820000"/>
            <a:ext cx="4716400" cy="560000"/>
          </a:xfrm>
          <a:prstGeom prst="roundRect">
            <a:avLst>
              <a:gd name="adj" fmla="val 14000"/>
            </a:avLst>
          </a:prstGeom>
          <a:solidFill>
            <a:srgbClr val="62A1C5"/>
          </a:solidFill>
          <a:ln>
            <a:noFill/>
          </a:ln>
        </p:spPr>
        <p:txBody>
          <a:bodyPr lIns="45720" tIns="18000" rIns="4572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Without AI</a:t>
            </a:r>
          </a:p>
        </p:txBody>
      </p:sp>
      <p:sp>
        <p:nvSpPr>
          <p:cNvPr id="1171" name="TB1172"/>
          <p:cNvSpPr txBox="1"/>
          <p:nvPr/>
        </p:nvSpPr>
        <p:spPr>
          <a:xfrm>
            <a:off x="969600" y="2520000"/>
            <a:ext cx="4556400" cy="24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274320" indent="-228600" algn="l">
              <a:spcBef>
                <a:spcPts val="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Slower to a first working version.</a:t>
            </a:r>
          </a:p>
          <a:p>
            <a:pPr marL="274320" indent="-228600" algn="l">
              <a:spcBef>
                <a:spcPts val="32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Students write and own every line.</a:t>
            </a:r>
          </a:p>
          <a:p>
            <a:pPr marL="274320" indent="-228600" algn="l">
              <a:spcBef>
                <a:spcPts val="32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Deep familiarity with their own code.</a:t>
            </a:r>
          </a:p>
          <a:p>
            <a:pPr marL="274320" indent="-228600" algn="l">
              <a:spcBef>
                <a:spcPts val="32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Mistakes are visible and instructive.</a:t>
            </a:r>
          </a:p>
        </p:txBody>
      </p:sp>
      <p:sp>
        <p:nvSpPr>
          <p:cNvPr id="1173" name="R1174"/>
          <p:cNvSpPr/>
          <p:nvPr/>
        </p:nvSpPr>
        <p:spPr>
          <a:xfrm>
            <a:off x="6306000" y="1620000"/>
            <a:ext cx="5276400" cy="345000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75" name="HB1176"/>
          <p:cNvSpPr/>
          <p:nvPr/>
        </p:nvSpPr>
        <p:spPr>
          <a:xfrm>
            <a:off x="6586000" y="1820000"/>
            <a:ext cx="4716400" cy="560000"/>
          </a:xfrm>
          <a:prstGeom prst="roundRect">
            <a:avLst>
              <a:gd name="adj" fmla="val 14000"/>
            </a:avLst>
          </a:prstGeom>
          <a:solidFill>
            <a:srgbClr val="EB532A"/>
          </a:solidFill>
          <a:ln>
            <a:noFill/>
          </a:ln>
        </p:spPr>
        <p:txBody>
          <a:bodyPr lIns="45720" tIns="18000" rIns="4572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200" b="1">
                <a:solidFill>
                  <a:srgbClr val="FFFFFF"/>
                </a:solidFill>
                <a:latin typeface="Calibri"/>
                <a:cs typeface="Calibri"/>
              </a:rPr>
              <a:t>With AI</a:t>
            </a:r>
          </a:p>
        </p:txBody>
      </p:sp>
      <p:sp>
        <p:nvSpPr>
          <p:cNvPr id="1177" name="TB1178"/>
          <p:cNvSpPr txBox="1"/>
          <p:nvPr/>
        </p:nvSpPr>
        <p:spPr>
          <a:xfrm>
            <a:off x="6666000" y="2520000"/>
            <a:ext cx="4556400" cy="24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274320" indent="-228600" algn="l">
              <a:spcBef>
                <a:spcPts val="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Much faster to a first draft of code and tests.</a:t>
            </a:r>
          </a:p>
          <a:p>
            <a:pPr marL="274320" indent="-228600" algn="l">
              <a:spcBef>
                <a:spcPts val="32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More boilerplate handled automatically.</a:t>
            </a:r>
          </a:p>
          <a:p>
            <a:pPr marL="274320" indent="-228600" algn="l">
              <a:spcBef>
                <a:spcPts val="32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Risk: accepting code they do not fully understand.</a:t>
            </a:r>
          </a:p>
          <a:p>
            <a:pPr marL="274320" indent="-228600" algn="l">
              <a:spcBef>
                <a:spcPts val="32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Needs prompt iteration and careful validation.</a:t>
            </a:r>
          </a:p>
        </p:txBody>
      </p:sp>
      <p:sp>
        <p:nvSpPr>
          <p:cNvPr id="1179" name="TB1180"/>
          <p:cNvSpPr txBox="1"/>
          <p:nvPr/>
        </p:nvSpPr>
        <p:spPr>
          <a:xfrm>
            <a:off x="609600" y="6320000"/>
            <a:ext cx="10972800" cy="4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500" b="0" i="1">
                <a:solidFill>
                  <a:srgbClr val="595959"/>
                </a:solidFill>
                <a:latin typeface="Calibri"/>
                <a:cs typeface="Calibri"/>
              </a:rPr>
              <a:t>Same task, two experiences. Students compare them directly.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TB1182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What Students Said That Day</a:t>
            </a:r>
          </a:p>
        </p:txBody>
      </p:sp>
      <p:sp>
        <p:nvSpPr>
          <p:cNvPr id="1183" name="TB1184"/>
          <p:cNvSpPr txBox="1"/>
          <p:nvPr/>
        </p:nvSpPr>
        <p:spPr>
          <a:xfrm>
            <a:off x="609600" y="1180000"/>
            <a:ext cx="10972800" cy="46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0" i="1">
                <a:solidFill>
                  <a:srgbClr val="595959"/>
                </a:solidFill>
                <a:latin typeface="Calibri"/>
                <a:cs typeface="Calibri"/>
              </a:rPr>
              <a:t>In-class survey, April 21.  32 responses across both sections (24 undergraduate, 8 graduate).</a:t>
            </a:r>
          </a:p>
        </p:txBody>
      </p:sp>
      <p:sp>
        <p:nvSpPr>
          <p:cNvPr id="1185" name="R1186"/>
          <p:cNvSpPr/>
          <p:nvPr/>
        </p:nvSpPr>
        <p:spPr>
          <a:xfrm>
            <a:off x="609600" y="1820000"/>
            <a:ext cx="3404266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213E99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87" name="TB1188"/>
          <p:cNvSpPr txBox="1"/>
          <p:nvPr/>
        </p:nvSpPr>
        <p:spPr>
          <a:xfrm>
            <a:off x="689600" y="2050000"/>
            <a:ext cx="3244266" cy="110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5400" b="1">
                <a:solidFill>
                  <a:srgbClr val="213E99"/>
                </a:solidFill>
                <a:latin typeface="Calibri"/>
                <a:cs typeface="Calibri"/>
              </a:rPr>
              <a:t>4.0 / 5</a:t>
            </a:r>
          </a:p>
        </p:txBody>
      </p:sp>
      <p:sp>
        <p:nvSpPr>
          <p:cNvPr id="1189" name="TB1190"/>
          <p:cNvSpPr txBox="1"/>
          <p:nvPr/>
        </p:nvSpPr>
        <p:spPr>
          <a:xfrm>
            <a:off x="809600" y="3120000"/>
            <a:ext cx="3004266" cy="68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700" b="0">
                <a:solidFill>
                  <a:srgbClr val="000000"/>
                </a:solidFill>
                <a:latin typeface="Calibri"/>
                <a:cs typeface="Calibri"/>
              </a:rPr>
              <a:t>helpful for generating initial code</a:t>
            </a:r>
          </a:p>
        </p:txBody>
      </p:sp>
      <p:sp>
        <p:nvSpPr>
          <p:cNvPr id="1191" name="R1192"/>
          <p:cNvSpPr/>
          <p:nvPr/>
        </p:nvSpPr>
        <p:spPr>
          <a:xfrm>
            <a:off x="4393866" y="1820000"/>
            <a:ext cx="3404266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A6CF59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93" name="TB1194"/>
          <p:cNvSpPr txBox="1"/>
          <p:nvPr/>
        </p:nvSpPr>
        <p:spPr>
          <a:xfrm>
            <a:off x="4473866" y="2050000"/>
            <a:ext cx="3244266" cy="110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5400" b="1">
                <a:solidFill>
                  <a:srgbClr val="A6CF59"/>
                </a:solidFill>
                <a:latin typeface="Calibri"/>
                <a:cs typeface="Calibri"/>
              </a:rPr>
              <a:t>4.1 / 5</a:t>
            </a:r>
          </a:p>
        </p:txBody>
      </p:sp>
      <p:sp>
        <p:nvSpPr>
          <p:cNvPr id="1195" name="TB1196"/>
          <p:cNvSpPr txBox="1"/>
          <p:nvPr/>
        </p:nvSpPr>
        <p:spPr>
          <a:xfrm>
            <a:off x="4593866" y="3120000"/>
            <a:ext cx="3004266" cy="68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700" b="0">
                <a:solidFill>
                  <a:srgbClr val="000000"/>
                </a:solidFill>
                <a:latin typeface="Calibri"/>
                <a:cs typeface="Calibri"/>
              </a:rPr>
              <a:t>helpful for generating test cases</a:t>
            </a:r>
          </a:p>
        </p:txBody>
      </p:sp>
      <p:sp>
        <p:nvSpPr>
          <p:cNvPr id="1197" name="R1198"/>
          <p:cNvSpPr/>
          <p:nvPr/>
        </p:nvSpPr>
        <p:spPr>
          <a:xfrm>
            <a:off x="8178132" y="1820000"/>
            <a:ext cx="3404266" cy="205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2225">
            <a:solidFill>
              <a:srgbClr val="EB532A"/>
            </a:solidFill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99" name="TB1200"/>
          <p:cNvSpPr txBox="1"/>
          <p:nvPr/>
        </p:nvSpPr>
        <p:spPr>
          <a:xfrm>
            <a:off x="8258132" y="2050000"/>
            <a:ext cx="3244266" cy="110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5400" b="1">
                <a:solidFill>
                  <a:srgbClr val="EB532A"/>
                </a:solidFill>
                <a:latin typeface="Calibri"/>
                <a:cs typeface="Calibri"/>
              </a:rPr>
              <a:t>90%</a:t>
            </a:r>
          </a:p>
        </p:txBody>
      </p:sp>
      <p:sp>
        <p:nvSpPr>
          <p:cNvPr id="1201" name="TB1202"/>
          <p:cNvSpPr txBox="1"/>
          <p:nvPr/>
        </p:nvSpPr>
        <p:spPr>
          <a:xfrm>
            <a:off x="8378132" y="3120000"/>
            <a:ext cx="3004266" cy="68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700" b="0">
                <a:solidFill>
                  <a:srgbClr val="000000"/>
                </a:solidFill>
                <a:latin typeface="Calibri"/>
                <a:cs typeface="Calibri"/>
              </a:rPr>
              <a:t>said it helped them understand the story cards</a:t>
            </a:r>
          </a:p>
        </p:txBody>
      </p:sp>
      <p:sp>
        <p:nvSpPr>
          <p:cNvPr id="1203" name="TB1204"/>
          <p:cNvSpPr txBox="1"/>
          <p:nvPr/>
        </p:nvSpPr>
        <p:spPr>
          <a:xfrm>
            <a:off x="609600" y="4150000"/>
            <a:ext cx="10972800" cy="3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700" b="1">
                <a:solidFill>
                  <a:srgbClr val="1A2A87"/>
                </a:solidFill>
                <a:latin typeface="Calibri"/>
                <a:cs typeface="Calibri"/>
              </a:rPr>
              <a:t>Tools students chose:   </a:t>
            </a:r>
          </a:p>
        </p:txBody>
      </p:sp>
      <p:sp>
        <p:nvSpPr>
          <p:cNvPr id="1205" name="CH1206"/>
          <p:cNvSpPr/>
          <p:nvPr/>
        </p:nvSpPr>
        <p:spPr>
          <a:xfrm>
            <a:off x="3359600" y="4110000"/>
            <a:ext cx="1165000" cy="460000"/>
          </a:xfrm>
          <a:prstGeom prst="roundRect">
            <a:avLst>
              <a:gd name="adj" fmla="val 16000"/>
            </a:avLst>
          </a:prstGeom>
          <a:solidFill>
            <a:srgbClr val="213E99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Cursor 15</a:t>
            </a:r>
          </a:p>
        </p:txBody>
      </p:sp>
      <p:sp>
        <p:nvSpPr>
          <p:cNvPr id="1207" name="CH1208"/>
          <p:cNvSpPr/>
          <p:nvPr/>
        </p:nvSpPr>
        <p:spPr>
          <a:xfrm>
            <a:off x="4674600" y="4110000"/>
            <a:ext cx="1585000" cy="460000"/>
          </a:xfrm>
          <a:prstGeom prst="roundRect">
            <a:avLst>
              <a:gd name="adj" fmla="val 16000"/>
            </a:avLst>
          </a:prstGeom>
          <a:solidFill>
            <a:srgbClr val="857FBA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Claude Code 6</a:t>
            </a:r>
          </a:p>
        </p:txBody>
      </p:sp>
      <p:sp>
        <p:nvSpPr>
          <p:cNvPr id="1209" name="CH1210"/>
          <p:cNvSpPr/>
          <p:nvPr/>
        </p:nvSpPr>
        <p:spPr>
          <a:xfrm>
            <a:off x="6409600" y="4110000"/>
            <a:ext cx="1165000" cy="460000"/>
          </a:xfrm>
          <a:prstGeom prst="roundRect">
            <a:avLst>
              <a:gd name="adj" fmla="val 16000"/>
            </a:avLst>
          </a:prstGeom>
          <a:solidFill>
            <a:srgbClr val="A6CF59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Copilot 4</a:t>
            </a:r>
          </a:p>
        </p:txBody>
      </p:sp>
      <p:sp>
        <p:nvSpPr>
          <p:cNvPr id="1211" name="CH1212"/>
          <p:cNvSpPr/>
          <p:nvPr/>
        </p:nvSpPr>
        <p:spPr>
          <a:xfrm>
            <a:off x="7724600" y="4110000"/>
            <a:ext cx="955000" cy="460000"/>
          </a:xfrm>
          <a:prstGeom prst="roundRect">
            <a:avLst>
              <a:gd name="adj" fmla="val 16000"/>
            </a:avLst>
          </a:prstGeom>
          <a:solidFill>
            <a:srgbClr val="EB532A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Codex 2</a:t>
            </a:r>
          </a:p>
        </p:txBody>
      </p:sp>
      <p:sp>
        <p:nvSpPr>
          <p:cNvPr id="1213" name="CH1214"/>
          <p:cNvSpPr/>
          <p:nvPr/>
        </p:nvSpPr>
        <p:spPr>
          <a:xfrm>
            <a:off x="8829600" y="4110000"/>
            <a:ext cx="1060000" cy="460000"/>
          </a:xfrm>
          <a:prstGeom prst="roundRect">
            <a:avLst>
              <a:gd name="adj" fmla="val 16000"/>
            </a:avLst>
          </a:prstGeom>
          <a:solidFill>
            <a:srgbClr val="808080"/>
          </a:solidFill>
          <a:ln>
            <a:noFill/>
          </a:ln>
        </p:spPr>
        <p:txBody>
          <a:bodyPr lIns="36000" tIns="18000" rIns="36000" bIns="1800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cs typeface="Calibri"/>
              </a:rPr>
              <a:t>Others 3</a:t>
            </a:r>
          </a:p>
        </p:txBody>
      </p:sp>
      <p:sp>
        <p:nvSpPr>
          <p:cNvPr id="1215" name="TB1216"/>
          <p:cNvSpPr txBox="1"/>
          <p:nvPr/>
        </p:nvSpPr>
        <p:spPr>
          <a:xfrm>
            <a:off x="609600" y="6320000"/>
            <a:ext cx="10972800" cy="4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500" b="0" i="1">
                <a:solidFill>
                  <a:srgbClr val="595959"/>
                </a:solidFill>
                <a:latin typeface="Calibri"/>
                <a:cs typeface="Calibri"/>
              </a:rPr>
              <a:t>Immediately positive on speed and clarity. 77% would use AI-assisted tools again in XP and TDD work.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TB1218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The Deeper Finding: Speed Is Not Quality</a:t>
            </a:r>
          </a:p>
        </p:txBody>
      </p:sp>
      <p:sp>
        <p:nvSpPr>
          <p:cNvPr id="1219" name="TB1220"/>
          <p:cNvSpPr txBox="1"/>
          <p:nvPr/>
        </p:nvSpPr>
        <p:spPr>
          <a:xfrm>
            <a:off x="609600" y="1180000"/>
            <a:ext cx="10972800" cy="52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1800" b="0" i="1">
                <a:solidFill>
                  <a:srgbClr val="595959"/>
                </a:solidFill>
                <a:latin typeface="Calibri"/>
                <a:cs typeface="Calibri"/>
              </a:rPr>
              <a:t>Follow-up extra-credit reflection. Students compared their own hand-written work with the AI-generated work.</a:t>
            </a:r>
          </a:p>
        </p:txBody>
      </p:sp>
      <p:sp>
        <p:nvSpPr>
          <p:cNvPr id="1221" name="R1222"/>
          <p:cNvSpPr/>
          <p:nvPr/>
        </p:nvSpPr>
        <p:spPr>
          <a:xfrm>
            <a:off x="609600" y="1900000"/>
            <a:ext cx="4389120" cy="760000"/>
          </a:xfrm>
          <a:prstGeom prst="rect">
            <a:avLst/>
          </a:prstGeom>
          <a:solidFill>
            <a:srgbClr val="EB532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3" name="TB1224"/>
          <p:cNvSpPr txBox="1"/>
          <p:nvPr/>
        </p:nvSpPr>
        <p:spPr>
          <a:xfrm>
            <a:off x="609600" y="1900000"/>
            <a:ext cx="438912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1225" name="TB1226"/>
          <p:cNvSpPr txBox="1"/>
          <p:nvPr/>
        </p:nvSpPr>
        <p:spPr>
          <a:xfrm>
            <a:off x="609600" y="2740000"/>
            <a:ext cx="4389120" cy="4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EB532A"/>
                </a:solidFill>
                <a:latin typeface="Calibri"/>
                <a:cs typeface="Calibri"/>
              </a:rPr>
              <a:t>AI better</a:t>
            </a:r>
          </a:p>
        </p:txBody>
      </p:sp>
      <p:sp>
        <p:nvSpPr>
          <p:cNvPr id="1227" name="R1228"/>
          <p:cNvSpPr/>
          <p:nvPr/>
        </p:nvSpPr>
        <p:spPr>
          <a:xfrm>
            <a:off x="4998720" y="1900000"/>
            <a:ext cx="2743200" cy="760000"/>
          </a:xfrm>
          <a:prstGeom prst="rect">
            <a:avLst/>
          </a:prstGeom>
          <a:solidFill>
            <a:srgbClr val="80808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29" name="TB1230"/>
          <p:cNvSpPr txBox="1"/>
          <p:nvPr/>
        </p:nvSpPr>
        <p:spPr>
          <a:xfrm>
            <a:off x="4998720" y="1900000"/>
            <a:ext cx="27432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1231" name="TB1232"/>
          <p:cNvSpPr txBox="1"/>
          <p:nvPr/>
        </p:nvSpPr>
        <p:spPr>
          <a:xfrm>
            <a:off x="4998720" y="2740000"/>
            <a:ext cx="2743200" cy="4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808080"/>
                </a:solidFill>
                <a:latin typeface="Calibri"/>
                <a:cs typeface="Calibri"/>
              </a:rPr>
              <a:t>About the same</a:t>
            </a:r>
          </a:p>
        </p:txBody>
      </p:sp>
      <p:sp>
        <p:nvSpPr>
          <p:cNvPr id="1233" name="R1234"/>
          <p:cNvSpPr/>
          <p:nvPr/>
        </p:nvSpPr>
        <p:spPr>
          <a:xfrm>
            <a:off x="7741920" y="1900000"/>
            <a:ext cx="3840480" cy="760000"/>
          </a:xfrm>
          <a:prstGeom prst="rect">
            <a:avLst/>
          </a:prstGeom>
          <a:solidFill>
            <a:srgbClr val="213E9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35" name="TB1236"/>
          <p:cNvSpPr txBox="1"/>
          <p:nvPr/>
        </p:nvSpPr>
        <p:spPr>
          <a:xfrm>
            <a:off x="7741920" y="1900000"/>
            <a:ext cx="384048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3200" b="1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1237" name="TB1238"/>
          <p:cNvSpPr txBox="1"/>
          <p:nvPr/>
        </p:nvSpPr>
        <p:spPr>
          <a:xfrm>
            <a:off x="7741920" y="2740000"/>
            <a:ext cx="3840480" cy="4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600" b="1">
                <a:solidFill>
                  <a:srgbClr val="213E99"/>
                </a:solidFill>
                <a:latin typeface="Calibri"/>
                <a:cs typeface="Calibri"/>
              </a:rPr>
              <a:t>My own better</a:t>
            </a:r>
          </a:p>
        </p:txBody>
      </p:sp>
      <p:sp>
        <p:nvSpPr>
          <p:cNvPr id="1239" name="R1240"/>
          <p:cNvSpPr/>
          <p:nvPr/>
        </p:nvSpPr>
        <p:spPr>
          <a:xfrm>
            <a:off x="609600" y="3650000"/>
            <a:ext cx="10972800" cy="182000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 w="19050">
            <a:solidFill>
              <a:srgbClr val="EB532A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41" name="TB1242"/>
          <p:cNvSpPr txBox="1"/>
          <p:nvPr/>
        </p:nvSpPr>
        <p:spPr>
          <a:xfrm>
            <a:off x="969600" y="3810000"/>
            <a:ext cx="10252800" cy="15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They rated AI </a:t>
            </a:r>
            <a:r>
              <a:rPr lang="en-US" sz="1900" b="1">
                <a:solidFill>
                  <a:srgbClr val="000000"/>
                </a:solidFill>
                <a:latin typeface="Calibri"/>
                <a:cs typeface="Calibri"/>
              </a:rPr>
              <a:t>4.4 to 4.5 out of 5</a:t>
            </a: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 for productivity.</a:t>
            </a:r>
          </a:p>
          <a:p>
            <a:pPr marL="342900" indent="-342900" algn="l">
              <a:spcBef>
                <a:spcPts val="240"/>
              </a:spcBef>
              <a:buFont typeface="Arial" panose="020B0604020202020204" pitchFamily="34" charset="0"/>
              <a:buChar char="•"/>
            </a:pPr>
            <a:r>
              <a:rPr lang="en-US" sz="1900" b="1">
                <a:solidFill>
                  <a:srgbClr val="000000"/>
                </a:solidFill>
                <a:latin typeface="Calibri"/>
                <a:cs typeface="Calibri"/>
              </a:rPr>
              <a:t>But 12 of 20 judged their own hand-written work as good as, or better than, the AI's.</a:t>
            </a:r>
          </a:p>
          <a:p>
            <a:pPr marL="342900" indent="-342900" algn="l">
              <a:spcBef>
                <a:spcPts val="240"/>
              </a:spcBef>
              <a:buFont typeface="Arial" panose="020B0604020202020204" pitchFamily="34" charset="0"/>
              <a:buChar char="•"/>
            </a:pPr>
            <a:r>
              <a:rPr lang="en-US" sz="1900" b="1" i="1">
                <a:solidFill>
                  <a:srgbClr val="EB532A"/>
                </a:solidFill>
                <a:latin typeface="Calibri"/>
                <a:cs typeface="Calibri"/>
              </a:rPr>
              <a:t>AI made them faster. It did not make them better engineers. That part was still on them.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TB1244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Where AI Helps, and Where It Adds Risk</a:t>
            </a:r>
          </a:p>
        </p:txBody>
      </p:sp>
      <p:sp>
        <p:nvSpPr>
          <p:cNvPr id="1245" name="R1246"/>
          <p:cNvSpPr/>
          <p:nvPr/>
        </p:nvSpPr>
        <p:spPr>
          <a:xfrm>
            <a:off x="609600" y="1600000"/>
            <a:ext cx="5276400" cy="3450000"/>
          </a:xfrm>
          <a:prstGeom prst="roundRect">
            <a:avLst>
              <a:gd name="adj" fmla="val 6000"/>
            </a:avLst>
          </a:prstGeom>
          <a:solidFill>
            <a:srgbClr val="EEF6E6"/>
          </a:solidFill>
          <a:ln>
            <a:noFill/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47" name="C1248"/>
          <p:cNvSpPr/>
          <p:nvPr/>
        </p:nvSpPr>
        <p:spPr>
          <a:xfrm>
            <a:off x="909600" y="1800000"/>
            <a:ext cx="600000" cy="600000"/>
          </a:xfrm>
          <a:prstGeom prst="ellipse">
            <a:avLst/>
          </a:prstGeom>
          <a:solidFill>
            <a:srgbClr val="A6CF5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cs typeface="Calibri"/>
              </a:rPr>
              <a:t>✓</a:t>
            </a:r>
          </a:p>
        </p:txBody>
      </p:sp>
      <p:sp>
        <p:nvSpPr>
          <p:cNvPr id="1249" name="TB1250"/>
          <p:cNvSpPr txBox="1"/>
          <p:nvPr/>
        </p:nvSpPr>
        <p:spPr>
          <a:xfrm>
            <a:off x="1709600" y="1800000"/>
            <a:ext cx="3976400" cy="60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300" b="1">
                <a:solidFill>
                  <a:srgbClr val="5C8A1B"/>
                </a:solidFill>
                <a:latin typeface="Calibri"/>
                <a:cs typeface="Calibri"/>
              </a:rPr>
              <a:t>Where AI Helps</a:t>
            </a:r>
          </a:p>
        </p:txBody>
      </p:sp>
      <p:sp>
        <p:nvSpPr>
          <p:cNvPr id="1251" name="TB1252"/>
          <p:cNvSpPr txBox="1"/>
          <p:nvPr/>
        </p:nvSpPr>
        <p:spPr>
          <a:xfrm>
            <a:off x="969600" y="2600000"/>
            <a:ext cx="4556400" cy="23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/>
          </a:bodyPr>
          <a:lstStyle/>
          <a:p>
            <a:pPr marL="274320" indent="-228600">
              <a:buFont typeface="Arial"/>
              <a:buChar char="•"/>
            </a:pPr>
            <a:r>
              <a:rPr lang="en-US" sz="1900">
                <a:latin typeface="Calibri"/>
                <a:cs typeface="Calibri"/>
              </a:rPr>
              <a:t>Standardized, </a:t>
            </a: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scaffolding, repetitive tests.</a:t>
            </a:r>
          </a:p>
          <a:p>
            <a:pPr marL="274320" indent="-228600" algn="l">
              <a:spcBef>
                <a:spcPts val="30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Getting unstuck and exploring options fast.</a:t>
            </a:r>
          </a:p>
          <a:p>
            <a:pPr marL="274320" indent="-228600" algn="l">
              <a:spcBef>
                <a:spcPts val="30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A faster first draft to react to.</a:t>
            </a:r>
          </a:p>
          <a:p>
            <a:pPr marL="274320" indent="-228600" algn="l">
              <a:spcBef>
                <a:spcPts val="30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Clarifying requirements and story scope.</a:t>
            </a:r>
          </a:p>
        </p:txBody>
      </p:sp>
      <p:sp>
        <p:nvSpPr>
          <p:cNvPr id="1253" name="R1254"/>
          <p:cNvSpPr/>
          <p:nvPr/>
        </p:nvSpPr>
        <p:spPr>
          <a:xfrm>
            <a:off x="6306000" y="1600000"/>
            <a:ext cx="5276400" cy="3450000"/>
          </a:xfrm>
          <a:prstGeom prst="roundRect">
            <a:avLst>
              <a:gd name="adj" fmla="val 6000"/>
            </a:avLst>
          </a:prstGeom>
          <a:solidFill>
            <a:srgbClr val="FDEEE9"/>
          </a:solidFill>
          <a:ln>
            <a:noFill/>
          </a:ln>
          <a:effectLst>
            <a:outerShdw blurRad="90000" dist="38100" dir="5400000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55" name="C1256"/>
          <p:cNvSpPr/>
          <p:nvPr/>
        </p:nvSpPr>
        <p:spPr>
          <a:xfrm>
            <a:off x="6606000" y="1800000"/>
            <a:ext cx="600000" cy="600000"/>
          </a:xfrm>
          <a:prstGeom prst="ellipse">
            <a:avLst/>
          </a:prstGeom>
          <a:solidFill>
            <a:srgbClr val="EB532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cs typeface="Calibri"/>
              </a:rPr>
              <a:t>✗</a:t>
            </a:r>
          </a:p>
        </p:txBody>
      </p:sp>
      <p:sp>
        <p:nvSpPr>
          <p:cNvPr id="1257" name="TB1258"/>
          <p:cNvSpPr txBox="1"/>
          <p:nvPr/>
        </p:nvSpPr>
        <p:spPr>
          <a:xfrm>
            <a:off x="7406000" y="1800000"/>
            <a:ext cx="3976400" cy="60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300" b="1">
                <a:solidFill>
                  <a:srgbClr val="EB532A"/>
                </a:solidFill>
                <a:latin typeface="Calibri"/>
                <a:cs typeface="Calibri"/>
              </a:rPr>
              <a:t>Where It Adds Risk</a:t>
            </a:r>
          </a:p>
        </p:txBody>
      </p:sp>
      <p:sp>
        <p:nvSpPr>
          <p:cNvPr id="1259" name="TB1260"/>
          <p:cNvSpPr txBox="1"/>
          <p:nvPr/>
        </p:nvSpPr>
        <p:spPr>
          <a:xfrm>
            <a:off x="6666000" y="2600000"/>
            <a:ext cx="4556400" cy="2300000"/>
          </a:xfrm>
          <a:prstGeom prst="rect">
            <a:avLst/>
          </a:prstGeom>
          <a:noFill/>
        </p:spPr>
        <p:txBody>
          <a:bodyPr wrap="square" lIns="0" tIns="0" rIns="0" bIns="0" anchor="t" anchorCtr="0">
            <a:normAutofit lnSpcReduction="10000"/>
          </a:bodyPr>
          <a:lstStyle/>
          <a:p>
            <a:pPr marL="274320" indent="-228600" algn="l">
              <a:spcBef>
                <a:spcPts val="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Accepting code students do not understand.</a:t>
            </a:r>
          </a:p>
          <a:p>
            <a:pPr marL="274320" indent="-228600" algn="l">
              <a:spcBef>
                <a:spcPts val="30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Plausible code that is subtly wrong or untested.</a:t>
            </a:r>
          </a:p>
          <a:p>
            <a:pPr marL="274320" indent="-228600" algn="l">
              <a:spcBef>
                <a:spcPts val="30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Skipping the TDD discipline because it works.</a:t>
            </a:r>
          </a:p>
          <a:p>
            <a:pPr marL="274320" indent="-228600" algn="l">
              <a:spcBef>
                <a:spcPts val="300"/>
              </a:spcBef>
              <a:buFont typeface="Arial"/>
              <a:buChar char="•"/>
            </a:pP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Weaker ownership and team understanding.</a:t>
            </a:r>
          </a:p>
        </p:txBody>
      </p:sp>
      <p:sp>
        <p:nvSpPr>
          <p:cNvPr id="1261" name="TB1262"/>
          <p:cNvSpPr txBox="1"/>
          <p:nvPr/>
        </p:nvSpPr>
        <p:spPr>
          <a:xfrm>
            <a:off x="609600" y="6165000"/>
            <a:ext cx="10972800" cy="42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500" b="0" i="1">
                <a:solidFill>
                  <a:srgbClr val="595959"/>
                </a:solidFill>
                <a:latin typeface="Calibri"/>
                <a:cs typeface="Calibri"/>
              </a:rPr>
              <a:t>Engineering judgment is exactly what AI does not provide, so that is what we teach.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TB1264"/>
          <p:cNvSpPr txBox="1"/>
          <p:nvPr/>
        </p:nvSpPr>
        <p:spPr>
          <a:xfrm>
            <a:off x="609600" y="320000"/>
            <a:ext cx="10972800" cy="76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3200" b="1">
                <a:solidFill>
                  <a:srgbClr val="213E99"/>
                </a:solidFill>
                <a:latin typeface="Calibri"/>
                <a:cs typeface="Calibri"/>
              </a:rPr>
              <a:t>A Model Other Instructors Can Adapt</a:t>
            </a:r>
          </a:p>
        </p:txBody>
      </p:sp>
      <p:sp>
        <p:nvSpPr>
          <p:cNvPr id="1265" name="R1266"/>
          <p:cNvSpPr/>
          <p:nvPr/>
        </p:nvSpPr>
        <p:spPr>
          <a:xfrm>
            <a:off x="609600" y="1500000"/>
            <a:ext cx="10972800" cy="8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67" name="C1268"/>
          <p:cNvSpPr/>
          <p:nvPr/>
        </p:nvSpPr>
        <p:spPr>
          <a:xfrm>
            <a:off x="809600" y="1620000"/>
            <a:ext cx="640000" cy="640000"/>
          </a:xfrm>
          <a:prstGeom prst="ellipse">
            <a:avLst/>
          </a:prstGeom>
          <a:solidFill>
            <a:srgbClr val="213E9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269" name="TB1270"/>
          <p:cNvSpPr txBox="1"/>
          <p:nvPr/>
        </p:nvSpPr>
        <p:spPr>
          <a:xfrm>
            <a:off x="1769600" y="1500000"/>
            <a:ext cx="9432800" cy="8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213E99"/>
                </a:solidFill>
                <a:latin typeface="Calibri"/>
                <a:cs typeface="Calibri"/>
              </a:rPr>
              <a:t>Fundamentals first.  </a:t>
            </a: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Let students do real work without AI, so they feel why the practices matter.</a:t>
            </a:r>
          </a:p>
        </p:txBody>
      </p:sp>
      <p:sp>
        <p:nvSpPr>
          <p:cNvPr id="1271" name="R1272"/>
          <p:cNvSpPr/>
          <p:nvPr/>
        </p:nvSpPr>
        <p:spPr>
          <a:xfrm>
            <a:off x="609600" y="2560000"/>
            <a:ext cx="10972800" cy="8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3" name="C1274"/>
          <p:cNvSpPr/>
          <p:nvPr/>
        </p:nvSpPr>
        <p:spPr>
          <a:xfrm>
            <a:off x="809600" y="2680000"/>
            <a:ext cx="640000" cy="640000"/>
          </a:xfrm>
          <a:prstGeom prst="ellipse">
            <a:avLst/>
          </a:prstGeom>
          <a:solidFill>
            <a:srgbClr val="A6CF59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275" name="TB1276"/>
          <p:cNvSpPr txBox="1"/>
          <p:nvPr/>
        </p:nvSpPr>
        <p:spPr>
          <a:xfrm>
            <a:off x="1769600" y="2560000"/>
            <a:ext cx="9432800" cy="8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A6CF59"/>
                </a:solidFill>
                <a:latin typeface="Calibri"/>
                <a:cs typeface="Calibri"/>
              </a:rPr>
              <a:t>Reintroduce with AI.  </a:t>
            </a: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Same project, same stories, now AI-assisted.</a:t>
            </a:r>
          </a:p>
        </p:txBody>
      </p:sp>
      <p:sp>
        <p:nvSpPr>
          <p:cNvPr id="1277" name="R1278"/>
          <p:cNvSpPr/>
          <p:nvPr/>
        </p:nvSpPr>
        <p:spPr>
          <a:xfrm>
            <a:off x="609600" y="3620000"/>
            <a:ext cx="10972800" cy="8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79" name="C1280"/>
          <p:cNvSpPr/>
          <p:nvPr/>
        </p:nvSpPr>
        <p:spPr>
          <a:xfrm>
            <a:off x="809600" y="3740000"/>
            <a:ext cx="640000" cy="640000"/>
          </a:xfrm>
          <a:prstGeom prst="ellipse">
            <a:avLst/>
          </a:prstGeom>
          <a:solidFill>
            <a:srgbClr val="EB532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281" name="TB1282"/>
          <p:cNvSpPr txBox="1"/>
          <p:nvPr/>
        </p:nvSpPr>
        <p:spPr>
          <a:xfrm>
            <a:off x="1769600" y="3620000"/>
            <a:ext cx="9432800" cy="8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EB532A"/>
                </a:solidFill>
                <a:latin typeface="Calibri"/>
                <a:cs typeface="Calibri"/>
              </a:rPr>
              <a:t>Compare directly.  </a:t>
            </a: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Process and output, with and without AI, side by side.</a:t>
            </a:r>
          </a:p>
        </p:txBody>
      </p:sp>
      <p:sp>
        <p:nvSpPr>
          <p:cNvPr id="1283" name="R1284"/>
          <p:cNvSpPr/>
          <p:nvPr/>
        </p:nvSpPr>
        <p:spPr>
          <a:xfrm>
            <a:off x="609600" y="4680000"/>
            <a:ext cx="10972800" cy="880000"/>
          </a:xfrm>
          <a:prstGeom prst="roundRect">
            <a:avLst>
              <a:gd name="adj" fmla="val 6000"/>
            </a:avLst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85" name="C1286"/>
          <p:cNvSpPr/>
          <p:nvPr/>
        </p:nvSpPr>
        <p:spPr>
          <a:xfrm>
            <a:off x="809600" y="4800000"/>
            <a:ext cx="640000" cy="640000"/>
          </a:xfrm>
          <a:prstGeom prst="ellipse">
            <a:avLst/>
          </a:prstGeom>
          <a:solidFill>
            <a:srgbClr val="857FBA"/>
          </a:solidFill>
          <a:ln>
            <a:noFill/>
          </a:ln>
        </p:spPr>
        <p:txBody>
          <a:bodyPr lIns="0" tIns="0" rIns="0" bIns="0" anchor="ctr"/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2800" b="1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1287" name="TB1288"/>
          <p:cNvSpPr txBox="1"/>
          <p:nvPr/>
        </p:nvSpPr>
        <p:spPr>
          <a:xfrm>
            <a:off x="1769600" y="4680000"/>
            <a:ext cx="9432800" cy="88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l">
              <a:spcBef>
                <a:spcPts val="0"/>
              </a:spcBef>
              <a:buNone/>
            </a:pPr>
            <a:r>
              <a:rPr lang="en-US" sz="2000" b="1">
                <a:solidFill>
                  <a:srgbClr val="857FBA"/>
                </a:solidFill>
                <a:latin typeface="Calibri"/>
                <a:cs typeface="Calibri"/>
              </a:rPr>
              <a:t>Reflect.  </a:t>
            </a:r>
            <a:r>
              <a:rPr lang="en-US" sz="1900" b="0">
                <a:solidFill>
                  <a:srgbClr val="000000"/>
                </a:solidFill>
                <a:latin typeface="Calibri"/>
                <a:cs typeface="Calibri"/>
              </a:rPr>
              <a:t>Students write up what worked, what did not, and what they learned.</a:t>
            </a:r>
          </a:p>
        </p:txBody>
      </p:sp>
      <p:sp>
        <p:nvSpPr>
          <p:cNvPr id="1289" name="R1290"/>
          <p:cNvSpPr/>
          <p:nvPr/>
        </p:nvSpPr>
        <p:spPr>
          <a:xfrm>
            <a:off x="609600" y="5800000"/>
            <a:ext cx="10972800" cy="640000"/>
          </a:xfrm>
          <a:prstGeom prst="roundRect">
            <a:avLst>
              <a:gd name="adj" fmla="val 6000"/>
            </a:avLst>
          </a:prstGeom>
          <a:solidFill>
            <a:srgbClr val="EAF1F7"/>
          </a:solidFill>
          <a:ln w="19050">
            <a:solidFill>
              <a:srgbClr val="62A1C5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291" name="TB1292"/>
          <p:cNvSpPr txBox="1"/>
          <p:nvPr/>
        </p:nvSpPr>
        <p:spPr>
          <a:xfrm>
            <a:off x="929600" y="5800000"/>
            <a:ext cx="10332800" cy="640000"/>
          </a:xfrm>
          <a:prstGeom prst="rect">
            <a:avLst/>
          </a:prstGeom>
          <a:noFill/>
        </p:spPr>
        <p:txBody>
          <a:bodyPr wrap="square" lIns="0" tIns="0" rIns="0" bIns="0" anchor="ctr" anchorCtr="0">
            <a:normAutofit/>
          </a:bodyPr>
          <a:lstStyle/>
          <a:p>
            <a:pPr marL="0" indent="0" algn="ctr">
              <a:spcBef>
                <a:spcPts val="0"/>
              </a:spcBef>
              <a:buNone/>
            </a:pPr>
            <a:r>
              <a:rPr lang="en-US" sz="1800" b="1">
                <a:solidFill>
                  <a:srgbClr val="1A2A87"/>
                </a:solidFill>
                <a:latin typeface="Calibri"/>
                <a:cs typeface="Calibri"/>
              </a:rPr>
              <a:t>No new course required. Responsible AI use is taught inside the project work students already 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TB389"/>
          <p:cNvSpPr txBox="1"/>
          <p:nvPr/>
        </p:nvSpPr>
        <p:spPr>
          <a:xfrm>
            <a:off x="760000" y="1450000"/>
            <a:ext cx="1067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4400" b="1" i="0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Thank You!</a:t>
            </a:r>
          </a:p>
        </p:txBody>
      </p:sp>
      <p:sp>
        <p:nvSpPr>
          <p:cNvPr id="390" name="TB391"/>
          <p:cNvSpPr txBox="1"/>
          <p:nvPr/>
        </p:nvSpPr>
        <p:spPr>
          <a:xfrm>
            <a:off x="760000" y="2450000"/>
            <a:ext cx="10672000" cy="5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2400" b="1" i="0">
                <a:solidFill>
                  <a:srgbClr val="EB532A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</a:p>
        </p:txBody>
      </p:sp>
      <p:sp>
        <p:nvSpPr>
          <p:cNvPr id="392" name="TB393"/>
          <p:cNvSpPr txBox="1"/>
          <p:nvPr/>
        </p:nvSpPr>
        <p:spPr>
          <a:xfrm>
            <a:off x="760000" y="3250000"/>
            <a:ext cx="10672000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700" b="1" i="0">
                <a:solidFill>
                  <a:srgbClr val="213E99"/>
                </a:solidFill>
                <a:latin typeface="Calibri"/>
                <a:ea typeface="Calibri"/>
                <a:cs typeface="Calibri"/>
                <a:sym typeface="Calibri"/>
              </a:rPr>
              <a:t>Also building:  </a:t>
            </a:r>
            <a:r>
              <a:rPr lang="en-US" sz="17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 new “Responsible AI Engineering” course for our MS in AI program, and broader AI-curriculum work at Texas State University.</a:t>
            </a:r>
          </a:p>
        </p:txBody>
      </p:sp>
      <p:sp>
        <p:nvSpPr>
          <p:cNvPr id="394" name="TB395"/>
          <p:cNvSpPr txBox="1"/>
          <p:nvPr/>
        </p:nvSpPr>
        <p:spPr>
          <a:xfrm>
            <a:off x="760000" y="4500000"/>
            <a:ext cx="10672000" cy="11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45700" rIns="45700" bIns="45700" anchor="t" anchorCtr="0">
            <a:noAutofit/>
          </a:bodyPr>
          <a:lstStyle/>
          <a:p>
            <a:pPr marL="0" lvl="0" indent="0" algn="l" rtl="0">
              <a:lnSpc>
                <a:spcPct val="105000"/>
              </a:lnSpc>
              <a:spcBef>
                <a:spcPts val="0"/>
              </a:spcBef>
              <a:buNone/>
            </a:pPr>
            <a:r>
              <a:rPr lang="en-US" sz="1900" b="1" i="0">
                <a:solidFill>
                  <a:srgbClr val="1A2A87"/>
                </a:solidFill>
                <a:latin typeface="Calibri"/>
                <a:ea typeface="Calibri"/>
                <a:cs typeface="Calibri"/>
                <a:sym typeface="Calibri"/>
              </a:rPr>
              <a:t>Shibbir Ahmed</a:t>
            </a:r>
          </a:p>
          <a:p>
            <a:pPr marL="0" lvl="0" indent="0" algn="l" rtl="0">
              <a:lnSpc>
                <a:spcPct val="105000"/>
              </a:lnSpc>
              <a:spcBef>
                <a:spcPts val="150"/>
              </a:spcBef>
              <a:buNone/>
            </a:pPr>
            <a:r>
              <a:rPr lang="en-US" sz="1500" b="0" i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Assistant Professor, Department of Computer Science, Texas State University</a:t>
            </a:r>
          </a:p>
          <a:p>
            <a:pPr marL="0" lvl="0" indent="0" algn="l" rtl="0">
              <a:lnSpc>
                <a:spcPct val="105000"/>
              </a:lnSpc>
              <a:spcBef>
                <a:spcPts val="150"/>
              </a:spcBef>
              <a:buNone/>
            </a:pPr>
            <a:r>
              <a:rPr lang="en-US" sz="1600" b="0" i="0">
                <a:solidFill>
                  <a:srgbClr val="62A1C5"/>
                </a:solidFill>
                <a:latin typeface="Calibri"/>
                <a:ea typeface="Calibri"/>
                <a:cs typeface="Calibri"/>
                <a:sym typeface="Calibri"/>
              </a:rPr>
              <a:t>shibbir@txstate.edu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517240B-70D3-B594-14A3-B44449CEF615}"/>
              </a:ext>
            </a:extLst>
          </p:cNvPr>
          <p:cNvGrpSpPr/>
          <p:nvPr/>
        </p:nvGrpSpPr>
        <p:grpSpPr>
          <a:xfrm>
            <a:off x="9539339" y="4150000"/>
            <a:ext cx="1879282" cy="1764425"/>
            <a:chOff x="9539339" y="4150000"/>
            <a:chExt cx="1879282" cy="1764425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B16F2BDC-961E-C401-BA20-447519F0008C}"/>
                </a:ext>
              </a:extLst>
            </p:cNvPr>
            <p:cNvGrpSpPr/>
            <p:nvPr/>
          </p:nvGrpSpPr>
          <p:grpSpPr>
            <a:xfrm>
              <a:off x="9539339" y="4150000"/>
              <a:ext cx="1879282" cy="1764425"/>
              <a:chOff x="2518428" y="1113183"/>
              <a:chExt cx="1879282" cy="1764425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7CF6D7DD-DEE9-B1E0-7AA3-00B8C0671A71}"/>
                  </a:ext>
                </a:extLst>
              </p:cNvPr>
              <p:cNvGrpSpPr/>
              <p:nvPr/>
            </p:nvGrpSpPr>
            <p:grpSpPr>
              <a:xfrm>
                <a:off x="2518428" y="1113183"/>
                <a:ext cx="1879282" cy="1764425"/>
                <a:chOff x="6151130" y="112320"/>
                <a:chExt cx="1879282" cy="1764425"/>
              </a:xfrm>
            </p:grpSpPr>
            <p:grpSp>
              <p:nvGrpSpPr>
                <p:cNvPr id="5" name="Group 4">
                  <a:extLst>
                    <a:ext uri="{FF2B5EF4-FFF2-40B4-BE49-F238E27FC236}">
                      <a16:creationId xmlns:a16="http://schemas.microsoft.com/office/drawing/2014/main" id="{783EBE29-DAC1-95A3-9DE6-D4F69C0F444D}"/>
                    </a:ext>
                  </a:extLst>
                </p:cNvPr>
                <p:cNvGrpSpPr/>
                <p:nvPr/>
              </p:nvGrpSpPr>
              <p:grpSpPr>
                <a:xfrm>
                  <a:off x="6151130" y="112320"/>
                  <a:ext cx="1879282" cy="1764425"/>
                  <a:chOff x="7384773" y="112320"/>
                  <a:chExt cx="1879282" cy="1764425"/>
                </a:xfrm>
              </p:grpSpPr>
              <p:grpSp>
                <p:nvGrpSpPr>
                  <p:cNvPr id="7" name="Group 6">
                    <a:extLst>
                      <a:ext uri="{FF2B5EF4-FFF2-40B4-BE49-F238E27FC236}">
                        <a16:creationId xmlns:a16="http://schemas.microsoft.com/office/drawing/2014/main" id="{F362A669-3499-69FC-7913-922DF5109A4B}"/>
                      </a:ext>
                    </a:extLst>
                  </p:cNvPr>
                  <p:cNvGrpSpPr/>
                  <p:nvPr/>
                </p:nvGrpSpPr>
                <p:grpSpPr>
                  <a:xfrm>
                    <a:off x="7643032" y="112320"/>
                    <a:ext cx="1388552" cy="1682379"/>
                    <a:chOff x="6377368" y="1692157"/>
                    <a:chExt cx="2692400" cy="3161615"/>
                  </a:xfrm>
                </p:grpSpPr>
                <p:grpSp>
                  <p:nvGrpSpPr>
                    <p:cNvPr id="9" name="Group 8">
                      <a:extLst>
                        <a:ext uri="{FF2B5EF4-FFF2-40B4-BE49-F238E27FC236}">
                          <a16:creationId xmlns:a16="http://schemas.microsoft.com/office/drawing/2014/main" id="{FE90EE24-76D5-5EAD-DBCD-E2CC07B8259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6377368" y="1692157"/>
                      <a:ext cx="2692400" cy="3161615"/>
                      <a:chOff x="6377368" y="1692157"/>
                      <a:chExt cx="2692400" cy="3161615"/>
                    </a:xfrm>
                  </p:grpSpPr>
                  <p:grpSp>
                    <p:nvGrpSpPr>
                      <p:cNvPr id="11" name="Group 10">
                        <a:extLst>
                          <a:ext uri="{FF2B5EF4-FFF2-40B4-BE49-F238E27FC236}">
                            <a16:creationId xmlns:a16="http://schemas.microsoft.com/office/drawing/2014/main" id="{280DF938-4EA8-6A9C-12C3-3422E5649552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377368" y="1692157"/>
                        <a:ext cx="2692400" cy="3161615"/>
                        <a:chOff x="6377368" y="1692157"/>
                        <a:chExt cx="2692400" cy="3161615"/>
                      </a:xfrm>
                    </p:grpSpPr>
                    <p:grpSp>
                      <p:nvGrpSpPr>
                        <p:cNvPr id="13" name="Group 12">
                          <a:extLst>
                            <a:ext uri="{FF2B5EF4-FFF2-40B4-BE49-F238E27FC236}">
                              <a16:creationId xmlns:a16="http://schemas.microsoft.com/office/drawing/2014/main" id="{CB5387FC-274A-89AD-D74A-3BA61205730B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377368" y="1692157"/>
                          <a:ext cx="2692400" cy="3161615"/>
                          <a:chOff x="6377368" y="1692157"/>
                          <a:chExt cx="2692400" cy="3161615"/>
                        </a:xfrm>
                      </p:grpSpPr>
                      <p:pic>
                        <p:nvPicPr>
                          <p:cNvPr id="15" name="Picture 14">
                            <a:extLst>
                              <a:ext uri="{FF2B5EF4-FFF2-40B4-BE49-F238E27FC236}">
                                <a16:creationId xmlns:a16="http://schemas.microsoft.com/office/drawing/2014/main" id="{3150EDEC-AD82-4549-4348-DEB2F196E8FA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3"/>
                          <a:stretch>
                            <a:fillRect/>
                          </a:stretch>
                        </p:blipFill>
                        <p:spPr>
                          <a:xfrm>
                            <a:off x="6495774" y="1692157"/>
                            <a:ext cx="2430188" cy="3038313"/>
                          </a:xfrm>
                          <a:prstGeom prst="rect">
                            <a:avLst/>
                          </a:prstGeom>
                        </p:spPr>
                      </p:pic>
                      <p:pic>
                        <p:nvPicPr>
                          <p:cNvPr id="16" name="Picture 15">
                            <a:extLst>
                              <a:ext uri="{FF2B5EF4-FFF2-40B4-BE49-F238E27FC236}">
                                <a16:creationId xmlns:a16="http://schemas.microsoft.com/office/drawing/2014/main" id="{D5AB3D5C-F7FF-BF46-3ADA-18EB0E6F1BC8}"/>
                              </a:ext>
                            </a:extLst>
                          </p:cNvPr>
                          <p:cNvPicPr>
                            <a:picLocks noChangeAspect="1"/>
                          </p:cNvPicPr>
                          <p:nvPr/>
                        </p:nvPicPr>
                        <p:blipFill>
                          <a:blip r:embed="rId4"/>
                          <a:stretch>
                            <a:fillRect/>
                          </a:stretch>
                        </p:blipFill>
                        <p:spPr>
                          <a:xfrm>
                            <a:off x="6377368" y="4129872"/>
                            <a:ext cx="2692400" cy="723900"/>
                          </a:xfrm>
                          <a:prstGeom prst="rect">
                            <a:avLst/>
                          </a:prstGeom>
                        </p:spPr>
                      </p:pic>
                    </p:grpSp>
                    <p:pic>
                      <p:nvPicPr>
                        <p:cNvPr id="14" name="Picture 13">
                          <a:extLst>
                            <a:ext uri="{FF2B5EF4-FFF2-40B4-BE49-F238E27FC236}">
                              <a16:creationId xmlns:a16="http://schemas.microsoft.com/office/drawing/2014/main" id="{FE8C6E06-4A25-2849-7EC7-7FD4D4AF8059}"/>
                            </a:ext>
                          </a:extLst>
                        </p:cNvPr>
                        <p:cNvPicPr>
                          <a:picLocks noChangeAspect="1"/>
                        </p:cNvPicPr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6495775" y="1692157"/>
                          <a:ext cx="2430188" cy="2458041"/>
                        </a:xfrm>
                        <a:prstGeom prst="rect">
                          <a:avLst/>
                        </a:prstGeom>
                      </p:spPr>
                    </p:pic>
                  </p:grpSp>
                  <p:pic>
                    <p:nvPicPr>
                      <p:cNvPr id="12" name="Picture 11">
                        <a:extLst>
                          <a:ext uri="{FF2B5EF4-FFF2-40B4-BE49-F238E27FC236}">
                            <a16:creationId xmlns:a16="http://schemas.microsoft.com/office/drawing/2014/main" id="{1C2748D9-C780-80E0-C4A7-C263B443B484}"/>
                          </a:ext>
                        </a:extLst>
                      </p:cNvPr>
                      <p:cNvPicPr>
                        <a:picLocks noChangeAspect="1"/>
                      </p:cNvPicPr>
                      <p:nvPr/>
                    </p:nvPicPr>
                    <p:blipFill rotWithShape="1">
                      <a:blip r:embed="rId6"/>
                      <a:srcRect r="-96" b="20428"/>
                      <a:stretch/>
                    </p:blipFill>
                    <p:spPr>
                      <a:xfrm>
                        <a:off x="6495773" y="1702180"/>
                        <a:ext cx="2430188" cy="2417669"/>
                      </a:xfrm>
                      <a:prstGeom prst="rect">
                        <a:avLst/>
                      </a:prstGeom>
                    </p:spPr>
                  </p:pic>
                </p:grpSp>
                <p:pic>
                  <p:nvPicPr>
                    <p:cNvPr id="10" name="Picture 9">
                      <a:extLst>
                        <a:ext uri="{FF2B5EF4-FFF2-40B4-BE49-F238E27FC236}">
                          <a16:creationId xmlns:a16="http://schemas.microsoft.com/office/drawing/2014/main" id="{54266E5C-93F5-9EE6-A2C4-89AAC96A9C5C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7"/>
                    <a:srcRect r="561" b="19629"/>
                    <a:stretch/>
                  </p:blipFill>
                  <p:spPr>
                    <a:xfrm>
                      <a:off x="6495773" y="1692157"/>
                      <a:ext cx="2430188" cy="2458041"/>
                    </a:xfrm>
                    <a:prstGeom prst="rect">
                      <a:avLst/>
                    </a:prstGeom>
                  </p:spPr>
                </p:pic>
              </p:grpSp>
              <p:sp>
                <p:nvSpPr>
                  <p:cNvPr id="8" name="TextBox 7">
                    <a:extLst>
                      <a:ext uri="{FF2B5EF4-FFF2-40B4-BE49-F238E27FC236}">
                        <a16:creationId xmlns:a16="http://schemas.microsoft.com/office/drawing/2014/main" id="{28745D08-9BCD-D75B-016C-6C73CC60B243}"/>
                      </a:ext>
                    </a:extLst>
                  </p:cNvPr>
                  <p:cNvSpPr txBox="1"/>
                  <p:nvPr/>
                </p:nvSpPr>
                <p:spPr>
                  <a:xfrm>
                    <a:off x="7384773" y="1445858"/>
                    <a:ext cx="1879282" cy="430887"/>
                  </a:xfrm>
                  <a:prstGeom prst="rect">
                    <a:avLst/>
                  </a:prstGeom>
                  <a:solidFill>
                    <a:schemeClr val="tx1"/>
                  </a:solidFill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US" sz="1100">
                        <a:solidFill>
                          <a:schemeClr val="bg1"/>
                        </a:solidFill>
                      </a:rPr>
                      <a:t>Get the slides, assignment, and survey</a:t>
                    </a:r>
                    <a:endParaRPr lang="en-US" sz="1100" dirty="0">
                      <a:solidFill>
                        <a:schemeClr val="bg1"/>
                      </a:solidFill>
                    </a:endParaRPr>
                  </a:p>
                </p:txBody>
              </p:sp>
            </p:grpSp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9E7B2D77-6816-06D4-9710-70A8108977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55002" y="221765"/>
                  <a:ext cx="1084223" cy="1084223"/>
                </a:xfrm>
                <a:prstGeom prst="rect">
                  <a:avLst/>
                </a:prstGeom>
              </p:spPr>
            </p:pic>
          </p:grpSp>
          <p:pic>
            <p:nvPicPr>
              <p:cNvPr id="4" name="Picture 3">
                <a:extLst>
                  <a:ext uri="{FF2B5EF4-FFF2-40B4-BE49-F238E27FC236}">
                    <a16:creationId xmlns:a16="http://schemas.microsoft.com/office/drawing/2014/main" id="{05C44E89-CD8C-322B-672A-BFE270726B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909617" y="1222628"/>
                <a:ext cx="1096905" cy="1096905"/>
              </a:xfrm>
              <a:prstGeom prst="rect">
                <a:avLst/>
              </a:prstGeom>
            </p:spPr>
          </p:pic>
        </p:grp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A84F096C-5A0C-183B-2777-817135A78A4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9943421" y="4254111"/>
              <a:ext cx="1096905" cy="1096905"/>
            </a:xfrm>
            <a:prstGeom prst="rect">
              <a:avLst/>
            </a:prstGeom>
          </p:spPr>
        </p:pic>
      </p:grpSp>
      <p:pic>
        <p:nvPicPr>
          <p:cNvPr id="17" name="Picture 16" descr="Code - Free computer icons">
            <a:extLst>
              <a:ext uri="{FF2B5EF4-FFF2-40B4-BE49-F238E27FC236}">
                <a16:creationId xmlns:a16="http://schemas.microsoft.com/office/drawing/2014/main" id="{2EA0CEA1-0DE3-6178-67A5-9EF51B92780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75906" y="4651089"/>
            <a:ext cx="294996" cy="29499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>
            <a:spLocks noGrp="1"/>
          </p:cNvSpPr>
          <p:nvPr>
            <p:ph type="subTitle" idx="1"/>
          </p:nvPr>
        </p:nvSpPr>
        <p:spPr>
          <a:xfrm>
            <a:off x="1809987" y="2384888"/>
            <a:ext cx="4835252" cy="548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76200" lvl="0" indent="0" algn="ctr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</a:pPr>
            <a:r>
              <a:rPr lang="en-US"/>
              <a:t>Follow CRA on social media</a:t>
            </a:r>
            <a:endParaRPr/>
          </a:p>
        </p:txBody>
      </p:sp>
      <p:sp>
        <p:nvSpPr>
          <p:cNvPr id="131" name="Google Shape;131;p24"/>
          <p:cNvSpPr txBox="1">
            <a:spLocks noGrp="1"/>
          </p:cNvSpPr>
          <p:nvPr>
            <p:ph type="ctrTitle"/>
          </p:nvPr>
        </p:nvSpPr>
        <p:spPr>
          <a:xfrm>
            <a:off x="2285656" y="1649631"/>
            <a:ext cx="3883913" cy="8496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/>
              <a:t>Stay Connected!</a:t>
            </a:r>
            <a:endParaRPr/>
          </a:p>
        </p:txBody>
      </p:sp>
      <p:grpSp>
        <p:nvGrpSpPr>
          <p:cNvPr id="132" name="Google Shape;132;p24"/>
          <p:cNvGrpSpPr/>
          <p:nvPr/>
        </p:nvGrpSpPr>
        <p:grpSpPr>
          <a:xfrm>
            <a:off x="1762409" y="245754"/>
            <a:ext cx="5073597" cy="1619531"/>
            <a:chOff x="1675200" y="1925919"/>
            <a:chExt cx="8622700" cy="2752431"/>
          </a:xfrm>
        </p:grpSpPr>
        <p:sp>
          <p:nvSpPr>
            <p:cNvPr id="133" name="Google Shape;133;p24"/>
            <p:cNvSpPr/>
            <p:nvPr/>
          </p:nvSpPr>
          <p:spPr>
            <a:xfrm>
              <a:off x="1684600" y="1932075"/>
              <a:ext cx="8613300" cy="27219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53775" tIns="53775" rIns="53775" bIns="53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824"/>
            </a:p>
          </p:txBody>
        </p:sp>
        <p:pic>
          <p:nvPicPr>
            <p:cNvPr id="134" name="Google Shape;134;p24" title="NAIRR Expansion Conference_General Logo (1).png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675200" y="1925918"/>
              <a:ext cx="8606075" cy="275243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 logo ">
  <a:themeElements>
    <a:clrScheme name="CRA Theme">
      <a:dk1>
        <a:srgbClr val="000000"/>
      </a:dk1>
      <a:lt1>
        <a:srgbClr val="FFFFFF"/>
      </a:lt1>
      <a:dk2>
        <a:srgbClr val="1A2A87"/>
      </a:dk2>
      <a:lt2>
        <a:srgbClr val="EEECE1"/>
      </a:lt2>
      <a:accent1>
        <a:srgbClr val="62A1C5"/>
      </a:accent1>
      <a:accent2>
        <a:srgbClr val="EB532A"/>
      </a:accent2>
      <a:accent3>
        <a:srgbClr val="A6CF59"/>
      </a:accent3>
      <a:accent4>
        <a:srgbClr val="857FBA"/>
      </a:accent4>
      <a:accent5>
        <a:srgbClr val="94D0B2"/>
      </a:accent5>
      <a:accent6>
        <a:srgbClr val="FFDA1C"/>
      </a:accent6>
      <a:hlink>
        <a:srgbClr val="0000FF"/>
      </a:hlink>
      <a:folHlink>
        <a:srgbClr val="76154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990</Words>
  <Application>Microsoft Macintosh PowerPoint</Application>
  <PresentationFormat>Widescreen</PresentationFormat>
  <Paragraphs>146</Paragraphs>
  <Slides>15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Helvetica Neue</vt:lpstr>
      <vt:lpstr>Office Theme</vt:lpstr>
      <vt:lpstr>Office Theme</vt:lpstr>
      <vt:lpstr>No logo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Stay Connected!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Ahmed, Shibbir</cp:lastModifiedBy>
  <cp:revision>4</cp:revision>
  <dcterms:modified xsi:type="dcterms:W3CDTF">2026-06-17T19:28:29Z</dcterms:modified>
</cp:coreProperties>
</file>