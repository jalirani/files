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64" r:id="rId4"/>
    <p:sldId id="272" r:id="rId5"/>
    <p:sldId id="286" r:id="rId6"/>
    <p:sldId id="273" r:id="rId7"/>
    <p:sldId id="282" r:id="rId8"/>
    <p:sldId id="267" r:id="rId9"/>
    <p:sldId id="268" r:id="rId10"/>
    <p:sldId id="283" r:id="rId11"/>
    <p:sldId id="284" r:id="rId12"/>
    <p:sldId id="269" r:id="rId13"/>
    <p:sldId id="279" r:id="rId14"/>
    <p:sldId id="270" r:id="rId15"/>
    <p:sldId id="280" r:id="rId16"/>
    <p:sldId id="287" r:id="rId17"/>
    <p:sldId id="288" r:id="rId18"/>
  </p:sldIdLst>
  <p:sldSz cx="12192000" cy="6858000"/>
  <p:notesSz cx="6858000" cy="9144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924B"/>
    <a:srgbClr val="FE9700"/>
    <a:srgbClr val="FF9900"/>
    <a:srgbClr val="FFCC00"/>
    <a:srgbClr val="F5D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3B064-8DE4-4300-B1C0-96FCDFD2D6EE}" v="96" dt="2026-06-08T21:55:24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392CD55-40C2-28EF-5CA2-4F20FE54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:notes">
            <a:extLst>
              <a:ext uri="{FF2B5EF4-FFF2-40B4-BE49-F238E27FC236}">
                <a16:creationId xmlns:a16="http://schemas.microsoft.com/office/drawing/2014/main" id="{6F1C5E8C-B49B-4DC4-041E-4C31758263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:notes">
            <a:extLst>
              <a:ext uri="{FF2B5EF4-FFF2-40B4-BE49-F238E27FC236}">
                <a16:creationId xmlns:a16="http://schemas.microsoft.com/office/drawing/2014/main" id="{07BAB431-CC37-9FF3-43C6-85CD876E9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599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DDB388A7-A959-534E-DBE0-0CF4BBDA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>
            <a:extLst>
              <a:ext uri="{FF2B5EF4-FFF2-40B4-BE49-F238E27FC236}">
                <a16:creationId xmlns:a16="http://schemas.microsoft.com/office/drawing/2014/main" id="{9166CBF3-EEC7-6AB0-D7FD-55067C7E1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>
            <a:extLst>
              <a:ext uri="{FF2B5EF4-FFF2-40B4-BE49-F238E27FC236}">
                <a16:creationId xmlns:a16="http://schemas.microsoft.com/office/drawing/2014/main" id="{65B51AB3-473C-23E9-D2D8-1B611E2752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773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25B17AE5-3C7A-819C-7E1B-5C442A0A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>
            <a:extLst>
              <a:ext uri="{FF2B5EF4-FFF2-40B4-BE49-F238E27FC236}">
                <a16:creationId xmlns:a16="http://schemas.microsoft.com/office/drawing/2014/main" id="{3A3C68BA-5A5B-CA24-ACB3-7674E80BF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p15:notes">
            <a:extLst>
              <a:ext uri="{FF2B5EF4-FFF2-40B4-BE49-F238E27FC236}">
                <a16:creationId xmlns:a16="http://schemas.microsoft.com/office/drawing/2014/main" id="{CE64FB35-B28B-AE65-6BC5-B4604C42D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496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4D62AC58-32A7-C565-51AB-86F0753C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>
            <a:extLst>
              <a:ext uri="{FF2B5EF4-FFF2-40B4-BE49-F238E27FC236}">
                <a16:creationId xmlns:a16="http://schemas.microsoft.com/office/drawing/2014/main" id="{78A81A68-4359-CE0D-3B62-B9F6114E9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>
            <a:extLst>
              <a:ext uri="{FF2B5EF4-FFF2-40B4-BE49-F238E27FC236}">
                <a16:creationId xmlns:a16="http://schemas.microsoft.com/office/drawing/2014/main" id="{C9EECC3B-6862-A2DE-4345-62997F178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745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DA25225A-0C64-30F3-7E4C-93F2A427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>
            <a:extLst>
              <a:ext uri="{FF2B5EF4-FFF2-40B4-BE49-F238E27FC236}">
                <a16:creationId xmlns:a16="http://schemas.microsoft.com/office/drawing/2014/main" id="{92946779-5DB6-3E09-9B3A-B4328D8FA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>
            <a:extLst>
              <a:ext uri="{FF2B5EF4-FFF2-40B4-BE49-F238E27FC236}">
                <a16:creationId xmlns:a16="http://schemas.microsoft.com/office/drawing/2014/main" id="{3062B1A8-6402-264E-B363-F0B79C498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751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22859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566" lvl="2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754" lvl="3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5943" lvl="4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131" lvl="5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22859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566" lvl="2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754" lvl="3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5943" lvl="4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131" lvl="5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609601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1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7" y="1649632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5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90" y="3590679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9" y="2905370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8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1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4" y="1810750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6"/>
            <a:ext cx="5705751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7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8099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38099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566" lvl="2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754" lvl="3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5943" lvl="4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131" lvl="5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320" lvl="6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509" lvl="7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697" lvl="8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0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625477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8099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7" lvl="1" indent="-38099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566" lvl="2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754" lvl="3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5943" lvl="4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131" lvl="5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320" lvl="6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509" lvl="7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697" lvl="8" indent="-35559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7784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1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04853" y="131433"/>
            <a:ext cx="3289851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84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1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4853" y="131433"/>
            <a:ext cx="3289851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285525" y="618776"/>
            <a:ext cx="7842475" cy="3254925"/>
            <a:chOff x="837550" y="656850"/>
            <a:chExt cx="7842475" cy="3254925"/>
          </a:xfrm>
        </p:grpSpPr>
        <p:sp>
          <p:nvSpPr>
            <p:cNvPr id="76" name="Google Shape;76;p15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77" name="Google Shape;77;p15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612648" y="1508761"/>
            <a:ext cx="10351008" cy="102181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sz="3200" b="1" dirty="0">
                <a:solidFill>
                  <a:srgbClr val="1F3864"/>
                </a:solidFill>
                <a:latin typeface="+mn-lt"/>
              </a:rPr>
              <a:t>Measuring Cognitive Diversity in AI Problem Solving to Inform Scalable AI Curriculum Design </a:t>
            </a:r>
            <a:endParaRPr sz="3200" b="1" dirty="0">
              <a:solidFill>
                <a:srgbClr val="1F3864"/>
              </a:solidFill>
              <a:latin typeface="+mn-lt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12648" y="2926080"/>
            <a:ext cx="228600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12648" y="3108962"/>
            <a:ext cx="109728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i="1" dirty="0">
                <a:solidFill>
                  <a:srgbClr val="555555"/>
                </a:solidFill>
                <a:latin typeface="+mn-lt"/>
              </a:rPr>
              <a:t>Vijayalakshmi Saravanan, Ph.D.  ·  ECE, UT Tyler  ·  vsaravanan@uttyler.edu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" y="4251961"/>
            <a:ext cx="10972800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b="1" dirty="0">
                <a:solidFill>
                  <a:srgbClr val="1A1A1A"/>
                </a:solidFill>
                <a:latin typeface="+mn-lt"/>
              </a:rPr>
              <a:t>Vijayalakshmi Saravanan, Ph.D.</a:t>
            </a:r>
            <a:r>
              <a:rPr sz="1300" dirty="0">
                <a:solidFill>
                  <a:srgbClr val="555555"/>
                </a:solidFill>
                <a:latin typeface="+mn-lt"/>
              </a:rPr>
              <a:t>    Principal Investigator, ECE, UT Tyler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4617721"/>
            <a:ext cx="10972800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endParaRPr>
              <a:latin typeface="+mn-lt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612648" y="5349240"/>
            <a:ext cx="1097280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12648" y="5440680"/>
            <a:ext cx="10972800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+mn-lt"/>
              </a:rPr>
              <a:t>NAIRR Pilot Classroom Expansion Conference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5760722"/>
            <a:ext cx="1097280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i="1">
                <a:solidFill>
                  <a:srgbClr val="555555"/>
                </a:solidFill>
                <a:latin typeface="+mn-lt"/>
              </a:rPr>
              <a:t>Research-Emerging Institutions with Large Computing Programs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6035042"/>
            <a:ext cx="1097280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+mn-lt"/>
              </a:rPr>
              <a:t>Orlando, FL  ·  June 18–19,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664DE52-B293-D6A1-F2A8-3818D004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>
            <a:extLst>
              <a:ext uri="{FF2B5EF4-FFF2-40B4-BE49-F238E27FC236}">
                <a16:creationId xmlns:a16="http://schemas.microsoft.com/office/drawing/2014/main" id="{D3E3DBD5-4A20-E208-BD94-24AE3754E17B}"/>
              </a:ext>
            </a:extLst>
          </p:cNvPr>
          <p:cNvGrpSpPr/>
          <p:nvPr/>
        </p:nvGrpSpPr>
        <p:grpSpPr>
          <a:xfrm>
            <a:off x="9260609" y="238701"/>
            <a:ext cx="2866425" cy="1189675"/>
            <a:chOff x="837550" y="656850"/>
            <a:chExt cx="7842475" cy="3254925"/>
          </a:xfrm>
        </p:grpSpPr>
        <p:sp>
          <p:nvSpPr>
            <p:cNvPr id="102" name="Google Shape;102;p19">
              <a:extLst>
                <a:ext uri="{FF2B5EF4-FFF2-40B4-BE49-F238E27FC236}">
                  <a16:creationId xmlns:a16="http://schemas.microsoft.com/office/drawing/2014/main" id="{072569BB-416E-C761-C82E-79F6D2F19383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algn="ctr"/>
              <a:endParaRPr sz="512"/>
            </a:p>
          </p:txBody>
        </p:sp>
        <p:pic>
          <p:nvPicPr>
            <p:cNvPr id="103" name="Google Shape;103;p19" title="NAIRR Expansion Conference_RE lg.png">
              <a:extLst>
                <a:ext uri="{FF2B5EF4-FFF2-40B4-BE49-F238E27FC236}">
                  <a16:creationId xmlns:a16="http://schemas.microsoft.com/office/drawing/2014/main" id="{8CE7A7A2-FE68-DCDC-1EF1-5533113CE51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944A7183-81D3-F3F2-FEB7-40DC5B086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1313" y="383885"/>
            <a:ext cx="8902391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latin typeface="+mn-lt"/>
              </a:rPr>
              <a:t>Motivation: Why Cognitive Diversity Matters in AI Education</a:t>
            </a:r>
            <a:endParaRPr sz="2800" dirty="0">
              <a:latin typeface="+mn-lt"/>
            </a:endParaRPr>
          </a:p>
        </p:txBody>
      </p:sp>
      <p:sp>
        <p:nvSpPr>
          <p:cNvPr id="105" name="Google Shape;105;p19">
            <a:extLst>
              <a:ext uri="{FF2B5EF4-FFF2-40B4-BE49-F238E27FC236}">
                <a16:creationId xmlns:a16="http://schemas.microsoft.com/office/drawing/2014/main" id="{E1EF2A45-5879-8A6D-8288-0104A9AB5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Problem Statement</a:t>
            </a:r>
          </a:p>
        </p:txBody>
      </p:sp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C91CAC87-1A14-B80D-E9F8-66B1350D074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1" y="2174875"/>
            <a:ext cx="505968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171450" indent="-171450" algn="just"/>
            <a:r>
              <a:rPr lang="en-US" sz="1400" dirty="0">
                <a:solidFill>
                  <a:srgbClr val="1F2937"/>
                </a:solidFill>
                <a:latin typeface="+mn-lt"/>
              </a:rPr>
              <a:t>AI is reshaping every discipline, yet curriculum design remains largely assumption-based — lacking empirical grounding in how disciplinary epistemologies shape AI interaction behavior.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171450" indent="-171450" algn="just"/>
            <a:r>
              <a:rPr lang="en-US" sz="1400" dirty="0">
                <a:solidFill>
                  <a:srgbClr val="1F2937"/>
                </a:solidFill>
                <a:latin typeface="+mn-lt"/>
              </a:rPr>
              <a:t>Existing instruments (e.g., AI literacy scales, competency checklists) measure declarative AI knowledge, but not procedural AI reasoning patterns or epistemic strategies during human-AI interaction.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171450" indent="-171450" algn="just"/>
            <a:r>
              <a:rPr lang="en-US" sz="1400" dirty="0">
                <a:solidFill>
                  <a:srgbClr val="1F2937"/>
                </a:solidFill>
                <a:latin typeface="+mn-lt"/>
              </a:rPr>
              <a:t>Cross-disciplinary studies (Shneiderman, 2020; Cukurova et al., 2023) confirm that prompt strategy, validation behavior, and ethical framing vary significantly by domain — yet no standardized psychometric instrument exists to quantify these differences at scale.</a:t>
            </a:r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E80FF3FE-443C-1714-0B0A-EA5E358E95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Gap &amp; Contribution</a:t>
            </a:r>
          </a:p>
        </p:txBody>
      </p:sp>
      <p:sp>
        <p:nvSpPr>
          <p:cNvPr id="108" name="Google Shape;108;p19">
            <a:extLst>
              <a:ext uri="{FF2B5EF4-FFF2-40B4-BE49-F238E27FC236}">
                <a16:creationId xmlns:a16="http://schemas.microsoft.com/office/drawing/2014/main" id="{4F218DC6-9B03-D9F3-4F47-4DF04155925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5996519" y="1933399"/>
            <a:ext cx="5585884" cy="454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F2937"/>
                </a:solidFill>
                <a:latin typeface="+mn-lt"/>
              </a:rPr>
              <a:t>NSF IUSE and NAIRR priorities both emphasize scalable, evidence-based AI education, yet no validated instrument benchmarks discipline-specific AI cognitive engagement patterns across Business, Health Sciences, and Humanities.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The Gap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2937"/>
                </a:solidFill>
                <a:latin typeface="+mn-lt"/>
              </a:rPr>
              <a:t>Existing AI literacy instruments measure knowledge, not reasoning process. No cross-disciplinary, psychometrically validated instrument exists.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Our Contribution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2937"/>
                </a:solidFill>
                <a:latin typeface="+mn-lt"/>
              </a:rPr>
              <a:t>Developed and validated the CDM framework across Business, Health Sciences, and Humanities — demonstrating statistically significant disciplinary differences in AI reasoning behavior.</a:t>
            </a:r>
          </a:p>
        </p:txBody>
      </p:sp>
    </p:spTree>
    <p:extLst>
      <p:ext uri="{BB962C8B-B14F-4D97-AF65-F5344CB8AC3E}">
        <p14:creationId xmlns:p14="http://schemas.microsoft.com/office/powerpoint/2010/main" val="2282165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8902391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latin typeface="+mn-lt"/>
              </a:rPr>
              <a:t>CDM Research Framework: From Interaction to Curriculum</a:t>
            </a:r>
          </a:p>
        </p:txBody>
      </p:sp>
      <p:sp>
        <p:nvSpPr>
          <p:cNvPr id="11" name="Sub"/>
          <p:cNvSpPr txBox="1">
            <a:spLocks noGrp="1"/>
          </p:cNvSpPr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0" rIns="91425" bIns="0" anchor="ctr" anchorCtr="0">
            <a:noAutofit/>
          </a:bodyPr>
          <a:lstStyle/>
          <a:p>
            <a:pPr algn="ctr"/>
            <a:r>
              <a:rPr lang="en-US" sz="1100" i="1" dirty="0">
                <a:solidFill>
                  <a:srgbClr val="555555"/>
                </a:solidFill>
                <a:latin typeface="+mn-lt"/>
              </a:rPr>
              <a:t>How CDM moves from student AI interaction to evidence-based curriculum design</a:t>
            </a:r>
          </a:p>
        </p:txBody>
      </p:sp>
      <p:sp>
        <p:nvSpPr>
          <p:cNvPr id="20" name="Box1"/>
          <p:cNvSpPr/>
          <p:nvPr/>
        </p:nvSpPr>
        <p:spPr>
          <a:xfrm>
            <a:off x="457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Student AI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Interaction</a:t>
            </a:r>
          </a:p>
        </p:txBody>
      </p:sp>
      <p:sp>
        <p:nvSpPr>
          <p:cNvPr id="21" name="Arr1"/>
          <p:cNvSpPr/>
          <p:nvPr/>
        </p:nvSpPr>
        <p:spPr>
          <a:xfrm>
            <a:off x="1897200" y="19812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2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"/>
          <p:cNvSpPr/>
          <p:nvPr/>
        </p:nvSpPr>
        <p:spPr>
          <a:xfrm>
            <a:off x="2278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267C8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Multi-Stream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Data Capture</a:t>
            </a:r>
          </a:p>
        </p:txBody>
      </p:sp>
      <p:sp>
        <p:nvSpPr>
          <p:cNvPr id="23" name="Arr2"/>
          <p:cNvSpPr/>
          <p:nvPr/>
        </p:nvSpPr>
        <p:spPr>
          <a:xfrm>
            <a:off x="3718200" y="19812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2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Box3"/>
          <p:cNvSpPr/>
          <p:nvPr/>
        </p:nvSpPr>
        <p:spPr>
          <a:xfrm>
            <a:off x="4099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267C8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NLP Analysis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+ Expert Coding</a:t>
            </a:r>
          </a:p>
        </p:txBody>
      </p:sp>
      <p:sp>
        <p:nvSpPr>
          <p:cNvPr id="25" name="Arr3"/>
          <p:cNvSpPr/>
          <p:nvPr/>
        </p:nvSpPr>
        <p:spPr>
          <a:xfrm>
            <a:off x="5539200" y="19812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2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Box4"/>
          <p:cNvSpPr/>
          <p:nvPr/>
        </p:nvSpPr>
        <p:spPr>
          <a:xfrm>
            <a:off x="5920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C892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CDM Scoring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(5 Dimensions)</a:t>
            </a:r>
          </a:p>
        </p:txBody>
      </p:sp>
      <p:sp>
        <p:nvSpPr>
          <p:cNvPr id="27" name="Arr4"/>
          <p:cNvSpPr/>
          <p:nvPr/>
        </p:nvSpPr>
        <p:spPr>
          <a:xfrm>
            <a:off x="7360200" y="19812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2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ox5"/>
          <p:cNvSpPr/>
          <p:nvPr/>
        </p:nvSpPr>
        <p:spPr>
          <a:xfrm>
            <a:off x="7741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267C8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Statistical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Validation</a:t>
            </a:r>
          </a:p>
        </p:txBody>
      </p:sp>
      <p:sp>
        <p:nvSpPr>
          <p:cNvPr id="29" name="Arr5"/>
          <p:cNvSpPr/>
          <p:nvPr/>
        </p:nvSpPr>
        <p:spPr>
          <a:xfrm>
            <a:off x="9181200" y="19812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2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Box6"/>
          <p:cNvSpPr/>
          <p:nvPr/>
        </p:nvSpPr>
        <p:spPr>
          <a:xfrm>
            <a:off x="9562200" y="1600000"/>
            <a:ext cx="1440000" cy="9144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Adaptive AI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n-lt"/>
              </a:rPr>
              <a:t>Curriculum</a:t>
            </a:r>
          </a:p>
        </p:txBody>
      </p:sp>
      <p:sp>
        <p:nvSpPr>
          <p:cNvPr id="40" name="Lbl1"/>
          <p:cNvSpPr/>
          <p:nvPr/>
        </p:nvSpPr>
        <p:spPr>
          <a:xfrm>
            <a:off x="457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N=30 students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3 disciplines</a:t>
            </a:r>
          </a:p>
        </p:txBody>
      </p:sp>
      <p:sp>
        <p:nvSpPr>
          <p:cNvPr id="41" name="Lbl2"/>
          <p:cNvSpPr/>
          <p:nvPr/>
        </p:nvSpPr>
        <p:spPr>
          <a:xfrm>
            <a:off x="2278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Logs, Think-aloud,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Expert rating</a:t>
            </a:r>
          </a:p>
        </p:txBody>
      </p:sp>
      <p:sp>
        <p:nvSpPr>
          <p:cNvPr id="42" name="Lbl3"/>
          <p:cNvSpPr/>
          <p:nvPr/>
        </p:nvSpPr>
        <p:spPr>
          <a:xfrm>
            <a:off x="4099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spaCy NLP +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CATMA coding</a:t>
            </a:r>
          </a:p>
        </p:txBody>
      </p:sp>
      <p:sp>
        <p:nvSpPr>
          <p:cNvPr id="43" name="Lbl4"/>
          <p:cNvSpPr/>
          <p:nvPr/>
        </p:nvSpPr>
        <p:spPr>
          <a:xfrm>
            <a:off x="5920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Prompt Engineering,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Validation + 3 more</a:t>
            </a:r>
          </a:p>
        </p:txBody>
      </p:sp>
      <p:sp>
        <p:nvSpPr>
          <p:cNvPr id="44" name="Lbl5"/>
          <p:cNvSpPr/>
          <p:nvPr/>
        </p:nvSpPr>
        <p:spPr>
          <a:xfrm>
            <a:off x="7741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MANOVA, CFA,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α and κ</a:t>
            </a:r>
          </a:p>
        </p:txBody>
      </p:sp>
      <p:sp>
        <p:nvSpPr>
          <p:cNvPr id="45" name="Lbl6"/>
          <p:cNvSpPr/>
          <p:nvPr/>
        </p:nvSpPr>
        <p:spPr>
          <a:xfrm>
            <a:off x="9562200" y="2590000"/>
            <a:ext cx="14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Discipline-specific</a:t>
            </a:r>
          </a:p>
          <a:p>
            <a:pPr algn="ctr"/>
            <a:r>
              <a:rPr lang="en-US" sz="900" dirty="0">
                <a:solidFill>
                  <a:srgbClr val="555555"/>
                </a:solidFill>
                <a:latin typeface="+mn-lt"/>
              </a:rPr>
              <a:t>AI modules</a:t>
            </a:r>
          </a:p>
        </p:txBody>
      </p:sp>
      <p:sp>
        <p:nvSpPr>
          <p:cNvPr id="50" name="InsightBar"/>
          <p:cNvSpPr/>
          <p:nvPr/>
        </p:nvSpPr>
        <p:spPr>
          <a:xfrm>
            <a:off x="457200" y="3200000"/>
            <a:ext cx="10944000" cy="76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Ins1"/>
          <p:cNvSpPr/>
          <p:nvPr/>
        </p:nvSpPr>
        <p:spPr>
          <a:xfrm>
            <a:off x="457200" y="3330000"/>
            <a:ext cx="3505200" cy="533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19050">
            <a:solidFill>
              <a:srgbClr val="267C8F"/>
            </a:solidFill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1E3A5F"/>
                </a:solidFill>
                <a:latin typeface="+mn-lt"/>
              </a:rPr>
              <a:t>Business</a:t>
            </a:r>
            <a:r>
              <a:rPr lang="en-US" sz="1000" dirty="0">
                <a:solidFill>
                  <a:srgbClr val="333333"/>
                </a:solidFill>
                <a:latin typeface="+mn-lt"/>
              </a:rPr>
              <a:t>  Strongest Prompt Engineering (M=3.8)</a:t>
            </a:r>
          </a:p>
        </p:txBody>
      </p:sp>
      <p:sp>
        <p:nvSpPr>
          <p:cNvPr id="52" name="Ins2"/>
          <p:cNvSpPr/>
          <p:nvPr/>
        </p:nvSpPr>
        <p:spPr>
          <a:xfrm>
            <a:off x="4149600" y="3330000"/>
            <a:ext cx="3505200" cy="53340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 w="19050">
            <a:solidFill>
              <a:srgbClr val="C8924B"/>
            </a:solidFill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1E3A5F"/>
                </a:solidFill>
                <a:latin typeface="+mn-lt"/>
              </a:rPr>
              <a:t>Health Sciences</a:t>
            </a:r>
            <a:r>
              <a:rPr lang="en-US" sz="1000" dirty="0">
                <a:solidFill>
                  <a:srgbClr val="333333"/>
                </a:solidFill>
                <a:latin typeface="+mn-lt"/>
              </a:rPr>
              <a:t>  Highest Output Validation (M=4.1)</a:t>
            </a:r>
          </a:p>
        </p:txBody>
      </p:sp>
      <p:sp>
        <p:nvSpPr>
          <p:cNvPr id="53" name="Ins3"/>
          <p:cNvSpPr/>
          <p:nvPr/>
        </p:nvSpPr>
        <p:spPr>
          <a:xfrm>
            <a:off x="7842000" y="3330000"/>
            <a:ext cx="3505200" cy="533400"/>
          </a:xfrm>
          <a:prstGeom prst="roundRect">
            <a:avLst>
              <a:gd name="adj" fmla="val 10000"/>
            </a:avLst>
          </a:prstGeom>
          <a:solidFill>
            <a:srgbClr val="EEF4EE"/>
          </a:solidFill>
          <a:ln w="19050">
            <a:solidFill>
              <a:srgbClr val="2C6E49"/>
            </a:solidFill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1E3A5F"/>
                </a:solidFill>
                <a:latin typeface="+mn-lt"/>
              </a:rPr>
              <a:t>Humanities</a:t>
            </a:r>
            <a:r>
              <a:rPr lang="en-US" sz="1000" dirty="0">
                <a:solidFill>
                  <a:srgbClr val="333333"/>
                </a:solidFill>
                <a:latin typeface="+mn-lt"/>
              </a:rPr>
              <a:t>  Highest Collaborative Sensemaking (M=3.9)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664DE52-B293-D6A1-F2A8-3818D004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>
            <a:extLst>
              <a:ext uri="{FF2B5EF4-FFF2-40B4-BE49-F238E27FC236}">
                <a16:creationId xmlns:a16="http://schemas.microsoft.com/office/drawing/2014/main" id="{D3E3DBD5-4A20-E208-BD94-24AE3754E17B}"/>
              </a:ext>
            </a:extLst>
          </p:cNvPr>
          <p:cNvGrpSpPr/>
          <p:nvPr/>
        </p:nvGrpSpPr>
        <p:grpSpPr>
          <a:xfrm>
            <a:off x="9260609" y="238701"/>
            <a:ext cx="2866425" cy="1189675"/>
            <a:chOff x="837550" y="656850"/>
            <a:chExt cx="7842475" cy="3254925"/>
          </a:xfrm>
        </p:grpSpPr>
        <p:sp>
          <p:nvSpPr>
            <p:cNvPr id="102" name="Google Shape;102;p19">
              <a:extLst>
                <a:ext uri="{FF2B5EF4-FFF2-40B4-BE49-F238E27FC236}">
                  <a16:creationId xmlns:a16="http://schemas.microsoft.com/office/drawing/2014/main" id="{072569BB-416E-C761-C82E-79F6D2F19383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algn="ctr"/>
              <a:endParaRPr sz="512"/>
            </a:p>
          </p:txBody>
        </p:sp>
        <p:pic>
          <p:nvPicPr>
            <p:cNvPr id="103" name="Google Shape;103;p19" title="NAIRR Expansion Conference_RE lg.png">
              <a:extLst>
                <a:ext uri="{FF2B5EF4-FFF2-40B4-BE49-F238E27FC236}">
                  <a16:creationId xmlns:a16="http://schemas.microsoft.com/office/drawing/2014/main" id="{8CE7A7A2-FE68-DCDC-1EF1-5533113CE51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944A7183-81D3-F3F2-FEB7-40DC5B086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1" y="383885"/>
            <a:ext cx="8902391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n-lt"/>
              </a:rPr>
              <a:t>Research Questions</a:t>
            </a:r>
            <a:endParaRPr dirty="0">
              <a:latin typeface="+mn-lt"/>
            </a:endParaRPr>
          </a:p>
        </p:txBody>
      </p:sp>
      <p:sp>
        <p:nvSpPr>
          <p:cNvPr id="105" name="Google Shape;105;p19">
            <a:extLst>
              <a:ext uri="{FF2B5EF4-FFF2-40B4-BE49-F238E27FC236}">
                <a16:creationId xmlns:a16="http://schemas.microsoft.com/office/drawing/2014/main" id="{E1EF2A45-5879-8A6D-8288-0104A9AB5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RQ1 — Empirical Question</a:t>
            </a:r>
          </a:p>
        </p:txBody>
      </p:sp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C91CAC87-1A14-B80D-E9F8-66B1350D074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+mn-lt"/>
              </a:rPr>
              <a:t>Do students from Business (n=10), Health Sciences (n=10), and Humanities (n=10) show statistically significant, discipline-specific differences across five CDM dimensions — prompt specificity, problem decomposition depth, output validation rigor, ethical integration, and collaborative sensemaking — as measured by NLP log analysis and expert rubric coding?</a:t>
            </a:r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E80FF3FE-443C-1714-0B0A-EA5E358E95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RQ2 — Methodological Question</a:t>
            </a:r>
          </a:p>
        </p:txBody>
      </p:sp>
      <p:sp>
        <p:nvSpPr>
          <p:cNvPr id="108" name="Google Shape;108;p19">
            <a:extLst>
              <a:ext uri="{FF2B5EF4-FFF2-40B4-BE49-F238E27FC236}">
                <a16:creationId xmlns:a16="http://schemas.microsoft.com/office/drawing/2014/main" id="{4F218DC6-9B03-D9F3-4F47-4DF04155925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+mn-lt"/>
              </a:rPr>
              <a:t>Can the CDM scoring rubric, applied across three independent faculty raters using CATMA-coded think-aloud transcripts and spaCy-analyzed prompt logs, achieve inter-rater reliability (Cohen's κ) &gt; 0.80 and internal consistency (Cronbach's α) &gt; 0.75 per dimension, with criterion validity established against independent disciplinary performance outcomes?</a:t>
            </a:r>
          </a:p>
          <a:p>
            <a:pPr marL="0" indent="0" algn="just">
              <a:buNone/>
            </a:pPr>
            <a:endParaRPr lang="en-US" sz="1600" dirty="0">
              <a:solidFill>
                <a:srgbClr val="1F2937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1E3A5F"/>
                </a:solidFill>
                <a:latin typeface="+mn-lt"/>
              </a:rPr>
              <a:t>Rationale for Dual Research Design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+mn-lt"/>
              </a:rPr>
              <a:t>RQ1 establishes descriptive validity — do discipline-specific differences exist? RQ2 establishes measurement validity — can those differences be reliably operationalized? Both are required to move from observational findings to replicable, scalable curriculum assessment tools suitable for NSF IUSE dissemination.</a:t>
            </a:r>
          </a:p>
        </p:txBody>
      </p:sp>
    </p:spTree>
    <p:extLst>
      <p:ext uri="{BB962C8B-B14F-4D97-AF65-F5344CB8AC3E}">
        <p14:creationId xmlns:p14="http://schemas.microsoft.com/office/powerpoint/2010/main" val="228216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664DE52-B293-D6A1-F2A8-3818D004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>
            <a:extLst>
              <a:ext uri="{FF2B5EF4-FFF2-40B4-BE49-F238E27FC236}">
                <a16:creationId xmlns:a16="http://schemas.microsoft.com/office/drawing/2014/main" id="{D3E3DBD5-4A20-E208-BD94-24AE3754E17B}"/>
              </a:ext>
            </a:extLst>
          </p:cNvPr>
          <p:cNvGrpSpPr/>
          <p:nvPr/>
        </p:nvGrpSpPr>
        <p:grpSpPr>
          <a:xfrm>
            <a:off x="9260609" y="238701"/>
            <a:ext cx="2866425" cy="1189675"/>
            <a:chOff x="837550" y="656850"/>
            <a:chExt cx="7842475" cy="3254925"/>
          </a:xfrm>
        </p:grpSpPr>
        <p:sp>
          <p:nvSpPr>
            <p:cNvPr id="102" name="Google Shape;102;p19">
              <a:extLst>
                <a:ext uri="{FF2B5EF4-FFF2-40B4-BE49-F238E27FC236}">
                  <a16:creationId xmlns:a16="http://schemas.microsoft.com/office/drawing/2014/main" id="{072569BB-416E-C761-C82E-79F6D2F19383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algn="ctr"/>
              <a:endParaRPr sz="512"/>
            </a:p>
          </p:txBody>
        </p:sp>
        <p:pic>
          <p:nvPicPr>
            <p:cNvPr id="103" name="Google Shape;103;p19" title="NAIRR Expansion Conference_RE lg.png">
              <a:extLst>
                <a:ext uri="{FF2B5EF4-FFF2-40B4-BE49-F238E27FC236}">
                  <a16:creationId xmlns:a16="http://schemas.microsoft.com/office/drawing/2014/main" id="{8CE7A7A2-FE68-DCDC-1EF1-5533113CE51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944A7183-81D3-F3F2-FEB7-40DC5B086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1" y="383885"/>
            <a:ext cx="8902391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n-lt"/>
              </a:rPr>
              <a:t>Research Contributions</a:t>
            </a:r>
            <a:endParaRPr dirty="0">
              <a:latin typeface="+mn-lt"/>
            </a:endParaRPr>
          </a:p>
        </p:txBody>
      </p:sp>
      <p:sp>
        <p:nvSpPr>
          <p:cNvPr id="105" name="Google Shape;105;p19">
            <a:extLst>
              <a:ext uri="{FF2B5EF4-FFF2-40B4-BE49-F238E27FC236}">
                <a16:creationId xmlns:a16="http://schemas.microsoft.com/office/drawing/2014/main" id="{E1EF2A45-5879-8A6D-8288-0104A9AB5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Novel Contributions</a:t>
            </a:r>
          </a:p>
        </p:txBody>
      </p:sp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C91CAC87-1A14-B80D-E9F8-66B1350D074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First cross-disciplinary CDM framework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for measuring AI cognitive engagement across Business, Health Sciences, and Humanities.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Multi-method measurement pipeline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integrating NLP interaction logs, think-aloud protocols, and expert coding.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Psychometric validation approach for AI curriculum assessment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(α = 0.76–0.83, κ = 0.81–0.87) suitable for curriculum research dissemination.</a:t>
            </a:r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E80FF3FE-443C-1714-0B0A-EA5E358E95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Preliminary Evidence</a:t>
            </a:r>
          </a:p>
        </p:txBody>
      </p:sp>
      <p:sp>
        <p:nvSpPr>
          <p:cNvPr id="108" name="Google Shape;108;p19">
            <a:extLst>
              <a:ext uri="{FF2B5EF4-FFF2-40B4-BE49-F238E27FC236}">
                <a16:creationId xmlns:a16="http://schemas.microsoft.com/office/drawing/2014/main" id="{4F218DC6-9B03-D9F3-4F47-4DF04155925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Evidence for discipline-specific AI reasoning patterns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significant MANOVA effects across all five CDM dimensions (Wilks' λ = 0.61, p &lt; 0.001).</a:t>
            </a:r>
          </a:p>
          <a:p>
            <a:pPr algn="just"/>
            <a:endParaRPr lang="en-US" sz="14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Scalable open infrastructure for replication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with an open-source scoring pipeline and CC-BY dataset on OSF for broad replication.</a:t>
            </a:r>
          </a:p>
        </p:txBody>
      </p:sp>
    </p:spTree>
    <p:extLst>
      <p:ext uri="{BB962C8B-B14F-4D97-AF65-F5344CB8AC3E}">
        <p14:creationId xmlns:p14="http://schemas.microsoft.com/office/powerpoint/2010/main" val="228216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144D813-54C2-35DB-9024-28117DAD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BFA0F06-7C71-2C20-33F6-505D5805E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91861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n-US" sz="3200" dirty="0">
                <a:solidFill>
                  <a:schemeClr val="bg2"/>
                </a:solidFill>
                <a:latin typeface="+mn-lt"/>
              </a:rPr>
              <a:t>The CDM </a:t>
            </a:r>
            <a:r>
              <a:rPr lang="en-US" sz="2800" dirty="0">
                <a:solidFill>
                  <a:schemeClr val="bg2"/>
                </a:solidFill>
                <a:latin typeface="+mn-lt"/>
              </a:rPr>
              <a:t>Framework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: Measurement Approach and Data Sources</a:t>
            </a: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23A95BCA-83FC-8AED-C3BB-22C74C500AC8}"/>
              </a:ext>
            </a:extLst>
          </p:cNvPr>
          <p:cNvSpPr txBox="1">
            <a:spLocks/>
          </p:cNvSpPr>
          <p:nvPr/>
        </p:nvSpPr>
        <p:spPr>
          <a:xfrm>
            <a:off x="609601" y="1198217"/>
            <a:ext cx="5410499" cy="5467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6198" indent="0" algn="just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+mn-lt"/>
              </a:rPr>
              <a:t>A </a:t>
            </a:r>
            <a:r>
              <a:rPr lang="en-US" sz="1800" b="1" dirty="0">
                <a:solidFill>
                  <a:schemeClr val="bg2"/>
                </a:solidFill>
                <a:latin typeface="+mn-lt"/>
              </a:rPr>
              <a:t>convergent mixed-methods measurement instrument </a:t>
            </a:r>
            <a:r>
              <a:rPr lang="en-US" sz="1800" dirty="0">
                <a:solidFill>
                  <a:srgbClr val="1A1A1A"/>
                </a:solidFill>
                <a:latin typeface="+mn-lt"/>
              </a:rPr>
              <a:t>operationalizing five dimensions of AI cognitive engagement, grounded in epistemic cognition theory (Hofer &amp; Pintrich, 1997) and AI interaction taxonomies. Evidence base: </a:t>
            </a:r>
            <a:r>
              <a:rPr lang="en-US" sz="1800" b="1" dirty="0">
                <a:solidFill>
                  <a:schemeClr val="bg2"/>
                </a:solidFill>
                <a:latin typeface="+mn-lt"/>
              </a:rPr>
              <a:t>360+ hrs logged across N=30 (10/discipline)</a:t>
            </a:r>
            <a:r>
              <a:rPr lang="en-US" sz="1800" dirty="0">
                <a:solidFill>
                  <a:srgbClr val="1A1A1A"/>
                </a:solidFill>
                <a:latin typeface="+mn-lt"/>
              </a:rPr>
              <a:t>. Three convergent data streams:</a:t>
            </a:r>
          </a:p>
          <a:p>
            <a:pPr marL="76198" indent="0" algn="just">
              <a:spcAft>
                <a:spcPts val="600"/>
              </a:spcAft>
              <a:buNone/>
            </a:pPr>
            <a:endParaRPr lang="en-US" sz="1800" dirty="0">
              <a:solidFill>
                <a:srgbClr val="1A1A1A"/>
              </a:solidFill>
              <a:latin typeface="+mn-lt"/>
            </a:endParaRPr>
          </a:p>
          <a:p>
            <a:pPr marL="76198" indent="0" algn="just">
              <a:spcAft>
                <a:spcPts val="600"/>
              </a:spcAft>
              <a:buNone/>
            </a:pPr>
            <a:endParaRPr lang="en-US" sz="1800" dirty="0">
              <a:solidFill>
                <a:srgbClr val="1A1A1A"/>
              </a:solidFill>
              <a:latin typeface="+mn-lt"/>
            </a:endParaRPr>
          </a:p>
          <a:p>
            <a:pPr marL="76198" indent="0" algn="just">
              <a:spcAft>
                <a:spcPts val="600"/>
              </a:spcAft>
              <a:buNone/>
            </a:pPr>
            <a:endParaRPr lang="en-US" sz="1800" dirty="0">
              <a:solidFill>
                <a:srgbClr val="1A1A1A"/>
              </a:solidFill>
              <a:latin typeface="+mn-lt"/>
            </a:endParaRPr>
          </a:p>
          <a:p>
            <a:pPr marL="76198" indent="0" algn="just">
              <a:spcAft>
                <a:spcPts val="600"/>
              </a:spcAft>
              <a:buNone/>
            </a:pPr>
            <a:endParaRPr lang="en-US" sz="1800" dirty="0">
              <a:solidFill>
                <a:srgbClr val="1A1A1A"/>
              </a:solidFill>
              <a:latin typeface="+mn-lt"/>
            </a:endParaRPr>
          </a:p>
          <a:p>
            <a:pPr algn="just">
              <a:spcAft>
                <a:spcPts val="600"/>
              </a:spcAft>
              <a:buFontTx/>
              <a:buChar char="-"/>
            </a:pPr>
            <a:endParaRPr lang="en-US" sz="600" dirty="0">
              <a:solidFill>
                <a:srgbClr val="1A1A1A"/>
              </a:solidFill>
              <a:latin typeface="+mn-lt"/>
            </a:endParaRPr>
          </a:p>
          <a:p>
            <a:pPr marL="76198" indent="0" algn="just">
              <a:spcAft>
                <a:spcPts val="600"/>
              </a:spcAft>
              <a:buNone/>
            </a:pPr>
            <a:endParaRPr lang="en-US" sz="1800" dirty="0">
              <a:solidFill>
                <a:srgbClr val="1A1A1A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7A79C-72EA-FC42-6014-04F0464E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34" y="3429000"/>
            <a:ext cx="4830185" cy="2837759"/>
          </a:xfrm>
          <a:prstGeom prst="rect">
            <a:avLst/>
          </a:prstGeom>
        </p:spPr>
      </p:pic>
      <p:sp>
        <p:nvSpPr>
          <p:cNvPr id="16" name="Google Shape;83;p16">
            <a:extLst>
              <a:ext uri="{FF2B5EF4-FFF2-40B4-BE49-F238E27FC236}">
                <a16:creationId xmlns:a16="http://schemas.microsoft.com/office/drawing/2014/main" id="{42F13B74-B54E-1D48-E6E4-EB9389FD0F7A}"/>
              </a:ext>
            </a:extLst>
          </p:cNvPr>
          <p:cNvSpPr txBox="1">
            <a:spLocks/>
          </p:cNvSpPr>
          <p:nvPr/>
        </p:nvSpPr>
        <p:spPr>
          <a:xfrm>
            <a:off x="1015871" y="3389296"/>
            <a:ext cx="4519448" cy="308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61948" indent="-285750" algn="just">
              <a:spcAft>
                <a:spcPts val="600"/>
              </a:spcAft>
            </a:pPr>
            <a:r>
              <a:rPr lang="en-US" sz="1800" b="1" dirty="0">
                <a:solidFill>
                  <a:schemeClr val="bg2"/>
                </a:solidFill>
                <a:latin typeface="+mn-lt"/>
              </a:rPr>
              <a:t>Interaction logs</a:t>
            </a:r>
            <a:r>
              <a:rPr lang="en-US" sz="1800" b="1" dirty="0">
                <a:solidFill>
                  <a:srgbClr val="FF9900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C8924B"/>
                </a:solidFill>
                <a:latin typeface="+mn-lt"/>
                <a:ea typeface="Calibri" pitchFamily="34" charset="-122"/>
                <a:cs typeface="Calibri" pitchFamily="34" charset="-120"/>
              </a:rPr>
              <a:t>·  360+ hours </a:t>
            </a:r>
            <a:r>
              <a:rPr lang="en-US" sz="1800" b="1" dirty="0">
                <a:solidFill>
                  <a:schemeClr val="bg2"/>
                </a:solidFill>
                <a:latin typeface="+mn-lt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Custom middleware on ChatGPT/Claude APIs. </a:t>
            </a:r>
            <a:r>
              <a:rPr lang="en-US" sz="1800" dirty="0" err="1">
                <a:solidFill>
                  <a:schemeClr val="tx1"/>
                </a:solidFill>
                <a:latin typeface="+mn-lt"/>
              </a:rPr>
              <a:t>spaCy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NLP for linguistic patterns.</a:t>
            </a:r>
          </a:p>
          <a:p>
            <a:pPr marL="285750" indent="-285750" algn="just"/>
            <a:r>
              <a:rPr lang="en-US" sz="1800" b="1" dirty="0">
                <a:solidFill>
                  <a:srgbClr val="0F2C4D"/>
                </a:solidFill>
                <a:latin typeface="+mn-lt"/>
                <a:ea typeface="Calibri" pitchFamily="34" charset="-122"/>
                <a:cs typeface="Calibri" pitchFamily="34" charset="-120"/>
              </a:rPr>
              <a:t>Think-aloud protocols </a:t>
            </a:r>
            <a:r>
              <a:rPr lang="en-US" sz="1800" b="1" dirty="0">
                <a:solidFill>
                  <a:srgbClr val="C8924B"/>
                </a:solidFill>
                <a:latin typeface="+mn-lt"/>
                <a:ea typeface="Calibri" pitchFamily="34" charset="-122"/>
                <a:cs typeface="Calibri" pitchFamily="34" charset="-120"/>
              </a:rPr>
              <a:t>·  n = 18 </a:t>
            </a:r>
            <a:r>
              <a:rPr lang="en-US" sz="1800" b="1" dirty="0">
                <a:solidFill>
                  <a:schemeClr val="bg2"/>
                </a:solidFill>
                <a:latin typeface="+mn-lt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Custom </a:t>
            </a:r>
            <a:r>
              <a:rPr lang="en-US" sz="1800" dirty="0">
                <a:solidFill>
                  <a:srgbClr val="1F2937"/>
                </a:solidFill>
                <a:latin typeface="+mn-lt"/>
                <a:ea typeface="Calibri" pitchFamily="34" charset="-122"/>
                <a:cs typeface="Calibri" pitchFamily="34" charset="-120"/>
              </a:rPr>
              <a:t>Qualitative validation. Captures reasoning students do not articulate in prompts.</a:t>
            </a:r>
            <a:endParaRPr lang="en-US" sz="1800" dirty="0">
              <a:latin typeface="+mn-lt"/>
            </a:endParaRPr>
          </a:p>
          <a:p>
            <a:pPr marL="285750" indent="-285750" algn="just"/>
            <a:r>
              <a:rPr lang="en-US" sz="1800" b="1" dirty="0">
                <a:solidFill>
                  <a:srgbClr val="0F2C4D"/>
                </a:solidFill>
                <a:latin typeface="+mn-lt"/>
                <a:ea typeface="Calibri" pitchFamily="34" charset="-122"/>
                <a:cs typeface="Calibri" pitchFamily="34" charset="-120"/>
              </a:rPr>
              <a:t>Expert coding </a:t>
            </a:r>
            <a:r>
              <a:rPr lang="en-US" sz="1800" b="1" dirty="0">
                <a:solidFill>
                  <a:srgbClr val="C8924B"/>
                </a:solidFill>
                <a:latin typeface="+mn-lt"/>
                <a:ea typeface="Calibri" pitchFamily="34" charset="-122"/>
                <a:cs typeface="Calibri" pitchFamily="34" charset="-120"/>
              </a:rPr>
              <a:t>·  3 coders </a:t>
            </a:r>
            <a:r>
              <a:rPr lang="en-US" sz="1800" b="1" dirty="0">
                <a:solidFill>
                  <a:schemeClr val="bg2"/>
                </a:solidFill>
                <a:latin typeface="+mn-lt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Custom </a:t>
            </a:r>
            <a:r>
              <a:rPr lang="en-US" sz="1800" dirty="0">
                <a:solidFill>
                  <a:srgbClr val="1F2937"/>
                </a:solidFill>
                <a:latin typeface="+mn-lt"/>
                <a:ea typeface="Calibri" pitchFamily="34" charset="-122"/>
                <a:cs typeface="Calibri" pitchFamily="34" charset="-120"/>
              </a:rPr>
              <a:t>Faculty raters establish ground truth. Inter-rater reliability target &gt; 0.80</a:t>
            </a:r>
            <a:endParaRPr lang="en-US" sz="1800" dirty="0">
              <a:latin typeface="+mn-lt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70633D4-E579-B4B4-0074-0129F524603E}"/>
              </a:ext>
            </a:extLst>
          </p:cNvPr>
          <p:cNvSpPr/>
          <p:nvPr/>
        </p:nvSpPr>
        <p:spPr>
          <a:xfrm>
            <a:off x="6713299" y="175365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CDM targets process-level constructs — prompt decomposition depth, iterative refinement count, validation strategy type, ethical qualifier density — not just task-completion outcomes</a:t>
            </a:r>
          </a:p>
        </p:txBody>
      </p:sp>
    </p:spTree>
    <p:extLst>
      <p:ext uri="{BB962C8B-B14F-4D97-AF65-F5344CB8AC3E}">
        <p14:creationId xmlns:p14="http://schemas.microsoft.com/office/powerpoint/2010/main" val="1229563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47729629-7E39-7CFE-77D0-07A11BDC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97697C7-A7D7-4539-B63D-924131255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+mn-lt"/>
              </a:rPr>
              <a:t>Study Design: 12-Week Mixed-Methods Pilot — Three-Phase Protocol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A0636D-A478-F8CD-9249-FA6655424914}"/>
              </a:ext>
            </a:extLst>
          </p:cNvPr>
          <p:cNvGrpSpPr/>
          <p:nvPr/>
        </p:nvGrpSpPr>
        <p:grpSpPr>
          <a:xfrm>
            <a:off x="1010645" y="3170513"/>
            <a:ext cx="9191296" cy="2368401"/>
            <a:chOff x="1119352" y="3317696"/>
            <a:chExt cx="8311896" cy="2286000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70290638-B655-4401-4548-36B423F5747B}"/>
                </a:ext>
              </a:extLst>
            </p:cNvPr>
            <p:cNvSpPr/>
            <p:nvPr/>
          </p:nvSpPr>
          <p:spPr>
            <a:xfrm>
              <a:off x="1119352" y="3317696"/>
              <a:ext cx="2697480" cy="228600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B6B885E9-DE58-E911-187C-AF28F49283DB}"/>
                </a:ext>
              </a:extLst>
            </p:cNvPr>
            <p:cNvSpPr/>
            <p:nvPr/>
          </p:nvSpPr>
          <p:spPr>
            <a:xfrm>
              <a:off x="1119352" y="3317696"/>
              <a:ext cx="2697480" cy="411480"/>
            </a:xfrm>
            <a:prstGeom prst="rect">
              <a:avLst/>
            </a:prstGeom>
            <a:solidFill>
              <a:srgbClr val="0F2C4D"/>
            </a:solidFill>
            <a:ln/>
          </p:spPr>
          <p:txBody>
            <a:bodyPr/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8DED2E39-3B63-80DF-DE70-153A60D852A3}"/>
                </a:ext>
              </a:extLst>
            </p:cNvPr>
            <p:cNvSpPr/>
            <p:nvPr/>
          </p:nvSpPr>
          <p:spPr>
            <a:xfrm>
              <a:off x="1119352" y="3317696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spc="400" dirty="0">
                  <a:solidFill>
                    <a:srgbClr val="FFFFFF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WEEKS 1–4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0A33D563-11AB-ECBC-D00F-748769BC51A3}"/>
                </a:ext>
              </a:extLst>
            </p:cNvPr>
            <p:cNvSpPr/>
            <p:nvPr/>
          </p:nvSpPr>
          <p:spPr>
            <a:xfrm>
              <a:off x="1302232" y="3912056"/>
              <a:ext cx="502920" cy="502920"/>
            </a:xfrm>
            <a:prstGeom prst="ellipse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C3E66E59-86CA-EA8D-C9D3-19F6FD85AA25}"/>
                </a:ext>
              </a:extLst>
            </p:cNvPr>
            <p:cNvSpPr/>
            <p:nvPr/>
          </p:nvSpPr>
          <p:spPr>
            <a:xfrm>
              <a:off x="1302232" y="3912056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1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59E4F5A4-CBB3-CB33-A182-BD371ECFC3BB}"/>
                </a:ext>
              </a:extLst>
            </p:cNvPr>
            <p:cNvSpPr/>
            <p:nvPr/>
          </p:nvSpPr>
          <p:spPr>
            <a:xfrm>
              <a:off x="1896592" y="3912056"/>
              <a:ext cx="17830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F2C4D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Instrument Development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092E0961-FC47-C381-EC04-6E168B4F4618}"/>
                </a:ext>
              </a:extLst>
            </p:cNvPr>
            <p:cNvSpPr/>
            <p:nvPr/>
          </p:nvSpPr>
          <p:spPr>
            <a:xfrm>
              <a:off x="1302232" y="4597856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F2937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rPr>
                <a:t>AI literacy modules with interaction logging. Baseline pre-assessment. Discipline-specific task design. Inter-rater coder norming sessions.</a:t>
              </a:r>
              <a:endParaRPr lang="en-US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A0BA85F3-9C9E-C934-B363-6C364EC169F5}"/>
                </a:ext>
              </a:extLst>
            </p:cNvPr>
            <p:cNvSpPr/>
            <p:nvPr/>
          </p:nvSpPr>
          <p:spPr>
            <a:xfrm>
              <a:off x="3926560" y="3317696"/>
              <a:ext cx="2697480" cy="228600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3B578CA2-E2D2-AA70-1DC4-727442381EB7}"/>
                </a:ext>
              </a:extLst>
            </p:cNvPr>
            <p:cNvSpPr/>
            <p:nvPr/>
          </p:nvSpPr>
          <p:spPr>
            <a:xfrm>
              <a:off x="3926560" y="3317696"/>
              <a:ext cx="2697480" cy="411480"/>
            </a:xfrm>
            <a:prstGeom prst="rect">
              <a:avLst/>
            </a:prstGeom>
            <a:solidFill>
              <a:srgbClr val="0F2C4D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818111AF-7872-1274-7359-EAB3C145168F}"/>
                </a:ext>
              </a:extLst>
            </p:cNvPr>
            <p:cNvSpPr/>
            <p:nvPr/>
          </p:nvSpPr>
          <p:spPr>
            <a:xfrm>
              <a:off x="3926560" y="3317696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spc="400" dirty="0">
                  <a:solidFill>
                    <a:srgbClr val="FFFFFF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WEEKS 5–8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12" name="Shape 13">
              <a:extLst>
                <a:ext uri="{FF2B5EF4-FFF2-40B4-BE49-F238E27FC236}">
                  <a16:creationId xmlns:a16="http://schemas.microsoft.com/office/drawing/2014/main" id="{855BA2B3-7919-2229-D323-40CB9FB92630}"/>
                </a:ext>
              </a:extLst>
            </p:cNvPr>
            <p:cNvSpPr/>
            <p:nvPr/>
          </p:nvSpPr>
          <p:spPr>
            <a:xfrm>
              <a:off x="4109440" y="3912056"/>
              <a:ext cx="502920" cy="502920"/>
            </a:xfrm>
            <a:prstGeom prst="ellipse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5D109614-A91B-4A90-228D-22D61FB5EFC7}"/>
                </a:ext>
              </a:extLst>
            </p:cNvPr>
            <p:cNvSpPr/>
            <p:nvPr/>
          </p:nvSpPr>
          <p:spPr>
            <a:xfrm>
              <a:off x="4109440" y="3912056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2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FC3234CE-39A2-E215-A4B5-553E9AD4F6CD}"/>
                </a:ext>
              </a:extLst>
            </p:cNvPr>
            <p:cNvSpPr/>
            <p:nvPr/>
          </p:nvSpPr>
          <p:spPr>
            <a:xfrm>
              <a:off x="4703800" y="3912056"/>
              <a:ext cx="17830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F2C4D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Discipline Data Collection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DDC7B779-3A34-02C8-333F-E3BD3163020A}"/>
                </a:ext>
              </a:extLst>
            </p:cNvPr>
            <p:cNvSpPr/>
            <p:nvPr/>
          </p:nvSpPr>
          <p:spPr>
            <a:xfrm>
              <a:off x="4109440" y="4597856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Discipline-specific AI workshops. Think-aloud protocol sessions (n = 18). CDM rubric scoring and competency assessments per discipline cohort.</a:t>
              </a:r>
              <a:endParaRPr lang="en-US" dirty="0">
                <a:latin typeface="+mn-lt"/>
              </a:endParaRPr>
            </a:p>
          </p:txBody>
        </p:sp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FA68A5B3-5EA1-B432-1E91-C641622CB05F}"/>
                </a:ext>
              </a:extLst>
            </p:cNvPr>
            <p:cNvSpPr/>
            <p:nvPr/>
          </p:nvSpPr>
          <p:spPr>
            <a:xfrm>
              <a:off x="6733768" y="3317696"/>
              <a:ext cx="2697480" cy="228600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3DCFDF59-75A2-4A7B-276D-05EE15A6DBC7}"/>
                </a:ext>
              </a:extLst>
            </p:cNvPr>
            <p:cNvSpPr/>
            <p:nvPr/>
          </p:nvSpPr>
          <p:spPr>
            <a:xfrm>
              <a:off x="6733768" y="3317696"/>
              <a:ext cx="2697480" cy="411480"/>
            </a:xfrm>
            <a:prstGeom prst="rect">
              <a:avLst/>
            </a:prstGeom>
            <a:solidFill>
              <a:srgbClr val="0F2C4D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190D0AA8-13D7-1B02-58E1-AB003C3007A0}"/>
                </a:ext>
              </a:extLst>
            </p:cNvPr>
            <p:cNvSpPr/>
            <p:nvPr/>
          </p:nvSpPr>
          <p:spPr>
            <a:xfrm>
              <a:off x="6733768" y="3317696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spc="400" dirty="0">
                  <a:solidFill>
                    <a:srgbClr val="FFFFFF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WEEKS 9–12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19" name="Shape 20">
              <a:extLst>
                <a:ext uri="{FF2B5EF4-FFF2-40B4-BE49-F238E27FC236}">
                  <a16:creationId xmlns:a16="http://schemas.microsoft.com/office/drawing/2014/main" id="{16ED8EF7-2042-1E6D-76BA-CA29C62C1A4F}"/>
                </a:ext>
              </a:extLst>
            </p:cNvPr>
            <p:cNvSpPr/>
            <p:nvPr/>
          </p:nvSpPr>
          <p:spPr>
            <a:xfrm>
              <a:off x="6916648" y="3912056"/>
              <a:ext cx="502920" cy="502920"/>
            </a:xfrm>
            <a:prstGeom prst="ellipse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E1186778-D0F3-241F-515C-F154D4129386}"/>
                </a:ext>
              </a:extLst>
            </p:cNvPr>
            <p:cNvSpPr/>
            <p:nvPr/>
          </p:nvSpPr>
          <p:spPr>
            <a:xfrm>
              <a:off x="6916648" y="3912056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3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C4A1530A-65EA-1D2C-69CE-BA4D0FBF4404}"/>
                </a:ext>
              </a:extLst>
            </p:cNvPr>
            <p:cNvSpPr/>
            <p:nvPr/>
          </p:nvSpPr>
          <p:spPr>
            <a:xfrm>
              <a:off x="7511008" y="3912056"/>
              <a:ext cx="17830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F2C4D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Interdisciplinary Validation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B1BBDFA1-924E-A7A5-219F-CB4E68F27446}"/>
                </a:ext>
              </a:extLst>
            </p:cNvPr>
            <p:cNvSpPr/>
            <p:nvPr/>
          </p:nvSpPr>
          <p:spPr>
            <a:xfrm>
              <a:off x="6916648" y="4597856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Interdisciplinary teams (3 students × 10 teams) address real-world partner challenges under full interaction logging. Cross-discipline CDM comparison.</a:t>
              </a:r>
              <a:endParaRPr lang="en-US" dirty="0">
                <a:latin typeface="+mn-lt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2314BC-D188-66A5-4F12-CD28A989DE8F}"/>
              </a:ext>
            </a:extLst>
          </p:cNvPr>
          <p:cNvGrpSpPr/>
          <p:nvPr/>
        </p:nvGrpSpPr>
        <p:grpSpPr>
          <a:xfrm>
            <a:off x="609600" y="1511127"/>
            <a:ext cx="3310347" cy="1417320"/>
            <a:chOff x="457200" y="3017520"/>
            <a:chExt cx="4206240" cy="1417320"/>
          </a:xfrm>
        </p:grpSpPr>
        <p:sp>
          <p:nvSpPr>
            <p:cNvPr id="62" name="Shape 6">
              <a:extLst>
                <a:ext uri="{FF2B5EF4-FFF2-40B4-BE49-F238E27FC236}">
                  <a16:creationId xmlns:a16="http://schemas.microsoft.com/office/drawing/2014/main" id="{DE0BD666-A497-58E9-3E83-0479D0B2DF63}"/>
                </a:ext>
              </a:extLst>
            </p:cNvPr>
            <p:cNvSpPr/>
            <p:nvPr/>
          </p:nvSpPr>
          <p:spPr>
            <a:xfrm>
              <a:off x="457200" y="3017520"/>
              <a:ext cx="4206240" cy="141732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3" name="Shape 7">
              <a:extLst>
                <a:ext uri="{FF2B5EF4-FFF2-40B4-BE49-F238E27FC236}">
                  <a16:creationId xmlns:a16="http://schemas.microsoft.com/office/drawing/2014/main" id="{5B3CEF4C-9E06-4950-6367-C48EC30232F8}"/>
                </a:ext>
              </a:extLst>
            </p:cNvPr>
            <p:cNvSpPr/>
            <p:nvPr/>
          </p:nvSpPr>
          <p:spPr>
            <a:xfrm>
              <a:off x="457200" y="3017520"/>
              <a:ext cx="73152" cy="1417320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4" name="Text 8">
              <a:extLst>
                <a:ext uri="{FF2B5EF4-FFF2-40B4-BE49-F238E27FC236}">
                  <a16:creationId xmlns:a16="http://schemas.microsoft.com/office/drawing/2014/main" id="{8B078C50-2717-40AD-5EE9-00ADFF0B6AAB}"/>
                </a:ext>
              </a:extLst>
            </p:cNvPr>
            <p:cNvSpPr/>
            <p:nvPr/>
          </p:nvSpPr>
          <p:spPr>
            <a:xfrm>
              <a:off x="685800" y="3108960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spc="4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DATASET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65" name="Text 9">
              <a:extLst>
                <a:ext uri="{FF2B5EF4-FFF2-40B4-BE49-F238E27FC236}">
                  <a16:creationId xmlns:a16="http://schemas.microsoft.com/office/drawing/2014/main" id="{1B41269B-15FB-59CC-4D10-1C345543047C}"/>
                </a:ext>
              </a:extLst>
            </p:cNvPr>
            <p:cNvSpPr/>
            <p:nvPr/>
          </p:nvSpPr>
          <p:spPr>
            <a:xfrm>
              <a:off x="685800" y="3337560"/>
              <a:ext cx="3931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30</a:t>
              </a:r>
              <a:r>
                <a:rPr lang="en-US" sz="1300" dirty="0">
                  <a:solidFill>
                    <a:srgbClr val="1F2937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 students. 10 per discipline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66" name="Text 10">
              <a:extLst>
                <a:ext uri="{FF2B5EF4-FFF2-40B4-BE49-F238E27FC236}">
                  <a16:creationId xmlns:a16="http://schemas.microsoft.com/office/drawing/2014/main" id="{E09D3E9C-C7CB-6684-B716-293A5D1CC39E}"/>
                </a:ext>
              </a:extLst>
            </p:cNvPr>
            <p:cNvSpPr/>
            <p:nvPr/>
          </p:nvSpPr>
          <p:spPr>
            <a:xfrm>
              <a:off x="685800" y="3749040"/>
              <a:ext cx="3931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i="1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N=30 (minimum viable N=24, power analysis: β=0.80, α=0.05, medium effect d=0.5). 10 per discipline (Business, Health Sciences, Humanities). Recruited via faculty course partnerships; stratified by GPA quartile.</a:t>
              </a:r>
              <a:endParaRPr lang="en-US" sz="1100" dirty="0">
                <a:latin typeface="+mn-lt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07B075-3550-591B-C90B-FD712DED78D7}"/>
              </a:ext>
            </a:extLst>
          </p:cNvPr>
          <p:cNvGrpSpPr/>
          <p:nvPr/>
        </p:nvGrpSpPr>
        <p:grpSpPr>
          <a:xfrm>
            <a:off x="4041284" y="1488267"/>
            <a:ext cx="3310347" cy="1417320"/>
            <a:chOff x="457200" y="3017520"/>
            <a:chExt cx="4206240" cy="1417320"/>
          </a:xfrm>
        </p:grpSpPr>
        <p:sp>
          <p:nvSpPr>
            <p:cNvPr id="68" name="Shape 6">
              <a:extLst>
                <a:ext uri="{FF2B5EF4-FFF2-40B4-BE49-F238E27FC236}">
                  <a16:creationId xmlns:a16="http://schemas.microsoft.com/office/drawing/2014/main" id="{B94BB016-3738-9B57-5E8A-115BEB8CF128}"/>
                </a:ext>
              </a:extLst>
            </p:cNvPr>
            <p:cNvSpPr/>
            <p:nvPr/>
          </p:nvSpPr>
          <p:spPr>
            <a:xfrm>
              <a:off x="457200" y="3017520"/>
              <a:ext cx="4206240" cy="141732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Shape 7">
              <a:extLst>
                <a:ext uri="{FF2B5EF4-FFF2-40B4-BE49-F238E27FC236}">
                  <a16:creationId xmlns:a16="http://schemas.microsoft.com/office/drawing/2014/main" id="{05529FBE-C565-E3BF-AF95-1C817999CA88}"/>
                </a:ext>
              </a:extLst>
            </p:cNvPr>
            <p:cNvSpPr/>
            <p:nvPr/>
          </p:nvSpPr>
          <p:spPr>
            <a:xfrm>
              <a:off x="457200" y="3017520"/>
              <a:ext cx="73152" cy="1417320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0" name="Text 8">
              <a:extLst>
                <a:ext uri="{FF2B5EF4-FFF2-40B4-BE49-F238E27FC236}">
                  <a16:creationId xmlns:a16="http://schemas.microsoft.com/office/drawing/2014/main" id="{33109D16-9869-AD5B-788A-D68571DC1005}"/>
                </a:ext>
              </a:extLst>
            </p:cNvPr>
            <p:cNvSpPr/>
            <p:nvPr/>
          </p:nvSpPr>
          <p:spPr>
            <a:xfrm>
              <a:off x="685800" y="3108960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spc="4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BROADENING PARTICIPATION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71" name="Text 9">
              <a:extLst>
                <a:ext uri="{FF2B5EF4-FFF2-40B4-BE49-F238E27FC236}">
                  <a16:creationId xmlns:a16="http://schemas.microsoft.com/office/drawing/2014/main" id="{86A24894-6307-356D-FF37-E807C54D7F90}"/>
                </a:ext>
              </a:extLst>
            </p:cNvPr>
            <p:cNvSpPr/>
            <p:nvPr/>
          </p:nvSpPr>
          <p:spPr>
            <a:xfrm>
              <a:off x="685800" y="3337560"/>
              <a:ext cx="3931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40%</a:t>
              </a:r>
              <a:r>
                <a:rPr lang="en-US" sz="1300" dirty="0">
                  <a:solidFill>
                    <a:srgbClr val="1F2937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 minority participation target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72" name="Text 10">
              <a:extLst>
                <a:ext uri="{FF2B5EF4-FFF2-40B4-BE49-F238E27FC236}">
                  <a16:creationId xmlns:a16="http://schemas.microsoft.com/office/drawing/2014/main" id="{36129BF2-CA63-2AD6-541D-ECE2D936005F}"/>
                </a:ext>
              </a:extLst>
            </p:cNvPr>
            <p:cNvSpPr/>
            <p:nvPr/>
          </p:nvSpPr>
          <p:spPr>
            <a:xfrm>
              <a:off x="685800" y="3749040"/>
              <a:ext cx="3931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i="1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≥40% URM participation target (exceeds UT Tyler baseline of 31%). $100 IRB-compliant completion stipends; digital micro-credential badges via Canvas Badges (IMS Global CLR standard) to reduce attrition.</a:t>
              </a:r>
              <a:endParaRPr lang="en-US" sz="1100" dirty="0">
                <a:latin typeface="+mn-lt"/>
              </a:endParaRPr>
            </a:p>
          </p:txBody>
        </p:sp>
      </p:grpSp>
      <p:sp>
        <p:nvSpPr>
          <p:cNvPr id="73" name="Shape 24">
            <a:extLst>
              <a:ext uri="{FF2B5EF4-FFF2-40B4-BE49-F238E27FC236}">
                <a16:creationId xmlns:a16="http://schemas.microsoft.com/office/drawing/2014/main" id="{CF48D447-B94F-708E-6ED3-38972BC8DD15}"/>
              </a:ext>
            </a:extLst>
          </p:cNvPr>
          <p:cNvSpPr/>
          <p:nvPr/>
        </p:nvSpPr>
        <p:spPr>
          <a:xfrm>
            <a:off x="1010646" y="5651778"/>
            <a:ext cx="9191295" cy="299191"/>
          </a:xfrm>
          <a:prstGeom prst="rect">
            <a:avLst/>
          </a:prstGeom>
          <a:solidFill>
            <a:srgbClr val="0F2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22B4274B-51F5-FE59-DE55-F45B81F2C65B}"/>
              </a:ext>
            </a:extLst>
          </p:cNvPr>
          <p:cNvSpPr/>
          <p:nvPr/>
        </p:nvSpPr>
        <p:spPr>
          <a:xfrm>
            <a:off x="1010646" y="5651778"/>
            <a:ext cx="9191293" cy="29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300" dirty="0">
                <a:solidFill>
                  <a:srgbClr val="C8924B"/>
                </a:solidFill>
                <a:latin typeface="+mn-lt"/>
                <a:ea typeface="Calibri" pitchFamily="34" charset="-122"/>
                <a:cs typeface="Calibri" pitchFamily="34" charset="-120"/>
              </a:rPr>
              <a:t>SUMMER 2026 - </a:t>
            </a:r>
            <a:r>
              <a:rPr lang="en-US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Data analysis (NLP  </a:t>
            </a:r>
            <a:r>
              <a:rPr lang="en-US" sz="600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</a:t>
            </a:r>
            <a:r>
              <a:rPr lang="en-US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  statistics  </a:t>
            </a:r>
            <a:r>
              <a:rPr lang="en-US" sz="600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 </a:t>
            </a:r>
            <a:r>
              <a:rPr lang="en-US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 qualitative coding)</a:t>
            </a:r>
            <a:endParaRPr lang="en-US" dirty="0">
              <a:latin typeface="+mn-lt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74299CD-4946-2B83-3B55-801D0A74F32C}"/>
              </a:ext>
            </a:extLst>
          </p:cNvPr>
          <p:cNvGrpSpPr/>
          <p:nvPr/>
        </p:nvGrpSpPr>
        <p:grpSpPr>
          <a:xfrm>
            <a:off x="7472967" y="1488267"/>
            <a:ext cx="3310348" cy="1417320"/>
            <a:chOff x="457200" y="3017520"/>
            <a:chExt cx="4206240" cy="1417320"/>
          </a:xfrm>
        </p:grpSpPr>
        <p:sp>
          <p:nvSpPr>
            <p:cNvPr id="78" name="Shape 6">
              <a:extLst>
                <a:ext uri="{FF2B5EF4-FFF2-40B4-BE49-F238E27FC236}">
                  <a16:creationId xmlns:a16="http://schemas.microsoft.com/office/drawing/2014/main" id="{48EA4987-010A-12D5-89DA-2576E8D25A05}"/>
                </a:ext>
              </a:extLst>
            </p:cNvPr>
            <p:cNvSpPr/>
            <p:nvPr/>
          </p:nvSpPr>
          <p:spPr>
            <a:xfrm>
              <a:off x="457200" y="3017520"/>
              <a:ext cx="4206240" cy="141732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79" name="Shape 7">
              <a:extLst>
                <a:ext uri="{FF2B5EF4-FFF2-40B4-BE49-F238E27FC236}">
                  <a16:creationId xmlns:a16="http://schemas.microsoft.com/office/drawing/2014/main" id="{5DC4BCCA-4ABA-8508-D0E7-415746487C1F}"/>
                </a:ext>
              </a:extLst>
            </p:cNvPr>
            <p:cNvSpPr/>
            <p:nvPr/>
          </p:nvSpPr>
          <p:spPr>
            <a:xfrm>
              <a:off x="457200" y="3017520"/>
              <a:ext cx="73152" cy="1417320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0" name="Text 8">
              <a:extLst>
                <a:ext uri="{FF2B5EF4-FFF2-40B4-BE49-F238E27FC236}">
                  <a16:creationId xmlns:a16="http://schemas.microsoft.com/office/drawing/2014/main" id="{F58F5855-A28A-B648-4EFD-E3D9FC7981A1}"/>
                </a:ext>
              </a:extLst>
            </p:cNvPr>
            <p:cNvSpPr/>
            <p:nvPr/>
          </p:nvSpPr>
          <p:spPr>
            <a:xfrm>
              <a:off x="685800" y="3108960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spc="4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INDUSTRY PARTNERS</a:t>
              </a:r>
              <a:endParaRPr lang="en-US" sz="900" dirty="0">
                <a:latin typeface="+mn-lt"/>
              </a:endParaRPr>
            </a:p>
          </p:txBody>
        </p:sp>
        <p:sp>
          <p:nvSpPr>
            <p:cNvPr id="81" name="Text 9">
              <a:extLst>
                <a:ext uri="{FF2B5EF4-FFF2-40B4-BE49-F238E27FC236}">
                  <a16:creationId xmlns:a16="http://schemas.microsoft.com/office/drawing/2014/main" id="{5EAE2ED2-DDE3-2347-2050-91DE45BAE592}"/>
                </a:ext>
              </a:extLst>
            </p:cNvPr>
            <p:cNvSpPr/>
            <p:nvPr/>
          </p:nvSpPr>
          <p:spPr>
            <a:xfrm>
              <a:off x="685800" y="3337560"/>
              <a:ext cx="3931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3</a:t>
              </a:r>
              <a:r>
                <a:rPr lang="en-US" sz="1300" dirty="0">
                  <a:solidFill>
                    <a:srgbClr val="1F2937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 potential industry partners</a:t>
              </a:r>
              <a:endParaRPr lang="en-US" sz="2200" dirty="0">
                <a:latin typeface="+mn-lt"/>
              </a:endParaRPr>
            </a:p>
          </p:txBody>
        </p:sp>
        <p:sp>
          <p:nvSpPr>
            <p:cNvPr id="83" name="Text 10">
              <a:extLst>
                <a:ext uri="{FF2B5EF4-FFF2-40B4-BE49-F238E27FC236}">
                  <a16:creationId xmlns:a16="http://schemas.microsoft.com/office/drawing/2014/main" id="{37A58FB8-8AB1-B13F-90EB-E7B0FB07DBBF}"/>
                </a:ext>
              </a:extLst>
            </p:cNvPr>
            <p:cNvSpPr/>
            <p:nvPr/>
          </p:nvSpPr>
          <p:spPr>
            <a:xfrm>
              <a:off x="685800" y="3749040"/>
              <a:ext cx="3931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i="1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East Texas Medical Center (Health Sciences), Brookshire Grocery Co. (Business), Tyler Public Library (Humanities) — providing IRB-approved real-world datasets and challenge scenarios for Phase 3 ecological validity testing.</a:t>
              </a:r>
              <a:endParaRPr lang="en-US" sz="11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36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8625840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n-lt"/>
              </a:rPr>
              <a:t>Analysis Methods</a:t>
            </a:r>
          </a:p>
        </p:txBody>
      </p:sp>
      <p:sp>
        <p:nvSpPr>
          <p:cNvPr id="3" name="LeftHeader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Discipline Comparison</a:t>
            </a:r>
          </a:p>
        </p:txBody>
      </p:sp>
      <p:sp>
        <p:nvSpPr>
          <p:cNvPr id="4" name="LeftBody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MANOVA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one-way multivariate analysis with discipline as IV and five CDM dimensions as DVs</a:t>
            </a:r>
          </a:p>
          <a:p>
            <a:pPr>
              <a:buNone/>
            </a:pPr>
            <a:endParaRPr lang="en-US" sz="14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ANOVA + Tukey HSD post hoc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univariate follow-ups per dimension; pairwise comparisons with Bonferroni correction</a:t>
            </a:r>
          </a:p>
          <a:p>
            <a:pPr>
              <a:buNone/>
            </a:pPr>
            <a:endParaRPr lang="en-US" sz="14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Effect sizes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reported as partial η² per CDM dimension</a:t>
            </a:r>
          </a:p>
        </p:txBody>
      </p:sp>
      <p:sp>
        <p:nvSpPr>
          <p:cNvPr id="5" name="RightHeader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Scale Validation</a:t>
            </a:r>
          </a:p>
        </p:txBody>
      </p:sp>
      <p:sp>
        <p:nvSpPr>
          <p:cNvPr id="6" name="RightBody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Confirmatory Factor Analysis (CFA)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five-factor model in R lavaan; fit: CFI &gt; 0.95, RMSEA &lt; 0.06</a:t>
            </a:r>
          </a:p>
          <a:p>
            <a:pPr>
              <a:buNone/>
            </a:pPr>
            <a:endParaRPr lang="en-US" sz="14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Cronbach's α and Cohen's κ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internal consistency and inter-rater reliability per CDM dimension</a:t>
            </a:r>
          </a:p>
          <a:p>
            <a:pPr>
              <a:buNone/>
            </a:pPr>
            <a:endParaRPr lang="en-US" sz="14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1E3A5F"/>
                </a:solidFill>
                <a:latin typeface="+mn-lt"/>
              </a:rPr>
              <a:t>Criterion validity</a:t>
            </a:r>
            <a:r>
              <a:rPr lang="en-US" sz="1400" dirty="0">
                <a:solidFill>
                  <a:srgbClr val="1F2937"/>
                </a:solidFill>
                <a:latin typeface="+mn-lt"/>
              </a:rPr>
              <a:t> — correlated with GPA and AI task grades; test-retest ICC over 3-week interval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62A2467-F259-6D71-F697-FD0E9D7E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426DA70-DE9A-FE0C-5BBA-460784BD8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+mn-lt"/>
              </a:rPr>
              <a:t>Preliminary Findings and Early Trends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2913D90-D657-4D26-5E90-32D8A3CBC0B1}"/>
              </a:ext>
            </a:extLst>
          </p:cNvPr>
          <p:cNvGrpSpPr/>
          <p:nvPr/>
        </p:nvGrpSpPr>
        <p:grpSpPr>
          <a:xfrm>
            <a:off x="1066800" y="1634884"/>
            <a:ext cx="8875987" cy="3257156"/>
            <a:chOff x="1066800" y="1634884"/>
            <a:chExt cx="8193024" cy="2217420"/>
          </a:xfrm>
        </p:grpSpPr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5A561148-B30A-4210-6735-9A251B04C8A1}"/>
                </a:ext>
              </a:extLst>
            </p:cNvPr>
            <p:cNvSpPr/>
            <p:nvPr/>
          </p:nvSpPr>
          <p:spPr>
            <a:xfrm>
              <a:off x="1075943" y="1671460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72A4CD4-E4E1-C8C2-536C-F8BF159CD6BF}"/>
                </a:ext>
              </a:extLst>
            </p:cNvPr>
            <p:cNvSpPr/>
            <p:nvPr/>
          </p:nvSpPr>
          <p:spPr>
            <a:xfrm>
              <a:off x="1066800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DC2C5B29-8336-D97D-11C6-568F41161466}"/>
                </a:ext>
              </a:extLst>
            </p:cNvPr>
            <p:cNvSpPr/>
            <p:nvPr/>
          </p:nvSpPr>
          <p:spPr>
            <a:xfrm>
              <a:off x="1158240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η² = 0.31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47CAD49C-7299-5222-4AC0-E7C51C87D121}"/>
                </a:ext>
              </a:extLst>
            </p:cNvPr>
            <p:cNvSpPr/>
            <p:nvPr/>
          </p:nvSpPr>
          <p:spPr>
            <a:xfrm>
              <a:off x="1181100" y="2544712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PROMPT ENGINEERING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1091B460-68DC-6F0E-9C32-0877E091FD91}"/>
                </a:ext>
              </a:extLst>
            </p:cNvPr>
            <p:cNvSpPr/>
            <p:nvPr/>
          </p:nvSpPr>
          <p:spPr>
            <a:xfrm>
              <a:off x="1203960" y="3094876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Largest disciplinary gap: Business vs. Humanities (Δ = 1.7, p &lt; 0.001). Business students show highest prompt engineering scores.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65DE91D1-AEDF-CD8D-06CB-E91BEB06A9D2}"/>
                </a:ext>
              </a:extLst>
            </p:cNvPr>
            <p:cNvSpPr/>
            <p:nvPr/>
          </p:nvSpPr>
          <p:spPr>
            <a:xfrm>
              <a:off x="3142488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64BDD46B-4654-9791-E57A-2E4AF5A242BA}"/>
                </a:ext>
              </a:extLst>
            </p:cNvPr>
            <p:cNvSpPr/>
            <p:nvPr/>
          </p:nvSpPr>
          <p:spPr>
            <a:xfrm>
              <a:off x="3142488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875E6645-A251-4851-18B7-6CF04AF6E3A6}"/>
                </a:ext>
              </a:extLst>
            </p:cNvPr>
            <p:cNvSpPr/>
            <p:nvPr/>
          </p:nvSpPr>
          <p:spPr>
            <a:xfrm>
              <a:off x="3233928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η² = 0.28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3F041018-FCC5-1701-D309-996A03086C7F}"/>
                </a:ext>
              </a:extLst>
            </p:cNvPr>
            <p:cNvSpPr/>
            <p:nvPr/>
          </p:nvSpPr>
          <p:spPr>
            <a:xfrm>
              <a:off x="3188208" y="2550597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OUTPUT VALIDATION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30766A0D-B63D-44AB-FD83-E806B76E8DCA}"/>
                </a:ext>
              </a:extLst>
            </p:cNvPr>
            <p:cNvSpPr/>
            <p:nvPr/>
          </p:nvSpPr>
          <p:spPr>
            <a:xfrm>
              <a:off x="3279648" y="321222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Health Sciences led all disciplines (M=4.1, SD=0.5). Significant gap vs. Business (Δ = 1.4, p = 0.002). Clinical epistemology drives skeptical AI engagement.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FBBCF0E4-6578-DF69-69A0-9AB5CEA16B28}"/>
                </a:ext>
              </a:extLst>
            </p:cNvPr>
            <p:cNvSpPr/>
            <p:nvPr/>
          </p:nvSpPr>
          <p:spPr>
            <a:xfrm>
              <a:off x="5218176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8D61DC8C-DA25-C1FC-B04E-BB0C0348B708}"/>
                </a:ext>
              </a:extLst>
            </p:cNvPr>
            <p:cNvSpPr/>
            <p:nvPr/>
          </p:nvSpPr>
          <p:spPr>
            <a:xfrm>
              <a:off x="5218176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CFB976EE-E294-91AF-BC14-A177F6E677A9}"/>
                </a:ext>
              </a:extLst>
            </p:cNvPr>
            <p:cNvSpPr/>
            <p:nvPr/>
          </p:nvSpPr>
          <p:spPr>
            <a:xfrm>
              <a:off x="5355336" y="1823439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p &lt; 0.001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E5007386-CD4A-CA69-CEC0-0A266FB61AFD}"/>
                </a:ext>
              </a:extLst>
            </p:cNvPr>
            <p:cNvSpPr/>
            <p:nvPr/>
          </p:nvSpPr>
          <p:spPr>
            <a:xfrm>
              <a:off x="5355336" y="2586622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MULTIVARIATE EFFECT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EFD6576D-1EEB-8C31-8456-B83A29B6A427}"/>
                </a:ext>
              </a:extLst>
            </p:cNvPr>
            <p:cNvSpPr/>
            <p:nvPr/>
          </p:nvSpPr>
          <p:spPr>
            <a:xfrm>
              <a:off x="5355336" y="321222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One-way MANOVA confirmed a significant multivariate discipline effect (Wilks' λ = 0.61, F(10,48) = 2.87, p &lt; 0.001).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68A7D0B8-7A40-7253-1C1D-E204BD4C44EE}"/>
                </a:ext>
              </a:extLst>
            </p:cNvPr>
            <p:cNvSpPr/>
            <p:nvPr/>
          </p:nvSpPr>
          <p:spPr>
            <a:xfrm>
              <a:off x="7293864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D9827622-31CB-F5E3-AEE3-95A3528B914B}"/>
                </a:ext>
              </a:extLst>
            </p:cNvPr>
            <p:cNvSpPr/>
            <p:nvPr/>
          </p:nvSpPr>
          <p:spPr>
            <a:xfrm>
              <a:off x="7293864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4E104911-F107-933A-BB64-D7B9DF349E6C}"/>
                </a:ext>
              </a:extLst>
            </p:cNvPr>
            <p:cNvSpPr/>
            <p:nvPr/>
          </p:nvSpPr>
          <p:spPr>
            <a:xfrm>
              <a:off x="7385304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α = 0.76–0.83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739F1EEA-770C-DDA9-B1AC-56D6E1A48B0F}"/>
                </a:ext>
              </a:extLst>
            </p:cNvPr>
            <p:cNvSpPr/>
            <p:nvPr/>
          </p:nvSpPr>
          <p:spPr>
            <a:xfrm>
              <a:off x="7385304" y="2568886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CDM RELIABILITY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773B73EB-A563-AE1F-9381-0FE410C5F9BD}"/>
                </a:ext>
              </a:extLst>
            </p:cNvPr>
            <p:cNvSpPr/>
            <p:nvPr/>
          </p:nvSpPr>
          <p:spPr>
            <a:xfrm>
              <a:off x="7431024" y="296076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Cronbach's α = 0.76–0.83, Cohen's κ = 0.81–0.87. Preliminary evidence suggests CDM demonstrates acceptable reliability and validity for a pilot instrument.</a:t>
              </a:r>
              <a:endParaRPr lang="en-US" sz="1200" dirty="0">
                <a:latin typeface="+mn-lt"/>
              </a:endParaRPr>
            </a:p>
          </p:txBody>
        </p:sp>
      </p:grpSp>
      <p:sp>
        <p:nvSpPr>
          <p:cNvPr id="47" name="Text 25">
            <a:extLst>
              <a:ext uri="{FF2B5EF4-FFF2-40B4-BE49-F238E27FC236}">
                <a16:creationId xmlns:a16="http://schemas.microsoft.com/office/drawing/2014/main" id="{36F892B4-CEBA-CF17-7521-9AE2BD43A8D1}"/>
              </a:ext>
            </a:extLst>
          </p:cNvPr>
          <p:cNvSpPr/>
          <p:nvPr/>
        </p:nvSpPr>
        <p:spPr>
          <a:xfrm>
            <a:off x="1084209" y="5131652"/>
            <a:ext cx="8759516" cy="1562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b="1" dirty="0">
                <a:solidFill>
                  <a:srgbClr val="0F2C4D"/>
                </a:solidFill>
                <a:latin typeface="+mn-lt"/>
                <a:ea typeface="Calibri" pitchFamily="34" charset="-122"/>
                <a:cs typeface="Calibri" pitchFamily="34" charset="-120"/>
              </a:rPr>
              <a:t>Humanities excelled in Collaborative Sensemaking (M=3.9). </a:t>
            </a:r>
            <a:r>
              <a:rPr lang="en-US" sz="1600" dirty="0">
                <a:solidFill>
                  <a:srgbClr val="1F2937"/>
                </a:solidFill>
                <a:latin typeface="+mn-lt"/>
                <a:ea typeface="Calibri" pitchFamily="34" charset="-122"/>
                <a:cs typeface="Calibri" pitchFamily="34" charset="-120"/>
              </a:rPr>
              <a:t>Health Sciences showed highest Ethical Integration (M=3.7 vs. Business M=2.3, p=0.003). These early patterns suggest disciplinary differences in AI reasoning are meaningful and measurable — though replication with larger samples is needed to confirm generalizability.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969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62A2467-F259-6D71-F697-FD0E9D7E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426DA70-DE9A-FE0C-5BBA-460784BD8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solidFill>
                  <a:srgbClr val="1F3864"/>
                </a:solidFill>
                <a:latin typeface="+mn-lt"/>
              </a:rPr>
              <a:t>Preliminary Findings: Psychometric Validation and Emergent Patterns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2913D90-D657-4D26-5E90-32D8A3CBC0B1}"/>
              </a:ext>
            </a:extLst>
          </p:cNvPr>
          <p:cNvGrpSpPr/>
          <p:nvPr/>
        </p:nvGrpSpPr>
        <p:grpSpPr>
          <a:xfrm>
            <a:off x="1074157" y="1534300"/>
            <a:ext cx="8875987" cy="3226036"/>
            <a:chOff x="1066800" y="1634884"/>
            <a:chExt cx="8193024" cy="2048256"/>
          </a:xfrm>
        </p:grpSpPr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5A561148-B30A-4210-6735-9A251B04C8A1}"/>
                </a:ext>
              </a:extLst>
            </p:cNvPr>
            <p:cNvSpPr/>
            <p:nvPr/>
          </p:nvSpPr>
          <p:spPr>
            <a:xfrm>
              <a:off x="1075943" y="1671460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72A4CD4-E4E1-C8C2-536C-F8BF159CD6BF}"/>
                </a:ext>
              </a:extLst>
            </p:cNvPr>
            <p:cNvSpPr/>
            <p:nvPr/>
          </p:nvSpPr>
          <p:spPr>
            <a:xfrm>
              <a:off x="1066800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DC2C5B29-8336-D97D-11C6-568F41161466}"/>
                </a:ext>
              </a:extLst>
            </p:cNvPr>
            <p:cNvSpPr/>
            <p:nvPr/>
          </p:nvSpPr>
          <p:spPr>
            <a:xfrm>
              <a:off x="1158240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α = 0.76–0.83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47CAD49C-7299-5222-4AC0-E7C51C87D121}"/>
                </a:ext>
              </a:extLst>
            </p:cNvPr>
            <p:cNvSpPr/>
            <p:nvPr/>
          </p:nvSpPr>
          <p:spPr>
            <a:xfrm>
              <a:off x="1181100" y="2544712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CRONBACH'S α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1091B460-68DC-6F0E-9C32-0877E091FD91}"/>
                </a:ext>
              </a:extLst>
            </p:cNvPr>
            <p:cNvSpPr/>
            <p:nvPr/>
          </p:nvSpPr>
          <p:spPr>
            <a:xfrm>
              <a:off x="1203960" y="296076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α ≥ 0.75 per subscale (range: 0.76–0.83); CFA confirms uni-dimensionality (CFI &gt; 0.95, RMSEA &lt; 0.06).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65DE91D1-AEDF-CD8D-06CB-E91BEB06A9D2}"/>
                </a:ext>
              </a:extLst>
            </p:cNvPr>
            <p:cNvSpPr/>
            <p:nvPr/>
          </p:nvSpPr>
          <p:spPr>
            <a:xfrm>
              <a:off x="3142488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64BDD46B-4654-9791-E57A-2E4AF5A242BA}"/>
                </a:ext>
              </a:extLst>
            </p:cNvPr>
            <p:cNvSpPr/>
            <p:nvPr/>
          </p:nvSpPr>
          <p:spPr>
            <a:xfrm>
              <a:off x="3142488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875E6645-A251-4851-18B7-6CF04AF6E3A6}"/>
                </a:ext>
              </a:extLst>
            </p:cNvPr>
            <p:cNvSpPr/>
            <p:nvPr/>
          </p:nvSpPr>
          <p:spPr>
            <a:xfrm>
              <a:off x="3233928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κ = 0.81–0.87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3F041018-FCC5-1701-D309-996A03086C7F}"/>
                </a:ext>
              </a:extLst>
            </p:cNvPr>
            <p:cNvSpPr/>
            <p:nvPr/>
          </p:nvSpPr>
          <p:spPr>
            <a:xfrm>
              <a:off x="3188208" y="2550597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INTER-RATER RELIABILITY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30766A0D-B63D-44AB-FD83-E806B76E8DCA}"/>
                </a:ext>
              </a:extLst>
            </p:cNvPr>
            <p:cNvSpPr/>
            <p:nvPr/>
          </p:nvSpPr>
          <p:spPr>
            <a:xfrm>
              <a:off x="3279648" y="296076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κ ≥ 0.80 (range: 0.81–0.87); Krippendorff's α ≥ 0.78; two-round norming on 15% holdout.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FBBCF0E4-6578-DF69-69A0-9AB5CEA16B28}"/>
                </a:ext>
              </a:extLst>
            </p:cNvPr>
            <p:cNvSpPr/>
            <p:nvPr/>
          </p:nvSpPr>
          <p:spPr>
            <a:xfrm>
              <a:off x="5218176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8D61DC8C-DA25-C1FC-B04E-BB0C0348B708}"/>
                </a:ext>
              </a:extLst>
            </p:cNvPr>
            <p:cNvSpPr/>
            <p:nvPr/>
          </p:nvSpPr>
          <p:spPr>
            <a:xfrm>
              <a:off x="5218176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CFB976EE-E294-91AF-BC14-A177F6E677A9}"/>
                </a:ext>
              </a:extLst>
            </p:cNvPr>
            <p:cNvSpPr/>
            <p:nvPr/>
          </p:nvSpPr>
          <p:spPr>
            <a:xfrm>
              <a:off x="5355336" y="1823439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r = 0.51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E5007386-CD4A-CA69-CEC0-0A266FB61AFD}"/>
                </a:ext>
              </a:extLst>
            </p:cNvPr>
            <p:cNvSpPr/>
            <p:nvPr/>
          </p:nvSpPr>
          <p:spPr>
            <a:xfrm>
              <a:off x="5355336" y="2586622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CRITERION VALIDITY (r)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EFD6576D-1EEB-8C31-8456-B83A29B6A427}"/>
                </a:ext>
              </a:extLst>
            </p:cNvPr>
            <p:cNvSpPr/>
            <p:nvPr/>
          </p:nvSpPr>
          <p:spPr>
            <a:xfrm>
              <a:off x="5355336" y="296076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r = 0.42 with discipline GPA; r = 0.51 with AI task grades (p &lt; 0.01); MANOVA discriminant validity (Wilks' λ = 0.61).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68A7D0B8-7A40-7253-1C1D-E204BD4C44EE}"/>
                </a:ext>
              </a:extLst>
            </p:cNvPr>
            <p:cNvSpPr/>
            <p:nvPr/>
          </p:nvSpPr>
          <p:spPr>
            <a:xfrm>
              <a:off x="7293864" y="1634884"/>
              <a:ext cx="1965960" cy="2011680"/>
            </a:xfrm>
            <a:prstGeom prst="rect">
              <a:avLst/>
            </a:prstGeom>
            <a:solidFill>
              <a:srgbClr val="F5F2EC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D9827622-31CB-F5E3-AEE3-95A3528B914B}"/>
                </a:ext>
              </a:extLst>
            </p:cNvPr>
            <p:cNvSpPr/>
            <p:nvPr/>
          </p:nvSpPr>
          <p:spPr>
            <a:xfrm>
              <a:off x="7293864" y="1634884"/>
              <a:ext cx="1965960" cy="73152"/>
            </a:xfrm>
            <a:prstGeom prst="rect">
              <a:avLst/>
            </a:prstGeom>
            <a:solidFill>
              <a:srgbClr val="C8924B"/>
            </a:solidFill>
            <a:ln/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4E104911-F107-933A-BB64-D7B9DF349E6C}"/>
                </a:ext>
              </a:extLst>
            </p:cNvPr>
            <p:cNvSpPr/>
            <p:nvPr/>
          </p:nvSpPr>
          <p:spPr>
            <a:xfrm>
              <a:off x="7385304" y="1909204"/>
              <a:ext cx="1783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0F2C4D"/>
                  </a:solidFill>
                  <a:latin typeface="+mn-lt"/>
                  <a:ea typeface="Georgia" pitchFamily="34" charset="-122"/>
                  <a:cs typeface="Georgia" pitchFamily="34" charset="-120"/>
                </a:rPr>
                <a:t>Test–Retest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739F1EEA-770C-DDA9-B1AC-56D6E1A48B0F}"/>
                </a:ext>
              </a:extLst>
            </p:cNvPr>
            <p:cNvSpPr/>
            <p:nvPr/>
          </p:nvSpPr>
          <p:spPr>
            <a:xfrm>
              <a:off x="7385304" y="2568886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spc="200" dirty="0">
                  <a:solidFill>
                    <a:srgbClr val="C8924B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TEST–RETEST STABILITY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773B73EB-A563-AE1F-9381-0FE410C5F9BD}"/>
                </a:ext>
              </a:extLst>
            </p:cNvPr>
            <p:cNvSpPr/>
            <p:nvPr/>
          </p:nvSpPr>
          <p:spPr>
            <a:xfrm>
              <a:off x="7431024" y="2960764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ICC = 0.79 (3-week interval); within COSMIN benchmark for longitudinal educational tracking.</a:t>
              </a:r>
              <a:endParaRPr lang="en-US" sz="1200" dirty="0">
                <a:latin typeface="+mn-lt"/>
              </a:endParaRPr>
            </a:p>
          </p:txBody>
        </p:sp>
      </p:grpSp>
      <p:sp>
        <p:nvSpPr>
          <p:cNvPr id="47" name="Text 25">
            <a:extLst>
              <a:ext uri="{FF2B5EF4-FFF2-40B4-BE49-F238E27FC236}">
                <a16:creationId xmlns:a16="http://schemas.microsoft.com/office/drawing/2014/main" id="{36F892B4-CEBA-CF17-7521-9AE2BD43A8D1}"/>
              </a:ext>
            </a:extLst>
          </p:cNvPr>
          <p:cNvSpPr/>
          <p:nvPr/>
        </p:nvSpPr>
        <p:spPr>
          <a:xfrm>
            <a:off x="1190628" y="4860921"/>
            <a:ext cx="8759516" cy="140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b="1" dirty="0">
                <a:solidFill>
                  <a:srgbClr val="0F2C4D"/>
                </a:solidFill>
                <a:latin typeface="+mn-lt"/>
                <a:ea typeface="Calibri" pitchFamily="34" charset="-122"/>
                <a:cs typeface="Calibri" pitchFamily="34" charset="-120"/>
              </a:rPr>
              <a:t>Preliminary psychometric evidence is promising. </a:t>
            </a:r>
            <a:r>
              <a:rPr lang="en-US" sz="1600" dirty="0">
                <a:solidFill>
                  <a:srgbClr val="1F2937"/>
                </a:solidFill>
                <a:latin typeface="+mn-lt"/>
                <a:ea typeface="Calibri" pitchFamily="34" charset="-122"/>
                <a:cs typeface="Calibri" pitchFamily="34" charset="-120"/>
              </a:rPr>
              <a:t>Pilot results suggest CDM demonstrates acceptable reliability and validity: Cronbach's α = 0.76–0.83, Cohen's κ = 0.81–0.87, ICC = 0.79, CFI &gt; 0.95. Criterion validity shows preliminary support: r = 0.51 with AI task grades (p &lt; 0.01). Larger-sample replication is planned for full validation.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9697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8808720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latin typeface="+mn-lt"/>
              </a:rPr>
              <a:t>Discipline-Specific CDM Profiles: Emerging Empirical Patterns</a:t>
            </a:r>
          </a:p>
        </p:txBody>
      </p:sp>
      <p:sp>
        <p:nvSpPr>
          <p:cNvPr id="3" name="LeftHeader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Per-Discipline Mean CDM Profiles (Phase 1–2)</a:t>
            </a:r>
          </a:p>
        </p:txBody>
      </p:sp>
      <p:sp>
        <p:nvSpPr>
          <p:cNvPr id="4" name="LeftBody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Business (n=10)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Highest Prompt Engineering (M=3.8, SD=0.6); lowest Ethical Integration (M=2.3, SD=0.7). Iterative prompt refinement is the dominant strategy; students tend to accept AI output without cross-source validation.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Health Sciences (n=10)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Highest Output Validation (M=4.1, SD=0.5) and Ethical Integration (M=3.7, SD=0.6). Strongest cross-source verification behavior; clinical epistemology drives skeptical AI engagement.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Humanities (n=10)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Highest Collaborative Sensemaking (M=3.9, SD=0.5); lowest Prompt Engineering (M=2.1, SD=0.8). Narrative reasoning style; strong perspective integration but low lexical specificity in prompt construction.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C8924B"/>
                </a:solidFill>
                <a:latin typeface="+mn-lt"/>
              </a:rPr>
              <a:t>Largest Between-Group Gap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Prompt Engineering — Business vs. Humanities (Δ = 1.7, p &lt; 0.001, η² = 0.31). Output Validation — Health Sciences vs. Business (Δ = 1.4, p = 0.002, η² = 0.28).</a:t>
            </a:r>
          </a:p>
        </p:txBody>
      </p:sp>
      <p:sp>
        <p:nvSpPr>
          <p:cNvPr id="5" name="RightHeader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Think-Aloud Qualitative Convergence</a:t>
            </a:r>
          </a:p>
        </p:txBody>
      </p:sp>
      <p:sp>
        <p:nvSpPr>
          <p:cNvPr id="6" name="RightBody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Business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Dominant Code: PROMPT_REFINE (38% of utterances). Efficiency-oriented reasoning: “let me rephrase that to get a cleaner output.” Rarely invoked ETHICAL_FLAG unprompted.</a:t>
            </a:r>
          </a:p>
          <a:p>
            <a:pPr>
              <a:buNone/>
            </a:pPr>
            <a:endParaRPr lang="en-US" sz="300" dirty="0">
              <a:latin typeface="+mn-lt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Health Sciences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Dominant Code: EVAL_DOUBT (41% of utterances). Systematic skepticism before acceptance: “I need to verify this against a clinical source.” Highest ETHICAL_FLAG spontaneous rate.</a:t>
            </a:r>
          </a:p>
          <a:p>
            <a:pPr>
              <a:buNone/>
            </a:pPr>
            <a:endParaRPr lang="en-US" sz="300" dirty="0">
              <a:latin typeface="+mn-lt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+mn-lt"/>
              </a:rPr>
              <a:t>Humanities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Dominant Code: COLLAB_EXPLAIN (35% of utterances). Interpretive narration of AI outputs. Lowest PROMPT_REFINE rate; holistic single-prompt framing is typical.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Arial" panose="020B0604020202020204" pitchFamily="34" charset="0"/>
              </a:rPr>
              <a:t>Implications for AI Curriculum Design</a:t>
            </a:r>
          </a:p>
        </p:txBody>
      </p:sp>
      <p:sp>
        <p:nvSpPr>
          <p:cNvPr id="20" name="HDR1"/>
          <p:cNvSpPr/>
          <p:nvPr/>
        </p:nvSpPr>
        <p:spPr>
          <a:xfrm>
            <a:off x="457200" y="780000"/>
            <a:ext cx="2743200" cy="304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</a:rPr>
              <a:t>Discipline Finding</a:t>
            </a:r>
          </a:p>
        </p:txBody>
      </p:sp>
      <p:sp>
        <p:nvSpPr>
          <p:cNvPr id="21" name="HDR2"/>
          <p:cNvSpPr/>
          <p:nvPr/>
        </p:nvSpPr>
        <p:spPr>
          <a:xfrm>
            <a:off x="3352400" y="780000"/>
            <a:ext cx="3200400" cy="304800"/>
          </a:xfrm>
          <a:prstGeom prst="rect">
            <a:avLst/>
          </a:prstGeom>
          <a:solidFill>
            <a:srgbClr val="267C8F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</a:rPr>
              <a:t>Curriculum Implication</a:t>
            </a:r>
          </a:p>
        </p:txBody>
      </p:sp>
      <p:sp>
        <p:nvSpPr>
          <p:cNvPr id="22" name="HDR3"/>
          <p:cNvSpPr/>
          <p:nvPr/>
        </p:nvSpPr>
        <p:spPr>
          <a:xfrm>
            <a:off x="6705800" y="780000"/>
            <a:ext cx="4486000" cy="304800"/>
          </a:xfrm>
          <a:prstGeom prst="rect">
            <a:avLst/>
          </a:prstGeom>
          <a:solidFill>
            <a:srgbClr val="C8924B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</a:rPr>
              <a:t>Assessment / PD Action</a:t>
            </a:r>
          </a:p>
        </p:txBody>
      </p:sp>
      <p:sp>
        <p:nvSpPr>
          <p:cNvPr id="30" name="R1bg"/>
          <p:cNvSpPr/>
          <p:nvPr/>
        </p:nvSpPr>
        <p:spPr>
          <a:xfrm>
            <a:off x="457200" y="1130000"/>
            <a:ext cx="10734600" cy="762000"/>
          </a:xfrm>
          <a:prstGeom prst="rect">
            <a:avLst/>
          </a:prstGeom>
          <a:solidFill>
            <a:srgbClr val="EFF4FB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1C1"/>
          <p:cNvSpPr/>
          <p:nvPr/>
        </p:nvSpPr>
        <p:spPr>
          <a:xfrm>
            <a:off x="457200" y="1130000"/>
            <a:ext cx="27432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  <a:latin typeface="+mn-lt"/>
              </a:rPr>
              <a:t>Business</a:t>
            </a:r>
          </a:p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Strongest Prompt Engineering (M=3.8); lowest Ethical Integration (M=2.3)</a:t>
            </a:r>
          </a:p>
        </p:txBody>
      </p:sp>
      <p:sp>
        <p:nvSpPr>
          <p:cNvPr id="32" name="R1C2"/>
          <p:cNvSpPr/>
          <p:nvPr/>
        </p:nvSpPr>
        <p:spPr>
          <a:xfrm>
            <a:off x="3352400" y="1130000"/>
            <a:ext cx="32004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Add ethics modules; scaffold output verification skills</a:t>
            </a:r>
          </a:p>
        </p:txBody>
      </p:sp>
      <p:sp>
        <p:nvSpPr>
          <p:cNvPr id="33" name="R1C3"/>
          <p:cNvSpPr/>
          <p:nvPr/>
        </p:nvSpPr>
        <p:spPr>
          <a:xfrm>
            <a:off x="6705800" y="1130000"/>
            <a:ext cx="44860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Faculty PD: CDM Ethical Integration score flags where scaffolding is needed; CDM-based rubric for AI task grading</a:t>
            </a:r>
          </a:p>
        </p:txBody>
      </p:sp>
      <p:sp>
        <p:nvSpPr>
          <p:cNvPr id="40" name="R2bg"/>
          <p:cNvSpPr/>
          <p:nvPr/>
        </p:nvSpPr>
        <p:spPr>
          <a:xfrm>
            <a:off x="457200" y="1930000"/>
            <a:ext cx="10734600" cy="762000"/>
          </a:xfrm>
          <a:prstGeom prst="rect">
            <a:avLst/>
          </a:prstGeom>
          <a:solidFill>
            <a:srgbClr val="FFF8F0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R2C1"/>
          <p:cNvSpPr/>
          <p:nvPr/>
        </p:nvSpPr>
        <p:spPr>
          <a:xfrm>
            <a:off x="457200" y="1930000"/>
            <a:ext cx="27432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  <a:latin typeface="+mn-lt"/>
              </a:rPr>
              <a:t>Health Sciences</a:t>
            </a:r>
          </a:p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Highest Output Validation (M=4.1) and Ethical Integration (M=3.7)</a:t>
            </a:r>
          </a:p>
        </p:txBody>
      </p:sp>
      <p:sp>
        <p:nvSpPr>
          <p:cNvPr id="42" name="R2C2"/>
          <p:cNvSpPr/>
          <p:nvPr/>
        </p:nvSpPr>
        <p:spPr>
          <a:xfrm>
            <a:off x="3352400" y="1930000"/>
            <a:ext cx="32004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Reinforce advanced evidence-checking; promote skeptical AI engagement</a:t>
            </a:r>
          </a:p>
        </p:txBody>
      </p:sp>
      <p:sp>
        <p:nvSpPr>
          <p:cNvPr id="43" name="R2C3"/>
          <p:cNvSpPr/>
          <p:nvPr/>
        </p:nvSpPr>
        <p:spPr>
          <a:xfrm>
            <a:off x="6705800" y="1930000"/>
            <a:ext cx="44860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Norm-referenced CDM scores calibrate clinical AI reasoning benchmarks; strengthen prompt specificity training</a:t>
            </a:r>
          </a:p>
        </p:txBody>
      </p:sp>
      <p:sp>
        <p:nvSpPr>
          <p:cNvPr id="50" name="R3bg"/>
          <p:cNvSpPr/>
          <p:nvPr/>
        </p:nvSpPr>
        <p:spPr>
          <a:xfrm>
            <a:off x="457200" y="2730000"/>
            <a:ext cx="10734600" cy="762000"/>
          </a:xfrm>
          <a:prstGeom prst="rect">
            <a:avLst/>
          </a:prstGeom>
          <a:solidFill>
            <a:srgbClr val="EFF8F2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3C1"/>
          <p:cNvSpPr/>
          <p:nvPr/>
        </p:nvSpPr>
        <p:spPr>
          <a:xfrm>
            <a:off x="457200" y="2730000"/>
            <a:ext cx="27432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  <a:latin typeface="+mn-lt"/>
              </a:rPr>
              <a:t>Humanities</a:t>
            </a:r>
          </a:p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Highest Collaborative Sensemaking (M=3.9); lowest Prompt Engineering (M=2.1)</a:t>
            </a:r>
          </a:p>
        </p:txBody>
      </p:sp>
      <p:sp>
        <p:nvSpPr>
          <p:cNvPr id="52" name="R3C2"/>
          <p:cNvSpPr/>
          <p:nvPr/>
        </p:nvSpPr>
        <p:spPr>
          <a:xfrm>
            <a:off x="3352400" y="2730000"/>
            <a:ext cx="32004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Introduce structured prompting; build on strong interpretive and sensemaking skills</a:t>
            </a:r>
          </a:p>
        </p:txBody>
      </p:sp>
      <p:sp>
        <p:nvSpPr>
          <p:cNvPr id="53" name="R3C3"/>
          <p:cNvSpPr/>
          <p:nvPr/>
        </p:nvSpPr>
        <p:spPr>
          <a:xfrm>
            <a:off x="6705800" y="2730000"/>
            <a:ext cx="4486000" cy="762000"/>
          </a:xfrm>
          <a:prstGeom prst="rect">
            <a:avLst/>
          </a:prstGeom>
          <a:noFill/>
          <a:ln w="19050">
            <a:solidFill>
              <a:srgbClr val="CCCCCC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Low CDM Prompt Engineering score signals need for lexical specificity training; leverage sensemaking strength in team AI tasks</a:t>
            </a:r>
          </a:p>
        </p:txBody>
      </p:sp>
      <p:sp>
        <p:nvSpPr>
          <p:cNvPr id="60" name="R4bg"/>
          <p:cNvSpPr/>
          <p:nvPr/>
        </p:nvSpPr>
        <p:spPr>
          <a:xfrm>
            <a:off x="457200" y="3530000"/>
            <a:ext cx="10734600" cy="762000"/>
          </a:xfrm>
          <a:prstGeom prst="rect">
            <a:avLst/>
          </a:prstGeom>
          <a:solidFill>
            <a:srgbClr val="F0F4FF"/>
          </a:solidFill>
          <a:ln w="19050">
            <a:solidFill>
              <a:srgbClr val="AAAAA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4C1"/>
          <p:cNvSpPr/>
          <p:nvPr/>
        </p:nvSpPr>
        <p:spPr>
          <a:xfrm>
            <a:off x="457200" y="3530000"/>
            <a:ext cx="2743200" cy="762000"/>
          </a:xfrm>
          <a:prstGeom prst="rect">
            <a:avLst/>
          </a:prstGeom>
          <a:noFill/>
          <a:ln w="19050">
            <a:solidFill>
              <a:srgbClr val="AAAAAA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  <a:latin typeface="+mn-lt"/>
              </a:rPr>
              <a:t>All Disciplines</a:t>
            </a:r>
          </a:p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Significant disciplinary variance across all 5 CDM dimensions (MANOVA p &lt; 0.001)</a:t>
            </a:r>
          </a:p>
        </p:txBody>
      </p:sp>
      <p:sp>
        <p:nvSpPr>
          <p:cNvPr id="62" name="R4C2"/>
          <p:cNvSpPr/>
          <p:nvPr/>
        </p:nvSpPr>
        <p:spPr>
          <a:xfrm>
            <a:off x="3352400" y="3530000"/>
            <a:ext cx="3200400" cy="762000"/>
          </a:xfrm>
          <a:prstGeom prst="rect">
            <a:avLst/>
          </a:prstGeom>
          <a:noFill/>
          <a:ln w="19050">
            <a:solidFill>
              <a:srgbClr val="AAAAAA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b="1" dirty="0">
                <a:solidFill>
                  <a:srgbClr val="267C8F"/>
                </a:solidFill>
                <a:latin typeface="+mn-lt"/>
              </a:rPr>
              <a:t>Adopt adaptive AI curriculum</a:t>
            </a:r>
          </a:p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Discipline-specific modules rather than one-size-fits-all AI literacy</a:t>
            </a:r>
          </a:p>
        </p:txBody>
      </p:sp>
      <p:sp>
        <p:nvSpPr>
          <p:cNvPr id="63" name="R4C3"/>
          <p:cNvSpPr/>
          <p:nvPr/>
        </p:nvSpPr>
        <p:spPr>
          <a:xfrm>
            <a:off x="6705800" y="3530000"/>
            <a:ext cx="4486000" cy="762000"/>
          </a:xfrm>
          <a:prstGeom prst="rect">
            <a:avLst/>
          </a:prstGeom>
          <a:noFill/>
          <a:ln w="19050">
            <a:solidFill>
              <a:srgbClr val="AAAAAA"/>
            </a:solidFill>
          </a:ln>
        </p:spPr>
        <p:txBody>
          <a:bodyPr wrap="square" lIns="152400" tIns="91425" rIns="91425" bIns="91425" anchor="ctr" anchorCtr="0">
            <a:norm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+mn-lt"/>
              </a:rPr>
              <a:t>CC-BY CDM rubric + open NLP pipeline on OSF supports institution-wide replication; NAIRR compute enables large-scale benchmarking (N &gt; 1,000)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9518768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n-lt"/>
              </a:rPr>
              <a:t>Limitations and Future Directions</a:t>
            </a:r>
          </a:p>
        </p:txBody>
      </p:sp>
      <p:sp>
        <p:nvSpPr>
          <p:cNvPr id="3" name="LeftHeader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924B"/>
                </a:solidFill>
                <a:latin typeface="+mn-lt"/>
              </a:rPr>
              <a:t>Current Study Limitations</a:t>
            </a:r>
          </a:p>
        </p:txBody>
      </p:sp>
      <p:sp>
        <p:nvSpPr>
          <p:cNvPr id="4" name="LeftBody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Sample Size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N=30 is minimum viable; small cell sizes (n=10) limit generalizability and reduce power for multi-way interaction effects. Phase 2 IUSE expansion to N=120 across 4 institutions will address this directly.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Single-Institution Bias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UT Tyler's regional, teaching-focused context may not generalize to R1 or HBCU settings. Planned multi-site replication (3 HBCU partners, Fall 2026) will test CDM norm portability.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Model Version Dependency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GPT-4o and Claude model updates may shift interaction behavior baselines. Logs are version-pinned; a CDM re-norming protocol is included for future model iterations.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Reactivity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Think-aloud protocols may alter natural interaction patterns (Ericsson &amp; Simon, 1993). Concurrent validity against silent interaction logs is checked via intraclass correlation.</a:t>
            </a:r>
          </a:p>
        </p:txBody>
      </p:sp>
      <p:sp>
        <p:nvSpPr>
          <p:cNvPr id="6" name="RightBody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Tier 1 — Exploratory (Current)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CDM instrument development and pilot validation (N=30, UT Tyler). Establishes psychometric baseline and cross-discipline effect sizes required for Tier 2 proposal.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Tier 2 — Development (Proposed)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Multi-site CDM-based curriculum intervention study (N=120 across 4 institutions; 3 HBCU partners). Pre/post repeated-measures design; OER dissemination package. Target: $600K, 3 years.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+mn-lt"/>
              </a:rPr>
              <a:t>Key Deliverables (Tier 2)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(1) Validated CDM norm tables per discipline; (2) Automated NLP scoring pipeline (open-source); (3) Faculty PD module with CDM-based assessment; (4) Longitudinal CDM dataset (CC-BY) on OSF.</a:t>
            </a:r>
          </a:p>
          <a:p>
            <a:pPr>
              <a:buNone/>
            </a:pPr>
            <a:endParaRPr lang="en-US" sz="200" dirty="0">
              <a:latin typeface="+mn-lt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C8924B"/>
                </a:solidFill>
                <a:latin typeface="+mn-lt"/>
              </a:rPr>
              <a:t>NAIRR Alignment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+mn-lt"/>
              </a:rPr>
              <a:t>CDM interaction logs contributed to NAIRR Pilot Education Dataset; automated CDM scoring pipeline submitted for NAIRR compute allocation to enable large-scale log analysis at N &gt; 1,000.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>
          <a:xfrm>
            <a:off x="609600" y="383885"/>
            <a:ext cx="8902391" cy="69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+mn-lt"/>
              </a:rPr>
              <a:t>Key Takeaways</a:t>
            </a:r>
          </a:p>
        </p:txBody>
      </p:sp>
      <p:sp>
        <p:nvSpPr>
          <p:cNvPr id="20" name="TK1bg"/>
          <p:cNvSpPr/>
          <p:nvPr/>
        </p:nvSpPr>
        <p:spPr>
          <a:xfrm>
            <a:off x="609600" y="1537560"/>
            <a:ext cx="5080000" cy="762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txBody>
          <a:bodyPr wrap="square" lIns="182880" tIns="91425" rIns="182880" bIns="91425" anchor="ctr" anchorCtr="0">
            <a:normAutofit fontScale="85000" lnSpcReduction="10000"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+mn-lt"/>
              </a:rPr>
              <a:t>AI reasoning differs systematically across disciplines</a:t>
            </a:r>
          </a:p>
          <a:p>
            <a:r>
              <a:rPr lang="en-US" sz="1200" dirty="0">
                <a:solidFill>
                  <a:srgbClr val="CADCFC"/>
                </a:solidFill>
                <a:latin typeface="+mn-lt"/>
              </a:rPr>
              <a:t>Business, Health Sciences, and Humanities show distinct patterns in prompting, validation, and sensemaking.</a:t>
            </a:r>
          </a:p>
        </p:txBody>
      </p:sp>
      <p:sp>
        <p:nvSpPr>
          <p:cNvPr id="21" name="TK2bg"/>
          <p:cNvSpPr/>
          <p:nvPr/>
        </p:nvSpPr>
        <p:spPr>
          <a:xfrm>
            <a:off x="6096000" y="1537560"/>
            <a:ext cx="5120000" cy="762000"/>
          </a:xfrm>
          <a:prstGeom prst="roundRect">
            <a:avLst>
              <a:gd name="adj" fmla="val 10000"/>
            </a:avLst>
          </a:prstGeom>
          <a:solidFill>
            <a:srgbClr val="267C8F"/>
          </a:solidFill>
          <a:ln>
            <a:noFill/>
          </a:ln>
        </p:spPr>
        <p:txBody>
          <a:bodyPr wrap="square" lIns="182880" tIns="91425" rIns="182880" bIns="91425" anchor="ctr" anchorCtr="0">
            <a:normAutofit fontScale="85000" lnSpcReduction="10000"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+mn-lt"/>
              </a:rPr>
              <a:t>Traditional AI literacy measures miss these differences</a:t>
            </a:r>
          </a:p>
          <a:p>
            <a:r>
              <a:rPr lang="en-US" sz="1200" dirty="0">
                <a:solidFill>
                  <a:srgbClr val="E0F4F8"/>
                </a:solidFill>
                <a:latin typeface="+mn-lt"/>
              </a:rPr>
              <a:t>Existing instruments measure knowledge, not AI reasoning processes or disciplinary engagement styles.</a:t>
            </a:r>
          </a:p>
        </p:txBody>
      </p:sp>
      <p:sp>
        <p:nvSpPr>
          <p:cNvPr id="22" name="TK3bg"/>
          <p:cNvSpPr/>
          <p:nvPr/>
        </p:nvSpPr>
        <p:spPr>
          <a:xfrm>
            <a:off x="609600" y="3306424"/>
            <a:ext cx="5080000" cy="762000"/>
          </a:xfrm>
          <a:prstGeom prst="roundRect">
            <a:avLst>
              <a:gd name="adj" fmla="val 10000"/>
            </a:avLst>
          </a:prstGeom>
          <a:solidFill>
            <a:srgbClr val="C8924B"/>
          </a:solidFill>
          <a:ln>
            <a:noFill/>
          </a:ln>
        </p:spPr>
        <p:txBody>
          <a:bodyPr wrap="square" lIns="182880" tIns="91425" rIns="182880" bIns="91425" anchor="ctr" anchorCtr="0">
            <a:normAutofit fontScale="92500" lnSpcReduction="10000"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+mn-lt"/>
              </a:rPr>
              <a:t>CDM provides a scalable measurement framework</a:t>
            </a:r>
          </a:p>
          <a:p>
            <a:r>
              <a:rPr lang="en-US" sz="1200" dirty="0">
                <a:solidFill>
                  <a:srgbClr val="FFF4E8"/>
                </a:solidFill>
                <a:latin typeface="+mn-lt"/>
              </a:rPr>
              <a:t>Preliminary evidence: α = 0.76–0.83, κ = 0.81–0.87. Open-source pipeline enables multi-institution replication.</a:t>
            </a:r>
          </a:p>
        </p:txBody>
      </p:sp>
      <p:sp>
        <p:nvSpPr>
          <p:cNvPr id="23" name="TK4bg"/>
          <p:cNvSpPr/>
          <p:nvPr/>
        </p:nvSpPr>
        <p:spPr>
          <a:xfrm>
            <a:off x="6245336" y="3268232"/>
            <a:ext cx="5120000" cy="762000"/>
          </a:xfrm>
          <a:prstGeom prst="roundRect">
            <a:avLst>
              <a:gd name="adj" fmla="val 10000"/>
            </a:avLst>
          </a:prstGeom>
          <a:solidFill>
            <a:srgbClr val="2C6E49"/>
          </a:solidFill>
          <a:ln>
            <a:noFill/>
          </a:ln>
        </p:spPr>
        <p:txBody>
          <a:bodyPr wrap="square" lIns="182880" tIns="91425" rIns="182880" bIns="91425" anchor="ctr" anchorCtr="0">
            <a:normAutofit fontScale="92500" lnSpcReduction="10000"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+mn-lt"/>
              </a:rPr>
              <a:t>Results support adaptive AI curriculum design</a:t>
            </a:r>
          </a:p>
          <a:p>
            <a:r>
              <a:rPr lang="en-US" sz="1200" dirty="0">
                <a:solidFill>
                  <a:srgbClr val="E0F4E8"/>
                </a:solidFill>
                <a:latin typeface="+mn-lt"/>
              </a:rPr>
              <a:t>One-size-fits-all AI education may miss discipline-specific reasoning needs and strengths.</a:t>
            </a:r>
          </a:p>
        </p:txBody>
      </p:sp>
      <p:sp>
        <p:nvSpPr>
          <p:cNvPr id="30" name="Future"/>
          <p:cNvSpPr/>
          <p:nvPr/>
        </p:nvSpPr>
        <p:spPr>
          <a:xfrm>
            <a:off x="609200" y="4873936"/>
            <a:ext cx="105824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182880" tIns="91425" rIns="182880" bIns="91425" anchor="ctr" anchorCtr="0">
            <a:normAutofit/>
          </a:bodyPr>
          <a:lstStyle/>
          <a:p>
            <a:pPr algn="ctr"/>
            <a:r>
              <a:rPr lang="en-US" sz="1200" b="1" dirty="0">
                <a:solidFill>
                  <a:srgbClr val="1E3A5F"/>
                </a:solidFill>
                <a:latin typeface="+mn-lt"/>
              </a:rPr>
              <a:t>Next Step: </a:t>
            </a:r>
            <a:r>
              <a:rPr lang="en-US" sz="1200" dirty="0">
                <a:solidFill>
                  <a:srgbClr val="555555"/>
                </a:solidFill>
                <a:latin typeface="+mn-lt"/>
              </a:rPr>
              <a:t>Multi-institution validation study (N=120+, 3 HBCU partners, Fall 2026) to confirm CDM norms and test curriculum intervention effects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EB3C75-8BA1-075F-FD2B-ED1A94814754}"/>
              </a:ext>
            </a:extLst>
          </p:cNvPr>
          <p:cNvSpPr txBox="1"/>
          <p:nvPr/>
        </p:nvSpPr>
        <p:spPr>
          <a:xfrm>
            <a:off x="2980944" y="1674674"/>
            <a:ext cx="46360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Questions?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2400</Words>
  <Application>Microsoft Office PowerPoint</Application>
  <PresentationFormat>Widescreen</PresentationFormat>
  <Paragraphs>223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Wingdings</vt:lpstr>
      <vt:lpstr>Helvetica Neue</vt:lpstr>
      <vt:lpstr>Arial</vt:lpstr>
      <vt:lpstr>Calibri</vt:lpstr>
      <vt:lpstr>Office Theme</vt:lpstr>
      <vt:lpstr>Office Theme</vt:lpstr>
      <vt:lpstr>PowerPoint Presentation</vt:lpstr>
      <vt:lpstr>PowerPoint Presentation</vt:lpstr>
      <vt:lpstr>Motivation: Why Cognitive Diversity Matters in AI Education</vt:lpstr>
      <vt:lpstr>CDM Research Framework: From Interaction to Curriculum</vt:lpstr>
      <vt:lpstr>Research Questions</vt:lpstr>
      <vt:lpstr>Research Contributions</vt:lpstr>
      <vt:lpstr>The CDM Framework: Measurement Approach and Data Sources</vt:lpstr>
      <vt:lpstr>Study Design: 12-Week Mixed-Methods Pilot — Three-Phase Protocol</vt:lpstr>
      <vt:lpstr>Analysis Methods</vt:lpstr>
      <vt:lpstr>Preliminary Findings and Early Trends</vt:lpstr>
      <vt:lpstr>Preliminary Findings: Psychometric Validation and Emergent Patterns</vt:lpstr>
      <vt:lpstr>Discipline-Specific CDM Profiles: Emerging Empirical Patterns</vt:lpstr>
      <vt:lpstr>Implications for AI Curriculum Design</vt:lpstr>
      <vt:lpstr>Limitations and Future Directions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Vijayalakshmi Saravanan</dc:creator>
  <cp:lastModifiedBy>Vijayalakshmi Saravanan</cp:lastModifiedBy>
  <cp:revision>16</cp:revision>
  <dcterms:modified xsi:type="dcterms:W3CDTF">2026-06-15T22:46:18Z</dcterms:modified>
</cp:coreProperties>
</file>