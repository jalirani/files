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 id="2147483661" r:id="rId3"/>
  </p:sldMasterIdLst>
  <p:notesMasterIdLst>
    <p:notesMasterId r:id="rId17"/>
  </p:notesMasterIdLst>
  <p:sldIdLst>
    <p:sldId id="271" r:id="rId4"/>
    <p:sldId id="272" r:id="rId5"/>
    <p:sldId id="257" r:id="rId6"/>
    <p:sldId id="258" r:id="rId7"/>
    <p:sldId id="259" r:id="rId8"/>
    <p:sldId id="260" r:id="rId9"/>
    <p:sldId id="269" r:id="rId10"/>
    <p:sldId id="261" r:id="rId11"/>
    <p:sldId id="262" r:id="rId12"/>
    <p:sldId id="264" r:id="rId13"/>
    <p:sldId id="265" r:id="rId14"/>
    <p:sldId id="267" r:id="rId15"/>
    <p:sldId id="268"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49"/>
    <p:restoredTop sz="94643"/>
  </p:normalViewPr>
  <p:slideViewPr>
    <p:cSldViewPr snapToGrid="0">
      <p:cViewPr varScale="1">
        <p:scale>
          <a:sx n="115" d="100"/>
          <a:sy n="115" d="100"/>
        </p:scale>
        <p:origin x="520"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 name="Google Shape;7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5ADD2A01-DA3B-95DE-EE5E-C51D0A3893CE}"/>
            </a:ext>
          </a:extLst>
        </p:cNvPr>
        <p:cNvGrpSpPr/>
        <p:nvPr/>
      </p:nvGrpSpPr>
      <p:grpSpPr>
        <a:xfrm>
          <a:off x="0" y="0"/>
          <a:ext cx="0" cy="0"/>
          <a:chOff x="0" y="0"/>
          <a:chExt cx="0" cy="0"/>
        </a:xfrm>
      </p:grpSpPr>
      <p:sp>
        <p:nvSpPr>
          <p:cNvPr id="98" name="Google Shape;98;p18:notes">
            <a:extLst>
              <a:ext uri="{FF2B5EF4-FFF2-40B4-BE49-F238E27FC236}">
                <a16:creationId xmlns:a16="http://schemas.microsoft.com/office/drawing/2014/main" id="{D2ECFE7C-32B9-D70D-BC6D-6FC39A0C1B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8:notes">
            <a:extLst>
              <a:ext uri="{FF2B5EF4-FFF2-40B4-BE49-F238E27FC236}">
                <a16:creationId xmlns:a16="http://schemas.microsoft.com/office/drawing/2014/main" id="{5602780A-4EBB-1A68-7D0B-DB5983448E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4082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88B7B7D1-4BC5-051A-84CD-23F5811155CC}"/>
            </a:ext>
          </a:extLst>
        </p:cNvPr>
        <p:cNvGrpSpPr/>
        <p:nvPr/>
      </p:nvGrpSpPr>
      <p:grpSpPr>
        <a:xfrm>
          <a:off x="0" y="0"/>
          <a:ext cx="0" cy="0"/>
          <a:chOff x="0" y="0"/>
          <a:chExt cx="0" cy="0"/>
        </a:xfrm>
      </p:grpSpPr>
      <p:sp>
        <p:nvSpPr>
          <p:cNvPr id="98" name="Google Shape;98;p18:notes">
            <a:extLst>
              <a:ext uri="{FF2B5EF4-FFF2-40B4-BE49-F238E27FC236}">
                <a16:creationId xmlns:a16="http://schemas.microsoft.com/office/drawing/2014/main" id="{CC682C39-19C5-BEE2-ED26-1C55FC247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8:notes">
            <a:extLst>
              <a:ext uri="{FF2B5EF4-FFF2-40B4-BE49-F238E27FC236}">
                <a16:creationId xmlns:a16="http://schemas.microsoft.com/office/drawing/2014/main" id="{33178D71-DD42-5332-F637-C8BABA101A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0061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rgbClr val="1E22AA"/>
        </a:solidFill>
        <a:effectLst/>
      </p:bgPr>
    </p:bg>
    <p:spTree>
      <p:nvGrpSpPr>
        <p:cNvPr id="1" name="Shape 10"/>
        <p:cNvGrpSpPr/>
        <p:nvPr/>
      </p:nvGrpSpPr>
      <p:grpSpPr>
        <a:xfrm>
          <a:off x="0" y="0"/>
          <a:ext cx="0" cy="0"/>
          <a:chOff x="0" y="0"/>
          <a:chExt cx="0" cy="0"/>
        </a:xfrm>
      </p:grpSpPr>
      <p:sp>
        <p:nvSpPr>
          <p:cNvPr id="11" name="Google Shape;11;p2"/>
          <p:cNvSpPr/>
          <p:nvPr/>
        </p:nvSpPr>
        <p:spPr>
          <a:xfrm>
            <a:off x="0" y="0"/>
            <a:ext cx="10050612" cy="5810736"/>
          </a:xfrm>
          <a:prstGeom prst="rect">
            <a:avLst/>
          </a:prstGeom>
          <a:solidFill>
            <a:schemeClr val="lt1"/>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2" name="Google Shape;12;p2" descr="CRA PPT_Cover.png"/>
          <p:cNvPicPr preferRelativeResize="0"/>
          <p:nvPr/>
        </p:nvPicPr>
        <p:blipFill rotWithShape="1">
          <a:blip r:embed="rId2">
            <a:alphaModFix/>
          </a:blip>
          <a:srcRect/>
          <a:stretch/>
        </p:blipFill>
        <p:spPr>
          <a:xfrm>
            <a:off x="1" y="-10027"/>
            <a:ext cx="12192000" cy="6868027"/>
          </a:xfrm>
          <a:prstGeom prst="rect">
            <a:avLst/>
          </a:prstGeom>
          <a:noFill/>
          <a:ln>
            <a:noFill/>
          </a:ln>
        </p:spPr>
      </p:pic>
      <p:pic>
        <p:nvPicPr>
          <p:cNvPr id="13" name="Google Shape;13;p2" descr="CRA PPT_Cover.png"/>
          <p:cNvPicPr preferRelativeResize="0"/>
          <p:nvPr/>
        </p:nvPicPr>
        <p:blipFill rotWithShape="1">
          <a:blip r:embed="rId2">
            <a:alphaModFix/>
          </a:blip>
          <a:srcRect/>
          <a:stretch/>
        </p:blipFill>
        <p:spPr>
          <a:xfrm>
            <a:off x="0" y="0"/>
            <a:ext cx="12192000" cy="6868027"/>
          </a:xfrm>
          <a:prstGeom prst="rect">
            <a:avLst/>
          </a:prstGeom>
          <a:noFill/>
          <a:ln>
            <a:noFill/>
          </a:ln>
        </p:spPr>
      </p:pic>
      <p:pic>
        <p:nvPicPr>
          <p:cNvPr id="14" name="Google Shape;14;p2"/>
          <p:cNvPicPr preferRelativeResize="0"/>
          <p:nvPr/>
        </p:nvPicPr>
        <p:blipFill rotWithShape="1">
          <a:blip r:embed="rId3">
            <a:alphaModFix/>
          </a:blip>
          <a:srcRect/>
          <a:stretch/>
        </p:blipFill>
        <p:spPr>
          <a:xfrm>
            <a:off x="-417445" y="937933"/>
            <a:ext cx="9119325" cy="29181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Logo - Blank slide">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609600" y="488058"/>
            <a:ext cx="8790878" cy="69097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1E22AA"/>
              </a:buClr>
              <a:buSzPts val="3600"/>
              <a:buFont typeface="Arial"/>
              <a:buNone/>
              <a:defRPr sz="3600" b="1" i="0" u="none" strike="noStrike" cap="none">
                <a:solidFill>
                  <a:srgbClr val="1E22AA"/>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Logo comparison">
    <p:spTree>
      <p:nvGrpSpPr>
        <p:cNvPr id="1" name="Shape 17"/>
        <p:cNvGrpSpPr/>
        <p:nvPr/>
      </p:nvGrpSpPr>
      <p:grpSpPr>
        <a:xfrm>
          <a:off x="0" y="0"/>
          <a:ext cx="0" cy="0"/>
          <a:chOff x="0" y="0"/>
          <a:chExt cx="0" cy="0"/>
        </a:xfrm>
      </p:grpSpPr>
      <p:sp>
        <p:nvSpPr>
          <p:cNvPr id="18" name="Google Shape;18;p4"/>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360"/>
              </a:spcBef>
              <a:spcAft>
                <a:spcPts val="0"/>
              </a:spcAft>
              <a:buClr>
                <a:srgbClr val="7F7F7F"/>
              </a:buClr>
              <a:buSzPts val="1800"/>
              <a:buNone/>
              <a:defRPr sz="2800" b="0" i="1">
                <a:solidFill>
                  <a:srgbClr val="7F7F7F"/>
                </a:solidFill>
                <a:latin typeface="Helvetica Neue"/>
                <a:ea typeface="Helvetica Neue"/>
                <a:cs typeface="Helvetica Neue"/>
                <a:sym typeface="Helvetica Neue"/>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9" name="Google Shape;19;p4"/>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rgbClr val="1E22AA"/>
              </a:buClr>
              <a:buSzPts val="1800"/>
              <a:buChar char="•"/>
              <a:defRPr sz="2400">
                <a:latin typeface="Helvetica Neue"/>
                <a:ea typeface="Helvetica Neue"/>
                <a:cs typeface="Helvetica Neue"/>
                <a:sym typeface="Helvetica Neue"/>
              </a:defRPr>
            </a:lvl1pPr>
            <a:lvl2pPr marL="914400" lvl="1" indent="-342900" algn="l">
              <a:lnSpc>
                <a:spcPct val="100000"/>
              </a:lnSpc>
              <a:spcBef>
                <a:spcPts val="360"/>
              </a:spcBef>
              <a:spcAft>
                <a:spcPts val="0"/>
              </a:spcAft>
              <a:buClr>
                <a:srgbClr val="1E22AA"/>
              </a:buClr>
              <a:buSzPts val="1800"/>
              <a:buChar char="–"/>
              <a:defRPr sz="1800">
                <a:latin typeface="Arial"/>
                <a:ea typeface="Arial"/>
                <a:cs typeface="Arial"/>
                <a:sym typeface="Arial"/>
              </a:defRPr>
            </a:lvl2pPr>
            <a:lvl3pPr marL="1371600" lvl="2" indent="-342900" algn="l">
              <a:lnSpc>
                <a:spcPct val="100000"/>
              </a:lnSpc>
              <a:spcBef>
                <a:spcPts val="360"/>
              </a:spcBef>
              <a:spcAft>
                <a:spcPts val="0"/>
              </a:spcAft>
              <a:buClr>
                <a:srgbClr val="1E22AA"/>
              </a:buClr>
              <a:buSzPts val="1800"/>
              <a:buChar char="•"/>
              <a:defRPr sz="1800">
                <a:latin typeface="Arial"/>
                <a:ea typeface="Arial"/>
                <a:cs typeface="Arial"/>
                <a:sym typeface="Arial"/>
              </a:defRPr>
            </a:lvl3pPr>
            <a:lvl4pPr marL="1828800" lvl="3" indent="-342900" algn="l">
              <a:lnSpc>
                <a:spcPct val="100000"/>
              </a:lnSpc>
              <a:spcBef>
                <a:spcPts val="360"/>
              </a:spcBef>
              <a:spcAft>
                <a:spcPts val="0"/>
              </a:spcAft>
              <a:buClr>
                <a:srgbClr val="1E22AA"/>
              </a:buClr>
              <a:buSzPts val="1800"/>
              <a:buChar char="–"/>
              <a:defRPr sz="1800">
                <a:latin typeface="Arial"/>
                <a:ea typeface="Arial"/>
                <a:cs typeface="Arial"/>
                <a:sym typeface="Arial"/>
              </a:defRPr>
            </a:lvl4pPr>
            <a:lvl5pPr marL="2286000" lvl="4" indent="-342900" algn="l">
              <a:lnSpc>
                <a:spcPct val="100000"/>
              </a:lnSpc>
              <a:spcBef>
                <a:spcPts val="360"/>
              </a:spcBef>
              <a:spcAft>
                <a:spcPts val="0"/>
              </a:spcAft>
              <a:buClr>
                <a:srgbClr val="1E22AA"/>
              </a:buClr>
              <a:buSzPts val="1800"/>
              <a:buChar char="»"/>
              <a:defRPr sz="1800">
                <a:latin typeface="Arial"/>
                <a:ea typeface="Arial"/>
                <a:cs typeface="Arial"/>
                <a:sym typeface="Aria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0" name="Google Shape;20;p4"/>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360"/>
              </a:spcBef>
              <a:spcAft>
                <a:spcPts val="0"/>
              </a:spcAft>
              <a:buClr>
                <a:srgbClr val="7F7F7F"/>
              </a:buClr>
              <a:buSzPts val="1800"/>
              <a:buNone/>
              <a:defRPr sz="2800" b="0" i="1">
                <a:solidFill>
                  <a:srgbClr val="7F7F7F"/>
                </a:solidFill>
                <a:latin typeface="Helvetica Neue"/>
                <a:ea typeface="Helvetica Neue"/>
                <a:cs typeface="Helvetica Neue"/>
                <a:sym typeface="Helvetica Neue"/>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1" name="Google Shape;21;p4"/>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rgbClr val="1E22AA"/>
              </a:buClr>
              <a:buSzPts val="1800"/>
              <a:buChar char="•"/>
              <a:defRPr sz="2400" b="0" i="0">
                <a:latin typeface="Helvetica Neue"/>
                <a:ea typeface="Helvetica Neue"/>
                <a:cs typeface="Helvetica Neue"/>
                <a:sym typeface="Helvetica Neue"/>
              </a:defRPr>
            </a:lvl1pPr>
            <a:lvl2pPr marL="914400" lvl="1"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2pPr>
            <a:lvl3pPr marL="1371600" lvl="2"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3pPr>
            <a:lvl4pPr marL="1828800" lvl="3"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4pPr>
            <a:lvl5pPr marL="2286000" lvl="4"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2" name="Google Shape;22;p4"/>
          <p:cNvSpPr txBox="1">
            <a:spLocks noGrp="1"/>
          </p:cNvSpPr>
          <p:nvPr>
            <p:ph type="title"/>
          </p:nvPr>
        </p:nvSpPr>
        <p:spPr>
          <a:xfrm>
            <a:off x="609600" y="488058"/>
            <a:ext cx="8772939" cy="69097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1E22AA"/>
              </a:buClr>
              <a:buSzPts val="3600"/>
              <a:buFont typeface="Arial"/>
              <a:buNone/>
              <a:defRPr sz="3600" b="1" i="0" u="none" strike="noStrike" cap="none">
                <a:solidFill>
                  <a:srgbClr val="1E22AA"/>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p:cSld name="1_Title Slide 2">
    <p:bg>
      <p:bgPr>
        <a:solidFill>
          <a:srgbClr val="1E22AA"/>
        </a:solidFill>
        <a:effectLst/>
      </p:bgPr>
    </p:bg>
    <p:spTree>
      <p:nvGrpSpPr>
        <p:cNvPr id="1" name="Shape 33"/>
        <p:cNvGrpSpPr/>
        <p:nvPr/>
      </p:nvGrpSpPr>
      <p:grpSpPr>
        <a:xfrm>
          <a:off x="0" y="0"/>
          <a:ext cx="0" cy="0"/>
          <a:chOff x="0" y="0"/>
          <a:chExt cx="0" cy="0"/>
        </a:xfrm>
      </p:grpSpPr>
      <p:sp>
        <p:nvSpPr>
          <p:cNvPr id="34" name="Google Shape;34;p6"/>
          <p:cNvSpPr/>
          <p:nvPr/>
        </p:nvSpPr>
        <p:spPr>
          <a:xfrm>
            <a:off x="0" y="0"/>
            <a:ext cx="10050612" cy="5810736"/>
          </a:xfrm>
          <a:prstGeom prst="rect">
            <a:avLst/>
          </a:prstGeom>
          <a:solidFill>
            <a:schemeClr val="lt1"/>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5" name="Google Shape;35;p6" descr="CRA PPT_Cover.png"/>
          <p:cNvPicPr preferRelativeResize="0"/>
          <p:nvPr/>
        </p:nvPicPr>
        <p:blipFill rotWithShape="1">
          <a:blip r:embed="rId2">
            <a:alphaModFix/>
          </a:blip>
          <a:srcRect/>
          <a:stretch/>
        </p:blipFill>
        <p:spPr>
          <a:xfrm>
            <a:off x="1" y="-10027"/>
            <a:ext cx="12192000" cy="6868027"/>
          </a:xfrm>
          <a:prstGeom prst="rect">
            <a:avLst/>
          </a:prstGeom>
          <a:noFill/>
          <a:ln>
            <a:noFill/>
          </a:ln>
        </p:spPr>
      </p:pic>
      <p:pic>
        <p:nvPicPr>
          <p:cNvPr id="36" name="Google Shape;36;p6" descr="CRA PPT_Cover.png"/>
          <p:cNvPicPr preferRelativeResize="0"/>
          <p:nvPr/>
        </p:nvPicPr>
        <p:blipFill rotWithShape="1">
          <a:blip r:embed="rId2">
            <a:alphaModFix/>
          </a:blip>
          <a:srcRect/>
          <a:stretch/>
        </p:blipFill>
        <p:spPr>
          <a:xfrm>
            <a:off x="0" y="0"/>
            <a:ext cx="12192000" cy="6868027"/>
          </a:xfrm>
          <a:prstGeom prst="rect">
            <a:avLst/>
          </a:prstGeom>
          <a:noFill/>
          <a:ln>
            <a:noFill/>
          </a:ln>
        </p:spPr>
      </p:pic>
      <p:sp>
        <p:nvSpPr>
          <p:cNvPr id="37" name="Google Shape;37;p6"/>
          <p:cNvSpPr txBox="1">
            <a:spLocks noGrp="1"/>
          </p:cNvSpPr>
          <p:nvPr>
            <p:ph type="subTitle" idx="1"/>
          </p:nvPr>
        </p:nvSpPr>
        <p:spPr>
          <a:xfrm>
            <a:off x="391043" y="3268046"/>
            <a:ext cx="7153509" cy="849661"/>
          </a:xfrm>
          <a:prstGeom prst="rect">
            <a:avLst/>
          </a:prstGeom>
          <a:noFill/>
          <a:ln>
            <a:noFill/>
          </a:ln>
        </p:spPr>
        <p:txBody>
          <a:bodyPr spcFirstLastPara="1" wrap="square" lIns="91425" tIns="45700" rIns="91425" bIns="45700" anchor="t" anchorCtr="0">
            <a:noAutofit/>
          </a:bodyPr>
          <a:lstStyle>
            <a:lvl1pPr lvl="0" algn="l">
              <a:lnSpc>
                <a:spcPct val="100000"/>
              </a:lnSpc>
              <a:spcBef>
                <a:spcPts val="480"/>
              </a:spcBef>
              <a:spcAft>
                <a:spcPts val="0"/>
              </a:spcAft>
              <a:buClr>
                <a:schemeClr val="dk1"/>
              </a:buClr>
              <a:buSzPts val="2400"/>
              <a:buNone/>
              <a:defRPr sz="3200" b="0" i="1">
                <a:solidFill>
                  <a:schemeClr val="dk1"/>
                </a:solidFill>
                <a:latin typeface="Helvetica Neue"/>
                <a:ea typeface="Helvetica Neue"/>
                <a:cs typeface="Helvetica Neue"/>
                <a:sym typeface="Helvetica Neue"/>
              </a:defRPr>
            </a:lvl1pPr>
            <a:lvl2pPr lvl="1" algn="ctr">
              <a:lnSpc>
                <a:spcPct val="100000"/>
              </a:lnSpc>
              <a:spcBef>
                <a:spcPts val="480"/>
              </a:spcBef>
              <a:spcAft>
                <a:spcPts val="0"/>
              </a:spcAft>
              <a:buClr>
                <a:srgbClr val="888888"/>
              </a:buClr>
              <a:buSzPts val="2400"/>
              <a:buNone/>
              <a:defRPr>
                <a:solidFill>
                  <a:srgbClr val="888888"/>
                </a:solidFill>
              </a:defRPr>
            </a:lvl2pPr>
            <a:lvl3pPr lvl="2" algn="ctr">
              <a:lnSpc>
                <a:spcPct val="100000"/>
              </a:lnSpc>
              <a:spcBef>
                <a:spcPts val="400"/>
              </a:spcBef>
              <a:spcAft>
                <a:spcPts val="0"/>
              </a:spcAft>
              <a:buClr>
                <a:srgbClr val="888888"/>
              </a:buClr>
              <a:buSzPts val="2000"/>
              <a:buNone/>
              <a:defRPr>
                <a:solidFill>
                  <a:srgbClr val="888888"/>
                </a:solidFill>
              </a:defRPr>
            </a:lvl3pPr>
            <a:lvl4pPr lvl="3" algn="ctr">
              <a:lnSpc>
                <a:spcPct val="100000"/>
              </a:lnSpc>
              <a:spcBef>
                <a:spcPts val="360"/>
              </a:spcBef>
              <a:spcAft>
                <a:spcPts val="0"/>
              </a:spcAft>
              <a:buClr>
                <a:srgbClr val="888888"/>
              </a:buClr>
              <a:buSzPts val="18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8" name="Google Shape;38;p6"/>
          <p:cNvSpPr txBox="1">
            <a:spLocks noGrp="1"/>
          </p:cNvSpPr>
          <p:nvPr>
            <p:ph type="ctrTitle"/>
          </p:nvPr>
        </p:nvSpPr>
        <p:spPr>
          <a:xfrm>
            <a:off x="391043" y="1810748"/>
            <a:ext cx="8187179" cy="8496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3200"/>
              <a:buFont typeface="Arial"/>
              <a:buNone/>
              <a:defRPr sz="3600" b="1" i="0" cap="none">
                <a:solidFill>
                  <a:srgbClr val="213E99"/>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9" name="Google Shape;39;p6"/>
          <p:cNvPicPr preferRelativeResize="0"/>
          <p:nvPr/>
        </p:nvPicPr>
        <p:blipFill rotWithShape="1">
          <a:blip r:embed="rId3">
            <a:alphaModFix/>
          </a:blip>
          <a:srcRect l="6397" r="6397"/>
          <a:stretch/>
        </p:blipFill>
        <p:spPr>
          <a:xfrm>
            <a:off x="138898" y="249444"/>
            <a:ext cx="5705750" cy="84966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p:cSld name="1_Section Header">
    <p:bg>
      <p:bgPr>
        <a:solidFill>
          <a:schemeClr val="lt1"/>
        </a:solidFill>
        <a:effectLst/>
      </p:bgPr>
    </p:bg>
    <p:spTree>
      <p:nvGrpSpPr>
        <p:cNvPr id="1" name="Shape 40"/>
        <p:cNvGrpSpPr/>
        <p:nvPr/>
      </p:nvGrpSpPr>
      <p:grpSpPr>
        <a:xfrm>
          <a:off x="0" y="0"/>
          <a:ext cx="0" cy="0"/>
          <a:chOff x="0" y="0"/>
          <a:chExt cx="0" cy="0"/>
        </a:xfrm>
      </p:grpSpPr>
      <p:pic>
        <p:nvPicPr>
          <p:cNvPr id="41" name="Google Shape;41;p7" descr="A white background with black dots  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2" name="Google Shape;42;p7"/>
          <p:cNvSpPr txBox="1">
            <a:spLocks noGrp="1"/>
          </p:cNvSpPr>
          <p:nvPr>
            <p:ph type="title"/>
          </p:nvPr>
        </p:nvSpPr>
        <p:spPr>
          <a:xfrm>
            <a:off x="609600" y="383886"/>
            <a:ext cx="9518768" cy="69097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1E22AA"/>
              </a:buClr>
              <a:buSzPts val="3600"/>
              <a:buFont typeface="Arial"/>
              <a:buNone/>
              <a:defRPr sz="3600" b="1" i="0" u="none" strike="noStrike" cap="none">
                <a:solidFill>
                  <a:srgbClr val="1E22AA"/>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43" name="Google Shape;43;p7"/>
          <p:cNvSpPr txBox="1">
            <a:spLocks noGrp="1"/>
          </p:cNvSpPr>
          <p:nvPr>
            <p:ph type="body" idx="1"/>
          </p:nvPr>
        </p:nvSpPr>
        <p:spPr>
          <a:xfrm>
            <a:off x="625475" y="1301750"/>
            <a:ext cx="9521825" cy="477043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3200">
                <a:latin typeface="Helvetica Neue"/>
                <a:ea typeface="Helvetica Neue"/>
                <a:cs typeface="Helvetica Neue"/>
                <a:sym typeface="Helvetica Neue"/>
              </a:defRPr>
            </a:lvl1pPr>
            <a:lvl2pPr marL="914400" lvl="1" indent="-381000" algn="l">
              <a:lnSpc>
                <a:spcPct val="100000"/>
              </a:lnSpc>
              <a:spcBef>
                <a:spcPts val="480"/>
              </a:spcBef>
              <a:spcAft>
                <a:spcPts val="0"/>
              </a:spcAft>
              <a:buSzPts val="2400"/>
              <a:buFont typeface="Arial"/>
              <a:buChar char="•"/>
              <a:defRPr sz="2400">
                <a:latin typeface="Helvetica Neue"/>
                <a:ea typeface="Helvetica Neue"/>
                <a:cs typeface="Helvetica Neue"/>
                <a:sym typeface="Helvetica Neue"/>
              </a:defRPr>
            </a:lvl2pPr>
            <a:lvl3pPr marL="1371600" lvl="2" indent="-355600" algn="l">
              <a:lnSpc>
                <a:spcPct val="100000"/>
              </a:lnSpc>
              <a:spcBef>
                <a:spcPts val="400"/>
              </a:spcBef>
              <a:spcAft>
                <a:spcPts val="0"/>
              </a:spcAft>
              <a:buSzPts val="2000"/>
              <a:buChar char="•"/>
              <a:defRPr>
                <a:latin typeface="Helvetica Neue"/>
                <a:ea typeface="Helvetica Neue"/>
                <a:cs typeface="Helvetica Neue"/>
                <a:sym typeface="Helvetica Neue"/>
              </a:defRPr>
            </a:lvl3pPr>
            <a:lvl4pPr marL="1828800" lvl="3" indent="-342900" algn="l">
              <a:lnSpc>
                <a:spcPct val="100000"/>
              </a:lnSpc>
              <a:spcBef>
                <a:spcPts val="360"/>
              </a:spcBef>
              <a:spcAft>
                <a:spcPts val="0"/>
              </a:spcAft>
              <a:buSzPts val="1800"/>
              <a:buChar char="–"/>
              <a:defRPr>
                <a:latin typeface="Helvetica Neue"/>
                <a:ea typeface="Helvetica Neue"/>
                <a:cs typeface="Helvetica Neue"/>
                <a:sym typeface="Helvetica Neue"/>
              </a:defRPr>
            </a:lvl4pPr>
            <a:lvl5pPr marL="2286000" lvl="4" indent="-330200" algn="l">
              <a:lnSpc>
                <a:spcPct val="100000"/>
              </a:lnSpc>
              <a:spcBef>
                <a:spcPts val="320"/>
              </a:spcBef>
              <a:spcAft>
                <a:spcPts val="0"/>
              </a:spcAft>
              <a:buSzPts val="1600"/>
              <a:buChar char="»"/>
              <a:defRPr>
                <a:latin typeface="Helvetica Neue"/>
                <a:ea typeface="Helvetica Neue"/>
                <a:cs typeface="Helvetica Neue"/>
                <a:sym typeface="Helvetica Neue"/>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p:cSld name="1_Section Header 2">
    <p:bg>
      <p:bgPr>
        <a:solidFill>
          <a:schemeClr val="lt1"/>
        </a:solidFill>
        <a:effectLst/>
      </p:bgPr>
    </p:bg>
    <p:spTree>
      <p:nvGrpSpPr>
        <p:cNvPr id="1" name="Shape 44"/>
        <p:cNvGrpSpPr/>
        <p:nvPr/>
      </p:nvGrpSpPr>
      <p:grpSpPr>
        <a:xfrm>
          <a:off x="0" y="0"/>
          <a:ext cx="0" cy="0"/>
          <a:chOff x="0" y="0"/>
          <a:chExt cx="0" cy="0"/>
        </a:xfrm>
      </p:grpSpPr>
      <p:pic>
        <p:nvPicPr>
          <p:cNvPr id="45" name="Google Shape;45;p8" descr="A white background with black dots  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6" name="Google Shape;46;p8"/>
          <p:cNvSpPr txBox="1">
            <a:spLocks noGrp="1"/>
          </p:cNvSpPr>
          <p:nvPr>
            <p:ph type="title"/>
          </p:nvPr>
        </p:nvSpPr>
        <p:spPr>
          <a:xfrm>
            <a:off x="963084" y="3216047"/>
            <a:ext cx="10363200" cy="78444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2"/>
              </a:buClr>
              <a:buSzPts val="2800"/>
              <a:buFont typeface="Arial"/>
              <a:buNone/>
              <a:defRPr sz="3600" b="1" i="0" cap="none">
                <a:solidFill>
                  <a:srgbClr val="213E99"/>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p:cSld name="1_Section Header">
    <p:bg>
      <p:bgPr>
        <a:solidFill>
          <a:schemeClr val="lt1"/>
        </a:solidFill>
        <a:effectLst/>
      </p:bgPr>
    </p:bg>
    <p:spTree>
      <p:nvGrpSpPr>
        <p:cNvPr id="1" name="Shape 52"/>
        <p:cNvGrpSpPr/>
        <p:nvPr/>
      </p:nvGrpSpPr>
      <p:grpSpPr>
        <a:xfrm>
          <a:off x="0" y="0"/>
          <a:ext cx="0" cy="0"/>
          <a:chOff x="0" y="0"/>
          <a:chExt cx="0" cy="0"/>
        </a:xfrm>
      </p:grpSpPr>
      <p:pic>
        <p:nvPicPr>
          <p:cNvPr id="53" name="Google Shape;53;p10" descr="A white background with black dots  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4" name="Google Shape;54;p10"/>
          <p:cNvSpPr txBox="1">
            <a:spLocks noGrp="1"/>
          </p:cNvSpPr>
          <p:nvPr>
            <p:ph type="title"/>
          </p:nvPr>
        </p:nvSpPr>
        <p:spPr>
          <a:xfrm>
            <a:off x="609600" y="383886"/>
            <a:ext cx="9518768" cy="69097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1E22AA"/>
              </a:buClr>
              <a:buSzPts val="3600"/>
              <a:buFont typeface="Arial"/>
              <a:buNone/>
              <a:defRPr sz="3600" b="1" i="0" u="none" strike="noStrike" cap="none">
                <a:solidFill>
                  <a:srgbClr val="1E22AA"/>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55" name="Google Shape;55;p10"/>
          <p:cNvSpPr txBox="1">
            <a:spLocks noGrp="1"/>
          </p:cNvSpPr>
          <p:nvPr>
            <p:ph type="body" idx="1"/>
          </p:nvPr>
        </p:nvSpPr>
        <p:spPr>
          <a:xfrm>
            <a:off x="625475" y="1301750"/>
            <a:ext cx="9521825" cy="477043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3200">
                <a:latin typeface="Helvetica Neue"/>
                <a:ea typeface="Helvetica Neue"/>
                <a:cs typeface="Helvetica Neue"/>
                <a:sym typeface="Helvetica Neue"/>
              </a:defRPr>
            </a:lvl1pPr>
            <a:lvl2pPr marL="914400" lvl="1" indent="-381000" algn="l">
              <a:lnSpc>
                <a:spcPct val="100000"/>
              </a:lnSpc>
              <a:spcBef>
                <a:spcPts val="480"/>
              </a:spcBef>
              <a:spcAft>
                <a:spcPts val="0"/>
              </a:spcAft>
              <a:buSzPts val="2400"/>
              <a:buFont typeface="Arial"/>
              <a:buChar char="•"/>
              <a:defRPr sz="2400">
                <a:latin typeface="Helvetica Neue"/>
                <a:ea typeface="Helvetica Neue"/>
                <a:cs typeface="Helvetica Neue"/>
                <a:sym typeface="Helvetica Neue"/>
              </a:defRPr>
            </a:lvl2pPr>
            <a:lvl3pPr marL="1371600" lvl="2" indent="-355600" algn="l">
              <a:lnSpc>
                <a:spcPct val="100000"/>
              </a:lnSpc>
              <a:spcBef>
                <a:spcPts val="400"/>
              </a:spcBef>
              <a:spcAft>
                <a:spcPts val="0"/>
              </a:spcAft>
              <a:buSzPts val="2000"/>
              <a:buChar char="•"/>
              <a:defRPr>
                <a:latin typeface="Helvetica Neue"/>
                <a:ea typeface="Helvetica Neue"/>
                <a:cs typeface="Helvetica Neue"/>
                <a:sym typeface="Helvetica Neue"/>
              </a:defRPr>
            </a:lvl3pPr>
            <a:lvl4pPr marL="1828800" lvl="3" indent="-342900" algn="l">
              <a:lnSpc>
                <a:spcPct val="100000"/>
              </a:lnSpc>
              <a:spcBef>
                <a:spcPts val="360"/>
              </a:spcBef>
              <a:spcAft>
                <a:spcPts val="0"/>
              </a:spcAft>
              <a:buSzPts val="1800"/>
              <a:buChar char="–"/>
              <a:defRPr>
                <a:latin typeface="Helvetica Neue"/>
                <a:ea typeface="Helvetica Neue"/>
                <a:cs typeface="Helvetica Neue"/>
                <a:sym typeface="Helvetica Neue"/>
              </a:defRPr>
            </a:lvl4pPr>
            <a:lvl5pPr marL="2286000" lvl="4" indent="-330200" algn="l">
              <a:lnSpc>
                <a:spcPct val="100000"/>
              </a:lnSpc>
              <a:spcBef>
                <a:spcPts val="320"/>
              </a:spcBef>
              <a:spcAft>
                <a:spcPts val="0"/>
              </a:spcAft>
              <a:buSzPts val="1600"/>
              <a:buChar char="»"/>
              <a:defRPr>
                <a:latin typeface="Helvetica Neue"/>
                <a:ea typeface="Helvetica Neue"/>
                <a:cs typeface="Helvetica Neue"/>
                <a:sym typeface="Helvetica Neue"/>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p:cSld name="1_Section Header 2">
    <p:bg>
      <p:bgPr>
        <a:solidFill>
          <a:schemeClr val="lt1"/>
        </a:solidFill>
        <a:effectLst/>
      </p:bgPr>
    </p:bg>
    <p:spTree>
      <p:nvGrpSpPr>
        <p:cNvPr id="1" name="Shape 56"/>
        <p:cNvGrpSpPr/>
        <p:nvPr/>
      </p:nvGrpSpPr>
      <p:grpSpPr>
        <a:xfrm>
          <a:off x="0" y="0"/>
          <a:ext cx="0" cy="0"/>
          <a:chOff x="0" y="0"/>
          <a:chExt cx="0" cy="0"/>
        </a:xfrm>
      </p:grpSpPr>
      <p:pic>
        <p:nvPicPr>
          <p:cNvPr id="57" name="Google Shape;57;p11" descr="A white background with black dots  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8" name="Google Shape;58;p11"/>
          <p:cNvSpPr txBox="1">
            <a:spLocks noGrp="1"/>
          </p:cNvSpPr>
          <p:nvPr>
            <p:ph type="title"/>
          </p:nvPr>
        </p:nvSpPr>
        <p:spPr>
          <a:xfrm>
            <a:off x="963084" y="3216047"/>
            <a:ext cx="10363200" cy="78444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2"/>
              </a:buClr>
              <a:buSzPts val="2800"/>
              <a:buFont typeface="Arial"/>
              <a:buNone/>
              <a:defRPr sz="3600" b="1" i="0" cap="none">
                <a:solidFill>
                  <a:srgbClr val="213E99"/>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No logo - Empty">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609600" y="488058"/>
            <a:ext cx="9518768" cy="69097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1E22AA"/>
              </a:buClr>
              <a:buSzPts val="3600"/>
              <a:buFont typeface="Arial"/>
              <a:buNone/>
              <a:defRPr sz="3600" b="1" i="0" u="none" strike="noStrike" cap="none">
                <a:solidFill>
                  <a:srgbClr val="1E22AA"/>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No logo - Two tables">
    <p:bg>
      <p:bgPr>
        <a:solidFill>
          <a:schemeClr val="lt1"/>
        </a:solidFill>
        <a:effectLst/>
      </p:bgPr>
    </p:bg>
    <p:spTree>
      <p:nvGrpSpPr>
        <p:cNvPr id="1" name="Shape 65"/>
        <p:cNvGrpSpPr/>
        <p:nvPr/>
      </p:nvGrpSpPr>
      <p:grpSpPr>
        <a:xfrm>
          <a:off x="0" y="0"/>
          <a:ext cx="0" cy="0"/>
          <a:chOff x="0" y="0"/>
          <a:chExt cx="0" cy="0"/>
        </a:xfrm>
      </p:grpSpPr>
      <p:sp>
        <p:nvSpPr>
          <p:cNvPr id="66" name="Google Shape;66;p14"/>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360"/>
              </a:spcBef>
              <a:spcAft>
                <a:spcPts val="0"/>
              </a:spcAft>
              <a:buClr>
                <a:srgbClr val="7F7F7F"/>
              </a:buClr>
              <a:buSzPts val="1800"/>
              <a:buNone/>
              <a:defRPr sz="2800" b="0" i="1">
                <a:solidFill>
                  <a:srgbClr val="7F7F7F"/>
                </a:solidFill>
                <a:latin typeface="Helvetica Neue"/>
                <a:ea typeface="Helvetica Neue"/>
                <a:cs typeface="Helvetica Neue"/>
                <a:sym typeface="Helvetica Neue"/>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7" name="Google Shape;67;p14"/>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rgbClr val="1E22AA"/>
              </a:buClr>
              <a:buSzPts val="1800"/>
              <a:buChar char="•"/>
              <a:defRPr sz="2400">
                <a:latin typeface="Helvetica Neue"/>
                <a:ea typeface="Helvetica Neue"/>
                <a:cs typeface="Helvetica Neue"/>
                <a:sym typeface="Helvetica Neue"/>
              </a:defRPr>
            </a:lvl1pPr>
            <a:lvl2pPr marL="914400" lvl="1" indent="-342900" algn="l">
              <a:lnSpc>
                <a:spcPct val="100000"/>
              </a:lnSpc>
              <a:spcBef>
                <a:spcPts val="360"/>
              </a:spcBef>
              <a:spcAft>
                <a:spcPts val="0"/>
              </a:spcAft>
              <a:buClr>
                <a:srgbClr val="1E22AA"/>
              </a:buClr>
              <a:buSzPts val="1800"/>
              <a:buChar char="–"/>
              <a:defRPr sz="1800">
                <a:latin typeface="Arial"/>
                <a:ea typeface="Arial"/>
                <a:cs typeface="Arial"/>
                <a:sym typeface="Arial"/>
              </a:defRPr>
            </a:lvl2pPr>
            <a:lvl3pPr marL="1371600" lvl="2" indent="-342900" algn="l">
              <a:lnSpc>
                <a:spcPct val="100000"/>
              </a:lnSpc>
              <a:spcBef>
                <a:spcPts val="360"/>
              </a:spcBef>
              <a:spcAft>
                <a:spcPts val="0"/>
              </a:spcAft>
              <a:buClr>
                <a:srgbClr val="1E22AA"/>
              </a:buClr>
              <a:buSzPts val="1800"/>
              <a:buChar char="•"/>
              <a:defRPr sz="1800">
                <a:latin typeface="Arial"/>
                <a:ea typeface="Arial"/>
                <a:cs typeface="Arial"/>
                <a:sym typeface="Arial"/>
              </a:defRPr>
            </a:lvl3pPr>
            <a:lvl4pPr marL="1828800" lvl="3" indent="-342900" algn="l">
              <a:lnSpc>
                <a:spcPct val="100000"/>
              </a:lnSpc>
              <a:spcBef>
                <a:spcPts val="360"/>
              </a:spcBef>
              <a:spcAft>
                <a:spcPts val="0"/>
              </a:spcAft>
              <a:buClr>
                <a:srgbClr val="1E22AA"/>
              </a:buClr>
              <a:buSzPts val="1800"/>
              <a:buChar char="–"/>
              <a:defRPr sz="1800">
                <a:latin typeface="Arial"/>
                <a:ea typeface="Arial"/>
                <a:cs typeface="Arial"/>
                <a:sym typeface="Arial"/>
              </a:defRPr>
            </a:lvl4pPr>
            <a:lvl5pPr marL="2286000" lvl="4" indent="-342900" algn="l">
              <a:lnSpc>
                <a:spcPct val="100000"/>
              </a:lnSpc>
              <a:spcBef>
                <a:spcPts val="360"/>
              </a:spcBef>
              <a:spcAft>
                <a:spcPts val="0"/>
              </a:spcAft>
              <a:buClr>
                <a:srgbClr val="1E22AA"/>
              </a:buClr>
              <a:buSzPts val="1800"/>
              <a:buChar char="»"/>
              <a:defRPr sz="1800">
                <a:latin typeface="Arial"/>
                <a:ea typeface="Arial"/>
                <a:cs typeface="Arial"/>
                <a:sym typeface="Aria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68" name="Google Shape;68;p14"/>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360"/>
              </a:spcBef>
              <a:spcAft>
                <a:spcPts val="0"/>
              </a:spcAft>
              <a:buClr>
                <a:srgbClr val="7F7F7F"/>
              </a:buClr>
              <a:buSzPts val="1800"/>
              <a:buNone/>
              <a:defRPr sz="2800" b="0" i="1">
                <a:solidFill>
                  <a:srgbClr val="7F7F7F"/>
                </a:solidFill>
                <a:latin typeface="Helvetica Neue"/>
                <a:ea typeface="Helvetica Neue"/>
                <a:cs typeface="Helvetica Neue"/>
                <a:sym typeface="Helvetica Neue"/>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9" name="Google Shape;69;p14"/>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rgbClr val="1E22AA"/>
              </a:buClr>
              <a:buSzPts val="1800"/>
              <a:buChar char="•"/>
              <a:defRPr sz="2400" b="0" i="0">
                <a:latin typeface="Helvetica Neue"/>
                <a:ea typeface="Helvetica Neue"/>
                <a:cs typeface="Helvetica Neue"/>
                <a:sym typeface="Helvetica Neue"/>
              </a:defRPr>
            </a:lvl1pPr>
            <a:lvl2pPr marL="914400" lvl="1"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2pPr>
            <a:lvl3pPr marL="1371600" lvl="2"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3pPr>
            <a:lvl4pPr marL="1828800" lvl="3"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4pPr>
            <a:lvl5pPr marL="2286000" lvl="4" indent="-342900" algn="l">
              <a:lnSpc>
                <a:spcPct val="100000"/>
              </a:lnSpc>
              <a:spcBef>
                <a:spcPts val="360"/>
              </a:spcBef>
              <a:spcAft>
                <a:spcPts val="0"/>
              </a:spcAft>
              <a:buClr>
                <a:srgbClr val="1E22AA"/>
              </a:buClr>
              <a:buSzPts val="1800"/>
              <a:buChar char="»"/>
              <a:defRPr sz="1800" b="0" i="0">
                <a:latin typeface="Arial"/>
                <a:ea typeface="Arial"/>
                <a:cs typeface="Arial"/>
                <a:sym typeface="Aria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70" name="Google Shape;70;p14"/>
          <p:cNvSpPr txBox="1">
            <a:spLocks noGrp="1"/>
          </p:cNvSpPr>
          <p:nvPr>
            <p:ph type="title"/>
          </p:nvPr>
        </p:nvSpPr>
        <p:spPr>
          <a:xfrm>
            <a:off x="609600" y="488058"/>
            <a:ext cx="9518768" cy="69097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1E22AA"/>
              </a:buClr>
              <a:buSzPts val="3600"/>
              <a:buFont typeface="Arial"/>
              <a:buNone/>
              <a:defRPr sz="3600" b="1" i="0" u="none" strike="noStrike" cap="none">
                <a:solidFill>
                  <a:srgbClr val="1E22AA"/>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pic>
        <p:nvPicPr>
          <p:cNvPr id="6" name="Google Shape;6;p1" descr="CRA PPT_page bars.png"/>
          <p:cNvPicPr preferRelativeResize="0"/>
          <p:nvPr/>
        </p:nvPicPr>
        <p:blipFill rotWithShape="1">
          <a:blip r:embed="rId8">
            <a:alphaModFix/>
          </a:blip>
          <a:srcRect/>
          <a:stretch/>
        </p:blipFill>
        <p:spPr>
          <a:xfrm>
            <a:off x="-7785" y="-20484"/>
            <a:ext cx="12229655" cy="6896422"/>
          </a:xfrm>
          <a:prstGeom prst="rect">
            <a:avLst/>
          </a:prstGeom>
          <a:noFill/>
          <a:ln>
            <a:noFill/>
          </a:ln>
        </p:spPr>
      </p:pic>
      <p:sp>
        <p:nvSpPr>
          <p:cNvPr id="7" name="Google Shape;7;p1"/>
          <p:cNvSpPr txBox="1">
            <a:spLocks noGrp="1"/>
          </p:cNvSpPr>
          <p:nvPr>
            <p:ph type="title"/>
          </p:nvPr>
        </p:nvSpPr>
        <p:spPr>
          <a:xfrm>
            <a:off x="609600" y="383886"/>
            <a:ext cx="8395252" cy="69097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1E22AA"/>
              </a:buClr>
              <a:buSzPts val="3600"/>
              <a:buFont typeface="Arial"/>
              <a:buNone/>
              <a:defRPr sz="3600" b="1" i="0" u="none" strike="noStrike" cap="none">
                <a:solidFill>
                  <a:srgbClr val="1E22AA"/>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9" name="Google Shape;9;p1"/>
          <p:cNvPicPr preferRelativeResize="0"/>
          <p:nvPr/>
        </p:nvPicPr>
        <p:blipFill rotWithShape="1">
          <a:blip r:embed="rId9">
            <a:alphaModFix/>
          </a:blip>
          <a:srcRect/>
          <a:stretch/>
        </p:blipFill>
        <p:spPr>
          <a:xfrm>
            <a:off x="9004853" y="131433"/>
            <a:ext cx="3289850" cy="105275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
        <p:cNvGrpSpPr/>
        <p:nvPr/>
      </p:nvGrpSpPr>
      <p:grpSpPr>
        <a:xfrm>
          <a:off x="0" y="0"/>
          <a:ext cx="0" cy="0"/>
          <a:chOff x="0" y="0"/>
          <a:chExt cx="0" cy="0"/>
        </a:xfrm>
      </p:grpSpPr>
      <p:pic>
        <p:nvPicPr>
          <p:cNvPr id="48" name="Google Shape;48;p9" descr="CRA PPT_page bars.png"/>
          <p:cNvPicPr preferRelativeResize="0"/>
          <p:nvPr/>
        </p:nvPicPr>
        <p:blipFill rotWithShape="1">
          <a:blip r:embed="rId4">
            <a:alphaModFix/>
          </a:blip>
          <a:srcRect/>
          <a:stretch/>
        </p:blipFill>
        <p:spPr>
          <a:xfrm>
            <a:off x="-7785" y="-20484"/>
            <a:ext cx="12229655" cy="6896422"/>
          </a:xfrm>
          <a:prstGeom prst="rect">
            <a:avLst/>
          </a:prstGeom>
          <a:noFill/>
          <a:ln>
            <a:noFill/>
          </a:ln>
        </p:spPr>
      </p:pic>
      <p:sp>
        <p:nvSpPr>
          <p:cNvPr id="49" name="Google Shape;49;p9"/>
          <p:cNvSpPr txBox="1">
            <a:spLocks noGrp="1"/>
          </p:cNvSpPr>
          <p:nvPr>
            <p:ph type="title"/>
          </p:nvPr>
        </p:nvSpPr>
        <p:spPr>
          <a:xfrm>
            <a:off x="609600" y="383886"/>
            <a:ext cx="8395252" cy="69097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1E22AA"/>
              </a:buClr>
              <a:buSzPts val="3600"/>
              <a:buFont typeface="Arial"/>
              <a:buNone/>
              <a:defRPr sz="3600" b="1" i="0" u="none" strike="noStrike" cap="none">
                <a:solidFill>
                  <a:srgbClr val="1E22AA"/>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9"/>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51" name="Google Shape;51;p9"/>
          <p:cNvPicPr preferRelativeResize="0"/>
          <p:nvPr/>
        </p:nvPicPr>
        <p:blipFill rotWithShape="1">
          <a:blip r:embed="rId5">
            <a:alphaModFix/>
          </a:blip>
          <a:srcRect/>
          <a:stretch/>
        </p:blipFill>
        <p:spPr>
          <a:xfrm>
            <a:off x="9004853" y="131433"/>
            <a:ext cx="3289850" cy="105275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5" r:id="rId1"/>
    <p:sldLayoutId id="214748365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p12" descr="CRA PPT_page bars.png"/>
          <p:cNvPicPr preferRelativeResize="0"/>
          <p:nvPr/>
        </p:nvPicPr>
        <p:blipFill rotWithShape="1">
          <a:blip r:embed="rId4">
            <a:alphaModFix/>
          </a:blip>
          <a:srcRect/>
          <a:stretch/>
        </p:blipFill>
        <p:spPr>
          <a:xfrm>
            <a:off x="-7785" y="-20484"/>
            <a:ext cx="12229655" cy="6896422"/>
          </a:xfrm>
          <a:prstGeom prst="rect">
            <a:avLst/>
          </a:prstGeom>
          <a:noFill/>
          <a:ln>
            <a:noFill/>
          </a:ln>
        </p:spPr>
      </p:pic>
      <p:sp>
        <p:nvSpPr>
          <p:cNvPr id="61" name="Google Shape;61;p12"/>
          <p:cNvSpPr txBox="1">
            <a:spLocks noGrp="1"/>
          </p:cNvSpPr>
          <p:nvPr>
            <p:ph type="title"/>
          </p:nvPr>
        </p:nvSpPr>
        <p:spPr>
          <a:xfrm>
            <a:off x="609600" y="383886"/>
            <a:ext cx="10972800" cy="69097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1E22AA"/>
              </a:buClr>
              <a:buSzPts val="3600"/>
              <a:buFont typeface="Arial"/>
              <a:buNone/>
              <a:defRPr sz="3600" b="1" i="0" u="none" strike="noStrike" cap="none">
                <a:solidFill>
                  <a:srgbClr val="1E22AA"/>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2" name="Google Shape;62;p1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grpSp>
        <p:nvGrpSpPr>
          <p:cNvPr id="75" name="Google Shape;75;p15"/>
          <p:cNvGrpSpPr/>
          <p:nvPr/>
        </p:nvGrpSpPr>
        <p:grpSpPr>
          <a:xfrm>
            <a:off x="285525" y="618775"/>
            <a:ext cx="7842475" cy="3254925"/>
            <a:chOff x="837550" y="656850"/>
            <a:chExt cx="7842475" cy="3254925"/>
          </a:xfrm>
        </p:grpSpPr>
        <p:sp>
          <p:nvSpPr>
            <p:cNvPr id="76" name="Google Shape;76;p15"/>
            <p:cNvSpPr/>
            <p:nvPr/>
          </p:nvSpPr>
          <p:spPr>
            <a:xfrm>
              <a:off x="837550" y="685275"/>
              <a:ext cx="7766400" cy="3226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7" name="Google Shape;77;p15" title="NAIRR Expansion Conference_RE lg.png"/>
            <p:cNvPicPr preferRelativeResize="0"/>
            <p:nvPr/>
          </p:nvPicPr>
          <p:blipFill rotWithShape="1">
            <a:blip r:embed="rId3">
              <a:alphaModFix/>
            </a:blip>
            <a:srcRect l="8083" r="7185"/>
            <a:stretch/>
          </p:blipFill>
          <p:spPr>
            <a:xfrm>
              <a:off x="894650" y="656850"/>
              <a:ext cx="7785375" cy="3216826"/>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45688" y="1155750"/>
            <a:ext cx="10616770" cy="1679400"/>
          </a:xfrm>
          <a:prstGeom prst="rect">
            <a:avLst/>
          </a:prstGeom>
          <a:noFill/>
          <a:ln>
            <a:noFill/>
          </a:ln>
        </p:spPr>
        <p:txBody>
          <a:bodyPr spcFirstLastPara="1" wrap="square" lIns="91425" tIns="45700" rIns="91425" bIns="45700" anchor="ctr" anchorCtr="0">
            <a:noAutofit/>
          </a:bodyPr>
          <a:lstStyle/>
          <a:p>
            <a:pPr algn="ctr"/>
            <a:r>
              <a:rPr lang="en-US" dirty="0">
                <a:solidFill>
                  <a:srgbClr val="1A2A87"/>
                </a:solidFill>
                <a:latin typeface="Arial" panose="020B0604020202020204" pitchFamily="34" charset="0"/>
                <a:cs typeface="Arial" panose="020B0604020202020204" pitchFamily="34" charset="0"/>
              </a:rPr>
              <a:t>Building Generative AI Applications Using NAIRR Classroom Resources: Jetstream2 </a:t>
            </a:r>
          </a:p>
        </p:txBody>
      </p:sp>
      <p:sp>
        <p:nvSpPr>
          <p:cNvPr id="83" name="Google Shape;83;p16"/>
          <p:cNvSpPr txBox="1">
            <a:spLocks noGrp="1"/>
          </p:cNvSpPr>
          <p:nvPr>
            <p:ph type="title"/>
          </p:nvPr>
        </p:nvSpPr>
        <p:spPr>
          <a:xfrm>
            <a:off x="490655" y="2835225"/>
            <a:ext cx="10471804" cy="3152980"/>
          </a:xfrm>
          <a:prstGeom prst="rect">
            <a:avLst/>
          </a:prstGeom>
          <a:noFill/>
          <a:ln>
            <a:noFill/>
          </a:ln>
        </p:spPr>
        <p:txBody>
          <a:bodyPr spcFirstLastPara="1" wrap="square" lIns="91425" tIns="45700" rIns="91425" bIns="45700" anchor="ctr" anchorCtr="0">
            <a:noAutofit/>
          </a:bodyPr>
          <a:lstStyle/>
          <a:p>
            <a:pPr algn="ctr"/>
            <a:r>
              <a:rPr lang="en-US" sz="2400" dirty="0">
                <a:solidFill>
                  <a:schemeClr val="dk1"/>
                </a:solidFill>
                <a:latin typeface="Arial" panose="020B0604020202020204" pitchFamily="34" charset="0"/>
                <a:ea typeface="Calibri"/>
                <a:cs typeface="Arial" panose="020B0604020202020204" pitchFamily="34" charset="0"/>
                <a:sym typeface="Calibri"/>
              </a:rPr>
              <a:t>Steven Fernandes, </a:t>
            </a:r>
            <a:r>
              <a:rPr lang="en-US" sz="2400" b="0" dirty="0">
                <a:solidFill>
                  <a:schemeClr val="dk1"/>
                </a:solidFill>
                <a:latin typeface="Arial" panose="020B0604020202020204" pitchFamily="34" charset="0"/>
                <a:ea typeface="Calibri"/>
                <a:cs typeface="Arial" panose="020B0604020202020204" pitchFamily="34" charset="0"/>
                <a:sym typeface="Calibri"/>
              </a:rPr>
              <a:t>Erika Germinario, Sara Avila, Izzie Nielsen, Madeline Marr, Ashlyn Viereck, Yukiko Hughes, Ben Borgmeier, Cole Krudwig, Dean Magara, Adya </a:t>
            </a:r>
            <a:r>
              <a:rPr lang="en-US" sz="2400" b="0" dirty="0" err="1">
                <a:solidFill>
                  <a:schemeClr val="dk1"/>
                </a:solidFill>
                <a:latin typeface="Arial" panose="020B0604020202020204" pitchFamily="34" charset="0"/>
                <a:ea typeface="Calibri"/>
                <a:cs typeface="Arial" panose="020B0604020202020204" pitchFamily="34" charset="0"/>
                <a:sym typeface="Calibri"/>
              </a:rPr>
              <a:t>Dhuler</a:t>
            </a:r>
            <a:r>
              <a:rPr lang="en-US" sz="2400" b="0" dirty="0">
                <a:solidFill>
                  <a:schemeClr val="dk1"/>
                </a:solidFill>
                <a:latin typeface="Arial" panose="020B0604020202020204" pitchFamily="34" charset="0"/>
                <a:ea typeface="Calibri"/>
                <a:cs typeface="Arial" panose="020B0604020202020204" pitchFamily="34" charset="0"/>
                <a:sym typeface="Calibri"/>
              </a:rPr>
              <a:t>, Vignesh R. </a:t>
            </a:r>
            <a:r>
              <a:rPr lang="en-US" sz="2400" b="0" dirty="0" err="1">
                <a:solidFill>
                  <a:schemeClr val="dk1"/>
                </a:solidFill>
                <a:latin typeface="Arial" panose="020B0604020202020204" pitchFamily="34" charset="0"/>
                <a:ea typeface="Calibri"/>
                <a:cs typeface="Arial" panose="020B0604020202020204" pitchFamily="34" charset="0"/>
                <a:sym typeface="Calibri"/>
              </a:rPr>
              <a:t>Anandavel</a:t>
            </a:r>
            <a:r>
              <a:rPr lang="en-US" sz="2400" b="0" dirty="0">
                <a:solidFill>
                  <a:schemeClr val="dk1"/>
                </a:solidFill>
                <a:latin typeface="Arial" panose="020B0604020202020204" pitchFamily="34" charset="0"/>
                <a:ea typeface="Calibri"/>
                <a:cs typeface="Arial" panose="020B0604020202020204" pitchFamily="34" charset="0"/>
                <a:sym typeface="Calibri"/>
              </a:rPr>
              <a:t>, Peter </a:t>
            </a:r>
            <a:r>
              <a:rPr lang="en-US" sz="2400" b="0" dirty="0" err="1">
                <a:solidFill>
                  <a:schemeClr val="dk1"/>
                </a:solidFill>
                <a:latin typeface="Arial" panose="020B0604020202020204" pitchFamily="34" charset="0"/>
                <a:ea typeface="Calibri"/>
                <a:cs typeface="Arial" panose="020B0604020202020204" pitchFamily="34" charset="0"/>
                <a:sym typeface="Calibri"/>
              </a:rPr>
              <a:t>Steyger</a:t>
            </a:r>
            <a:br>
              <a:rPr lang="en-US" sz="2400" b="0" dirty="0">
                <a:solidFill>
                  <a:schemeClr val="dk1"/>
                </a:solidFill>
                <a:latin typeface="Arial" panose="020B0604020202020204" pitchFamily="34" charset="0"/>
                <a:ea typeface="Calibri"/>
                <a:cs typeface="Arial" panose="020B0604020202020204" pitchFamily="34" charset="0"/>
                <a:sym typeface="Calibri"/>
              </a:rPr>
            </a:br>
            <a:br>
              <a:rPr lang="en-US" sz="2400" b="0" dirty="0">
                <a:solidFill>
                  <a:schemeClr val="dk1"/>
                </a:solidFill>
                <a:latin typeface="Arial" panose="020B0604020202020204" pitchFamily="34" charset="0"/>
                <a:ea typeface="Calibri"/>
                <a:cs typeface="Arial" panose="020B0604020202020204" pitchFamily="34" charset="0"/>
                <a:sym typeface="Calibri"/>
              </a:rPr>
            </a:br>
            <a:r>
              <a:rPr lang="en-US" sz="2400" b="0" dirty="0">
                <a:solidFill>
                  <a:schemeClr val="dk1"/>
                </a:solidFill>
                <a:latin typeface="Arial" panose="020B0604020202020204" pitchFamily="34" charset="0"/>
                <a:ea typeface="Calibri"/>
                <a:cs typeface="Arial" panose="020B0604020202020204" pitchFamily="34" charset="0"/>
                <a:sym typeface="Calibri"/>
              </a:rPr>
              <a:t>Computer Science, Data Science, Physics, School of Medicine</a:t>
            </a:r>
            <a:br>
              <a:rPr lang="en-US" sz="2400" b="0" dirty="0">
                <a:solidFill>
                  <a:schemeClr val="dk1"/>
                </a:solidFill>
                <a:latin typeface="Arial" panose="020B0604020202020204" pitchFamily="34" charset="0"/>
                <a:ea typeface="Calibri"/>
                <a:cs typeface="Arial" panose="020B0604020202020204" pitchFamily="34" charset="0"/>
                <a:sym typeface="Calibri"/>
              </a:rPr>
            </a:br>
            <a:r>
              <a:rPr lang="en-US" sz="2400" b="0" dirty="0">
                <a:solidFill>
                  <a:schemeClr val="dk1"/>
                </a:solidFill>
                <a:latin typeface="Arial" panose="020B0604020202020204" pitchFamily="34" charset="0"/>
                <a:ea typeface="Calibri"/>
                <a:cs typeface="Arial" panose="020B0604020202020204" pitchFamily="34" charset="0"/>
                <a:sym typeface="Calibri"/>
              </a:rPr>
              <a:t>Creighton University, Omaha, NE</a:t>
            </a:r>
            <a:br>
              <a:rPr lang="en-US" sz="2400" b="0" dirty="0">
                <a:solidFill>
                  <a:schemeClr val="dk1"/>
                </a:solidFill>
                <a:latin typeface="Arial" panose="020B0604020202020204" pitchFamily="34" charset="0"/>
                <a:ea typeface="Calibri"/>
                <a:cs typeface="Arial" panose="020B0604020202020204" pitchFamily="34" charset="0"/>
                <a:sym typeface="Calibri"/>
              </a:rPr>
            </a:br>
            <a:endParaRPr sz="2400" b="0"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ctr" rtl="0">
              <a:lnSpc>
                <a:spcPct val="100000"/>
              </a:lnSpc>
              <a:spcBef>
                <a:spcPts val="0"/>
              </a:spcBef>
              <a:spcAft>
                <a:spcPts val="0"/>
              </a:spcAft>
              <a:buClr>
                <a:srgbClr val="1E22AA"/>
              </a:buClr>
              <a:buSzPts val="3600"/>
              <a:buFont typeface="Arial"/>
              <a:buNone/>
            </a:pPr>
            <a:endParaRPr sz="1800" b="0" dirty="0">
              <a:solidFill>
                <a:schemeClr val="dk1"/>
              </a:solidFill>
              <a:latin typeface="Arial" panose="020B0604020202020204" pitchFamily="34" charset="0"/>
              <a:ea typeface="Calibri"/>
              <a:cs typeface="Arial" panose="020B0604020202020204" pitchFamily="34" charset="0"/>
              <a:sym typeface="Calibri"/>
            </a:endParaRPr>
          </a:p>
        </p:txBody>
      </p:sp>
      <p:pic>
        <p:nvPicPr>
          <p:cNvPr id="3" name="Picture 2">
            <a:extLst>
              <a:ext uri="{FF2B5EF4-FFF2-40B4-BE49-F238E27FC236}">
                <a16:creationId xmlns:a16="http://schemas.microsoft.com/office/drawing/2014/main" id="{DD680E6F-A597-309D-112B-0F7365DE7252}"/>
              </a:ext>
            </a:extLst>
          </p:cNvPr>
          <p:cNvPicPr>
            <a:picLocks noChangeAspect="1"/>
          </p:cNvPicPr>
          <p:nvPr/>
        </p:nvPicPr>
        <p:blipFill>
          <a:blip r:embed="rId3"/>
          <a:stretch>
            <a:fillRect/>
          </a:stretch>
        </p:blipFill>
        <p:spPr>
          <a:xfrm>
            <a:off x="4823773" y="5378703"/>
            <a:ext cx="1354003" cy="1362209"/>
          </a:xfrm>
          <a:prstGeom prst="rect">
            <a:avLst/>
          </a:prstGeom>
        </p:spPr>
      </p:pic>
      <p:sp>
        <p:nvSpPr>
          <p:cNvPr id="4" name="TB311">
            <a:extLst>
              <a:ext uri="{FF2B5EF4-FFF2-40B4-BE49-F238E27FC236}">
                <a16:creationId xmlns:a16="http://schemas.microsoft.com/office/drawing/2014/main" id="{5F9D9FF9-EE4C-4DE6-081A-F67481CA43F4}"/>
              </a:ext>
            </a:extLst>
          </p:cNvPr>
          <p:cNvSpPr txBox="1"/>
          <p:nvPr/>
        </p:nvSpPr>
        <p:spPr>
          <a:xfrm>
            <a:off x="873773" y="5964558"/>
            <a:ext cx="3950000" cy="400000"/>
          </a:xfrm>
          <a:prstGeom prst="rect">
            <a:avLst/>
          </a:prstGeom>
          <a:noFill/>
          <a:ln>
            <a:noFill/>
          </a:ln>
        </p:spPr>
        <p:txBody>
          <a:bodyPr spcFirstLastPara="1" wrap="square" lIns="91425" tIns="45700" rIns="91425" bIns="45700" anchor="ctr"/>
          <a:lstStyle/>
          <a:p>
            <a:pPr marL="0" lvl="0" indent="0" algn="ctr" rtl="0">
              <a:lnSpc>
                <a:spcPct val="100000"/>
              </a:lnSpc>
              <a:spcBef>
                <a:spcPts val="0"/>
              </a:spcBef>
              <a:buNone/>
            </a:pPr>
            <a:endParaRPr lang="en-US" sz="1200" i="1" dirty="0">
              <a:solidFill>
                <a:srgbClr val="1A2A87"/>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09600" y="383886"/>
            <a:ext cx="9518768" cy="69097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buNone/>
            </a:pPr>
            <a:r>
              <a:rPr lang="en-US" sz="3200" b="1">
                <a:solidFill>
                  <a:srgbClr val="1A2A87"/>
                </a:solidFill>
                <a:latin typeface="Arial"/>
              </a:rPr>
              <a:t>Introduction</a:t>
            </a:r>
          </a:p>
        </p:txBody>
      </p:sp>
      <p:sp>
        <p:nvSpPr>
          <p:cNvPr id="83" name="Google Shape;83;p16"/>
          <p:cNvSpPr txBox="1">
            <a:spLocks noGrp="1"/>
          </p:cNvSpPr>
          <p:nvPr>
            <p:ph type="body" idx="1"/>
          </p:nvPr>
        </p:nvSpPr>
        <p:spPr>
          <a:xfrm>
            <a:off x="625475" y="1301750"/>
            <a:ext cx="6050000" cy="4770438"/>
          </a:xfrm>
          <a:prstGeom prst="rect">
            <a:avLst/>
          </a:prstGeom>
          <a:noFill/>
          <a:ln>
            <a:noFill/>
          </a:ln>
        </p:spPr>
        <p:txBody>
          <a:bodyPr spcFirstLastPara="1" wrap="square" lIns="91425" tIns="45700" rIns="91425" bIns="45700" anchor="t" anchorCtr="0">
            <a:normAutofit/>
          </a:bodyPr>
          <a:lstStyle/>
          <a:p>
            <a:pPr indent="-342900" algn="just">
              <a:spcBef>
                <a:spcPts val="600"/>
              </a:spcBef>
              <a:buClr>
                <a:srgbClr val="1A2A87"/>
              </a:buClr>
              <a:buSzPct val="80000"/>
            </a:pPr>
            <a:r>
              <a:rPr lang="en-US" sz="2000" dirty="0">
                <a:solidFill>
                  <a:srgbClr val="000000"/>
                </a:solidFill>
                <a:latin typeface="Arial" panose="020B0604020202020204" pitchFamily="34" charset="0"/>
                <a:cs typeface="Arial" panose="020B0604020202020204" pitchFamily="34" charset="0"/>
              </a:rPr>
              <a:t>Over 1.5 billion people worldwide are affected by hearing loss, with cases rising due to aging populations and noise exposure.</a:t>
            </a:r>
          </a:p>
          <a:p>
            <a:pPr indent="-342900" algn="just">
              <a:spcBef>
                <a:spcPts val="600"/>
              </a:spcBef>
              <a:buClr>
                <a:srgbClr val="1A2A87"/>
              </a:buClr>
              <a:buSzPct val="80000"/>
            </a:pPr>
            <a:r>
              <a:rPr lang="en-US" sz="2000" dirty="0">
                <a:solidFill>
                  <a:srgbClr val="000000"/>
                </a:solidFill>
                <a:latin typeface="Arial" panose="020B0604020202020204" pitchFamily="34" charset="0"/>
                <a:cs typeface="Arial" panose="020B0604020202020204" pitchFamily="34" charset="0"/>
              </a:rPr>
              <a:t>By 2050, nearly 900 million people may suffer from disabling hearing loss.</a:t>
            </a:r>
          </a:p>
          <a:p>
            <a:pPr indent="-342900" algn="just">
              <a:spcBef>
                <a:spcPts val="600"/>
              </a:spcBef>
              <a:buClr>
                <a:srgbClr val="1A2A87"/>
              </a:buClr>
              <a:buSzPct val="80000"/>
            </a:pPr>
            <a:r>
              <a:rPr lang="en-US" sz="2000" dirty="0">
                <a:solidFill>
                  <a:srgbClr val="000000"/>
                </a:solidFill>
                <a:latin typeface="Arial" panose="020B0604020202020204" pitchFamily="34" charset="0"/>
                <a:cs typeface="Arial" panose="020B0604020202020204" pitchFamily="34" charset="0"/>
              </a:rPr>
              <a:t>Unaddressed hearing loss carries an estimated global cost of about US $980 billion, spanning healthcare, productivity, and societal impacts.</a:t>
            </a:r>
          </a:p>
          <a:p>
            <a:pPr indent="-342900" algn="just">
              <a:spcBef>
                <a:spcPts val="900"/>
              </a:spcBef>
              <a:buClr>
                <a:srgbClr val="1A2A87"/>
              </a:buClr>
              <a:buSzPct val="80000"/>
            </a:pPr>
            <a:r>
              <a:rPr lang="en-US" sz="2000" b="1" dirty="0">
                <a:solidFill>
                  <a:srgbClr val="1A2A87"/>
                </a:solidFill>
                <a:latin typeface="Arial" panose="020B0604020202020204" pitchFamily="34" charset="0"/>
                <a:cs typeface="Arial" panose="020B0604020202020204" pitchFamily="34" charset="0"/>
              </a:rPr>
              <a:t>Research objective:  </a:t>
            </a:r>
            <a:r>
              <a:rPr lang="en-US" sz="2000" dirty="0">
                <a:solidFill>
                  <a:srgbClr val="000000"/>
                </a:solidFill>
                <a:latin typeface="Arial" panose="020B0604020202020204" pitchFamily="34" charset="0"/>
                <a:cs typeface="Arial" panose="020B0604020202020204" pitchFamily="34" charset="0"/>
              </a:rPr>
              <a:t>fine-tune the </a:t>
            </a:r>
            <a:r>
              <a:rPr lang="en-US" sz="2000" dirty="0">
                <a:latin typeface="Arial" panose="020B0604020202020204" pitchFamily="34" charset="0"/>
                <a:cs typeface="Arial" panose="020B0604020202020204" pitchFamily="34" charset="0"/>
              </a:rPr>
              <a:t>You Only Look Once (</a:t>
            </a:r>
            <a:r>
              <a:rPr lang="en-US" sz="2000" dirty="0">
                <a:solidFill>
                  <a:srgbClr val="000000"/>
                </a:solidFill>
                <a:latin typeface="Arial" panose="020B0604020202020204" pitchFamily="34" charset="0"/>
                <a:cs typeface="Arial" panose="020B0604020202020204" pitchFamily="34" charset="0"/>
              </a:rPr>
              <a:t>YOLO) version 26 deep learning model for precise detection of cochlear hair cells (HCs).</a:t>
            </a:r>
          </a:p>
        </p:txBody>
      </p:sp>
      <p:pic>
        <p:nvPicPr>
          <p:cNvPr id="300" name="Pic300"/>
          <p:cNvPicPr preferRelativeResize="0"/>
          <p:nvPr/>
        </p:nvPicPr>
        <p:blipFill rotWithShape="1">
          <a:blip r:embed="rId3">
            <a:alphaModFix/>
          </a:blip>
          <a:srcRect/>
          <a:stretch/>
        </p:blipFill>
        <p:spPr>
          <a:xfrm>
            <a:off x="6902766" y="1543883"/>
            <a:ext cx="3950000" cy="4005000"/>
          </a:xfrm>
          <a:prstGeom prst="rect">
            <a:avLst/>
          </a:prstGeom>
          <a:noFill/>
          <a:ln>
            <a:noFill/>
          </a:ln>
        </p:spPr>
      </p:pic>
      <p:sp>
        <p:nvSpPr>
          <p:cNvPr id="301" name="TB301"/>
          <p:cNvSpPr txBox="1"/>
          <p:nvPr/>
        </p:nvSpPr>
        <p:spPr>
          <a:xfrm>
            <a:off x="6950000" y="5674524"/>
            <a:ext cx="3855532" cy="528532"/>
          </a:xfrm>
          <a:prstGeom prst="rect">
            <a:avLst/>
          </a:prstGeom>
          <a:noFill/>
          <a:ln>
            <a:noFill/>
          </a:ln>
        </p:spPr>
        <p:txBody>
          <a:bodyPr spcFirstLastPara="1" wrap="square" lIns="91425" tIns="45700" rIns="91425" bIns="45700" anchor="ctr"/>
          <a:lstStyle/>
          <a:p>
            <a:pPr algn="ctr"/>
            <a:r>
              <a:rPr lang="en-US" sz="1200" i="1" dirty="0">
                <a:solidFill>
                  <a:srgbClr val="1A2A87"/>
                </a:solidFill>
              </a:rPr>
              <a:t>Figure 1: Confocal </a:t>
            </a:r>
            <a:r>
              <a:rPr lang="en-US" sz="1200" i="1" dirty="0">
                <a:solidFill>
                  <a:srgbClr val="1A2A87"/>
                </a:solidFill>
                <a:latin typeface="Arial"/>
              </a:rPr>
              <a:t>image of a mouse cochlea from Bellucci Translational Hearing Center at Creighton University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09600" y="383886"/>
            <a:ext cx="9518768" cy="69097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buNone/>
            </a:pPr>
            <a:r>
              <a:rPr lang="en-US" sz="3200" b="1">
                <a:solidFill>
                  <a:srgbClr val="1A2A87"/>
                </a:solidFill>
                <a:latin typeface="Arial"/>
              </a:rPr>
              <a:t>Why Cochlear Hair Cells Matter</a:t>
            </a:r>
          </a:p>
        </p:txBody>
      </p:sp>
      <p:sp>
        <p:nvSpPr>
          <p:cNvPr id="83" name="Google Shape;83;p16"/>
          <p:cNvSpPr txBox="1">
            <a:spLocks noGrp="1"/>
          </p:cNvSpPr>
          <p:nvPr>
            <p:ph type="body" idx="1"/>
          </p:nvPr>
        </p:nvSpPr>
        <p:spPr>
          <a:xfrm>
            <a:off x="609600" y="1409562"/>
            <a:ext cx="6300000" cy="4467131"/>
          </a:xfrm>
          <a:prstGeom prst="rect">
            <a:avLst/>
          </a:prstGeom>
          <a:noFill/>
          <a:ln>
            <a:noFill/>
          </a:ln>
        </p:spPr>
        <p:txBody>
          <a:bodyPr spcFirstLastPara="1" wrap="square" lIns="91425" tIns="45700" rIns="91425" bIns="45700" anchor="t" anchorCtr="0">
            <a:noAutofit/>
          </a:bodyPr>
          <a:lstStyle/>
          <a:p>
            <a:pPr indent="-342900" algn="just">
              <a:spcBef>
                <a:spcPts val="600"/>
              </a:spcBef>
              <a:buClr>
                <a:srgbClr val="1A2A87"/>
              </a:buClr>
              <a:buSzPct val="80000"/>
            </a:pPr>
            <a:r>
              <a:rPr lang="en-US" sz="2000" dirty="0">
                <a:solidFill>
                  <a:srgbClr val="000000"/>
                </a:solidFill>
                <a:latin typeface="Arial"/>
              </a:rPr>
              <a:t>Hair cells convert sound vibrations into the neural signals that the brain interprets as sound.</a:t>
            </a:r>
          </a:p>
          <a:p>
            <a:pPr indent="-342900" algn="just">
              <a:spcBef>
                <a:spcPts val="600"/>
              </a:spcBef>
              <a:buClr>
                <a:srgbClr val="1A2A87"/>
              </a:buClr>
              <a:buSzPct val="80000"/>
            </a:pPr>
            <a:r>
              <a:rPr lang="en-US" sz="2000" dirty="0">
                <a:solidFill>
                  <a:srgbClr val="000000"/>
                </a:solidFill>
                <a:latin typeface="Arial"/>
              </a:rPr>
              <a:t>Each cochlea holds roughly 3,000 hair cells: one row of inner hair cells (IHCs) and three rows of outer hair cells (OHCs).</a:t>
            </a:r>
          </a:p>
          <a:p>
            <a:pPr indent="-342900" algn="just">
              <a:spcBef>
                <a:spcPts val="600"/>
              </a:spcBef>
              <a:buClr>
                <a:srgbClr val="1A2A87"/>
              </a:buClr>
              <a:buSzPct val="80000"/>
            </a:pPr>
            <a:r>
              <a:rPr lang="en-US" sz="2000" dirty="0">
                <a:solidFill>
                  <a:srgbClr val="000000"/>
                </a:solidFill>
                <a:latin typeface="Arial"/>
              </a:rPr>
              <a:t>IHCs are the primary sensory receptors; OHCs act as a cochlear amplifier driven by molecular motors.</a:t>
            </a:r>
          </a:p>
          <a:p>
            <a:pPr indent="-342900" algn="just">
              <a:spcBef>
                <a:spcPts val="600"/>
              </a:spcBef>
              <a:buClr>
                <a:srgbClr val="1A2A87"/>
              </a:buClr>
              <a:buSzPct val="80000"/>
            </a:pPr>
            <a:r>
              <a:rPr lang="en-US" sz="2000" dirty="0">
                <a:solidFill>
                  <a:srgbClr val="000000"/>
                </a:solidFill>
                <a:latin typeface="Arial"/>
              </a:rPr>
              <a:t>Loss of hair cells from aging and ototoxicity is a major cause of hearing loss, and lost cells cannot currently be restored.</a:t>
            </a:r>
          </a:p>
          <a:p>
            <a:pPr indent="-342900" algn="just">
              <a:spcBef>
                <a:spcPts val="600"/>
              </a:spcBef>
              <a:buClr>
                <a:srgbClr val="1A2A87"/>
              </a:buClr>
              <a:buSzPct val="80000"/>
            </a:pPr>
            <a:r>
              <a:rPr lang="en-US" sz="2000" dirty="0">
                <a:solidFill>
                  <a:srgbClr val="000000"/>
                </a:solidFill>
                <a:latin typeface="Arial"/>
              </a:rPr>
              <a:t>Counting OHCs row by row matters: Row 3 (OHC-3) is often lost first, signaling early damage.</a:t>
            </a:r>
          </a:p>
        </p:txBody>
      </p:sp>
      <p:pic>
        <p:nvPicPr>
          <p:cNvPr id="310" name="Pic310"/>
          <p:cNvPicPr preferRelativeResize="0"/>
          <p:nvPr/>
        </p:nvPicPr>
        <p:blipFill rotWithShape="1">
          <a:blip r:embed="rId2">
            <a:alphaModFix/>
          </a:blip>
          <a:srcRect/>
          <a:stretch/>
        </p:blipFill>
        <p:spPr>
          <a:xfrm>
            <a:off x="7066340" y="1700000"/>
            <a:ext cx="3950000" cy="4005000"/>
          </a:xfrm>
          <a:prstGeom prst="rect">
            <a:avLst/>
          </a:prstGeom>
          <a:noFill/>
          <a:ln>
            <a:noFill/>
          </a:ln>
        </p:spPr>
      </p:pic>
      <p:sp>
        <p:nvSpPr>
          <p:cNvPr id="311" name="TB311"/>
          <p:cNvSpPr txBox="1"/>
          <p:nvPr/>
        </p:nvSpPr>
        <p:spPr>
          <a:xfrm>
            <a:off x="7066340" y="5753273"/>
            <a:ext cx="3950000" cy="400000"/>
          </a:xfrm>
          <a:prstGeom prst="rect">
            <a:avLst/>
          </a:prstGeom>
          <a:noFill/>
          <a:ln>
            <a:noFill/>
          </a:ln>
        </p:spPr>
        <p:txBody>
          <a:bodyPr spcFirstLastPara="1" wrap="square" lIns="91425" tIns="45700" rIns="91425" bIns="45700" anchor="ctr"/>
          <a:lstStyle/>
          <a:p>
            <a:pPr marL="0" lvl="0" indent="0" algn="ctr" rtl="0">
              <a:lnSpc>
                <a:spcPct val="100000"/>
              </a:lnSpc>
              <a:spcBef>
                <a:spcPts val="0"/>
              </a:spcBef>
              <a:buNone/>
            </a:pPr>
            <a:r>
              <a:rPr lang="en-US" sz="1200" i="1" dirty="0">
                <a:solidFill>
                  <a:srgbClr val="1A2A87"/>
                </a:solidFill>
                <a:latin typeface="Arial"/>
              </a:rPr>
              <a:t>Figure 2: Manual annotation of IHC, OHC-1, OHC-2, and OHC-3</a:t>
            </a:r>
          </a:p>
        </p:txBody>
      </p:sp>
      <p:pic>
        <p:nvPicPr>
          <p:cNvPr id="2" name="Picture 1">
            <a:extLst>
              <a:ext uri="{FF2B5EF4-FFF2-40B4-BE49-F238E27FC236}">
                <a16:creationId xmlns:a16="http://schemas.microsoft.com/office/drawing/2014/main" id="{54E6EBFE-DABD-B29E-4B4B-CA8A5F1D0452}"/>
              </a:ext>
            </a:extLst>
          </p:cNvPr>
          <p:cNvPicPr>
            <a:picLocks noChangeAspect="1"/>
          </p:cNvPicPr>
          <p:nvPr/>
        </p:nvPicPr>
        <p:blipFill>
          <a:blip r:embed="rId3"/>
          <a:stretch>
            <a:fillRect/>
          </a:stretch>
        </p:blipFill>
        <p:spPr>
          <a:xfrm>
            <a:off x="7066340" y="1273452"/>
            <a:ext cx="3682680" cy="4024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09599" y="383886"/>
            <a:ext cx="10184781" cy="866114"/>
          </a:xfrm>
          <a:prstGeom prst="rect">
            <a:avLst/>
          </a:prstGeom>
          <a:noFill/>
          <a:ln>
            <a:noFill/>
          </a:ln>
        </p:spPr>
        <p:txBody>
          <a:bodyPr spcFirstLastPara="1" wrap="square" lIns="91425" tIns="45700" rIns="91425" bIns="45700" anchor="ctr" anchorCtr="0">
            <a:noAutofit/>
          </a:bodyPr>
          <a:lstStyle/>
          <a:p>
            <a:pPr marL="0" lvl="0" indent="0" rtl="0">
              <a:lnSpc>
                <a:spcPct val="100000"/>
              </a:lnSpc>
              <a:buNone/>
            </a:pPr>
            <a:r>
              <a:rPr lang="en-US" sz="3200" b="1" dirty="0">
                <a:solidFill>
                  <a:srgbClr val="1A2A87"/>
                </a:solidFill>
                <a:latin typeface="Arial"/>
              </a:rPr>
              <a:t>Fine-Tune YOLO26 for Cochlear Hair Cell Detection</a:t>
            </a:r>
          </a:p>
        </p:txBody>
      </p:sp>
      <p:sp>
        <p:nvSpPr>
          <p:cNvPr id="83" name="Google Shape;83;p16"/>
          <p:cNvSpPr txBox="1">
            <a:spLocks noGrp="1"/>
          </p:cNvSpPr>
          <p:nvPr>
            <p:ph type="body" idx="1"/>
          </p:nvPr>
        </p:nvSpPr>
        <p:spPr>
          <a:xfrm>
            <a:off x="609599" y="1464026"/>
            <a:ext cx="10050000" cy="5000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00"/>
              </a:spcBef>
              <a:buNone/>
            </a:pPr>
            <a:r>
              <a:rPr lang="en-US" sz="2000" b="1" dirty="0">
                <a:solidFill>
                  <a:srgbClr val="1A2A87"/>
                </a:solidFill>
                <a:latin typeface="Arial"/>
              </a:rPr>
              <a:t>Model overview</a:t>
            </a:r>
          </a:p>
          <a:p>
            <a:pPr marL="400050" indent="-285750" algn="just">
              <a:spcBef>
                <a:spcPts val="400"/>
              </a:spcBef>
              <a:buClr>
                <a:srgbClr val="1A2A87"/>
              </a:buClr>
              <a:buSzPct val="80000"/>
            </a:pPr>
            <a:r>
              <a:rPr lang="en-US" sz="2000" dirty="0">
                <a:solidFill>
                  <a:srgbClr val="000000"/>
                </a:solidFill>
                <a:latin typeface="Arial"/>
              </a:rPr>
              <a:t>Fine-tuned YOLO26 on a manually annotated cochlear dataset for cochlear hair cell detection.</a:t>
            </a:r>
          </a:p>
          <a:p>
            <a:pPr marL="114300" indent="0">
              <a:spcBef>
                <a:spcPts val="400"/>
              </a:spcBef>
              <a:buClr>
                <a:srgbClr val="1A2A87"/>
              </a:buClr>
              <a:buSzPct val="80000"/>
              <a:buNone/>
            </a:pPr>
            <a:endParaRPr lang="en-US" sz="1800" dirty="0">
              <a:solidFill>
                <a:srgbClr val="000000"/>
              </a:solidFill>
              <a:latin typeface="Arial"/>
            </a:endParaRPr>
          </a:p>
          <a:p>
            <a:pPr marL="0" lvl="0" indent="0" algn="l" rtl="0">
              <a:lnSpc>
                <a:spcPct val="100000"/>
              </a:lnSpc>
              <a:spcBef>
                <a:spcPts val="700"/>
              </a:spcBef>
              <a:buNone/>
            </a:pPr>
            <a:r>
              <a:rPr lang="en-US" sz="2000" b="1" dirty="0">
                <a:solidFill>
                  <a:srgbClr val="1A2A87"/>
                </a:solidFill>
                <a:latin typeface="Arial"/>
              </a:rPr>
              <a:t>Small targets and small data</a:t>
            </a:r>
          </a:p>
          <a:p>
            <a:pPr marL="400050" indent="-285750" algn="just">
              <a:spcBef>
                <a:spcPts val="400"/>
              </a:spcBef>
              <a:buClr>
                <a:srgbClr val="1A2A87"/>
              </a:buClr>
              <a:buSzPct val="80000"/>
            </a:pPr>
            <a:r>
              <a:rPr lang="en-US" sz="2000" dirty="0">
                <a:solidFill>
                  <a:srgbClr val="000000"/>
                </a:solidFill>
                <a:latin typeface="Arial"/>
              </a:rPr>
              <a:t>Small-Target-Aware Label Assignment (STAL) gives higher weight to small objects during matching, prioritizing tiny hair cells.</a:t>
            </a:r>
          </a:p>
          <a:p>
            <a:pPr marL="114300" indent="0">
              <a:spcBef>
                <a:spcPts val="400"/>
              </a:spcBef>
              <a:buClr>
                <a:srgbClr val="1A2A87"/>
              </a:buClr>
              <a:buSzPct val="80000"/>
              <a:buNone/>
            </a:pPr>
            <a:endParaRPr lang="en-US" sz="1800" dirty="0">
              <a:solidFill>
                <a:srgbClr val="000000"/>
              </a:solidFill>
              <a:latin typeface="Arial"/>
            </a:endParaRPr>
          </a:p>
          <a:p>
            <a:pPr marL="0" lvl="0" indent="0">
              <a:spcBef>
                <a:spcPts val="700"/>
              </a:spcBef>
              <a:buNone/>
            </a:pPr>
            <a:r>
              <a:rPr lang="en-US" sz="2000" b="1" dirty="0">
                <a:solidFill>
                  <a:srgbClr val="1A2A87"/>
                </a:solidFill>
                <a:latin typeface="Arial"/>
              </a:rPr>
              <a:t>Non-Maximum Suppression(NMS) free inference and class balance</a:t>
            </a:r>
          </a:p>
          <a:p>
            <a:pPr marL="400050" indent="-285750" algn="just">
              <a:spcBef>
                <a:spcPts val="400"/>
              </a:spcBef>
              <a:buClr>
                <a:srgbClr val="1A2A87"/>
              </a:buClr>
              <a:buSzPct val="80000"/>
            </a:pPr>
            <a:r>
              <a:rPr lang="en-US" sz="2000" dirty="0">
                <a:solidFill>
                  <a:srgbClr val="000000"/>
                </a:solidFill>
                <a:latin typeface="Arial"/>
              </a:rPr>
              <a:t>End-to-end NMS-free inference avoids suppressing valid detections of adjacent cells in densely packed rows.</a:t>
            </a:r>
          </a:p>
          <a:p>
            <a:pPr marL="400050" indent="-285750" algn="just">
              <a:spcBef>
                <a:spcPts val="400"/>
              </a:spcBef>
              <a:buClr>
                <a:srgbClr val="1A2A87"/>
              </a:buClr>
              <a:buSzPct val="80000"/>
            </a:pPr>
            <a:r>
              <a:rPr lang="en-US" sz="2000" dirty="0">
                <a:solidFill>
                  <a:srgbClr val="000000"/>
                </a:solidFill>
                <a:latin typeface="Arial"/>
              </a:rPr>
              <a:t>Progressive Loss Balancing (</a:t>
            </a:r>
            <a:r>
              <a:rPr lang="en-US" sz="2000" dirty="0" err="1">
                <a:solidFill>
                  <a:srgbClr val="000000"/>
                </a:solidFill>
                <a:latin typeface="Arial"/>
              </a:rPr>
              <a:t>ProgLoss</a:t>
            </a:r>
            <a:r>
              <a:rPr lang="en-US" sz="2000" dirty="0">
                <a:solidFill>
                  <a:srgbClr val="000000"/>
                </a:solidFill>
                <a:latin typeface="Arial"/>
              </a:rPr>
              <a:t>) reweights loss components to limit overfitting toward frequent classes; the Distribution Focal Loss is removed</a:t>
            </a:r>
            <a:r>
              <a:rPr lang="en-US" sz="1800" dirty="0">
                <a:solidFill>
                  <a:srgbClr val="000000"/>
                </a:solidFill>
                <a:latin typeface="Aria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09600" y="383886"/>
            <a:ext cx="9518768" cy="69097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buNone/>
            </a:pPr>
            <a:r>
              <a:rPr lang="en-US" sz="3200" b="1">
                <a:solidFill>
                  <a:srgbClr val="1A2A87"/>
                </a:solidFill>
                <a:latin typeface="Arial"/>
              </a:rPr>
              <a:t>Training &amp; Inference</a:t>
            </a:r>
          </a:p>
        </p:txBody>
      </p:sp>
      <p:sp>
        <p:nvSpPr>
          <p:cNvPr id="83" name="Google Shape;83;p16"/>
          <p:cNvSpPr txBox="1">
            <a:spLocks noGrp="1"/>
          </p:cNvSpPr>
          <p:nvPr>
            <p:ph type="body" idx="1"/>
          </p:nvPr>
        </p:nvSpPr>
        <p:spPr>
          <a:xfrm>
            <a:off x="625474" y="1199999"/>
            <a:ext cx="6856993" cy="5390371"/>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00000"/>
              </a:lnSpc>
              <a:spcBef>
                <a:spcPts val="300"/>
              </a:spcBef>
              <a:buNone/>
            </a:pPr>
            <a:r>
              <a:rPr lang="en-US" sz="2000" b="1" dirty="0">
                <a:solidFill>
                  <a:srgbClr val="1A2A87"/>
                </a:solidFill>
                <a:latin typeface="Arial"/>
              </a:rPr>
              <a:t>Training setup</a:t>
            </a:r>
          </a:p>
          <a:p>
            <a:pPr marL="400050" indent="-285750" algn="just">
              <a:spcBef>
                <a:spcPts val="400"/>
              </a:spcBef>
              <a:buClr>
                <a:srgbClr val="1A2A87"/>
              </a:buClr>
              <a:buSzPct val="80000"/>
            </a:pPr>
            <a:r>
              <a:rPr lang="en-US" sz="2000" dirty="0">
                <a:solidFill>
                  <a:srgbClr val="000000"/>
                </a:solidFill>
                <a:latin typeface="Arial"/>
              </a:rPr>
              <a:t>All models fine-tuned for 2,000 epochs at 1024 × 1024 resolution (</a:t>
            </a:r>
            <a:r>
              <a:rPr lang="en-US" sz="2000" dirty="0" err="1">
                <a:solidFill>
                  <a:srgbClr val="000000"/>
                </a:solidFill>
                <a:latin typeface="Arial"/>
              </a:rPr>
              <a:t>Ultralytics</a:t>
            </a:r>
            <a:r>
              <a:rPr lang="en-US" sz="2000" dirty="0">
                <a:solidFill>
                  <a:srgbClr val="000000"/>
                </a:solidFill>
                <a:latin typeface="Arial"/>
              </a:rPr>
              <a:t> pipeline).</a:t>
            </a:r>
          </a:p>
          <a:p>
            <a:pPr marL="400050" indent="-285750" algn="just">
              <a:spcBef>
                <a:spcPts val="400"/>
              </a:spcBef>
              <a:buClr>
                <a:srgbClr val="1A2A87"/>
              </a:buClr>
              <a:buSzPct val="80000"/>
            </a:pPr>
            <a:r>
              <a:rPr lang="en-US" sz="2000" dirty="0">
                <a:solidFill>
                  <a:srgbClr val="000000"/>
                </a:solidFill>
                <a:latin typeface="Arial"/>
              </a:rPr>
              <a:t>YOLO26 is trained with the extra-large (x) variant and the </a:t>
            </a:r>
            <a:r>
              <a:rPr lang="en-US" sz="2000" dirty="0"/>
              <a:t>Momentum-Unified Stochastic Gradient Descent (</a:t>
            </a:r>
            <a:r>
              <a:rPr lang="en-US" sz="2000" dirty="0" err="1">
                <a:solidFill>
                  <a:srgbClr val="000000"/>
                </a:solidFill>
                <a:latin typeface="Arial"/>
              </a:rPr>
              <a:t>MuSGD</a:t>
            </a:r>
            <a:r>
              <a:rPr lang="en-US" sz="2000" dirty="0">
                <a:solidFill>
                  <a:srgbClr val="000000"/>
                </a:solidFill>
                <a:latin typeface="Arial"/>
              </a:rPr>
              <a:t>) optimizer.</a:t>
            </a:r>
          </a:p>
          <a:p>
            <a:pPr marL="0" lvl="0" indent="0" algn="just" rtl="0">
              <a:lnSpc>
                <a:spcPct val="100000"/>
              </a:lnSpc>
              <a:spcBef>
                <a:spcPts val="700"/>
              </a:spcBef>
              <a:buNone/>
            </a:pPr>
            <a:r>
              <a:rPr lang="en-US" sz="2000" b="1" dirty="0">
                <a:solidFill>
                  <a:srgbClr val="1A2A87"/>
                </a:solidFill>
                <a:latin typeface="Arial"/>
              </a:rPr>
              <a:t>Dataset</a:t>
            </a:r>
          </a:p>
          <a:p>
            <a:pPr marL="400050" indent="-285750" algn="just">
              <a:spcBef>
                <a:spcPts val="400"/>
              </a:spcBef>
              <a:buClr>
                <a:srgbClr val="1A2A87"/>
              </a:buClr>
              <a:buSzPct val="80000"/>
            </a:pPr>
            <a:r>
              <a:rPr lang="en-US" sz="2000" dirty="0">
                <a:solidFill>
                  <a:srgbClr val="000000"/>
                </a:solidFill>
                <a:latin typeface="Arial"/>
              </a:rPr>
              <a:t>28 high-resolution mouse cochlear images (confocal, 20× / 40×), manually annotated in CVAT across four classes.</a:t>
            </a:r>
          </a:p>
          <a:p>
            <a:pPr marL="400050" indent="-285750" algn="just">
              <a:spcBef>
                <a:spcPts val="400"/>
              </a:spcBef>
              <a:buClr>
                <a:srgbClr val="1A2A87"/>
              </a:buClr>
              <a:buSzPct val="80000"/>
            </a:pPr>
            <a:r>
              <a:rPr lang="en-US" sz="2000" dirty="0">
                <a:solidFill>
                  <a:srgbClr val="000000"/>
                </a:solidFill>
                <a:latin typeface="Arial"/>
              </a:rPr>
              <a:t>Each image is split into four regions for training and inference; validation uses 14,289 annotated hair cell instances.</a:t>
            </a:r>
          </a:p>
          <a:p>
            <a:pPr marL="0" lvl="0" indent="0" algn="just" rtl="0">
              <a:lnSpc>
                <a:spcPct val="100000"/>
              </a:lnSpc>
              <a:spcBef>
                <a:spcPts val="700"/>
              </a:spcBef>
              <a:buNone/>
            </a:pPr>
            <a:r>
              <a:rPr lang="en-US" sz="2000" b="1" dirty="0">
                <a:solidFill>
                  <a:srgbClr val="1A2A87"/>
                </a:solidFill>
                <a:latin typeface="Arial"/>
              </a:rPr>
              <a:t>NMS-free inference</a:t>
            </a:r>
          </a:p>
          <a:p>
            <a:pPr marL="400050" indent="-285750" algn="just">
              <a:spcBef>
                <a:spcPts val="400"/>
              </a:spcBef>
              <a:buClr>
                <a:srgbClr val="1A2A87"/>
              </a:buClr>
              <a:buSzPct val="80000"/>
            </a:pPr>
            <a:r>
              <a:rPr lang="en-US" sz="2000" dirty="0">
                <a:solidFill>
                  <a:srgbClr val="000000"/>
                </a:solidFill>
                <a:latin typeface="Arial"/>
              </a:rPr>
              <a:t>Each region passes through a one-to-one detection head producing one prediction per object.</a:t>
            </a:r>
          </a:p>
        </p:txBody>
      </p:sp>
      <p:sp>
        <p:nvSpPr>
          <p:cNvPr id="322" name="TB322"/>
          <p:cNvSpPr txBox="1"/>
          <p:nvPr/>
        </p:nvSpPr>
        <p:spPr>
          <a:xfrm>
            <a:off x="7600000" y="4813899"/>
            <a:ext cx="3172078" cy="400000"/>
          </a:xfrm>
          <a:prstGeom prst="rect">
            <a:avLst/>
          </a:prstGeom>
          <a:noFill/>
          <a:ln>
            <a:noFill/>
          </a:ln>
        </p:spPr>
        <p:txBody>
          <a:bodyPr spcFirstLastPara="1" wrap="square" lIns="91425" tIns="45700" rIns="91425" bIns="45700" anchor="ctr"/>
          <a:lstStyle/>
          <a:p>
            <a:pPr lvl="0" algn="ctr"/>
            <a:r>
              <a:rPr lang="en-US" sz="1200" i="1" dirty="0">
                <a:solidFill>
                  <a:srgbClr val="1A2A87"/>
                </a:solidFill>
              </a:rPr>
              <a:t>Figure 3: Fine-tuned YOLO26 for cochlear hair cell </a:t>
            </a:r>
            <a:r>
              <a:rPr lang="en-US" sz="1200" i="1" dirty="0">
                <a:solidFill>
                  <a:srgbClr val="1A2A87"/>
                </a:solidFill>
                <a:latin typeface="Arial"/>
              </a:rPr>
              <a:t>detection output </a:t>
            </a:r>
          </a:p>
        </p:txBody>
      </p:sp>
      <p:pic>
        <p:nvPicPr>
          <p:cNvPr id="2" name="Picture 1">
            <a:extLst>
              <a:ext uri="{FF2B5EF4-FFF2-40B4-BE49-F238E27FC236}">
                <a16:creationId xmlns:a16="http://schemas.microsoft.com/office/drawing/2014/main" id="{EB530B96-3F9D-9A30-6A90-377CCC346397}"/>
              </a:ext>
            </a:extLst>
          </p:cNvPr>
          <p:cNvPicPr>
            <a:picLocks noChangeAspect="1"/>
          </p:cNvPicPr>
          <p:nvPr/>
        </p:nvPicPr>
        <p:blipFill>
          <a:blip r:embed="rId2"/>
          <a:stretch>
            <a:fillRect/>
          </a:stretch>
        </p:blipFill>
        <p:spPr>
          <a:xfrm>
            <a:off x="7600000" y="1487293"/>
            <a:ext cx="3072647" cy="3114169"/>
          </a:xfrm>
          <a:prstGeom prst="rect">
            <a:avLst/>
          </a:prstGeom>
        </p:spPr>
      </p:pic>
      <p:pic>
        <p:nvPicPr>
          <p:cNvPr id="3" name="Picture 2">
            <a:extLst>
              <a:ext uri="{FF2B5EF4-FFF2-40B4-BE49-F238E27FC236}">
                <a16:creationId xmlns:a16="http://schemas.microsoft.com/office/drawing/2014/main" id="{B044E449-22EE-4C20-D68B-1102BB5AE22F}"/>
              </a:ext>
            </a:extLst>
          </p:cNvPr>
          <p:cNvPicPr>
            <a:picLocks noChangeAspect="1"/>
          </p:cNvPicPr>
          <p:nvPr/>
        </p:nvPicPr>
        <p:blipFill>
          <a:blip r:embed="rId3"/>
          <a:stretch>
            <a:fillRect/>
          </a:stretch>
        </p:blipFill>
        <p:spPr>
          <a:xfrm>
            <a:off x="7599999" y="1106979"/>
            <a:ext cx="3072647" cy="3357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5">
            <a:extLst>
              <a:ext uri="{FF2B5EF4-FFF2-40B4-BE49-F238E27FC236}">
                <a16:creationId xmlns:a16="http://schemas.microsoft.com/office/drawing/2014/main" id="{B5D457E1-4FD4-A89B-9BB2-21412B568804}"/>
              </a:ext>
            </a:extLst>
          </p:cNvPr>
          <p:cNvSpPr/>
          <p:nvPr/>
        </p:nvSpPr>
        <p:spPr>
          <a:xfrm>
            <a:off x="809244" y="136246"/>
            <a:ext cx="9440266" cy="610819"/>
          </a:xfrm>
          <a:prstGeom prst="rect">
            <a:avLst/>
          </a:prstGeom>
          <a:noFill/>
          <a:ln/>
        </p:spPr>
        <p:txBody>
          <a:bodyPr wrap="square" lIns="0" tIns="0" rIns="0" bIns="0" rtlCol="0" anchor="ctr"/>
          <a:lstStyle/>
          <a:p>
            <a:pPr marL="0" indent="0" algn="l">
              <a:buNone/>
            </a:pPr>
            <a:r>
              <a:rPr lang="en-US" sz="3400" b="1" dirty="0">
                <a:solidFill>
                  <a:srgbClr val="1A2B87"/>
                </a:solidFill>
                <a:latin typeface="Arial" pitchFamily="34" charset="0"/>
                <a:ea typeface="Arial" pitchFamily="34" charset="-122"/>
                <a:cs typeface="Arial" pitchFamily="34" charset="-120"/>
              </a:rPr>
              <a:t>Compute Infrastructure: NAIRR Jetstream2</a:t>
            </a:r>
            <a:endParaRPr lang="en-US" sz="3400" dirty="0"/>
          </a:p>
        </p:txBody>
      </p:sp>
      <p:sp>
        <p:nvSpPr>
          <p:cNvPr id="4" name="Shape 6">
            <a:extLst>
              <a:ext uri="{FF2B5EF4-FFF2-40B4-BE49-F238E27FC236}">
                <a16:creationId xmlns:a16="http://schemas.microsoft.com/office/drawing/2014/main" id="{24F364DF-2606-C83E-8E35-EB540A436A9A}"/>
              </a:ext>
            </a:extLst>
          </p:cNvPr>
          <p:cNvSpPr/>
          <p:nvPr/>
        </p:nvSpPr>
        <p:spPr>
          <a:xfrm>
            <a:off x="1362456" y="950976"/>
            <a:ext cx="2852014" cy="277978"/>
          </a:xfrm>
          <a:prstGeom prst="roundRect">
            <a:avLst>
              <a:gd name="adj" fmla="val 49342"/>
            </a:avLst>
          </a:prstGeom>
          <a:solidFill>
            <a:srgbClr val="0A4AAC"/>
          </a:solidFill>
          <a:ln/>
        </p:spPr>
        <p:txBody>
          <a:bodyPr/>
          <a:lstStyle/>
          <a:p>
            <a:endParaRPr lang="en-US"/>
          </a:p>
        </p:txBody>
      </p:sp>
      <p:sp>
        <p:nvSpPr>
          <p:cNvPr id="5" name="Text 7">
            <a:extLst>
              <a:ext uri="{FF2B5EF4-FFF2-40B4-BE49-F238E27FC236}">
                <a16:creationId xmlns:a16="http://schemas.microsoft.com/office/drawing/2014/main" id="{DE59F3FB-4CDD-AEB1-D16C-E1689CE493EC}"/>
              </a:ext>
            </a:extLst>
          </p:cNvPr>
          <p:cNvSpPr/>
          <p:nvPr/>
        </p:nvSpPr>
        <p:spPr>
          <a:xfrm>
            <a:off x="1362456" y="950976"/>
            <a:ext cx="2852014" cy="277978"/>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Jetstream2 Access Workflow</a:t>
            </a:r>
            <a:endParaRPr lang="en-US" sz="1350" dirty="0"/>
          </a:p>
        </p:txBody>
      </p:sp>
      <p:sp>
        <p:nvSpPr>
          <p:cNvPr id="6" name="Shape 8">
            <a:extLst>
              <a:ext uri="{FF2B5EF4-FFF2-40B4-BE49-F238E27FC236}">
                <a16:creationId xmlns:a16="http://schemas.microsoft.com/office/drawing/2014/main" id="{FFB13E34-62FD-7163-A0D9-B61CA82C73A5}"/>
              </a:ext>
            </a:extLst>
          </p:cNvPr>
          <p:cNvSpPr/>
          <p:nvPr/>
        </p:nvSpPr>
        <p:spPr>
          <a:xfrm>
            <a:off x="735178" y="1432865"/>
            <a:ext cx="1908353" cy="2152498"/>
          </a:xfrm>
          <a:prstGeom prst="rect">
            <a:avLst/>
          </a:prstGeom>
          <a:solidFill>
            <a:srgbClr val="FFFFFF"/>
          </a:solidFill>
          <a:ln w="31750">
            <a:solidFill>
              <a:srgbClr val="0A4AAA"/>
            </a:solidFill>
            <a:prstDash val="solid"/>
          </a:ln>
        </p:spPr>
        <p:txBody>
          <a:bodyPr/>
          <a:lstStyle/>
          <a:p>
            <a:endParaRPr lang="en-US"/>
          </a:p>
        </p:txBody>
      </p:sp>
      <p:sp>
        <p:nvSpPr>
          <p:cNvPr id="7" name="Text 9">
            <a:extLst>
              <a:ext uri="{FF2B5EF4-FFF2-40B4-BE49-F238E27FC236}">
                <a16:creationId xmlns:a16="http://schemas.microsoft.com/office/drawing/2014/main" id="{C07B7C17-55BB-732B-FE07-4007EEC361D9}"/>
              </a:ext>
            </a:extLst>
          </p:cNvPr>
          <p:cNvSpPr/>
          <p:nvPr/>
        </p:nvSpPr>
        <p:spPr>
          <a:xfrm>
            <a:off x="735178" y="1487729"/>
            <a:ext cx="1908353" cy="310896"/>
          </a:xfrm>
          <a:prstGeom prst="rect">
            <a:avLst/>
          </a:prstGeom>
          <a:noFill/>
          <a:ln/>
        </p:spPr>
        <p:txBody>
          <a:bodyPr wrap="square" lIns="0" tIns="0" rIns="0" bIns="0" rtlCol="0" anchor="ctr"/>
          <a:lstStyle/>
          <a:p>
            <a:pPr marL="0" indent="0" algn="ctr">
              <a:buNone/>
            </a:pPr>
            <a:r>
              <a:rPr lang="en-US" sz="1450" b="1" dirty="0">
                <a:solidFill>
                  <a:srgbClr val="1A2B87"/>
                </a:solidFill>
                <a:latin typeface="Arial" pitchFamily="34" charset="0"/>
                <a:ea typeface="Arial" pitchFamily="34" charset="-122"/>
                <a:cs typeface="Arial" pitchFamily="34" charset="-120"/>
              </a:rPr>
              <a:t>Add Allocation</a:t>
            </a:r>
            <a:endParaRPr lang="en-US" sz="1450" dirty="0"/>
          </a:p>
        </p:txBody>
      </p:sp>
      <p:sp>
        <p:nvSpPr>
          <p:cNvPr id="8" name="Shape 10">
            <a:extLst>
              <a:ext uri="{FF2B5EF4-FFF2-40B4-BE49-F238E27FC236}">
                <a16:creationId xmlns:a16="http://schemas.microsoft.com/office/drawing/2014/main" id="{3F6F2ED7-DA14-6B4D-8540-63144F929A72}"/>
              </a:ext>
            </a:extLst>
          </p:cNvPr>
          <p:cNvSpPr/>
          <p:nvPr/>
        </p:nvSpPr>
        <p:spPr>
          <a:xfrm>
            <a:off x="2933395" y="1432865"/>
            <a:ext cx="1908353" cy="2152498"/>
          </a:xfrm>
          <a:prstGeom prst="rect">
            <a:avLst/>
          </a:prstGeom>
          <a:solidFill>
            <a:srgbClr val="FFFFFF"/>
          </a:solidFill>
          <a:ln w="31750">
            <a:solidFill>
              <a:srgbClr val="0A4AAA"/>
            </a:solidFill>
            <a:prstDash val="solid"/>
          </a:ln>
        </p:spPr>
        <p:txBody>
          <a:bodyPr/>
          <a:lstStyle/>
          <a:p>
            <a:endParaRPr lang="en-US"/>
          </a:p>
        </p:txBody>
      </p:sp>
      <p:sp>
        <p:nvSpPr>
          <p:cNvPr id="9" name="Text 11">
            <a:extLst>
              <a:ext uri="{FF2B5EF4-FFF2-40B4-BE49-F238E27FC236}">
                <a16:creationId xmlns:a16="http://schemas.microsoft.com/office/drawing/2014/main" id="{46D45976-B2AC-0A40-3CAE-D81131FA3858}"/>
              </a:ext>
            </a:extLst>
          </p:cNvPr>
          <p:cNvSpPr/>
          <p:nvPr/>
        </p:nvSpPr>
        <p:spPr>
          <a:xfrm>
            <a:off x="2933395" y="1487729"/>
            <a:ext cx="1908353" cy="310896"/>
          </a:xfrm>
          <a:prstGeom prst="rect">
            <a:avLst/>
          </a:prstGeom>
          <a:noFill/>
          <a:ln/>
        </p:spPr>
        <p:txBody>
          <a:bodyPr wrap="square" lIns="0" tIns="0" rIns="0" bIns="0" rtlCol="0" anchor="ctr"/>
          <a:lstStyle/>
          <a:p>
            <a:pPr marL="0" indent="0" algn="ctr">
              <a:buNone/>
            </a:pPr>
            <a:r>
              <a:rPr lang="en-US" sz="1450" b="1" dirty="0">
                <a:solidFill>
                  <a:srgbClr val="1A2B87"/>
                </a:solidFill>
                <a:latin typeface="Arial" pitchFamily="34" charset="0"/>
                <a:ea typeface="Arial" pitchFamily="34" charset="-122"/>
                <a:cs typeface="Arial" pitchFamily="34" charset="-120"/>
              </a:rPr>
              <a:t>Create Instance</a:t>
            </a:r>
            <a:endParaRPr lang="en-US" sz="1450" dirty="0"/>
          </a:p>
        </p:txBody>
      </p:sp>
      <p:sp>
        <p:nvSpPr>
          <p:cNvPr id="10" name="Shape 12">
            <a:extLst>
              <a:ext uri="{FF2B5EF4-FFF2-40B4-BE49-F238E27FC236}">
                <a16:creationId xmlns:a16="http://schemas.microsoft.com/office/drawing/2014/main" id="{DBE66FF4-4104-B4F8-E45C-A52811EC5EAA}"/>
              </a:ext>
            </a:extLst>
          </p:cNvPr>
          <p:cNvSpPr/>
          <p:nvPr/>
        </p:nvSpPr>
        <p:spPr>
          <a:xfrm>
            <a:off x="735178" y="3890772"/>
            <a:ext cx="1908353" cy="2186330"/>
          </a:xfrm>
          <a:prstGeom prst="rect">
            <a:avLst/>
          </a:prstGeom>
          <a:solidFill>
            <a:srgbClr val="FFFFFF"/>
          </a:solidFill>
          <a:ln w="31750">
            <a:solidFill>
              <a:srgbClr val="0A4AAA"/>
            </a:solidFill>
            <a:prstDash val="solid"/>
          </a:ln>
        </p:spPr>
        <p:txBody>
          <a:bodyPr/>
          <a:lstStyle/>
          <a:p>
            <a:endParaRPr lang="en-US"/>
          </a:p>
        </p:txBody>
      </p:sp>
      <p:sp>
        <p:nvSpPr>
          <p:cNvPr id="11" name="Text 13">
            <a:extLst>
              <a:ext uri="{FF2B5EF4-FFF2-40B4-BE49-F238E27FC236}">
                <a16:creationId xmlns:a16="http://schemas.microsoft.com/office/drawing/2014/main" id="{49275C7B-BB37-DE73-86C5-6B40ED52E34E}"/>
              </a:ext>
            </a:extLst>
          </p:cNvPr>
          <p:cNvSpPr/>
          <p:nvPr/>
        </p:nvSpPr>
        <p:spPr>
          <a:xfrm>
            <a:off x="735178" y="3945636"/>
            <a:ext cx="1908353" cy="310896"/>
          </a:xfrm>
          <a:prstGeom prst="rect">
            <a:avLst/>
          </a:prstGeom>
          <a:noFill/>
          <a:ln/>
        </p:spPr>
        <p:txBody>
          <a:bodyPr wrap="square" lIns="0" tIns="0" rIns="0" bIns="0" rtlCol="0" anchor="ctr"/>
          <a:lstStyle/>
          <a:p>
            <a:pPr marL="0" indent="0" algn="ctr">
              <a:buNone/>
            </a:pPr>
            <a:r>
              <a:rPr lang="en-US" sz="1450" b="1" dirty="0">
                <a:solidFill>
                  <a:srgbClr val="1A2B87"/>
                </a:solidFill>
                <a:latin typeface="Arial" pitchFamily="34" charset="0"/>
                <a:ea typeface="Arial" pitchFamily="34" charset="-122"/>
                <a:cs typeface="Arial" pitchFamily="34" charset="-120"/>
              </a:rPr>
              <a:t>Run Jupyter</a:t>
            </a:r>
            <a:endParaRPr lang="en-US" sz="1450" dirty="0"/>
          </a:p>
        </p:txBody>
      </p:sp>
      <p:sp>
        <p:nvSpPr>
          <p:cNvPr id="12" name="Shape 14">
            <a:extLst>
              <a:ext uri="{FF2B5EF4-FFF2-40B4-BE49-F238E27FC236}">
                <a16:creationId xmlns:a16="http://schemas.microsoft.com/office/drawing/2014/main" id="{50F75772-0572-2840-8717-FE0128FD8BF5}"/>
              </a:ext>
            </a:extLst>
          </p:cNvPr>
          <p:cNvSpPr/>
          <p:nvPr/>
        </p:nvSpPr>
        <p:spPr>
          <a:xfrm>
            <a:off x="2933395" y="3890772"/>
            <a:ext cx="1908353" cy="2186330"/>
          </a:xfrm>
          <a:prstGeom prst="rect">
            <a:avLst/>
          </a:prstGeom>
          <a:solidFill>
            <a:srgbClr val="FFFFFF"/>
          </a:solidFill>
          <a:ln w="31750">
            <a:solidFill>
              <a:srgbClr val="0A4AAA"/>
            </a:solidFill>
            <a:prstDash val="solid"/>
          </a:ln>
        </p:spPr>
        <p:txBody>
          <a:bodyPr/>
          <a:lstStyle/>
          <a:p>
            <a:endParaRPr lang="en-US"/>
          </a:p>
        </p:txBody>
      </p:sp>
      <p:sp>
        <p:nvSpPr>
          <p:cNvPr id="13" name="Text 15">
            <a:extLst>
              <a:ext uri="{FF2B5EF4-FFF2-40B4-BE49-F238E27FC236}">
                <a16:creationId xmlns:a16="http://schemas.microsoft.com/office/drawing/2014/main" id="{963AD1B1-62FE-90A2-2505-83AC15FF0159}"/>
              </a:ext>
            </a:extLst>
          </p:cNvPr>
          <p:cNvSpPr/>
          <p:nvPr/>
        </p:nvSpPr>
        <p:spPr>
          <a:xfrm>
            <a:off x="2933395" y="3945636"/>
            <a:ext cx="1908353" cy="310896"/>
          </a:xfrm>
          <a:prstGeom prst="rect">
            <a:avLst/>
          </a:prstGeom>
          <a:noFill/>
          <a:ln/>
        </p:spPr>
        <p:txBody>
          <a:bodyPr wrap="square" lIns="0" tIns="0" rIns="0" bIns="0" rtlCol="0" anchor="ctr"/>
          <a:lstStyle/>
          <a:p>
            <a:pPr marL="0" indent="0" algn="ctr">
              <a:buNone/>
            </a:pPr>
            <a:r>
              <a:rPr lang="en-US" sz="1450" b="1" dirty="0">
                <a:solidFill>
                  <a:srgbClr val="1A2B87"/>
                </a:solidFill>
                <a:latin typeface="Arial" pitchFamily="34" charset="0"/>
                <a:ea typeface="Arial" pitchFamily="34" charset="-122"/>
                <a:cs typeface="Arial" pitchFamily="34" charset="-120"/>
              </a:rPr>
              <a:t>Open Web Desktop</a:t>
            </a:r>
            <a:endParaRPr lang="en-US" sz="1450" dirty="0"/>
          </a:p>
        </p:txBody>
      </p:sp>
      <p:pic>
        <p:nvPicPr>
          <p:cNvPr id="14" name="Image 0" descr="crops/c1_addalloc.png">
            <a:extLst>
              <a:ext uri="{FF2B5EF4-FFF2-40B4-BE49-F238E27FC236}">
                <a16:creationId xmlns:a16="http://schemas.microsoft.com/office/drawing/2014/main" id="{378278FE-4BA3-57CE-FAF4-6D72310F9B43}"/>
              </a:ext>
            </a:extLst>
          </p:cNvPr>
          <p:cNvPicPr>
            <a:picLocks noChangeAspect="1"/>
          </p:cNvPicPr>
          <p:nvPr/>
        </p:nvPicPr>
        <p:blipFill>
          <a:blip r:embed="rId2"/>
          <a:stretch>
            <a:fillRect/>
          </a:stretch>
        </p:blipFill>
        <p:spPr>
          <a:xfrm>
            <a:off x="769010" y="1805940"/>
            <a:ext cx="1794053" cy="1710842"/>
          </a:xfrm>
          <a:prstGeom prst="rect">
            <a:avLst/>
          </a:prstGeom>
        </p:spPr>
      </p:pic>
      <p:pic>
        <p:nvPicPr>
          <p:cNvPr id="15" name="Image 1" descr="crops/c2_form.png">
            <a:extLst>
              <a:ext uri="{FF2B5EF4-FFF2-40B4-BE49-F238E27FC236}">
                <a16:creationId xmlns:a16="http://schemas.microsoft.com/office/drawing/2014/main" id="{B21F6004-0CD6-2A63-904E-13FDFC3486A3}"/>
              </a:ext>
            </a:extLst>
          </p:cNvPr>
          <p:cNvPicPr>
            <a:picLocks noChangeAspect="1"/>
          </p:cNvPicPr>
          <p:nvPr/>
        </p:nvPicPr>
        <p:blipFill>
          <a:blip r:embed="rId3"/>
          <a:stretch>
            <a:fillRect/>
          </a:stretch>
        </p:blipFill>
        <p:spPr>
          <a:xfrm>
            <a:off x="3021178" y="1819656"/>
            <a:ext cx="1806854" cy="1751990"/>
          </a:xfrm>
          <a:prstGeom prst="rect">
            <a:avLst/>
          </a:prstGeom>
        </p:spPr>
      </p:pic>
      <p:pic>
        <p:nvPicPr>
          <p:cNvPr id="16" name="Image 2" descr="crops/c3_jupyter.png">
            <a:extLst>
              <a:ext uri="{FF2B5EF4-FFF2-40B4-BE49-F238E27FC236}">
                <a16:creationId xmlns:a16="http://schemas.microsoft.com/office/drawing/2014/main" id="{47C11A68-F8ED-D883-DFA4-C30DC0A275C7}"/>
              </a:ext>
            </a:extLst>
          </p:cNvPr>
          <p:cNvPicPr>
            <a:picLocks noChangeAspect="1"/>
          </p:cNvPicPr>
          <p:nvPr/>
        </p:nvPicPr>
        <p:blipFill>
          <a:blip r:embed="rId4"/>
          <a:stretch>
            <a:fillRect/>
          </a:stretch>
        </p:blipFill>
        <p:spPr>
          <a:xfrm>
            <a:off x="755294" y="4263847"/>
            <a:ext cx="1806854" cy="1833372"/>
          </a:xfrm>
          <a:prstGeom prst="rect">
            <a:avLst/>
          </a:prstGeom>
        </p:spPr>
      </p:pic>
      <p:pic>
        <p:nvPicPr>
          <p:cNvPr id="17" name="Image 3" descr="crops/c4_interactions.png">
            <a:extLst>
              <a:ext uri="{FF2B5EF4-FFF2-40B4-BE49-F238E27FC236}">
                <a16:creationId xmlns:a16="http://schemas.microsoft.com/office/drawing/2014/main" id="{019B61E9-C6AA-8364-750E-330C7F662DED}"/>
              </a:ext>
            </a:extLst>
          </p:cNvPr>
          <p:cNvPicPr>
            <a:picLocks noChangeAspect="1"/>
          </p:cNvPicPr>
          <p:nvPr/>
        </p:nvPicPr>
        <p:blipFill>
          <a:blip r:embed="rId5"/>
          <a:stretch>
            <a:fillRect/>
          </a:stretch>
        </p:blipFill>
        <p:spPr>
          <a:xfrm>
            <a:off x="3047695" y="4413809"/>
            <a:ext cx="1752905" cy="1494130"/>
          </a:xfrm>
          <a:prstGeom prst="rect">
            <a:avLst/>
          </a:prstGeom>
        </p:spPr>
      </p:pic>
      <p:sp>
        <p:nvSpPr>
          <p:cNvPr id="18" name="Shape 16">
            <a:extLst>
              <a:ext uri="{FF2B5EF4-FFF2-40B4-BE49-F238E27FC236}">
                <a16:creationId xmlns:a16="http://schemas.microsoft.com/office/drawing/2014/main" id="{3A02F87D-B2AB-4B01-A7AA-1D6869E7FF00}"/>
              </a:ext>
            </a:extLst>
          </p:cNvPr>
          <p:cNvSpPr/>
          <p:nvPr/>
        </p:nvSpPr>
        <p:spPr>
          <a:xfrm>
            <a:off x="2670048" y="2362810"/>
            <a:ext cx="256032" cy="312725"/>
          </a:xfrm>
          <a:prstGeom prst="rightArrow">
            <a:avLst/>
          </a:prstGeom>
          <a:solidFill>
            <a:srgbClr val="5E8FBF"/>
          </a:solidFill>
          <a:ln/>
        </p:spPr>
        <p:txBody>
          <a:bodyPr/>
          <a:lstStyle/>
          <a:p>
            <a:endParaRPr lang="en-US"/>
          </a:p>
        </p:txBody>
      </p:sp>
      <p:sp>
        <p:nvSpPr>
          <p:cNvPr id="19" name="Shape 17">
            <a:extLst>
              <a:ext uri="{FF2B5EF4-FFF2-40B4-BE49-F238E27FC236}">
                <a16:creationId xmlns:a16="http://schemas.microsoft.com/office/drawing/2014/main" id="{35572198-041A-06AF-81DD-A81B8C3E1A9F}"/>
              </a:ext>
            </a:extLst>
          </p:cNvPr>
          <p:cNvSpPr/>
          <p:nvPr/>
        </p:nvSpPr>
        <p:spPr>
          <a:xfrm>
            <a:off x="3749040" y="3585362"/>
            <a:ext cx="276149" cy="299009"/>
          </a:xfrm>
          <a:prstGeom prst="downArrow">
            <a:avLst/>
          </a:prstGeom>
          <a:solidFill>
            <a:srgbClr val="5E8FBF"/>
          </a:solidFill>
          <a:ln/>
        </p:spPr>
        <p:txBody>
          <a:bodyPr/>
          <a:lstStyle/>
          <a:p>
            <a:endParaRPr lang="en-US"/>
          </a:p>
        </p:txBody>
      </p:sp>
      <p:sp>
        <p:nvSpPr>
          <p:cNvPr id="20" name="Shape 18">
            <a:extLst>
              <a:ext uri="{FF2B5EF4-FFF2-40B4-BE49-F238E27FC236}">
                <a16:creationId xmlns:a16="http://schemas.microsoft.com/office/drawing/2014/main" id="{5E91E357-351A-F267-BF6D-2C9E2EDC520E}"/>
              </a:ext>
            </a:extLst>
          </p:cNvPr>
          <p:cNvSpPr/>
          <p:nvPr/>
        </p:nvSpPr>
        <p:spPr>
          <a:xfrm>
            <a:off x="2670048" y="4834433"/>
            <a:ext cx="256032" cy="312725"/>
          </a:xfrm>
          <a:prstGeom prst="leftArrow">
            <a:avLst/>
          </a:prstGeom>
          <a:solidFill>
            <a:srgbClr val="5E8FBF"/>
          </a:solidFill>
          <a:ln/>
        </p:spPr>
        <p:txBody>
          <a:bodyPr/>
          <a:lstStyle/>
          <a:p>
            <a:endParaRPr lang="en-US"/>
          </a:p>
        </p:txBody>
      </p:sp>
      <p:sp>
        <p:nvSpPr>
          <p:cNvPr id="22" name="Text 20">
            <a:extLst>
              <a:ext uri="{FF2B5EF4-FFF2-40B4-BE49-F238E27FC236}">
                <a16:creationId xmlns:a16="http://schemas.microsoft.com/office/drawing/2014/main" id="{976EC76D-2B88-610C-3887-D5AAEEECD7E7}"/>
              </a:ext>
            </a:extLst>
          </p:cNvPr>
          <p:cNvSpPr/>
          <p:nvPr/>
        </p:nvSpPr>
        <p:spPr>
          <a:xfrm>
            <a:off x="5920740" y="896112"/>
            <a:ext cx="4720133" cy="407822"/>
          </a:xfrm>
          <a:prstGeom prst="rect">
            <a:avLst/>
          </a:prstGeom>
          <a:noFill/>
          <a:ln/>
        </p:spPr>
        <p:txBody>
          <a:bodyPr wrap="square" lIns="0" tIns="0" rIns="0" bIns="0" rtlCol="0" anchor="ctr"/>
          <a:lstStyle/>
          <a:p>
            <a:pPr marL="0" indent="0" algn="l">
              <a:buNone/>
            </a:pPr>
            <a:r>
              <a:rPr lang="en-US" sz="2300" b="1" dirty="0">
                <a:solidFill>
                  <a:srgbClr val="1A2B87"/>
                </a:solidFill>
                <a:latin typeface="Arial" pitchFamily="34" charset="0"/>
                <a:ea typeface="Arial" pitchFamily="34" charset="-122"/>
                <a:cs typeface="Arial" pitchFamily="34" charset="-120"/>
              </a:rPr>
              <a:t>Browser-based, four steps</a:t>
            </a:r>
            <a:endParaRPr lang="en-US" sz="2300" dirty="0"/>
          </a:p>
        </p:txBody>
      </p:sp>
      <p:sp>
        <p:nvSpPr>
          <p:cNvPr id="23" name="Text 21">
            <a:extLst>
              <a:ext uri="{FF2B5EF4-FFF2-40B4-BE49-F238E27FC236}">
                <a16:creationId xmlns:a16="http://schemas.microsoft.com/office/drawing/2014/main" id="{49C425B6-288D-6B66-D5CC-BBD1BD66AAFE}"/>
              </a:ext>
            </a:extLst>
          </p:cNvPr>
          <p:cNvSpPr/>
          <p:nvPr/>
        </p:nvSpPr>
        <p:spPr>
          <a:xfrm>
            <a:off x="5657393" y="1439266"/>
            <a:ext cx="5131613" cy="1819656"/>
          </a:xfrm>
          <a:prstGeom prst="rect">
            <a:avLst/>
          </a:prstGeom>
          <a:noFill/>
          <a:ln/>
        </p:spPr>
        <p:txBody>
          <a:bodyPr wrap="square" lIns="0" tIns="0" rIns="0" bIns="0" rtlCol="0" anchor="t"/>
          <a:lstStyle/>
          <a:p>
            <a:pPr marL="342900" indent="-342900" algn="just">
              <a:spcAft>
                <a:spcPts val="1400"/>
              </a:spcAft>
              <a:buSzPct val="100000"/>
              <a:buFont typeface="Arial" panose="020B0604020202020204" pitchFamily="34" charset="0"/>
              <a:buChar char="•"/>
            </a:pPr>
            <a:r>
              <a:rPr lang="en-US" sz="1850" dirty="0">
                <a:solidFill>
                  <a:srgbClr val="1A1A1A"/>
                </a:solidFill>
                <a:latin typeface="Arial" pitchFamily="34" charset="0"/>
                <a:ea typeface="Arial" pitchFamily="34" charset="-122"/>
                <a:cs typeface="Arial" pitchFamily="34" charset="-120"/>
              </a:rPr>
              <a:t>Add an allocation, then create an instance (Ubuntu 24, m3 flavors from 1 to 64 CPUs).</a:t>
            </a:r>
            <a:endParaRPr lang="en-US" sz="1850" dirty="0"/>
          </a:p>
          <a:p>
            <a:pPr marL="342900" indent="-342900" algn="just">
              <a:buSzPct val="100000"/>
              <a:buFont typeface="Arial" panose="020B0604020202020204" pitchFamily="34" charset="0"/>
              <a:buChar char="•"/>
            </a:pPr>
            <a:r>
              <a:rPr lang="en-US" sz="1850" dirty="0">
                <a:solidFill>
                  <a:srgbClr val="1A1A1A"/>
                </a:solidFill>
                <a:latin typeface="Arial" pitchFamily="34" charset="0"/>
                <a:ea typeface="Arial" pitchFamily="34" charset="-122"/>
                <a:cs typeface="Arial" pitchFamily="34" charset="-120"/>
              </a:rPr>
              <a:t>Open the web desktop, load miniforge, and launch JupyterLab to run the detection models.</a:t>
            </a:r>
            <a:endParaRPr lang="en-US" sz="1850" dirty="0"/>
          </a:p>
        </p:txBody>
      </p:sp>
      <p:sp>
        <p:nvSpPr>
          <p:cNvPr id="24" name="Shape 22">
            <a:extLst>
              <a:ext uri="{FF2B5EF4-FFF2-40B4-BE49-F238E27FC236}">
                <a16:creationId xmlns:a16="http://schemas.microsoft.com/office/drawing/2014/main" id="{991C7EF9-FA88-1249-9CDF-3AC99128A719}"/>
              </a:ext>
            </a:extLst>
          </p:cNvPr>
          <p:cNvSpPr/>
          <p:nvPr/>
        </p:nvSpPr>
        <p:spPr>
          <a:xfrm>
            <a:off x="5657393" y="3327503"/>
            <a:ext cx="5415381" cy="2546604"/>
          </a:xfrm>
          <a:prstGeom prst="rect">
            <a:avLst/>
          </a:prstGeom>
          <a:solidFill>
            <a:srgbClr val="FFFFFF"/>
          </a:solidFill>
          <a:ln w="31750">
            <a:solidFill>
              <a:srgbClr val="0A4AAA"/>
            </a:solidFill>
            <a:prstDash val="solid"/>
          </a:ln>
        </p:spPr>
        <p:txBody>
          <a:bodyPr/>
          <a:lstStyle/>
          <a:p>
            <a:endParaRPr lang="en-US"/>
          </a:p>
        </p:txBody>
      </p:sp>
      <p:sp>
        <p:nvSpPr>
          <p:cNvPr id="25" name="Text 23">
            <a:extLst>
              <a:ext uri="{FF2B5EF4-FFF2-40B4-BE49-F238E27FC236}">
                <a16:creationId xmlns:a16="http://schemas.microsoft.com/office/drawing/2014/main" id="{569067EE-1DFA-CD65-ABDA-936665E6119F}"/>
              </a:ext>
            </a:extLst>
          </p:cNvPr>
          <p:cNvSpPr/>
          <p:nvPr/>
        </p:nvSpPr>
        <p:spPr>
          <a:xfrm>
            <a:off x="5772912" y="3675329"/>
            <a:ext cx="2225650" cy="339242"/>
          </a:xfrm>
          <a:prstGeom prst="rect">
            <a:avLst/>
          </a:prstGeom>
          <a:noFill/>
          <a:ln/>
        </p:spPr>
        <p:txBody>
          <a:bodyPr wrap="square" lIns="0" tIns="0" rIns="0" bIns="0" rtlCol="0" anchor="ctr"/>
          <a:lstStyle/>
          <a:p>
            <a:pPr marL="0" indent="0" algn="l">
              <a:buNone/>
            </a:pPr>
            <a:r>
              <a:rPr lang="en-US" sz="1400" b="1" dirty="0">
                <a:solidFill>
                  <a:srgbClr val="1A1A1A"/>
                </a:solidFill>
                <a:latin typeface="Arial" pitchFamily="34" charset="0"/>
                <a:ea typeface="Arial" pitchFamily="34" charset="-122"/>
                <a:cs typeface="Arial" pitchFamily="34" charset="-120"/>
              </a:rPr>
              <a:t>Jetstream2 Web Desktop</a:t>
            </a:r>
            <a:endParaRPr lang="en-US" sz="1400" dirty="0"/>
          </a:p>
        </p:txBody>
      </p:sp>
      <p:sp>
        <p:nvSpPr>
          <p:cNvPr id="26" name="Text 24">
            <a:extLst>
              <a:ext uri="{FF2B5EF4-FFF2-40B4-BE49-F238E27FC236}">
                <a16:creationId xmlns:a16="http://schemas.microsoft.com/office/drawing/2014/main" id="{50797FCE-0B39-49EE-FD5E-703F5E6EBBE4}"/>
              </a:ext>
            </a:extLst>
          </p:cNvPr>
          <p:cNvSpPr/>
          <p:nvPr/>
        </p:nvSpPr>
        <p:spPr>
          <a:xfrm>
            <a:off x="5799429" y="4182878"/>
            <a:ext cx="2171700" cy="950976"/>
          </a:xfrm>
          <a:prstGeom prst="rect">
            <a:avLst/>
          </a:prstGeom>
          <a:noFill/>
          <a:ln/>
        </p:spPr>
        <p:txBody>
          <a:bodyPr wrap="square" lIns="0" tIns="0" rIns="0" bIns="0" rtlCol="0" anchor="t"/>
          <a:lstStyle/>
          <a:p>
            <a:pPr marL="0" indent="0" algn="ctr">
              <a:buNone/>
            </a:pPr>
            <a:r>
              <a:rPr lang="en-US" sz="1350" dirty="0">
                <a:solidFill>
                  <a:srgbClr val="1A1A1A"/>
                </a:solidFill>
                <a:latin typeface="Arial" pitchFamily="34" charset="0"/>
                <a:ea typeface="Arial" pitchFamily="34" charset="-122"/>
                <a:cs typeface="Arial" pitchFamily="34" charset="-120"/>
              </a:rPr>
              <a:t>Students access a cloud-based Jetstream2 environment through a browser.</a:t>
            </a:r>
            <a:endParaRPr lang="en-US" sz="1350" dirty="0"/>
          </a:p>
        </p:txBody>
      </p:sp>
      <p:pic>
        <p:nvPicPr>
          <p:cNvPr id="27" name="Image 4" descr="crops/webdesktop.png">
            <a:extLst>
              <a:ext uri="{FF2B5EF4-FFF2-40B4-BE49-F238E27FC236}">
                <a16:creationId xmlns:a16="http://schemas.microsoft.com/office/drawing/2014/main" id="{671DD71B-4D5F-B48F-EF16-927FAF064531}"/>
              </a:ext>
            </a:extLst>
          </p:cNvPr>
          <p:cNvPicPr>
            <a:picLocks noChangeAspect="1"/>
          </p:cNvPicPr>
          <p:nvPr/>
        </p:nvPicPr>
        <p:blipFill>
          <a:blip r:embed="rId6"/>
          <a:stretch>
            <a:fillRect/>
          </a:stretch>
        </p:blipFill>
        <p:spPr>
          <a:xfrm>
            <a:off x="7971129" y="3516781"/>
            <a:ext cx="2995845" cy="2459737"/>
          </a:xfrm>
          <a:prstGeom prst="rect">
            <a:avLst/>
          </a:prstGeom>
        </p:spPr>
      </p:pic>
    </p:spTree>
    <p:extLst>
      <p:ext uri="{BB962C8B-B14F-4D97-AF65-F5344CB8AC3E}">
        <p14:creationId xmlns:p14="http://schemas.microsoft.com/office/powerpoint/2010/main" val="210710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412595" y="383886"/>
            <a:ext cx="10560205" cy="69097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buNone/>
            </a:pPr>
            <a:r>
              <a:rPr lang="en-US" sz="3200" b="1" dirty="0">
                <a:solidFill>
                  <a:srgbClr val="1A2A87"/>
                </a:solidFill>
                <a:latin typeface="Arial"/>
              </a:rPr>
              <a:t>Steps to Fine-Tuned YOLO26 Prediction</a:t>
            </a:r>
          </a:p>
        </p:txBody>
      </p:sp>
      <p:pic>
        <p:nvPicPr>
          <p:cNvPr id="330" name="Pic330"/>
          <p:cNvPicPr preferRelativeResize="0"/>
          <p:nvPr/>
        </p:nvPicPr>
        <p:blipFill rotWithShape="1">
          <a:blip r:embed="rId3">
            <a:alphaModFix/>
          </a:blip>
          <a:srcRect/>
          <a:stretch/>
        </p:blipFill>
        <p:spPr>
          <a:xfrm>
            <a:off x="609600" y="1538000"/>
            <a:ext cx="2958790" cy="3162000"/>
          </a:xfrm>
          <a:prstGeom prst="rect">
            <a:avLst/>
          </a:prstGeom>
          <a:noFill/>
          <a:ln>
            <a:noFill/>
          </a:ln>
        </p:spPr>
      </p:pic>
      <p:pic>
        <p:nvPicPr>
          <p:cNvPr id="331" name="Pic331"/>
          <p:cNvPicPr preferRelativeResize="0"/>
          <p:nvPr/>
        </p:nvPicPr>
        <p:blipFill rotWithShape="1">
          <a:blip r:embed="rId4">
            <a:alphaModFix/>
          </a:blip>
          <a:srcRect/>
          <a:stretch/>
        </p:blipFill>
        <p:spPr>
          <a:xfrm>
            <a:off x="4248088" y="1537998"/>
            <a:ext cx="3167473" cy="3162000"/>
          </a:xfrm>
          <a:prstGeom prst="rect">
            <a:avLst/>
          </a:prstGeom>
          <a:noFill/>
          <a:ln>
            <a:noFill/>
          </a:ln>
        </p:spPr>
      </p:pic>
      <p:pic>
        <p:nvPicPr>
          <p:cNvPr id="332" name="Pic332"/>
          <p:cNvPicPr preferRelativeResize="0"/>
          <p:nvPr/>
        </p:nvPicPr>
        <p:blipFill rotWithShape="1">
          <a:blip r:embed="rId5">
            <a:alphaModFix/>
          </a:blip>
          <a:srcRect/>
          <a:stretch/>
        </p:blipFill>
        <p:spPr>
          <a:xfrm>
            <a:off x="8014010" y="1537998"/>
            <a:ext cx="2958790" cy="3162000"/>
          </a:xfrm>
          <a:prstGeom prst="rect">
            <a:avLst/>
          </a:prstGeom>
          <a:noFill/>
          <a:ln>
            <a:noFill/>
          </a:ln>
        </p:spPr>
      </p:pic>
      <p:sp>
        <p:nvSpPr>
          <p:cNvPr id="333" name="TB333"/>
          <p:cNvSpPr txBox="1"/>
          <p:nvPr/>
        </p:nvSpPr>
        <p:spPr>
          <a:xfrm>
            <a:off x="609600" y="4731454"/>
            <a:ext cx="2958790" cy="500000"/>
          </a:xfrm>
          <a:prstGeom prst="rect">
            <a:avLst/>
          </a:prstGeom>
          <a:noFill/>
          <a:ln>
            <a:noFill/>
          </a:ln>
        </p:spPr>
        <p:txBody>
          <a:bodyPr spcFirstLastPara="1" wrap="square" lIns="91425" tIns="45700" rIns="91425" bIns="45700" anchor="ctr"/>
          <a:lstStyle/>
          <a:p>
            <a:pPr marL="0" lvl="0" indent="0" algn="ctr" rtl="0">
              <a:lnSpc>
                <a:spcPct val="100000"/>
              </a:lnSpc>
              <a:spcBef>
                <a:spcPts val="0"/>
              </a:spcBef>
              <a:buNone/>
            </a:pPr>
            <a:r>
              <a:rPr lang="en-US" sz="1500" b="1" dirty="0">
                <a:solidFill>
                  <a:srgbClr val="1A2A87"/>
                </a:solidFill>
                <a:latin typeface="Arial"/>
              </a:rPr>
              <a:t>Step 1. Raw confocal image</a:t>
            </a:r>
          </a:p>
        </p:txBody>
      </p:sp>
      <p:sp>
        <p:nvSpPr>
          <p:cNvPr id="334" name="TB334"/>
          <p:cNvSpPr txBox="1"/>
          <p:nvPr/>
        </p:nvSpPr>
        <p:spPr>
          <a:xfrm>
            <a:off x="4287117" y="4731454"/>
            <a:ext cx="3055961" cy="500000"/>
          </a:xfrm>
          <a:prstGeom prst="rect">
            <a:avLst/>
          </a:prstGeom>
          <a:noFill/>
          <a:ln>
            <a:noFill/>
          </a:ln>
        </p:spPr>
        <p:txBody>
          <a:bodyPr spcFirstLastPara="1" wrap="square" lIns="91425" tIns="45700" rIns="91425" bIns="45700" anchor="ctr"/>
          <a:lstStyle/>
          <a:p>
            <a:pPr lvl="0" algn="ctr"/>
            <a:r>
              <a:rPr lang="en-US" sz="1500" b="1" dirty="0">
                <a:solidFill>
                  <a:srgbClr val="1A2A87"/>
                </a:solidFill>
              </a:rPr>
              <a:t>Step 2</a:t>
            </a:r>
            <a:r>
              <a:rPr lang="en-US" sz="1500" b="1" dirty="0">
                <a:solidFill>
                  <a:srgbClr val="1A2A87"/>
                </a:solidFill>
                <a:latin typeface="Arial"/>
              </a:rPr>
              <a:t>. Manual annotation</a:t>
            </a:r>
          </a:p>
        </p:txBody>
      </p:sp>
      <p:sp>
        <p:nvSpPr>
          <p:cNvPr id="335" name="TB335"/>
          <p:cNvSpPr txBox="1"/>
          <p:nvPr/>
        </p:nvSpPr>
        <p:spPr>
          <a:xfrm>
            <a:off x="8061805" y="4762234"/>
            <a:ext cx="2863200" cy="500000"/>
          </a:xfrm>
          <a:prstGeom prst="rect">
            <a:avLst/>
          </a:prstGeom>
          <a:noFill/>
          <a:ln>
            <a:noFill/>
          </a:ln>
        </p:spPr>
        <p:txBody>
          <a:bodyPr spcFirstLastPara="1" wrap="square" lIns="91425" tIns="45700" rIns="91425" bIns="45700" anchor="ctr"/>
          <a:lstStyle/>
          <a:p>
            <a:pPr lvl="0" algn="ctr"/>
            <a:r>
              <a:rPr lang="en-US" sz="1500" b="1" dirty="0">
                <a:solidFill>
                  <a:srgbClr val="1A2A87"/>
                </a:solidFill>
              </a:rPr>
              <a:t>Step 3</a:t>
            </a:r>
            <a:r>
              <a:rPr lang="en-US" sz="1500" b="1" dirty="0">
                <a:solidFill>
                  <a:srgbClr val="1A2A87"/>
                </a:solidFill>
                <a:latin typeface="Arial"/>
              </a:rPr>
              <a:t>. YOLO26 prediction</a:t>
            </a:r>
          </a:p>
        </p:txBody>
      </p:sp>
      <p:pic>
        <p:nvPicPr>
          <p:cNvPr id="2" name="Picture 1">
            <a:extLst>
              <a:ext uri="{FF2B5EF4-FFF2-40B4-BE49-F238E27FC236}">
                <a16:creationId xmlns:a16="http://schemas.microsoft.com/office/drawing/2014/main" id="{BB9B461C-4189-9904-C611-E31CA9DFB181}"/>
              </a:ext>
            </a:extLst>
          </p:cNvPr>
          <p:cNvPicPr>
            <a:picLocks noChangeAspect="1"/>
          </p:cNvPicPr>
          <p:nvPr/>
        </p:nvPicPr>
        <p:blipFill>
          <a:blip r:embed="rId6"/>
          <a:stretch>
            <a:fillRect/>
          </a:stretch>
        </p:blipFill>
        <p:spPr>
          <a:xfrm>
            <a:off x="4155717" y="1121060"/>
            <a:ext cx="3259844" cy="356208"/>
          </a:xfrm>
          <a:prstGeom prst="rect">
            <a:avLst/>
          </a:prstGeom>
        </p:spPr>
      </p:pic>
      <p:pic>
        <p:nvPicPr>
          <p:cNvPr id="3" name="Picture 2">
            <a:extLst>
              <a:ext uri="{FF2B5EF4-FFF2-40B4-BE49-F238E27FC236}">
                <a16:creationId xmlns:a16="http://schemas.microsoft.com/office/drawing/2014/main" id="{D4F6424D-EFDC-3FB8-6BBB-122143995CEF}"/>
              </a:ext>
            </a:extLst>
          </p:cNvPr>
          <p:cNvPicPr>
            <a:picLocks noChangeAspect="1"/>
          </p:cNvPicPr>
          <p:nvPr/>
        </p:nvPicPr>
        <p:blipFill>
          <a:blip r:embed="rId6"/>
          <a:stretch>
            <a:fillRect/>
          </a:stretch>
        </p:blipFill>
        <p:spPr>
          <a:xfrm>
            <a:off x="7924830" y="1132822"/>
            <a:ext cx="2958790" cy="3233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09600" y="383886"/>
            <a:ext cx="9518768" cy="69097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buNone/>
            </a:pPr>
            <a:r>
              <a:rPr lang="en-US" sz="3200" b="1">
                <a:solidFill>
                  <a:srgbClr val="1A2A87"/>
                </a:solidFill>
                <a:latin typeface="Arial"/>
              </a:rPr>
              <a:t>Results: Overall Performance</a:t>
            </a:r>
          </a:p>
        </p:txBody>
      </p:sp>
      <p:sp>
        <p:nvSpPr>
          <p:cNvPr id="83" name="Google Shape;83;p16"/>
          <p:cNvSpPr txBox="1">
            <a:spLocks noGrp="1"/>
          </p:cNvSpPr>
          <p:nvPr>
            <p:ph type="body" idx="1"/>
          </p:nvPr>
        </p:nvSpPr>
        <p:spPr>
          <a:xfrm>
            <a:off x="625475" y="1250000"/>
            <a:ext cx="4650000" cy="50000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300"/>
              </a:spcBef>
              <a:buNone/>
            </a:pPr>
            <a:r>
              <a:rPr lang="en-US" sz="1900" b="1" dirty="0">
                <a:solidFill>
                  <a:srgbClr val="1A2A87"/>
                </a:solidFill>
                <a:latin typeface="Arial"/>
              </a:rPr>
              <a:t>YOLO26x leads on overall detection</a:t>
            </a:r>
          </a:p>
          <a:p>
            <a:pPr indent="-342900" algn="just">
              <a:spcBef>
                <a:spcPts val="550"/>
              </a:spcBef>
              <a:buClr>
                <a:srgbClr val="1A2A87"/>
              </a:buClr>
              <a:buSzPct val="80000"/>
            </a:pPr>
            <a:r>
              <a:rPr lang="en-US" sz="1900" dirty="0">
                <a:solidFill>
                  <a:srgbClr val="000000"/>
                </a:solidFill>
                <a:latin typeface="Arial"/>
              </a:rPr>
              <a:t>Precision  </a:t>
            </a:r>
            <a:r>
              <a:rPr lang="en-US" sz="1900" b="1" dirty="0">
                <a:solidFill>
                  <a:srgbClr val="1A2A87"/>
                </a:solidFill>
                <a:latin typeface="Arial"/>
              </a:rPr>
              <a:t>0.984</a:t>
            </a:r>
          </a:p>
          <a:p>
            <a:pPr indent="-342900" algn="just">
              <a:spcBef>
                <a:spcPts val="550"/>
              </a:spcBef>
              <a:buClr>
                <a:srgbClr val="1A2A87"/>
              </a:buClr>
              <a:buSzPct val="80000"/>
            </a:pPr>
            <a:r>
              <a:rPr lang="en-US" sz="1900" dirty="0">
                <a:solidFill>
                  <a:srgbClr val="000000"/>
                </a:solidFill>
                <a:latin typeface="Arial"/>
              </a:rPr>
              <a:t>Recall  </a:t>
            </a:r>
            <a:r>
              <a:rPr lang="en-US" sz="1900" b="1" dirty="0">
                <a:solidFill>
                  <a:srgbClr val="1A2A87"/>
                </a:solidFill>
                <a:latin typeface="Arial"/>
              </a:rPr>
              <a:t>0.891</a:t>
            </a:r>
          </a:p>
          <a:p>
            <a:pPr indent="-342900" algn="just">
              <a:spcBef>
                <a:spcPts val="550"/>
              </a:spcBef>
              <a:buClr>
                <a:srgbClr val="1A2A87"/>
              </a:buClr>
              <a:buSzPct val="80000"/>
            </a:pPr>
            <a:r>
              <a:rPr lang="en-US" sz="1900" dirty="0">
                <a:solidFill>
                  <a:srgbClr val="000000"/>
                </a:solidFill>
                <a:latin typeface="Arial"/>
              </a:rPr>
              <a:t>mAP@50  </a:t>
            </a:r>
            <a:r>
              <a:rPr lang="en-US" sz="1900" b="1" dirty="0">
                <a:solidFill>
                  <a:srgbClr val="1A2A87"/>
                </a:solidFill>
                <a:latin typeface="Arial"/>
              </a:rPr>
              <a:t>0.942</a:t>
            </a:r>
          </a:p>
          <a:p>
            <a:pPr indent="-342900" algn="just">
              <a:spcBef>
                <a:spcPts val="550"/>
              </a:spcBef>
              <a:buClr>
                <a:srgbClr val="1A2A87"/>
              </a:buClr>
              <a:buSzPct val="80000"/>
            </a:pPr>
            <a:r>
              <a:rPr lang="en-US" sz="1900" dirty="0">
                <a:solidFill>
                  <a:srgbClr val="000000"/>
                </a:solidFill>
                <a:latin typeface="Arial"/>
              </a:rPr>
              <a:t>mAP@50-95  </a:t>
            </a:r>
            <a:r>
              <a:rPr lang="en-US" sz="1900" b="1" dirty="0">
                <a:solidFill>
                  <a:srgbClr val="1A2A87"/>
                </a:solidFill>
                <a:latin typeface="Arial"/>
              </a:rPr>
              <a:t>0.808</a:t>
            </a:r>
            <a:r>
              <a:rPr lang="en-US" sz="1900" dirty="0">
                <a:solidFill>
                  <a:srgbClr val="000000"/>
                </a:solidFill>
                <a:latin typeface="Arial"/>
              </a:rPr>
              <a:t>  (≈ YOLOv10x 0.810)</a:t>
            </a:r>
          </a:p>
          <a:p>
            <a:pPr indent="-342900" algn="just">
              <a:spcBef>
                <a:spcPts val="550"/>
              </a:spcBef>
              <a:buClr>
                <a:srgbClr val="1A2A87"/>
              </a:buClr>
              <a:buSzPct val="80000"/>
            </a:pPr>
            <a:r>
              <a:rPr lang="en-US" sz="1900" b="1" dirty="0">
                <a:solidFill>
                  <a:srgbClr val="1A2A87"/>
                </a:solidFill>
                <a:latin typeface="Arial"/>
              </a:rPr>
              <a:t>7.1 </a:t>
            </a:r>
            <a:r>
              <a:rPr lang="en-US" sz="1900" b="1" dirty="0" err="1">
                <a:solidFill>
                  <a:srgbClr val="1A2A87"/>
                </a:solidFill>
                <a:latin typeface="Arial"/>
              </a:rPr>
              <a:t>ms</a:t>
            </a:r>
            <a:r>
              <a:rPr lang="en-US" sz="1900" b="1" dirty="0">
                <a:solidFill>
                  <a:srgbClr val="000000"/>
                </a:solidFill>
                <a:latin typeface="Arial"/>
              </a:rPr>
              <a:t> </a:t>
            </a:r>
            <a:r>
              <a:rPr lang="en-US" sz="1900" dirty="0">
                <a:solidFill>
                  <a:srgbClr val="000000"/>
                </a:solidFill>
                <a:latin typeface="Arial"/>
              </a:rPr>
              <a:t>total inference per image.</a:t>
            </a:r>
          </a:p>
          <a:p>
            <a:pPr indent="-342900" algn="just">
              <a:spcBef>
                <a:spcPts val="550"/>
              </a:spcBef>
              <a:buClr>
                <a:srgbClr val="1A2A87"/>
              </a:buClr>
              <a:buSzPct val="80000"/>
            </a:pPr>
            <a:r>
              <a:rPr lang="en-US" sz="1900" b="1" dirty="0">
                <a:solidFill>
                  <a:srgbClr val="1A2A87"/>
                </a:solidFill>
                <a:latin typeface="Arial"/>
              </a:rPr>
              <a:t>~10× faster</a:t>
            </a:r>
            <a:r>
              <a:rPr lang="en-US" sz="1900" b="1" dirty="0">
                <a:solidFill>
                  <a:srgbClr val="000000"/>
                </a:solidFill>
                <a:latin typeface="Arial"/>
              </a:rPr>
              <a:t> </a:t>
            </a:r>
            <a:r>
              <a:rPr lang="en-US" sz="1900" dirty="0">
                <a:solidFill>
                  <a:srgbClr val="000000"/>
                </a:solidFill>
                <a:latin typeface="Arial"/>
              </a:rPr>
              <a:t>than YOLOv12x (71.1 </a:t>
            </a:r>
            <a:r>
              <a:rPr lang="en-US" sz="1900" dirty="0" err="1">
                <a:solidFill>
                  <a:srgbClr val="000000"/>
                </a:solidFill>
                <a:latin typeface="Arial"/>
              </a:rPr>
              <a:t>ms</a:t>
            </a:r>
            <a:r>
              <a:rPr lang="en-US" sz="1900" dirty="0">
                <a:solidFill>
                  <a:srgbClr val="000000"/>
                </a:solidFill>
                <a:latin typeface="Arial"/>
              </a:rPr>
              <a:t>), which spends 47.5 </a:t>
            </a:r>
            <a:r>
              <a:rPr lang="en-US" sz="1900" dirty="0" err="1">
                <a:solidFill>
                  <a:srgbClr val="000000"/>
                </a:solidFill>
                <a:latin typeface="Arial"/>
              </a:rPr>
              <a:t>ms</a:t>
            </a:r>
            <a:r>
              <a:rPr lang="en-US" sz="1900" dirty="0">
                <a:solidFill>
                  <a:srgbClr val="000000"/>
                </a:solidFill>
                <a:latin typeface="Arial"/>
              </a:rPr>
              <a:t> on NMS alone.</a:t>
            </a:r>
          </a:p>
          <a:p>
            <a:pPr indent="-342900" algn="just">
              <a:spcBef>
                <a:spcPts val="550"/>
              </a:spcBef>
              <a:buClr>
                <a:srgbClr val="1A2A87"/>
              </a:buClr>
              <a:buSzPct val="80000"/>
            </a:pPr>
            <a:r>
              <a:rPr lang="en-US" sz="1900" b="1" dirty="0">
                <a:solidFill>
                  <a:srgbClr val="1A2A87"/>
                </a:solidFill>
                <a:latin typeface="Arial"/>
              </a:rPr>
              <a:t>Trains in 2.62 hours</a:t>
            </a:r>
            <a:r>
              <a:rPr lang="en-US" sz="1900" b="1" dirty="0">
                <a:solidFill>
                  <a:srgbClr val="000000"/>
                </a:solidFill>
                <a:latin typeface="Arial"/>
              </a:rPr>
              <a:t>, </a:t>
            </a:r>
            <a:r>
              <a:rPr lang="en-US" sz="1900" dirty="0">
                <a:solidFill>
                  <a:srgbClr val="000000"/>
                </a:solidFill>
                <a:latin typeface="Arial"/>
              </a:rPr>
              <a:t>53% faster than YOLOv12x.</a:t>
            </a:r>
          </a:p>
          <a:p>
            <a:pPr indent="-342900" algn="just">
              <a:spcBef>
                <a:spcPts val="650"/>
              </a:spcBef>
              <a:buClr>
                <a:srgbClr val="1A2A87"/>
              </a:buClr>
              <a:buSzPct val="80000"/>
            </a:pPr>
            <a:r>
              <a:rPr lang="en-US" sz="1900" dirty="0">
                <a:solidFill>
                  <a:srgbClr val="000000"/>
                </a:solidFill>
                <a:latin typeface="Arial"/>
              </a:rPr>
              <a:t>OHC-2 is the hardest class for every model; YOLO26x still leads its recall (0.862) and mAP@50-95 (0.770).</a:t>
            </a:r>
          </a:p>
          <a:p>
            <a:pPr marL="400050" indent="-285750">
              <a:spcBef>
                <a:spcPts val="750"/>
              </a:spcBef>
              <a:buClr>
                <a:srgbClr val="1A2A87"/>
              </a:buClr>
              <a:buSzPct val="80000"/>
            </a:pPr>
            <a:endParaRPr lang="en-US" sz="1700" dirty="0">
              <a:solidFill>
                <a:srgbClr val="000000"/>
              </a:solidFill>
              <a:latin typeface="Arial"/>
            </a:endParaRPr>
          </a:p>
        </p:txBody>
      </p:sp>
      <p:pic>
        <p:nvPicPr>
          <p:cNvPr id="340" name="Pic340"/>
          <p:cNvPicPr preferRelativeResize="0"/>
          <p:nvPr/>
        </p:nvPicPr>
        <p:blipFill rotWithShape="1">
          <a:blip r:embed="rId2">
            <a:alphaModFix/>
          </a:blip>
          <a:srcRect/>
          <a:stretch/>
        </p:blipFill>
        <p:spPr>
          <a:xfrm>
            <a:off x="5275475" y="1728439"/>
            <a:ext cx="5673522" cy="2923898"/>
          </a:xfrm>
          <a:prstGeom prst="rect">
            <a:avLst/>
          </a:prstGeom>
          <a:noFill/>
          <a:ln>
            <a:noFill/>
          </a:ln>
        </p:spPr>
      </p:pic>
      <p:sp>
        <p:nvSpPr>
          <p:cNvPr id="341" name="TB341"/>
          <p:cNvSpPr txBox="1"/>
          <p:nvPr/>
        </p:nvSpPr>
        <p:spPr>
          <a:xfrm>
            <a:off x="5477697" y="4730776"/>
            <a:ext cx="5584313" cy="400000"/>
          </a:xfrm>
          <a:prstGeom prst="rect">
            <a:avLst/>
          </a:prstGeom>
          <a:noFill/>
          <a:ln>
            <a:noFill/>
          </a:ln>
        </p:spPr>
        <p:txBody>
          <a:bodyPr spcFirstLastPara="1" wrap="square" lIns="91425" tIns="45700" rIns="91425" bIns="45700" anchor="ctr"/>
          <a:lstStyle/>
          <a:p>
            <a:pPr lvl="0" algn="ctr"/>
            <a:r>
              <a:rPr lang="en-US" sz="1200" i="1" dirty="0">
                <a:solidFill>
                  <a:srgbClr val="1A2A87"/>
                </a:solidFill>
              </a:rPr>
              <a:t>Figure 4: Overall cochlear hair cell </a:t>
            </a:r>
            <a:r>
              <a:rPr lang="en-US" sz="1200" i="1" dirty="0">
                <a:solidFill>
                  <a:srgbClr val="1A2A87"/>
                </a:solidFill>
                <a:latin typeface="Arial"/>
              </a:rPr>
              <a:t>detection metrics across four YOLO models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grpSp>
        <p:nvGrpSpPr>
          <p:cNvPr id="93" name="Google Shape;93;p18"/>
          <p:cNvGrpSpPr/>
          <p:nvPr/>
        </p:nvGrpSpPr>
        <p:grpSpPr>
          <a:xfrm>
            <a:off x="9260607" y="238701"/>
            <a:ext cx="2866425" cy="1189675"/>
            <a:chOff x="837550" y="656850"/>
            <a:chExt cx="7842475" cy="3254925"/>
          </a:xfrm>
        </p:grpSpPr>
        <p:sp>
          <p:nvSpPr>
            <p:cNvPr id="94" name="Google Shape;94;p18"/>
            <p:cNvSpPr/>
            <p:nvPr/>
          </p:nvSpPr>
          <p:spPr>
            <a:xfrm>
              <a:off x="837550" y="685275"/>
              <a:ext cx="7766400" cy="3226500"/>
            </a:xfrm>
            <a:prstGeom prst="rect">
              <a:avLst/>
            </a:prstGeom>
            <a:solidFill>
              <a:schemeClr val="lt1"/>
            </a:solidFill>
            <a:ln>
              <a:noFill/>
            </a:ln>
          </p:spPr>
          <p:txBody>
            <a:bodyPr spcFirstLastPara="1" wrap="square" lIns="33425" tIns="33425" rIns="33425" bIns="33425" anchor="ctr" anchorCtr="0">
              <a:noAutofit/>
            </a:bodyPr>
            <a:lstStyle/>
            <a:p>
              <a:pPr marL="0" lvl="0" indent="0" algn="ctr" rtl="0">
                <a:spcBef>
                  <a:spcPts val="0"/>
                </a:spcBef>
                <a:spcAft>
                  <a:spcPts val="0"/>
                </a:spcAft>
                <a:buNone/>
              </a:pPr>
              <a:endParaRPr sz="512"/>
            </a:p>
          </p:txBody>
        </p:sp>
        <p:pic>
          <p:nvPicPr>
            <p:cNvPr id="95" name="Google Shape;95;p18" title="NAIRR Expansion Conference_RE lg.png"/>
            <p:cNvPicPr preferRelativeResize="0"/>
            <p:nvPr/>
          </p:nvPicPr>
          <p:blipFill rotWithShape="1">
            <a:blip r:embed="rId3">
              <a:alphaModFix/>
            </a:blip>
            <a:srcRect l="8083" r="7185"/>
            <a:stretch/>
          </p:blipFill>
          <p:spPr>
            <a:xfrm>
              <a:off x="894650" y="656850"/>
              <a:ext cx="7785375" cy="3216826"/>
            </a:xfrm>
            <a:prstGeom prst="rect">
              <a:avLst/>
            </a:prstGeom>
            <a:noFill/>
            <a:ln>
              <a:noFill/>
            </a:ln>
          </p:spPr>
        </p:pic>
      </p:grpSp>
      <p:sp>
        <p:nvSpPr>
          <p:cNvPr id="96" name="Google Shape;96;p18"/>
          <p:cNvSpPr txBox="1">
            <a:spLocks noGrp="1"/>
          </p:cNvSpPr>
          <p:nvPr>
            <p:ph type="title"/>
          </p:nvPr>
        </p:nvSpPr>
        <p:spPr>
          <a:xfrm>
            <a:off x="609600" y="488058"/>
            <a:ext cx="8790878" cy="69097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buNone/>
            </a:pPr>
            <a:r>
              <a:rPr lang="en-US" sz="3200" b="1">
                <a:solidFill>
                  <a:srgbClr val="1A2A87"/>
                </a:solidFill>
                <a:latin typeface="Arial"/>
              </a:rPr>
              <a:t>Conclusion</a:t>
            </a:r>
          </a:p>
        </p:txBody>
      </p:sp>
      <p:sp>
        <p:nvSpPr>
          <p:cNvPr id="360" name="TB360"/>
          <p:cNvSpPr txBox="1"/>
          <p:nvPr/>
        </p:nvSpPr>
        <p:spPr>
          <a:xfrm>
            <a:off x="609600" y="1450000"/>
            <a:ext cx="10970000" cy="3690712"/>
          </a:xfrm>
          <a:prstGeom prst="rect">
            <a:avLst/>
          </a:prstGeom>
          <a:noFill/>
          <a:ln>
            <a:noFill/>
          </a:ln>
        </p:spPr>
        <p:txBody>
          <a:bodyPr spcFirstLastPara="1" wrap="square" lIns="91425" tIns="45700" rIns="91425" bIns="45700" anchor="t"/>
          <a:lstStyle/>
          <a:p>
            <a:pPr marL="457200" lvl="0" indent="-342900" algn="just" rtl="0">
              <a:lnSpc>
                <a:spcPct val="100000"/>
              </a:lnSpc>
              <a:spcBef>
                <a:spcPts val="600"/>
              </a:spcBef>
              <a:buClr>
                <a:srgbClr val="1A2A87"/>
              </a:buClr>
              <a:buSzPct val="80000"/>
              <a:buFont typeface="Arial" panose="020B0604020202020204" pitchFamily="34" charset="0"/>
              <a:buChar char="•"/>
            </a:pPr>
            <a:r>
              <a:rPr lang="en-US" sz="2400" dirty="0">
                <a:solidFill>
                  <a:srgbClr val="000000"/>
                </a:solidFill>
                <a:latin typeface="Arial"/>
              </a:rPr>
              <a:t>The fine-tuned YOLO26x model enables precise, automated detection of inner and outer cochlear hair cells.</a:t>
            </a:r>
          </a:p>
          <a:p>
            <a:pPr marL="457200" lvl="0" indent="-342900" algn="just" rtl="0">
              <a:lnSpc>
                <a:spcPct val="100000"/>
              </a:lnSpc>
              <a:spcBef>
                <a:spcPts val="600"/>
              </a:spcBef>
              <a:buClr>
                <a:srgbClr val="1A2A87"/>
              </a:buClr>
              <a:buSzPct val="80000"/>
              <a:buFont typeface="Arial" panose="020B0604020202020204" pitchFamily="34" charset="0"/>
              <a:buChar char="•"/>
            </a:pPr>
            <a:r>
              <a:rPr lang="en-US" sz="2400" dirty="0">
                <a:solidFill>
                  <a:srgbClr val="000000"/>
                </a:solidFill>
                <a:latin typeface="Arial"/>
              </a:rPr>
              <a:t>It achieves the best overall accuracy (precision 0.984, recall 0.891, mAP@50 0.942) among four YOLO architectures.</a:t>
            </a:r>
          </a:p>
          <a:p>
            <a:pPr marL="457200" lvl="0" indent="-342900" algn="just" rtl="0">
              <a:lnSpc>
                <a:spcPct val="100000"/>
              </a:lnSpc>
              <a:spcBef>
                <a:spcPts val="600"/>
              </a:spcBef>
              <a:buClr>
                <a:srgbClr val="1A2A87"/>
              </a:buClr>
              <a:buSzPct val="80000"/>
              <a:buFont typeface="Arial" panose="020B0604020202020204" pitchFamily="34" charset="0"/>
              <a:buChar char="•"/>
            </a:pPr>
            <a:r>
              <a:rPr lang="en-US" sz="2400" dirty="0">
                <a:solidFill>
                  <a:srgbClr val="000000"/>
                </a:solidFill>
                <a:latin typeface="Arial"/>
              </a:rPr>
              <a:t>Its NMS-free design and STAL module are well suited to small, densely packed targets, delivering the fastest inference (7.1 </a:t>
            </a:r>
            <a:r>
              <a:rPr lang="en-US" sz="2400" dirty="0" err="1">
                <a:solidFill>
                  <a:srgbClr val="000000"/>
                </a:solidFill>
                <a:latin typeface="Arial"/>
              </a:rPr>
              <a:t>ms</a:t>
            </a:r>
            <a:r>
              <a:rPr lang="en-US" sz="2400" dirty="0">
                <a:solidFill>
                  <a:srgbClr val="000000"/>
                </a:solidFill>
                <a:latin typeface="Arial"/>
              </a:rPr>
              <a:t>).</a:t>
            </a:r>
          </a:p>
          <a:p>
            <a:pPr marL="457200" lvl="0" indent="-342900" algn="just" rtl="0">
              <a:lnSpc>
                <a:spcPct val="100000"/>
              </a:lnSpc>
              <a:spcBef>
                <a:spcPts val="600"/>
              </a:spcBef>
              <a:buClr>
                <a:srgbClr val="1A2A87"/>
              </a:buClr>
              <a:buSzPct val="80000"/>
              <a:buFont typeface="Arial" panose="020B0604020202020204" pitchFamily="34" charset="0"/>
              <a:buChar char="•"/>
            </a:pPr>
            <a:r>
              <a:rPr lang="en-US" sz="2400" dirty="0">
                <a:solidFill>
                  <a:srgbClr val="000000"/>
                </a:solidFill>
                <a:latin typeface="Arial"/>
              </a:rPr>
              <a:t>This is the first known application of YOLO26 to cochlear hair cell detection, with potential to extend to other cell-counting tasks</a:t>
            </a:r>
            <a:r>
              <a:rPr lang="en-US" sz="2100" dirty="0">
                <a:solidFill>
                  <a:srgbClr val="000000"/>
                </a:solidFill>
                <a:latin typeface="Aria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grpSp>
        <p:nvGrpSpPr>
          <p:cNvPr id="101" name="Google Shape;101;p19"/>
          <p:cNvGrpSpPr/>
          <p:nvPr/>
        </p:nvGrpSpPr>
        <p:grpSpPr>
          <a:xfrm>
            <a:off x="9260607" y="238701"/>
            <a:ext cx="2866425" cy="1189675"/>
            <a:chOff x="837550" y="656850"/>
            <a:chExt cx="7842475" cy="3254925"/>
          </a:xfrm>
        </p:grpSpPr>
        <p:sp>
          <p:nvSpPr>
            <p:cNvPr id="102" name="Google Shape;102;p19"/>
            <p:cNvSpPr/>
            <p:nvPr/>
          </p:nvSpPr>
          <p:spPr>
            <a:xfrm>
              <a:off x="837550" y="685275"/>
              <a:ext cx="7766400" cy="3226500"/>
            </a:xfrm>
            <a:prstGeom prst="rect">
              <a:avLst/>
            </a:prstGeom>
            <a:solidFill>
              <a:schemeClr val="lt1"/>
            </a:solidFill>
            <a:ln>
              <a:noFill/>
            </a:ln>
          </p:spPr>
          <p:txBody>
            <a:bodyPr spcFirstLastPara="1" wrap="square" lIns="33425" tIns="33425" rIns="33425" bIns="33425" anchor="ctr" anchorCtr="0">
              <a:noAutofit/>
            </a:bodyPr>
            <a:lstStyle/>
            <a:p>
              <a:pPr marL="0" lvl="0" indent="0" algn="ctr" rtl="0">
                <a:spcBef>
                  <a:spcPts val="0"/>
                </a:spcBef>
                <a:spcAft>
                  <a:spcPts val="0"/>
                </a:spcAft>
                <a:buNone/>
              </a:pPr>
              <a:endParaRPr sz="512"/>
            </a:p>
          </p:txBody>
        </p:sp>
        <p:pic>
          <p:nvPicPr>
            <p:cNvPr id="103" name="Google Shape;103;p19" title="NAIRR Expansion Conference_RE lg.png"/>
            <p:cNvPicPr preferRelativeResize="0"/>
            <p:nvPr/>
          </p:nvPicPr>
          <p:blipFill rotWithShape="1">
            <a:blip r:embed="rId3">
              <a:alphaModFix/>
            </a:blip>
            <a:srcRect l="8083" r="7185"/>
            <a:stretch/>
          </p:blipFill>
          <p:spPr>
            <a:xfrm>
              <a:off x="894650" y="656850"/>
              <a:ext cx="7785375" cy="3216826"/>
            </a:xfrm>
            <a:prstGeom prst="rect">
              <a:avLst/>
            </a:prstGeom>
            <a:noFill/>
            <a:ln>
              <a:noFill/>
            </a:ln>
          </p:spPr>
        </p:pic>
      </p:grpSp>
      <p:sp>
        <p:nvSpPr>
          <p:cNvPr id="104" name="Google Shape;104;p19"/>
          <p:cNvSpPr txBox="1">
            <a:spLocks noGrp="1"/>
          </p:cNvSpPr>
          <p:nvPr>
            <p:ph type="title"/>
          </p:nvPr>
        </p:nvSpPr>
        <p:spPr>
          <a:xfrm>
            <a:off x="609600" y="383886"/>
            <a:ext cx="8902390" cy="69097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buNone/>
            </a:pPr>
            <a:r>
              <a:rPr lang="en-US" sz="3200" b="1" dirty="0">
                <a:solidFill>
                  <a:srgbClr val="1A2A87"/>
                </a:solidFill>
                <a:latin typeface="Arial"/>
              </a:rPr>
              <a:t>Acknowledgements</a:t>
            </a:r>
          </a:p>
        </p:txBody>
      </p:sp>
      <p:sp>
        <p:nvSpPr>
          <p:cNvPr id="106" name="Google Shape;106;p19"/>
          <p:cNvSpPr txBox="1">
            <a:spLocks noGrp="1"/>
          </p:cNvSpPr>
          <p:nvPr>
            <p:ph type="body" idx="2"/>
          </p:nvPr>
        </p:nvSpPr>
        <p:spPr>
          <a:xfrm>
            <a:off x="531541" y="1547493"/>
            <a:ext cx="11311054" cy="4273444"/>
          </a:xfrm>
          <a:prstGeom prst="rect">
            <a:avLst/>
          </a:prstGeom>
          <a:noFill/>
          <a:ln>
            <a:noFill/>
          </a:ln>
        </p:spPr>
        <p:txBody>
          <a:bodyPr spcFirstLastPara="1" wrap="square" lIns="91425" tIns="45700" rIns="91425" bIns="45700" anchor="t" anchorCtr="0">
            <a:normAutofit/>
          </a:bodyPr>
          <a:lstStyle/>
          <a:p>
            <a:pPr marL="571500" algn="just"/>
            <a:r>
              <a:rPr lang="en-US" dirty="0">
                <a:latin typeface="Arial" panose="020B0604020202020204" pitchFamily="34" charset="0"/>
                <a:cs typeface="Arial" panose="020B0604020202020204" pitchFamily="34" charset="0"/>
              </a:rPr>
              <a:t>This work was supported by the Bellucci Translational Hearing Center at Creighton University with CoBRE Award GM139762 from the National Institute of General Medical Sciences, a component of the National Institutes of Health (SF, PSS), and by The Bellucci Depaoli Family Foundation (PSS). This work is solely the responsibility of the authors and does not necessarily represent the official views of any supporting institution. </a:t>
            </a:r>
          </a:p>
          <a:p>
            <a:pPr marL="571500" algn="just"/>
            <a:r>
              <a:rPr lang="en-US" dirty="0">
                <a:latin typeface="Arial" panose="020B0604020202020204" pitchFamily="34" charset="0"/>
                <a:cs typeface="Arial" panose="020B0604020202020204" pitchFamily="34" charset="0"/>
              </a:rPr>
              <a:t>Thanks to Dr. David He, School of Medicine, Creighton University, for providing the cochlear hair cell images.</a:t>
            </a:r>
          </a:p>
          <a:p>
            <a:pPr marL="571500" algn="just"/>
            <a:r>
              <a:rPr lang="en-US" dirty="0">
                <a:latin typeface="Arial" panose="020B0604020202020204" pitchFamily="34" charset="0"/>
                <a:cs typeface="Arial" panose="020B0604020202020204" pitchFamily="34" charset="0"/>
              </a:rPr>
              <a:t>The Authors acknowledge the National Artificial Intelligence Research Resource (NAIRR) Pilot and JetStream2 for contributing to this research result.</a:t>
            </a:r>
          </a:p>
          <a:p>
            <a:pPr indent="-228600" algn="just">
              <a:buNone/>
            </a:pPr>
            <a:endParaRPr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260725D4-DDBF-F0E7-2031-814337DFBBC4}"/>
            </a:ext>
          </a:extLst>
        </p:cNvPr>
        <p:cNvGrpSpPr/>
        <p:nvPr/>
      </p:nvGrpSpPr>
      <p:grpSpPr>
        <a:xfrm>
          <a:off x="0" y="0"/>
          <a:ext cx="0" cy="0"/>
          <a:chOff x="0" y="0"/>
          <a:chExt cx="0" cy="0"/>
        </a:xfrm>
      </p:grpSpPr>
      <p:grpSp>
        <p:nvGrpSpPr>
          <p:cNvPr id="101" name="Google Shape;101;p19">
            <a:extLst>
              <a:ext uri="{FF2B5EF4-FFF2-40B4-BE49-F238E27FC236}">
                <a16:creationId xmlns:a16="http://schemas.microsoft.com/office/drawing/2014/main" id="{8E993F36-6CD8-3C50-4DAF-8802CBD62E1D}"/>
              </a:ext>
            </a:extLst>
          </p:cNvPr>
          <p:cNvGrpSpPr/>
          <p:nvPr/>
        </p:nvGrpSpPr>
        <p:grpSpPr>
          <a:xfrm>
            <a:off x="9260607" y="238701"/>
            <a:ext cx="2866425" cy="1189675"/>
            <a:chOff x="837550" y="656850"/>
            <a:chExt cx="7842475" cy="3254925"/>
          </a:xfrm>
        </p:grpSpPr>
        <p:sp>
          <p:nvSpPr>
            <p:cNvPr id="102" name="Google Shape;102;p19">
              <a:extLst>
                <a:ext uri="{FF2B5EF4-FFF2-40B4-BE49-F238E27FC236}">
                  <a16:creationId xmlns:a16="http://schemas.microsoft.com/office/drawing/2014/main" id="{927D1CE5-CB5D-10B1-1AA8-3A20EE8D428A}"/>
                </a:ext>
              </a:extLst>
            </p:cNvPr>
            <p:cNvSpPr/>
            <p:nvPr/>
          </p:nvSpPr>
          <p:spPr>
            <a:xfrm>
              <a:off x="837550" y="685275"/>
              <a:ext cx="7766400" cy="3226500"/>
            </a:xfrm>
            <a:prstGeom prst="rect">
              <a:avLst/>
            </a:prstGeom>
            <a:solidFill>
              <a:schemeClr val="lt1"/>
            </a:solidFill>
            <a:ln>
              <a:noFill/>
            </a:ln>
          </p:spPr>
          <p:txBody>
            <a:bodyPr spcFirstLastPara="1" wrap="square" lIns="33425" tIns="33425" rIns="33425" bIns="33425" anchor="ctr" anchorCtr="0">
              <a:noAutofit/>
            </a:bodyPr>
            <a:lstStyle/>
            <a:p>
              <a:pPr marL="0" lvl="0" indent="0" algn="ctr" rtl="0">
                <a:spcBef>
                  <a:spcPts val="0"/>
                </a:spcBef>
                <a:spcAft>
                  <a:spcPts val="0"/>
                </a:spcAft>
                <a:buNone/>
              </a:pPr>
              <a:endParaRPr sz="512"/>
            </a:p>
          </p:txBody>
        </p:sp>
        <p:pic>
          <p:nvPicPr>
            <p:cNvPr id="103" name="Google Shape;103;p19" title="NAIRR Expansion Conference_RE lg.png">
              <a:extLst>
                <a:ext uri="{FF2B5EF4-FFF2-40B4-BE49-F238E27FC236}">
                  <a16:creationId xmlns:a16="http://schemas.microsoft.com/office/drawing/2014/main" id="{5A469633-CD4E-702F-3FE3-01C1AB0ED168}"/>
                </a:ext>
              </a:extLst>
            </p:cNvPr>
            <p:cNvPicPr preferRelativeResize="0"/>
            <p:nvPr/>
          </p:nvPicPr>
          <p:blipFill rotWithShape="1">
            <a:blip r:embed="rId3">
              <a:alphaModFix/>
            </a:blip>
            <a:srcRect l="8083" r="7185"/>
            <a:stretch/>
          </p:blipFill>
          <p:spPr>
            <a:xfrm>
              <a:off x="894650" y="656850"/>
              <a:ext cx="7785375" cy="3216826"/>
            </a:xfrm>
            <a:prstGeom prst="rect">
              <a:avLst/>
            </a:prstGeom>
            <a:noFill/>
            <a:ln>
              <a:noFill/>
            </a:ln>
          </p:spPr>
        </p:pic>
      </p:grpSp>
      <p:sp>
        <p:nvSpPr>
          <p:cNvPr id="104" name="Google Shape;104;p19">
            <a:extLst>
              <a:ext uri="{FF2B5EF4-FFF2-40B4-BE49-F238E27FC236}">
                <a16:creationId xmlns:a16="http://schemas.microsoft.com/office/drawing/2014/main" id="{4EB41154-E488-27E3-314C-3A4F7E1D7978}"/>
              </a:ext>
            </a:extLst>
          </p:cNvPr>
          <p:cNvSpPr txBox="1">
            <a:spLocks noGrp="1"/>
          </p:cNvSpPr>
          <p:nvPr>
            <p:ph type="title"/>
          </p:nvPr>
        </p:nvSpPr>
        <p:spPr>
          <a:xfrm>
            <a:off x="609600" y="383886"/>
            <a:ext cx="8902390" cy="69097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buNone/>
            </a:pPr>
            <a:r>
              <a:rPr lang="en-US" sz="3200" b="1" dirty="0">
                <a:solidFill>
                  <a:srgbClr val="1A2A87"/>
                </a:solidFill>
                <a:latin typeface="Arial"/>
              </a:rPr>
              <a:t>References</a:t>
            </a:r>
          </a:p>
        </p:txBody>
      </p:sp>
      <p:sp>
        <p:nvSpPr>
          <p:cNvPr id="106" name="Google Shape;106;p19">
            <a:extLst>
              <a:ext uri="{FF2B5EF4-FFF2-40B4-BE49-F238E27FC236}">
                <a16:creationId xmlns:a16="http://schemas.microsoft.com/office/drawing/2014/main" id="{0729A7E1-0461-5853-1ADC-FEEA7AD9D78D}"/>
              </a:ext>
            </a:extLst>
          </p:cNvPr>
          <p:cNvSpPr txBox="1">
            <a:spLocks noGrp="1"/>
          </p:cNvSpPr>
          <p:nvPr>
            <p:ph type="body" idx="2"/>
          </p:nvPr>
        </p:nvSpPr>
        <p:spPr>
          <a:xfrm>
            <a:off x="92773" y="1321165"/>
            <a:ext cx="11917090" cy="4916511"/>
          </a:xfrm>
          <a:prstGeom prst="rect">
            <a:avLst/>
          </a:prstGeom>
          <a:noFill/>
          <a:ln>
            <a:noFill/>
          </a:ln>
        </p:spPr>
        <p:txBody>
          <a:bodyPr spcFirstLastPara="1" wrap="square" lIns="91425" tIns="45700" rIns="91425" bIns="45700" anchor="t" anchorCtr="0">
            <a:normAutofit/>
          </a:bodyPr>
          <a:lstStyle/>
          <a:p>
            <a:pPr marL="571500"/>
            <a:r>
              <a:rPr lang="en-US" dirty="0"/>
              <a:t>Emmett, S. D., &amp; Francis, H. W. (2015). The socioeconomic impact of hearing loss in U.S. adults. Otology &amp; Neurotology, 36(3), 545–550. </a:t>
            </a:r>
          </a:p>
          <a:p>
            <a:pPr marL="571500"/>
            <a:r>
              <a:rPr lang="en-US" dirty="0" err="1"/>
              <a:t>Goutman</a:t>
            </a:r>
            <a:r>
              <a:rPr lang="en-US" dirty="0"/>
              <a:t>, J. D., </a:t>
            </a:r>
            <a:r>
              <a:rPr lang="en-US" dirty="0" err="1"/>
              <a:t>Elgoyhen</a:t>
            </a:r>
            <a:r>
              <a:rPr lang="en-US" dirty="0"/>
              <a:t>, A. B., &amp; Gomez-Casati, M. E. (2015). Cochlear hair cells: The sound-sensing machines. FEBS Letters, 589(22), 3354–3361. </a:t>
            </a:r>
          </a:p>
          <a:p>
            <a:pPr marL="571500"/>
            <a:r>
              <a:rPr lang="en-US" dirty="0" err="1"/>
              <a:t>Buswinka</a:t>
            </a:r>
            <a:r>
              <a:rPr lang="en-US" dirty="0"/>
              <a:t>, C. J., Osgood, R. T., </a:t>
            </a:r>
            <a:r>
              <a:rPr lang="en-US" dirty="0" err="1"/>
              <a:t>Simikyan</a:t>
            </a:r>
            <a:r>
              <a:rPr lang="en-US" dirty="0"/>
              <a:t>, R. G., Rosenberg, D. B., &amp; </a:t>
            </a:r>
            <a:r>
              <a:rPr lang="en-US" dirty="0" err="1"/>
              <a:t>Indzhykulian</a:t>
            </a:r>
            <a:r>
              <a:rPr lang="en-US" dirty="0"/>
              <a:t>, A. A. (2023). The hair cell analysis toolbox is a precise and fully automated pipeline for whole cochlea hair cell quantification. </a:t>
            </a:r>
            <a:r>
              <a:rPr lang="en-US" i="1" dirty="0"/>
              <a:t>PLOS Biology, 21</a:t>
            </a:r>
            <a:r>
              <a:rPr lang="en-US" dirty="0"/>
              <a:t>(3), e3002041.</a:t>
            </a:r>
          </a:p>
          <a:p>
            <a:pPr marL="571500"/>
            <a:r>
              <a:rPr lang="en-US" dirty="0" err="1"/>
              <a:t>Jocher</a:t>
            </a:r>
            <a:r>
              <a:rPr lang="en-US" dirty="0"/>
              <a:t>, G., Qiu, J., Liu, M., Lyu, S., </a:t>
            </a:r>
            <a:r>
              <a:rPr lang="en-US" dirty="0" err="1"/>
              <a:t>Akyon</a:t>
            </a:r>
            <a:r>
              <a:rPr lang="en-US" dirty="0"/>
              <a:t>, F. C., &amp; </a:t>
            </a:r>
            <a:r>
              <a:rPr lang="en-US" dirty="0" err="1"/>
              <a:t>Kalfaoglu</a:t>
            </a:r>
            <a:r>
              <a:rPr lang="en-US" dirty="0"/>
              <a:t>, M. E. (2026). </a:t>
            </a:r>
            <a:r>
              <a:rPr lang="en-US" dirty="0" err="1"/>
              <a:t>Ultralytics</a:t>
            </a:r>
            <a:r>
              <a:rPr lang="en-US" dirty="0"/>
              <a:t> YOLO26: Unified Real-Time End-to-End Vision Models. </a:t>
            </a:r>
            <a:r>
              <a:rPr lang="en-US" i="1" dirty="0" err="1"/>
              <a:t>arXiv</a:t>
            </a:r>
            <a:r>
              <a:rPr lang="en-US" i="1" dirty="0"/>
              <a:t> preprint arXiv:2606.03748</a:t>
            </a:r>
            <a:r>
              <a:rPr lang="en-US" dirty="0"/>
              <a:t>.</a:t>
            </a:r>
          </a:p>
        </p:txBody>
      </p:sp>
    </p:spTree>
    <p:extLst>
      <p:ext uri="{BB962C8B-B14F-4D97-AF65-F5344CB8AC3E}">
        <p14:creationId xmlns:p14="http://schemas.microsoft.com/office/powerpoint/2010/main" val="2075157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E673652E-AD90-0C09-4E43-CEB181852160}"/>
            </a:ext>
          </a:extLst>
        </p:cNvPr>
        <p:cNvGrpSpPr/>
        <p:nvPr/>
      </p:nvGrpSpPr>
      <p:grpSpPr>
        <a:xfrm>
          <a:off x="0" y="0"/>
          <a:ext cx="0" cy="0"/>
          <a:chOff x="0" y="0"/>
          <a:chExt cx="0" cy="0"/>
        </a:xfrm>
      </p:grpSpPr>
      <p:grpSp>
        <p:nvGrpSpPr>
          <p:cNvPr id="101" name="Google Shape;101;p19">
            <a:extLst>
              <a:ext uri="{FF2B5EF4-FFF2-40B4-BE49-F238E27FC236}">
                <a16:creationId xmlns:a16="http://schemas.microsoft.com/office/drawing/2014/main" id="{11613D8F-D642-8751-57E3-41B763CABA88}"/>
              </a:ext>
            </a:extLst>
          </p:cNvPr>
          <p:cNvGrpSpPr/>
          <p:nvPr/>
        </p:nvGrpSpPr>
        <p:grpSpPr>
          <a:xfrm>
            <a:off x="9260607" y="238701"/>
            <a:ext cx="2866425" cy="1189675"/>
            <a:chOff x="837550" y="656850"/>
            <a:chExt cx="7842475" cy="3254925"/>
          </a:xfrm>
        </p:grpSpPr>
        <p:sp>
          <p:nvSpPr>
            <p:cNvPr id="102" name="Google Shape;102;p19">
              <a:extLst>
                <a:ext uri="{FF2B5EF4-FFF2-40B4-BE49-F238E27FC236}">
                  <a16:creationId xmlns:a16="http://schemas.microsoft.com/office/drawing/2014/main" id="{F8369BC2-DF71-388D-C0F0-084A462569BD}"/>
                </a:ext>
              </a:extLst>
            </p:cNvPr>
            <p:cNvSpPr/>
            <p:nvPr/>
          </p:nvSpPr>
          <p:spPr>
            <a:xfrm>
              <a:off x="837550" y="685275"/>
              <a:ext cx="7766400" cy="3226500"/>
            </a:xfrm>
            <a:prstGeom prst="rect">
              <a:avLst/>
            </a:prstGeom>
            <a:solidFill>
              <a:schemeClr val="lt1"/>
            </a:solidFill>
            <a:ln>
              <a:noFill/>
            </a:ln>
          </p:spPr>
          <p:txBody>
            <a:bodyPr spcFirstLastPara="1" wrap="square" lIns="33425" tIns="33425" rIns="33425" bIns="33425" anchor="ctr" anchorCtr="0">
              <a:noAutofit/>
            </a:bodyPr>
            <a:lstStyle/>
            <a:p>
              <a:pPr marL="0" lvl="0" indent="0" algn="ctr" rtl="0">
                <a:spcBef>
                  <a:spcPts val="0"/>
                </a:spcBef>
                <a:spcAft>
                  <a:spcPts val="0"/>
                </a:spcAft>
                <a:buNone/>
              </a:pPr>
              <a:endParaRPr sz="512"/>
            </a:p>
          </p:txBody>
        </p:sp>
        <p:pic>
          <p:nvPicPr>
            <p:cNvPr id="103" name="Google Shape;103;p19" title="NAIRR Expansion Conference_RE lg.png">
              <a:extLst>
                <a:ext uri="{FF2B5EF4-FFF2-40B4-BE49-F238E27FC236}">
                  <a16:creationId xmlns:a16="http://schemas.microsoft.com/office/drawing/2014/main" id="{B8DD7696-FF91-F176-D14D-EBD3F5B8B13C}"/>
                </a:ext>
              </a:extLst>
            </p:cNvPr>
            <p:cNvPicPr preferRelativeResize="0"/>
            <p:nvPr/>
          </p:nvPicPr>
          <p:blipFill rotWithShape="1">
            <a:blip r:embed="rId3">
              <a:alphaModFix/>
            </a:blip>
            <a:srcRect l="8083" r="7185"/>
            <a:stretch/>
          </p:blipFill>
          <p:spPr>
            <a:xfrm>
              <a:off x="894650" y="656850"/>
              <a:ext cx="7785375" cy="3216826"/>
            </a:xfrm>
            <a:prstGeom prst="rect">
              <a:avLst/>
            </a:prstGeom>
            <a:noFill/>
            <a:ln>
              <a:noFill/>
            </a:ln>
          </p:spPr>
        </p:pic>
      </p:grpSp>
      <p:sp>
        <p:nvSpPr>
          <p:cNvPr id="6" name="Google Shape;128;p22">
            <a:extLst>
              <a:ext uri="{FF2B5EF4-FFF2-40B4-BE49-F238E27FC236}">
                <a16:creationId xmlns:a16="http://schemas.microsoft.com/office/drawing/2014/main" id="{D6F925D3-6E75-4CFC-F19D-742FBB25A093}"/>
              </a:ext>
            </a:extLst>
          </p:cNvPr>
          <p:cNvSpPr txBox="1">
            <a:spLocks/>
          </p:cNvSpPr>
          <p:nvPr/>
        </p:nvSpPr>
        <p:spPr>
          <a:xfrm>
            <a:off x="3757406" y="2062227"/>
            <a:ext cx="3883913" cy="84966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E22AA"/>
              </a:buClr>
              <a:buSzPts val="3600"/>
              <a:buFont typeface="Arial"/>
              <a:buNone/>
              <a:defRPr sz="3600" b="1" i="0" u="none" strike="noStrike" cap="none">
                <a:solidFill>
                  <a:srgbClr val="1E22AA"/>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dirty="0"/>
              <a:t>Thank You</a:t>
            </a:r>
          </a:p>
        </p:txBody>
      </p:sp>
      <p:sp>
        <p:nvSpPr>
          <p:cNvPr id="7" name="Google Shape;127;p22">
            <a:extLst>
              <a:ext uri="{FF2B5EF4-FFF2-40B4-BE49-F238E27FC236}">
                <a16:creationId xmlns:a16="http://schemas.microsoft.com/office/drawing/2014/main" id="{E69DF4F4-6D68-8599-60ED-06FAF7C5BCC7}"/>
              </a:ext>
            </a:extLst>
          </p:cNvPr>
          <p:cNvSpPr txBox="1">
            <a:spLocks/>
          </p:cNvSpPr>
          <p:nvPr/>
        </p:nvSpPr>
        <p:spPr>
          <a:xfrm>
            <a:off x="2085278" y="3189250"/>
            <a:ext cx="7794702" cy="2430966"/>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228600" algn="l" rtl="0">
              <a:lnSpc>
                <a:spcPct val="100000"/>
              </a:lnSpc>
              <a:spcBef>
                <a:spcPts val="360"/>
              </a:spcBef>
              <a:spcAft>
                <a:spcPts val="0"/>
              </a:spcAft>
              <a:buClr>
                <a:srgbClr val="7F7F7F"/>
              </a:buClr>
              <a:buSzPts val="1800"/>
              <a:buFont typeface="Arial"/>
              <a:buNone/>
              <a:defRPr sz="2800" b="0" i="1" u="none" strike="noStrike" cap="none">
                <a:solidFill>
                  <a:srgbClr val="7F7F7F"/>
                </a:solidFill>
                <a:latin typeface="Helvetica Neue"/>
                <a:ea typeface="Helvetica Neue"/>
                <a:cs typeface="Helvetica Neue"/>
                <a:sym typeface="Helvetica Neue"/>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pPr marL="76200" indent="0" algn="ctr">
              <a:spcBef>
                <a:spcPts val="0"/>
              </a:spcBef>
              <a:buClr>
                <a:srgbClr val="1E22AA"/>
              </a:buClr>
              <a:buSzPts val="3600"/>
            </a:pPr>
            <a:r>
              <a:rPr lang="en-US" sz="3900" b="1" i="0" dirty="0">
                <a:solidFill>
                  <a:srgbClr val="1E22AA"/>
                </a:solidFill>
              </a:rPr>
              <a:t>Steven Fernandes, Ph.D.</a:t>
            </a:r>
          </a:p>
          <a:p>
            <a:pPr marL="76200" indent="0" algn="ctr">
              <a:spcBef>
                <a:spcPts val="480"/>
              </a:spcBef>
              <a:buSzPts val="2400"/>
            </a:pPr>
            <a:r>
              <a:rPr lang="en-US" sz="3200" i="0" dirty="0">
                <a:solidFill>
                  <a:schemeClr val="tx1"/>
                </a:solidFill>
              </a:rPr>
              <a:t>Associate Professor of Computer Science</a:t>
            </a:r>
          </a:p>
          <a:p>
            <a:pPr marL="76200" indent="0" algn="ctr">
              <a:spcBef>
                <a:spcPts val="480"/>
              </a:spcBef>
              <a:buSzPts val="2400"/>
            </a:pPr>
            <a:r>
              <a:rPr lang="en-US" sz="3200" i="0" dirty="0">
                <a:solidFill>
                  <a:schemeClr val="tx1"/>
                </a:solidFill>
              </a:rPr>
              <a:t>Creighton University, Omaha, NE</a:t>
            </a:r>
          </a:p>
          <a:p>
            <a:pPr marL="76200" indent="0" algn="ctr">
              <a:spcBef>
                <a:spcPts val="480"/>
              </a:spcBef>
              <a:buSzPts val="2400"/>
            </a:pPr>
            <a:r>
              <a:rPr lang="en-US" sz="3200" i="0" dirty="0" err="1">
                <a:solidFill>
                  <a:schemeClr val="tx1"/>
                </a:solidFill>
              </a:rPr>
              <a:t>stevenfernandes@creighton.edu</a:t>
            </a:r>
            <a:endParaRPr lang="en-US" sz="3200" i="0" dirty="0">
              <a:solidFill>
                <a:schemeClr val="tx1"/>
              </a:solidFill>
            </a:endParaRPr>
          </a:p>
        </p:txBody>
      </p:sp>
      <p:pic>
        <p:nvPicPr>
          <p:cNvPr id="8" name="Picture 7" descr="Creighton University logo">
            <a:extLst>
              <a:ext uri="{FF2B5EF4-FFF2-40B4-BE49-F238E27FC236}">
                <a16:creationId xmlns:a16="http://schemas.microsoft.com/office/drawing/2014/main" id="{C993B110-8FD8-94A2-250B-A550FCC1D54B}"/>
              </a:ext>
            </a:extLst>
          </p:cNvPr>
          <p:cNvPicPr>
            <a:picLocks noChangeAspect="1"/>
          </p:cNvPicPr>
          <p:nvPr/>
        </p:nvPicPr>
        <p:blipFill>
          <a:blip r:embed="rId4"/>
          <a:stretch>
            <a:fillRect/>
          </a:stretch>
        </p:blipFill>
        <p:spPr>
          <a:xfrm>
            <a:off x="116454" y="299484"/>
            <a:ext cx="2710898" cy="1114967"/>
          </a:xfrm>
          <a:prstGeom prst="rect">
            <a:avLst/>
          </a:prstGeom>
        </p:spPr>
      </p:pic>
    </p:spTree>
    <p:extLst>
      <p:ext uri="{BB962C8B-B14F-4D97-AF65-F5344CB8AC3E}">
        <p14:creationId xmlns:p14="http://schemas.microsoft.com/office/powerpoint/2010/main" val="1067367142"/>
      </p:ext>
    </p:extLst>
  </p:cSld>
  <p:clrMapOvr>
    <a:masterClrMapping/>
  </p:clrMapOvr>
</p:sld>
</file>

<file path=ppt/theme/theme1.xml><?xml version="1.0" encoding="utf-8"?>
<a:theme xmlns:a="http://schemas.openxmlformats.org/drawingml/2006/main" name="Office Theme">
  <a:themeElements>
    <a:clrScheme name="CRA Theme">
      <a:dk1>
        <a:srgbClr val="000000"/>
      </a:dk1>
      <a:lt1>
        <a:srgbClr val="FFFFFF"/>
      </a:lt1>
      <a:dk2>
        <a:srgbClr val="1A2A87"/>
      </a:dk2>
      <a:lt2>
        <a:srgbClr val="EEECE1"/>
      </a:lt2>
      <a:accent1>
        <a:srgbClr val="62A1C5"/>
      </a:accent1>
      <a:accent2>
        <a:srgbClr val="EB532A"/>
      </a:accent2>
      <a:accent3>
        <a:srgbClr val="A6CF59"/>
      </a:accent3>
      <a:accent4>
        <a:srgbClr val="857FBA"/>
      </a:accent4>
      <a:accent5>
        <a:srgbClr val="94D0B2"/>
      </a:accent5>
      <a:accent6>
        <a:srgbClr val="FFDA1C"/>
      </a:accent6>
      <a:hlink>
        <a:srgbClr val="0000FF"/>
      </a:hlink>
      <a:folHlink>
        <a:srgbClr val="76154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RA Theme">
      <a:dk1>
        <a:srgbClr val="000000"/>
      </a:dk1>
      <a:lt1>
        <a:srgbClr val="FFFFFF"/>
      </a:lt1>
      <a:dk2>
        <a:srgbClr val="1A2A87"/>
      </a:dk2>
      <a:lt2>
        <a:srgbClr val="EEECE1"/>
      </a:lt2>
      <a:accent1>
        <a:srgbClr val="62A1C5"/>
      </a:accent1>
      <a:accent2>
        <a:srgbClr val="EB532A"/>
      </a:accent2>
      <a:accent3>
        <a:srgbClr val="A6CF59"/>
      </a:accent3>
      <a:accent4>
        <a:srgbClr val="857FBA"/>
      </a:accent4>
      <a:accent5>
        <a:srgbClr val="94D0B2"/>
      </a:accent5>
      <a:accent6>
        <a:srgbClr val="FFDA1C"/>
      </a:accent6>
      <a:hlink>
        <a:srgbClr val="0000FF"/>
      </a:hlink>
      <a:folHlink>
        <a:srgbClr val="76154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No logo ">
  <a:themeElements>
    <a:clrScheme name="CRA Theme">
      <a:dk1>
        <a:srgbClr val="000000"/>
      </a:dk1>
      <a:lt1>
        <a:srgbClr val="FFFFFF"/>
      </a:lt1>
      <a:dk2>
        <a:srgbClr val="1A2A87"/>
      </a:dk2>
      <a:lt2>
        <a:srgbClr val="EEECE1"/>
      </a:lt2>
      <a:accent1>
        <a:srgbClr val="62A1C5"/>
      </a:accent1>
      <a:accent2>
        <a:srgbClr val="EB532A"/>
      </a:accent2>
      <a:accent3>
        <a:srgbClr val="A6CF59"/>
      </a:accent3>
      <a:accent4>
        <a:srgbClr val="857FBA"/>
      </a:accent4>
      <a:accent5>
        <a:srgbClr val="94D0B2"/>
      </a:accent5>
      <a:accent6>
        <a:srgbClr val="FFDA1C"/>
      </a:accent6>
      <a:hlink>
        <a:srgbClr val="0000FF"/>
      </a:hlink>
      <a:folHlink>
        <a:srgbClr val="76154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TotalTime>
  <Words>1109</Words>
  <Application>Microsoft Macintosh PowerPoint</Application>
  <PresentationFormat>Widescreen</PresentationFormat>
  <Paragraphs>80</Paragraphs>
  <Slides>13</Slides>
  <Notes>8</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13</vt:i4>
      </vt:variant>
    </vt:vector>
  </HeadingPairs>
  <TitlesOfParts>
    <vt:vector size="19" baseType="lpstr">
      <vt:lpstr>Helvetica Neue</vt:lpstr>
      <vt:lpstr>Arial</vt:lpstr>
      <vt:lpstr>Calibri</vt:lpstr>
      <vt:lpstr>Office Theme</vt:lpstr>
      <vt:lpstr>Office Theme</vt:lpstr>
      <vt:lpstr>No logo </vt:lpstr>
      <vt:lpstr>PowerPoint Presentation</vt:lpstr>
      <vt:lpstr>Building Generative AI Applications Using NAIRR Classroom Resources: Jetstream2 </vt:lpstr>
      <vt:lpstr>Introduction</vt:lpstr>
      <vt:lpstr>Why Cochlear Hair Cells Matter</vt:lpstr>
      <vt:lpstr>Fine-Tune YOLO26 for Cochlear Hair Cell Detection</vt:lpstr>
      <vt:lpstr>Training &amp; Inference</vt:lpstr>
      <vt:lpstr>PowerPoint Presentation</vt:lpstr>
      <vt:lpstr>Steps to Fine-Tuned YOLO26 Prediction</vt:lpstr>
      <vt:lpstr>Results: Overall Performance</vt:lpstr>
      <vt:lpstr>Conclusion</vt:lpstr>
      <vt:lpstr>Acknowledgements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Fernandes, Steven L.</cp:lastModifiedBy>
  <cp:revision>14</cp:revision>
  <dcterms:modified xsi:type="dcterms:W3CDTF">2026-06-18T16:18:22Z</dcterms:modified>
</cp:coreProperties>
</file>