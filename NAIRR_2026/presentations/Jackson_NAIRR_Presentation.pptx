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6858000" cx="12192000"/>
  <p:notesSz cx="6858000" cy="9144000"/>
  <p:embeddedFontLst>
    <p:embeddedFont>
      <p:font typeface="Helvetica Neue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g5auRLaxWEQzYtowhY+4ecsB40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9B8527-43D7-4745-A03C-42C82802893F}">
  <a:tblStyle styleId="{739B8527-43D7-4745-A03C-42C82802893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AF0F5"/>
          </a:solidFill>
        </a:fill>
      </a:tcStyle>
    </a:wholeTbl>
    <a:band1H>
      <a:tcTxStyle/>
      <a:tcStyle>
        <a:fill>
          <a:solidFill>
            <a:srgbClr val="D1DFEA"/>
          </a:solidFill>
        </a:fill>
      </a:tcStyle>
    </a:band1H>
    <a:band2H>
      <a:tcTxStyle/>
    </a:band2H>
    <a:band1V>
      <a:tcTxStyle/>
      <a:tcStyle>
        <a:fill>
          <a:solidFill>
            <a:srgbClr val="D1DFE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HelveticaNeue-regular.fntdata"/><Relationship Id="rId25" Type="http://schemas.openxmlformats.org/officeDocument/2006/relationships/slide" Target="slides/slide18.xml"/><Relationship Id="rId28" Type="http://schemas.openxmlformats.org/officeDocument/2006/relationships/font" Target="fonts/HelveticaNeue-italic.fntdata"/><Relationship Id="rId27" Type="http://schemas.openxmlformats.org/officeDocument/2006/relationships/font" Target="fonts/HelveticaNeue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HelveticaNeue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customschemas.google.com/relationships/presentationmetadata" Target="meta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" name="Google Shape;5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rgbClr val="1E22AA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0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RA PPT_Cover.png" id="12" name="Google Shape;1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A PPT_Cover.png" id="13" name="Google Shape;1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17445" y="937933"/>
            <a:ext cx="9119325" cy="2918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1_Section Header 2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black dots&#10;&#10;Description automatically generated" id="16" name="Google Shape;1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3"/>
          <p:cNvSpPr txBox="1"/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360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1_Section Header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black dots&#10;&#10;Description automatically generated" id="19" name="Google Shape;19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4"/>
          <p:cNvSpPr txBox="1"/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24"/>
          <p:cNvSpPr txBox="1"/>
          <p:nvPr>
            <p:ph idx="1" type="body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Logo comparison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b="0" i="1" sz="28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" name="Google Shape;24;p2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5" name="Google Shape;25;p25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b="0" i="1" sz="2800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6" name="Google Shape;26;p25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b="0" i="0"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b="0" i="0" sz="18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b="0" i="0" sz="180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b="0" i="0" sz="180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b="0" i="0" sz="18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7" name="Google Shape;27;p25"/>
          <p:cNvSpPr txBox="1"/>
          <p:nvPr>
            <p:ph type="title"/>
          </p:nvPr>
        </p:nvSpPr>
        <p:spPr>
          <a:xfrm>
            <a:off x="609600" y="488058"/>
            <a:ext cx="8772939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1_Title Slide">
    <p:bg>
      <p:bgPr>
        <a:solidFill>
          <a:srgbClr val="1E22AA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RA PPT_Cover.png" id="30" name="Google Shape;3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6"/>
          <p:cNvSpPr txBox="1"/>
          <p:nvPr>
            <p:ph idx="1" type="subTitle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i="1" sz="2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type="ctrTitle"/>
          </p:nvPr>
        </p:nvSpPr>
        <p:spPr>
          <a:xfrm>
            <a:off x="2285656" y="1649631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 blue square with a white logo&#10;&#10;Description automatically generated" id="33" name="Google Shape;3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0220" y="2935063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square with a white letter f on it&#10;&#10;Description automatically generated" id="34" name="Google Shape;3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9289" y="3590677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square with white letters on it&#10;&#10;Description automatically generated" id="35" name="Google Shape;3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8898" y="2905368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hite butterfly in a blue circle&#10;&#10;AI-generated content may be incorrect." id="36" name="Google Shape;3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43617" y="3605589"/>
            <a:ext cx="2201828" cy="1100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-up of a logo&#10;&#10;AI-generated content may be incorrect." id="37" name="Google Shape;37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8170" y="-54312"/>
            <a:ext cx="5494550" cy="1758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1_Title Slide 2">
    <p:bg>
      <p:bgPr>
        <a:solidFill>
          <a:srgbClr val="1E22AA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RA PPT_Cover.png" id="40" name="Google Shape;4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A PPT_Cover.png" id="41" name="Google Shape;4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7"/>
          <p:cNvSpPr txBox="1"/>
          <p:nvPr>
            <p:ph idx="1" type="subTitle"/>
          </p:nvPr>
        </p:nvSpPr>
        <p:spPr>
          <a:xfrm>
            <a:off x="391043" y="3268046"/>
            <a:ext cx="7153509" cy="84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1" sz="3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27"/>
          <p:cNvSpPr txBox="1"/>
          <p:nvPr>
            <p:ph type="ctrTitle"/>
          </p:nvPr>
        </p:nvSpPr>
        <p:spPr>
          <a:xfrm>
            <a:off x="391043" y="1810748"/>
            <a:ext cx="8187179" cy="849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1" i="0" sz="360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27"/>
          <p:cNvPicPr preferRelativeResize="0"/>
          <p:nvPr/>
        </p:nvPicPr>
        <p:blipFill rotWithShape="1">
          <a:blip r:embed="rId3">
            <a:alphaModFix/>
          </a:blip>
          <a:srcRect b="0" l="6397" r="6397" t="0"/>
          <a:stretch/>
        </p:blipFill>
        <p:spPr>
          <a:xfrm>
            <a:off x="138898" y="249444"/>
            <a:ext cx="5705750" cy="849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1_Section Header 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black dots&#10;&#10;Description automatically generated" id="51" name="Google Shape;5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2"/>
          <p:cNvSpPr txBox="1"/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i="0" sz="360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A PPT_page bars.png" id="6" name="Google Shape;6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9"/>
          <p:cNvSpPr txBox="1"/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9" name="Google Shape;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RA PPT_page bars.png" id="46" name="Google Shape;46;p2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1"/>
          <p:cNvSpPr txBox="1"/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1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49" name="Google Shape;4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"/>
          <p:cNvGrpSpPr/>
          <p:nvPr/>
        </p:nvGrpSpPr>
        <p:grpSpPr>
          <a:xfrm>
            <a:off x="285525" y="618775"/>
            <a:ext cx="7842475" cy="3254925"/>
            <a:chOff x="837550" y="656850"/>
            <a:chExt cx="7842475" cy="3254925"/>
          </a:xfrm>
        </p:grpSpPr>
        <p:sp>
          <p:nvSpPr>
            <p:cNvPr id="58" name="Google Shape;58;p1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" name="Google Shape;59;p1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b="0" l="8083" r="7185" t="0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type="title"/>
          </p:nvPr>
        </p:nvSpPr>
        <p:spPr>
          <a:xfrm>
            <a:off x="832207" y="2170651"/>
            <a:ext cx="10363200" cy="1258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/>
              <a:t>Rethinking Education in the Age of AI</a:t>
            </a:r>
            <a:br>
              <a:rPr lang="en-US"/>
            </a:br>
            <a:r>
              <a:rPr lang="en-US"/>
              <a:t> --</a:t>
            </a:r>
            <a:r>
              <a:rPr lang="en-US" sz="2700"/>
              <a:t>Preparing Students for the Classroom and Workforce</a:t>
            </a:r>
            <a:endParaRPr/>
          </a:p>
        </p:txBody>
      </p:sp>
      <p:sp>
        <p:nvSpPr>
          <p:cNvPr id="65" name="Google Shape;65;p2"/>
          <p:cNvSpPr txBox="1"/>
          <p:nvPr/>
        </p:nvSpPr>
        <p:spPr>
          <a:xfrm>
            <a:off x="996593" y="3287525"/>
            <a:ext cx="25615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Dr. Chenchutta Jackson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Tennessee State University</a:t>
            </a:r>
            <a:endParaRPr/>
          </a:p>
        </p:txBody>
      </p:sp>
      <p:pic>
        <p:nvPicPr>
          <p:cNvPr id="66" name="Google Shape;6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6749" y="3735512"/>
            <a:ext cx="2814263" cy="2814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/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/>
              <a:t>The Big Idea</a:t>
            </a:r>
            <a:endParaRPr/>
          </a:p>
        </p:txBody>
      </p:sp>
      <p:sp>
        <p:nvSpPr>
          <p:cNvPr id="72" name="Google Shape;72;p3"/>
          <p:cNvSpPr txBox="1"/>
          <p:nvPr>
            <p:ph idx="4294967295" type="body"/>
          </p:nvPr>
        </p:nvSpPr>
        <p:spPr>
          <a:xfrm>
            <a:off x="609600" y="1265356"/>
            <a:ext cx="4007126" cy="4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0" i="0" lang="en-US" u="none" cap="none" strike="noStrike">
                <a:solidFill>
                  <a:srgbClr val="213E99"/>
                </a:solidFill>
              </a:rPr>
              <a:t>Higher Education is at a historic transformation point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0" i="0" lang="en-US" u="none" cap="none" strike="noStrike">
                <a:solidFill>
                  <a:srgbClr val="213E99"/>
                </a:solidFill>
              </a:rPr>
              <a:t>AI is redefining what it means to be educated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0" i="0" lang="en-US" u="none" cap="none" strike="noStrike">
                <a:solidFill>
                  <a:srgbClr val="213E99"/>
                </a:solidFill>
              </a:rPr>
              <a:t>AI Fluency must become a core educational outcome</a:t>
            </a:r>
            <a:endParaRPr/>
          </a:p>
          <a:p>
            <a:pPr indent="-381000" lvl="0" marL="457200" rtl="0" algn="l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400"/>
              <a:buChar char="•"/>
            </a:pPr>
            <a:r>
              <a:rPr b="0" i="0" lang="en-US" u="none" cap="none" strike="noStrike">
                <a:solidFill>
                  <a:srgbClr val="213E99"/>
                </a:solidFill>
              </a:rPr>
              <a:t>Critical thinking + AI Collaboration = Future Workforce Readiness</a:t>
            </a:r>
            <a:endParaRPr/>
          </a:p>
        </p:txBody>
      </p:sp>
      <p:pic>
        <p:nvPicPr>
          <p:cNvPr id="73" name="Google Shape;73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4571022" y="566889"/>
            <a:ext cx="7011378" cy="5506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 txBox="1"/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/>
              <a:t>AI Fluency:</a:t>
            </a:r>
            <a:endParaRPr/>
          </a:p>
        </p:txBody>
      </p:sp>
      <p:pic>
        <p:nvPicPr>
          <p:cNvPr id="79" name="Google Shape;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517" y="1074856"/>
            <a:ext cx="8844938" cy="5528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 txBox="1"/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/>
              <a:t>Ohio State University Definition</a:t>
            </a:r>
            <a:endParaRPr/>
          </a:p>
        </p:txBody>
      </p:sp>
      <p:sp>
        <p:nvSpPr>
          <p:cNvPr id="85" name="Google Shape;85;p5"/>
          <p:cNvSpPr txBox="1"/>
          <p:nvPr>
            <p:ph idx="1" type="body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AI fluency as a graduation requirement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Emphasis on:</a:t>
            </a:r>
            <a:endParaRPr/>
          </a:p>
          <a:p>
            <a:pPr indent="0" lvl="0" marL="76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	Explaining AI concepts</a:t>
            </a:r>
            <a:endParaRPr/>
          </a:p>
          <a:p>
            <a:pPr indent="0" lvl="0" marL="76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	Evaluating AI outputs</a:t>
            </a:r>
            <a:endParaRPr/>
          </a:p>
          <a:p>
            <a:pPr indent="0" lvl="0" marL="76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	Using AI for discipline-specific goals</a:t>
            </a:r>
            <a:endParaRPr/>
          </a:p>
          <a:p>
            <a:pPr indent="0" lvl="0" marL="76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	Ethical and legal awareness</a:t>
            </a:r>
            <a:endParaRPr/>
          </a:p>
          <a:p>
            <a:pPr indent="0" lvl="0" marL="76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76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Fluency must be embedded across all majors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>
            <p:ph type="title"/>
          </p:nvPr>
        </p:nvSpPr>
        <p:spPr>
          <a:xfrm>
            <a:off x="609599" y="383886"/>
            <a:ext cx="8873447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6420"/>
              <a:buFont typeface="Arial"/>
              <a:buNone/>
            </a:pPr>
            <a:r>
              <a:rPr lang="en-US"/>
              <a:t>The 4D Framework (Feller and Dakan)/Anthropic</a:t>
            </a:r>
            <a:endParaRPr/>
          </a:p>
        </p:txBody>
      </p:sp>
      <p:sp>
        <p:nvSpPr>
          <p:cNvPr id="91" name="Google Shape;91;p6"/>
          <p:cNvSpPr txBox="1"/>
          <p:nvPr>
            <p:ph idx="4294967295" type="body"/>
          </p:nvPr>
        </p:nvSpPr>
        <p:spPr>
          <a:xfrm>
            <a:off x="702066" y="1517072"/>
            <a:ext cx="4007126" cy="4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b="0" i="0" lang="en-US" u="none" cap="none" strike="noStrike">
                <a:solidFill>
                  <a:srgbClr val="213E99"/>
                </a:solidFill>
              </a:rPr>
              <a:t>AI Fluency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0" i="0" lang="en-US" u="none" cap="none" strike="noStrike">
                <a:solidFill>
                  <a:srgbClr val="213E99"/>
                </a:solidFill>
              </a:rPr>
              <a:t>Delegation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0" i="0" lang="en-US" u="none" cap="none" strike="noStrike">
                <a:solidFill>
                  <a:srgbClr val="213E99"/>
                </a:solidFill>
              </a:rPr>
              <a:t>Description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0" i="0" lang="en-US" u="none" cap="none" strike="noStrike">
                <a:solidFill>
                  <a:srgbClr val="213E99"/>
                </a:solidFill>
              </a:rPr>
              <a:t>Discernment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0" i="0" lang="en-US" u="none" cap="none" strike="noStrike">
                <a:solidFill>
                  <a:srgbClr val="213E99"/>
                </a:solidFill>
              </a:rPr>
              <a:t>Diligence</a:t>
            </a:r>
            <a:endParaRPr/>
          </a:p>
          <a:p>
            <a:pPr indent="0" lvl="0" marL="7620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213E99"/>
              </a:solidFill>
            </a:endParaRPr>
          </a:p>
        </p:txBody>
      </p:sp>
      <p:pic>
        <p:nvPicPr>
          <p:cNvPr id="92" name="Google Shape;92;p6"/>
          <p:cNvPicPr preferRelativeResize="0"/>
          <p:nvPr/>
        </p:nvPicPr>
        <p:blipFill rotWithShape="1">
          <a:blip r:embed="rId3">
            <a:alphaModFix/>
          </a:blip>
          <a:srcRect b="4" l="32" r="8598" t="0"/>
          <a:stretch/>
        </p:blipFill>
        <p:spPr>
          <a:xfrm>
            <a:off x="4997726" y="1265356"/>
            <a:ext cx="4007126" cy="4352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 txBox="1"/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/>
              <a:t>Workforce Definition</a:t>
            </a:r>
            <a:endParaRPr/>
          </a:p>
        </p:txBody>
      </p:sp>
      <p:sp>
        <p:nvSpPr>
          <p:cNvPr id="98" name="Google Shape;98;p7"/>
          <p:cNvSpPr txBox="1"/>
          <p:nvPr>
            <p:ph idx="1" type="body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AI Fluency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Frequent, confident use of AI in daily work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Understanding AI’s capabilities and limits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Ethical, adaptive, collaborative use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Organizations need a </a:t>
            </a:r>
            <a:r>
              <a:rPr b="1" lang="en-US"/>
              <a:t>shared AI language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8"/>
          <p:cNvPicPr preferRelativeResize="0"/>
          <p:nvPr/>
        </p:nvPicPr>
        <p:blipFill rotWithShape="1">
          <a:blip r:embed="rId3">
            <a:alphaModFix/>
          </a:blip>
          <a:srcRect b="4" l="6949" r="8125" t="0"/>
          <a:stretch/>
        </p:blipFill>
        <p:spPr>
          <a:xfrm>
            <a:off x="4263775" y="441789"/>
            <a:ext cx="6544639" cy="603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8"/>
          <p:cNvSpPr txBox="1"/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/>
              <a:t>Convergence</a:t>
            </a:r>
            <a:endParaRPr/>
          </a:p>
        </p:txBody>
      </p:sp>
      <p:sp>
        <p:nvSpPr>
          <p:cNvPr id="105" name="Google Shape;105;p8"/>
          <p:cNvSpPr txBox="1"/>
          <p:nvPr>
            <p:ph idx="4294967295" type="body"/>
          </p:nvPr>
        </p:nvSpPr>
        <p:spPr>
          <a:xfrm>
            <a:off x="609600" y="1265356"/>
            <a:ext cx="4007126" cy="4352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0" i="0" lang="en-US" u="none" cap="none" strike="noStrike">
                <a:solidFill>
                  <a:srgbClr val="213E99"/>
                </a:solidFill>
              </a:rPr>
              <a:t>AI fluency is not a technical certification.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1" i="0" lang="en-US" u="none" cap="none" strike="noStrike">
                <a:solidFill>
                  <a:srgbClr val="213E99"/>
                </a:solidFill>
              </a:rPr>
              <a:t>Cognitive orientation 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b="0" i="0" lang="en-US" u="none" cap="none" strike="noStrike">
                <a:solidFill>
                  <a:srgbClr val="213E99"/>
                </a:solidFill>
              </a:rPr>
              <a:t>Practice Behaviors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2400"/>
              <a:buChar char="–"/>
            </a:pPr>
            <a:r>
              <a:rPr b="0" i="0" lang="en-US" u="none" cap="none" strike="noStrike">
                <a:solidFill>
                  <a:srgbClr val="213E99"/>
                </a:solidFill>
              </a:rPr>
              <a:t>Human Judgement with Intelligent Systems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86420"/>
              <a:buFont typeface="Arial"/>
              <a:buNone/>
            </a:pPr>
            <a:r>
              <a:rPr lang="en-US"/>
              <a:t>Why We Teach: The Enduring Mission</a:t>
            </a:r>
            <a:endParaRPr/>
          </a:p>
        </p:txBody>
      </p:sp>
      <p:grpSp>
        <p:nvGrpSpPr>
          <p:cNvPr id="111" name="Google Shape;111;p9"/>
          <p:cNvGrpSpPr/>
          <p:nvPr/>
        </p:nvGrpSpPr>
        <p:grpSpPr>
          <a:xfrm>
            <a:off x="609600" y="1265356"/>
            <a:ext cx="8395252" cy="4352544"/>
            <a:chOff x="0" y="0"/>
            <a:chExt cx="8395252" cy="4352544"/>
          </a:xfrm>
        </p:grpSpPr>
        <p:cxnSp>
          <p:nvCxnSpPr>
            <p:cNvPr id="112" name="Google Shape;112;p9"/>
            <p:cNvCxnSpPr/>
            <p:nvPr/>
          </p:nvCxnSpPr>
          <p:spPr>
            <a:xfrm>
              <a:off x="0" y="0"/>
              <a:ext cx="8395252" cy="0"/>
            </a:xfrm>
            <a:prstGeom prst="straightConnector1">
              <a:avLst/>
            </a:prstGeom>
            <a:gradFill>
              <a:gsLst>
                <a:gs pos="0">
                  <a:srgbClr val="53A3D3"/>
                </a:gs>
                <a:gs pos="100000">
                  <a:srgbClr val="9CDBFF"/>
                </a:gs>
              </a:gsLst>
              <a:lin ang="16200000" scaled="0"/>
            </a:gradFill>
            <a:ln cap="flat" cmpd="sng" w="9525">
              <a:solidFill>
                <a:srgbClr val="62A0C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</p:cxnSp>
        <p:sp>
          <p:nvSpPr>
            <p:cNvPr id="113" name="Google Shape;113;p9"/>
            <p:cNvSpPr/>
            <p:nvPr/>
          </p:nvSpPr>
          <p:spPr>
            <a:xfrm>
              <a:off x="0" y="0"/>
              <a:ext cx="8395252" cy="1088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9"/>
            <p:cNvSpPr txBox="1"/>
            <p:nvPr/>
          </p:nvSpPr>
          <p:spPr>
            <a:xfrm>
              <a:off x="0" y="0"/>
              <a:ext cx="8395252" cy="1088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150" lIns="137150" spcFirstLastPara="1" rIns="137150" wrap="square" tIns="13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Education trains the mind, not just skills</a:t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5" name="Google Shape;115;p9"/>
            <p:cNvCxnSpPr/>
            <p:nvPr/>
          </p:nvCxnSpPr>
          <p:spPr>
            <a:xfrm>
              <a:off x="0" y="1088136"/>
              <a:ext cx="8395252" cy="0"/>
            </a:xfrm>
            <a:prstGeom prst="straightConnector1">
              <a:avLst/>
            </a:prstGeom>
            <a:gradFill>
              <a:gsLst>
                <a:gs pos="0">
                  <a:srgbClr val="53A3D3"/>
                </a:gs>
                <a:gs pos="100000">
                  <a:srgbClr val="9CDBFF"/>
                </a:gs>
              </a:gsLst>
              <a:lin ang="16200000" scaled="0"/>
            </a:gradFill>
            <a:ln cap="flat" cmpd="sng" w="9525">
              <a:solidFill>
                <a:srgbClr val="62A0C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</p:cxnSp>
        <p:sp>
          <p:nvSpPr>
            <p:cNvPr id="116" name="Google Shape;116;p9"/>
            <p:cNvSpPr/>
            <p:nvPr/>
          </p:nvSpPr>
          <p:spPr>
            <a:xfrm>
              <a:off x="0" y="1088136"/>
              <a:ext cx="8395252" cy="1088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9"/>
            <p:cNvSpPr txBox="1"/>
            <p:nvPr/>
          </p:nvSpPr>
          <p:spPr>
            <a:xfrm>
              <a:off x="0" y="1088136"/>
              <a:ext cx="8395252" cy="1088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150" lIns="137150" spcFirstLastPara="1" rIns="137150" wrap="square" tIns="13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Intellectual humility</a:t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" name="Google Shape;118;p9"/>
            <p:cNvCxnSpPr/>
            <p:nvPr/>
          </p:nvCxnSpPr>
          <p:spPr>
            <a:xfrm>
              <a:off x="0" y="2176272"/>
              <a:ext cx="8395252" cy="0"/>
            </a:xfrm>
            <a:prstGeom prst="straightConnector1">
              <a:avLst/>
            </a:prstGeom>
            <a:gradFill>
              <a:gsLst>
                <a:gs pos="0">
                  <a:srgbClr val="53A3D3"/>
                </a:gs>
                <a:gs pos="100000">
                  <a:srgbClr val="9CDBFF"/>
                </a:gs>
              </a:gsLst>
              <a:lin ang="16200000" scaled="0"/>
            </a:gradFill>
            <a:ln cap="flat" cmpd="sng" w="9525">
              <a:solidFill>
                <a:srgbClr val="62A0C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</p:cxnSp>
        <p:sp>
          <p:nvSpPr>
            <p:cNvPr id="119" name="Google Shape;119;p9"/>
            <p:cNvSpPr/>
            <p:nvPr/>
          </p:nvSpPr>
          <p:spPr>
            <a:xfrm>
              <a:off x="0" y="2176272"/>
              <a:ext cx="8395252" cy="1088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9"/>
            <p:cNvSpPr txBox="1"/>
            <p:nvPr/>
          </p:nvSpPr>
          <p:spPr>
            <a:xfrm>
              <a:off x="0" y="2176272"/>
              <a:ext cx="8395252" cy="1088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150" lIns="137150" spcFirstLastPara="1" rIns="137150" wrap="square" tIns="13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Self-direction and curiosity </a:t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" name="Google Shape;121;p9"/>
            <p:cNvCxnSpPr/>
            <p:nvPr/>
          </p:nvCxnSpPr>
          <p:spPr>
            <a:xfrm>
              <a:off x="0" y="3264408"/>
              <a:ext cx="8395252" cy="0"/>
            </a:xfrm>
            <a:prstGeom prst="straightConnector1">
              <a:avLst/>
            </a:prstGeom>
            <a:gradFill>
              <a:gsLst>
                <a:gs pos="0">
                  <a:srgbClr val="53A3D3"/>
                </a:gs>
                <a:gs pos="100000">
                  <a:srgbClr val="9CDBFF"/>
                </a:gs>
              </a:gsLst>
              <a:lin ang="16200000" scaled="0"/>
            </a:gradFill>
            <a:ln cap="flat" cmpd="sng" w="9525">
              <a:solidFill>
                <a:srgbClr val="62A0C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</p:cxnSp>
        <p:sp>
          <p:nvSpPr>
            <p:cNvPr id="122" name="Google Shape;122;p9"/>
            <p:cNvSpPr/>
            <p:nvPr/>
          </p:nvSpPr>
          <p:spPr>
            <a:xfrm>
              <a:off x="0" y="3264408"/>
              <a:ext cx="8395252" cy="1088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9"/>
            <p:cNvSpPr txBox="1"/>
            <p:nvPr/>
          </p:nvSpPr>
          <p:spPr>
            <a:xfrm>
              <a:off x="0" y="3264408"/>
              <a:ext cx="8395252" cy="1088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37150" lIns="137150" spcFirstLastPara="1" rIns="137150" wrap="square" tIns="1371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Lifelong learning as a core outcome</a:t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 txBox="1"/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/>
              <a:t>What AI Can and Cannot Do</a:t>
            </a: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609600" y="1249252"/>
            <a:ext cx="8395252" cy="4276155"/>
            <a:chOff x="0" y="2090"/>
            <a:chExt cx="8395252" cy="4276155"/>
          </a:xfrm>
        </p:grpSpPr>
        <p:cxnSp>
          <p:nvCxnSpPr>
            <p:cNvPr id="130" name="Google Shape;130;p10"/>
            <p:cNvCxnSpPr/>
            <p:nvPr/>
          </p:nvCxnSpPr>
          <p:spPr>
            <a:xfrm>
              <a:off x="0" y="2090"/>
              <a:ext cx="8395252" cy="0"/>
            </a:xfrm>
            <a:prstGeom prst="straightConnector1">
              <a:avLst/>
            </a:prstGeom>
            <a:solidFill>
              <a:srgbClr val="E8532A"/>
            </a:solidFill>
            <a:ln cap="flat" cmpd="sng" w="25400">
              <a:solidFill>
                <a:srgbClr val="E8532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1" name="Google Shape;131;p10"/>
            <p:cNvSpPr/>
            <p:nvPr/>
          </p:nvSpPr>
          <p:spPr>
            <a:xfrm>
              <a:off x="0" y="2090"/>
              <a:ext cx="8395252" cy="712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0"/>
            <p:cNvSpPr txBox="1"/>
            <p:nvPr/>
          </p:nvSpPr>
          <p:spPr>
            <a:xfrm>
              <a:off x="0" y="2090"/>
              <a:ext cx="8395252" cy="712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 can generate, summarize, optimize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3" name="Google Shape;133;p10"/>
            <p:cNvCxnSpPr/>
            <p:nvPr/>
          </p:nvCxnSpPr>
          <p:spPr>
            <a:xfrm>
              <a:off x="0" y="714782"/>
              <a:ext cx="8395252" cy="0"/>
            </a:xfrm>
            <a:prstGeom prst="straightConnector1">
              <a:avLst/>
            </a:prstGeom>
            <a:solidFill>
              <a:srgbClr val="E8532A"/>
            </a:solidFill>
            <a:ln cap="flat" cmpd="sng" w="25400">
              <a:solidFill>
                <a:srgbClr val="E8532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4" name="Google Shape;134;p10"/>
            <p:cNvSpPr/>
            <p:nvPr/>
          </p:nvSpPr>
          <p:spPr>
            <a:xfrm>
              <a:off x="0" y="714782"/>
              <a:ext cx="8395252" cy="712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0"/>
            <p:cNvSpPr txBox="1"/>
            <p:nvPr/>
          </p:nvSpPr>
          <p:spPr>
            <a:xfrm>
              <a:off x="0" y="714782"/>
              <a:ext cx="8395252" cy="712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 cannot assume or take responsibility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6" name="Google Shape;136;p10"/>
            <p:cNvCxnSpPr/>
            <p:nvPr/>
          </p:nvCxnSpPr>
          <p:spPr>
            <a:xfrm>
              <a:off x="0" y="1427475"/>
              <a:ext cx="8395252" cy="0"/>
            </a:xfrm>
            <a:prstGeom prst="straightConnector1">
              <a:avLst/>
            </a:prstGeom>
            <a:solidFill>
              <a:srgbClr val="E8532A"/>
            </a:solidFill>
            <a:ln cap="flat" cmpd="sng" w="25400">
              <a:solidFill>
                <a:srgbClr val="E8532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7" name="Google Shape;137;p10"/>
            <p:cNvSpPr/>
            <p:nvPr/>
          </p:nvSpPr>
          <p:spPr>
            <a:xfrm>
              <a:off x="0" y="1427475"/>
              <a:ext cx="8395252" cy="712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 txBox="1"/>
            <p:nvPr/>
          </p:nvSpPr>
          <p:spPr>
            <a:xfrm>
              <a:off x="0" y="1427475"/>
              <a:ext cx="8395252" cy="712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 cannot exercise consciences or character 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" name="Google Shape;139;p10"/>
            <p:cNvCxnSpPr/>
            <p:nvPr/>
          </p:nvCxnSpPr>
          <p:spPr>
            <a:xfrm>
              <a:off x="0" y="2140167"/>
              <a:ext cx="8395252" cy="0"/>
            </a:xfrm>
            <a:prstGeom prst="straightConnector1">
              <a:avLst/>
            </a:prstGeom>
            <a:solidFill>
              <a:srgbClr val="E8532A"/>
            </a:solidFill>
            <a:ln cap="flat" cmpd="sng" w="25400">
              <a:solidFill>
                <a:srgbClr val="E8532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0" name="Google Shape;140;p10"/>
            <p:cNvSpPr/>
            <p:nvPr/>
          </p:nvSpPr>
          <p:spPr>
            <a:xfrm>
              <a:off x="0" y="2140167"/>
              <a:ext cx="8395252" cy="712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0"/>
            <p:cNvSpPr txBox="1"/>
            <p:nvPr/>
          </p:nvSpPr>
          <p:spPr>
            <a:xfrm>
              <a:off x="0" y="2140167"/>
              <a:ext cx="8395252" cy="712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 cannot frame problems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2" name="Google Shape;142;p10"/>
            <p:cNvCxnSpPr/>
            <p:nvPr/>
          </p:nvCxnSpPr>
          <p:spPr>
            <a:xfrm>
              <a:off x="0" y="2852860"/>
              <a:ext cx="8395252" cy="0"/>
            </a:xfrm>
            <a:prstGeom prst="straightConnector1">
              <a:avLst/>
            </a:prstGeom>
            <a:solidFill>
              <a:srgbClr val="E8532A"/>
            </a:solidFill>
            <a:ln cap="flat" cmpd="sng" w="25400">
              <a:solidFill>
                <a:srgbClr val="E8532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3" name="Google Shape;143;p10"/>
            <p:cNvSpPr/>
            <p:nvPr/>
          </p:nvSpPr>
          <p:spPr>
            <a:xfrm>
              <a:off x="0" y="2852860"/>
              <a:ext cx="8395252" cy="712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0"/>
            <p:cNvSpPr txBox="1"/>
            <p:nvPr/>
          </p:nvSpPr>
          <p:spPr>
            <a:xfrm>
              <a:off x="0" y="2852860"/>
              <a:ext cx="8395252" cy="712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 cannot make value-based decisions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" name="Google Shape;145;p10"/>
            <p:cNvCxnSpPr/>
            <p:nvPr/>
          </p:nvCxnSpPr>
          <p:spPr>
            <a:xfrm>
              <a:off x="0" y="3565553"/>
              <a:ext cx="8395252" cy="0"/>
            </a:xfrm>
            <a:prstGeom prst="straightConnector1">
              <a:avLst/>
            </a:prstGeom>
            <a:solidFill>
              <a:srgbClr val="E8532A"/>
            </a:solidFill>
            <a:ln cap="flat" cmpd="sng" w="25400">
              <a:solidFill>
                <a:srgbClr val="E8532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6" name="Google Shape;146;p10"/>
            <p:cNvSpPr/>
            <p:nvPr/>
          </p:nvSpPr>
          <p:spPr>
            <a:xfrm>
              <a:off x="0" y="3565553"/>
              <a:ext cx="8395252" cy="712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0"/>
            <p:cNvSpPr txBox="1"/>
            <p:nvPr/>
          </p:nvSpPr>
          <p:spPr>
            <a:xfrm>
              <a:off x="0" y="3565553"/>
              <a:ext cx="8395252" cy="7126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675" lIns="106675" spcFirstLastPara="1" rIns="106675" wrap="square" tIns="1066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 cannot understand context</a:t>
              </a:r>
              <a:endPara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" name="Google Shape;148;p10"/>
          <p:cNvSpPr txBox="1"/>
          <p:nvPr/>
        </p:nvSpPr>
        <p:spPr>
          <a:xfrm>
            <a:off x="506860" y="5699804"/>
            <a:ext cx="1006524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Humans must supply judgement; AI supplies scale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"/>
          <p:cNvSpPr txBox="1"/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/>
              <a:t>Cognitive Orientation: Character is not a soft skill.</a:t>
            </a:r>
            <a:endParaRPr/>
          </a:p>
        </p:txBody>
      </p:sp>
      <p:sp>
        <p:nvSpPr>
          <p:cNvPr id="154" name="Google Shape;154;p11"/>
          <p:cNvSpPr txBox="1"/>
          <p:nvPr>
            <p:ph idx="1" type="body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i="1" lang="en-US" sz="2400"/>
              <a:t>“The function of education, therefore, is to teach one to think intensively and to think critically. Intelligence plus </a:t>
            </a:r>
            <a:r>
              <a:rPr b="1" i="1" lang="en-US" sz="2400"/>
              <a:t>character</a:t>
            </a:r>
            <a:r>
              <a:rPr i="1" lang="en-US" sz="2400"/>
              <a:t>—that is the goal of true education.” -</a:t>
            </a:r>
            <a:r>
              <a:rPr lang="en-US" sz="2400"/>
              <a:t>Martin Luther King Jr., 1947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Character is the disciplined habit of using intelligence with honesty, responsibility, courage, humility, and care for consequences.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155" name="Google Shape;155;p11"/>
          <p:cNvGraphicFramePr/>
          <p:nvPr/>
        </p:nvGraphicFramePr>
        <p:xfrm>
          <a:off x="1595349" y="49999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{739B8527-43D7-4745-A03C-42C82802893F}</a:tableStyleId>
              </a:tblPr>
              <a:tblGrid>
                <a:gridCol w="2709325"/>
                <a:gridCol w="2709325"/>
                <a:gridCol w="27093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Be Transparent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Use Evidence Base Claims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Avoid Shortcut thinking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Resist “fake mastery”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Practice responsible use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Verify and reflect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Maintain academic integrity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Respect tools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Reiterate and Evaluate 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2361" y="837838"/>
            <a:ext cx="9507277" cy="5182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13"/>
          <p:cNvGrpSpPr/>
          <p:nvPr/>
        </p:nvGrpSpPr>
        <p:grpSpPr>
          <a:xfrm>
            <a:off x="9260607" y="238701"/>
            <a:ext cx="2866425" cy="1189675"/>
            <a:chOff x="837550" y="656850"/>
            <a:chExt cx="7842475" cy="3254925"/>
          </a:xfrm>
        </p:grpSpPr>
        <p:sp>
          <p:nvSpPr>
            <p:cNvPr id="166" name="Google Shape;166;p13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3425" lIns="33425" spcFirstLastPara="1" rIns="33425" wrap="square" tIns="33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12"/>
                <a:buFont typeface="Arial"/>
                <a:buNone/>
              </a:pPr>
              <a:r>
                <a:t/>
              </a:r>
              <a:endParaRPr b="0" i="0" sz="5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7" name="Google Shape;167;p13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b="0" l="8083" r="7185" t="0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" name="Google Shape;168;p13"/>
          <p:cNvSpPr txBox="1"/>
          <p:nvPr>
            <p:ph type="title"/>
          </p:nvPr>
        </p:nvSpPr>
        <p:spPr>
          <a:xfrm>
            <a:off x="609600" y="383886"/>
            <a:ext cx="8902390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/>
              <a:t>Education and Workforce </a:t>
            </a:r>
            <a:endParaRPr/>
          </a:p>
        </p:txBody>
      </p:sp>
      <p:sp>
        <p:nvSpPr>
          <p:cNvPr id="169" name="Google Shape;169;p13"/>
          <p:cNvSpPr txBox="1"/>
          <p:nvPr>
            <p:ph idx="1" type="body"/>
          </p:nvPr>
        </p:nvSpPr>
        <p:spPr>
          <a:xfrm>
            <a:off x="409764" y="1139856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en-US"/>
              <a:t>Key Skills and Key Takeaway</a:t>
            </a:r>
            <a:endParaRPr/>
          </a:p>
        </p:txBody>
      </p:sp>
      <p:pic>
        <p:nvPicPr>
          <p:cNvPr id="170" name="Google Shape;17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763" y="1805354"/>
            <a:ext cx="11332101" cy="3912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/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/>
              <a:t>New Educational Imperative</a:t>
            </a:r>
            <a:endParaRPr/>
          </a:p>
        </p:txBody>
      </p:sp>
      <p:grpSp>
        <p:nvGrpSpPr>
          <p:cNvPr id="176" name="Google Shape;176;p14"/>
          <p:cNvGrpSpPr/>
          <p:nvPr/>
        </p:nvGrpSpPr>
        <p:grpSpPr>
          <a:xfrm>
            <a:off x="609600" y="1265887"/>
            <a:ext cx="8395252" cy="4351481"/>
            <a:chOff x="0" y="531"/>
            <a:chExt cx="8395252" cy="4351481"/>
          </a:xfrm>
        </p:grpSpPr>
        <p:cxnSp>
          <p:nvCxnSpPr>
            <p:cNvPr id="177" name="Google Shape;177;p14"/>
            <p:cNvCxnSpPr/>
            <p:nvPr/>
          </p:nvCxnSpPr>
          <p:spPr>
            <a:xfrm>
              <a:off x="0" y="531"/>
              <a:ext cx="8395252" cy="0"/>
            </a:xfrm>
            <a:prstGeom prst="straightConnector1">
              <a:avLst/>
            </a:prstGeom>
            <a:gradFill>
              <a:gsLst>
                <a:gs pos="0">
                  <a:srgbClr val="A7E143"/>
                </a:gs>
                <a:gs pos="100000">
                  <a:srgbClr val="DCFF92"/>
                </a:gs>
              </a:gsLst>
              <a:lin ang="16200000" scaled="0"/>
            </a:gradFill>
            <a:ln cap="flat" cmpd="sng" w="9525">
              <a:solidFill>
                <a:srgbClr val="A3CF5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</p:cxnSp>
        <p:sp>
          <p:nvSpPr>
            <p:cNvPr id="178" name="Google Shape;178;p14"/>
            <p:cNvSpPr/>
            <p:nvPr/>
          </p:nvSpPr>
          <p:spPr>
            <a:xfrm>
              <a:off x="0" y="531"/>
              <a:ext cx="8395252" cy="870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 txBox="1"/>
            <p:nvPr/>
          </p:nvSpPr>
          <p:spPr>
            <a:xfrm>
              <a:off x="0" y="531"/>
              <a:ext cx="8395252" cy="870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 fluency must be a core educational outcome</a:t>
              </a:r>
              <a:endParaRPr/>
            </a:p>
          </p:txBody>
        </p:sp>
        <p:cxnSp>
          <p:nvCxnSpPr>
            <p:cNvPr id="180" name="Google Shape;180;p14"/>
            <p:cNvCxnSpPr/>
            <p:nvPr/>
          </p:nvCxnSpPr>
          <p:spPr>
            <a:xfrm>
              <a:off x="0" y="870827"/>
              <a:ext cx="8395252" cy="0"/>
            </a:xfrm>
            <a:prstGeom prst="straightConnector1">
              <a:avLst/>
            </a:prstGeom>
            <a:gradFill>
              <a:gsLst>
                <a:gs pos="0">
                  <a:srgbClr val="A7E143"/>
                </a:gs>
                <a:gs pos="100000">
                  <a:srgbClr val="DCFF92"/>
                </a:gs>
              </a:gsLst>
              <a:lin ang="16200000" scaled="0"/>
            </a:gradFill>
            <a:ln cap="flat" cmpd="sng" w="9525">
              <a:solidFill>
                <a:srgbClr val="A3CF5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</p:cxnSp>
        <p:sp>
          <p:nvSpPr>
            <p:cNvPr id="181" name="Google Shape;181;p14"/>
            <p:cNvSpPr/>
            <p:nvPr/>
          </p:nvSpPr>
          <p:spPr>
            <a:xfrm>
              <a:off x="0" y="870827"/>
              <a:ext cx="8395252" cy="870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 txBox="1"/>
            <p:nvPr/>
          </p:nvSpPr>
          <p:spPr>
            <a:xfrm>
              <a:off x="0" y="870827"/>
              <a:ext cx="8395252" cy="870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Critical thinking remains the foundation</a:t>
              </a:r>
              <a:endParaRPr/>
            </a:p>
          </p:txBody>
        </p:sp>
        <p:cxnSp>
          <p:nvCxnSpPr>
            <p:cNvPr id="183" name="Google Shape;183;p14"/>
            <p:cNvCxnSpPr/>
            <p:nvPr/>
          </p:nvCxnSpPr>
          <p:spPr>
            <a:xfrm>
              <a:off x="0" y="1741123"/>
              <a:ext cx="8395252" cy="0"/>
            </a:xfrm>
            <a:prstGeom prst="straightConnector1">
              <a:avLst/>
            </a:prstGeom>
            <a:gradFill>
              <a:gsLst>
                <a:gs pos="0">
                  <a:srgbClr val="A7E143"/>
                </a:gs>
                <a:gs pos="100000">
                  <a:srgbClr val="DCFF92"/>
                </a:gs>
              </a:gsLst>
              <a:lin ang="16200000" scaled="0"/>
            </a:gradFill>
            <a:ln cap="flat" cmpd="sng" w="9525">
              <a:solidFill>
                <a:srgbClr val="A3CF5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</p:cxnSp>
        <p:sp>
          <p:nvSpPr>
            <p:cNvPr id="184" name="Google Shape;184;p14"/>
            <p:cNvSpPr/>
            <p:nvPr/>
          </p:nvSpPr>
          <p:spPr>
            <a:xfrm>
              <a:off x="0" y="1741123"/>
              <a:ext cx="8395252" cy="870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 txBox="1"/>
            <p:nvPr/>
          </p:nvSpPr>
          <p:spPr>
            <a:xfrm>
              <a:off x="0" y="1741123"/>
              <a:ext cx="8395252" cy="870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Human + AI collaboration defines future work</a:t>
              </a:r>
              <a:endParaRPr/>
            </a:p>
          </p:txBody>
        </p:sp>
        <p:cxnSp>
          <p:nvCxnSpPr>
            <p:cNvPr id="186" name="Google Shape;186;p14"/>
            <p:cNvCxnSpPr/>
            <p:nvPr/>
          </p:nvCxnSpPr>
          <p:spPr>
            <a:xfrm>
              <a:off x="0" y="2611420"/>
              <a:ext cx="8395252" cy="0"/>
            </a:xfrm>
            <a:prstGeom prst="straightConnector1">
              <a:avLst/>
            </a:prstGeom>
            <a:gradFill>
              <a:gsLst>
                <a:gs pos="0">
                  <a:srgbClr val="A7E143"/>
                </a:gs>
                <a:gs pos="100000">
                  <a:srgbClr val="DCFF92"/>
                </a:gs>
              </a:gsLst>
              <a:lin ang="16200000" scaled="0"/>
            </a:gradFill>
            <a:ln cap="flat" cmpd="sng" w="9525">
              <a:solidFill>
                <a:srgbClr val="A3CF5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</p:cxnSp>
        <p:sp>
          <p:nvSpPr>
            <p:cNvPr id="187" name="Google Shape;187;p14"/>
            <p:cNvSpPr/>
            <p:nvPr/>
          </p:nvSpPr>
          <p:spPr>
            <a:xfrm>
              <a:off x="0" y="2611420"/>
              <a:ext cx="8395252" cy="870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 txBox="1"/>
            <p:nvPr/>
          </p:nvSpPr>
          <p:spPr>
            <a:xfrm>
              <a:off x="0" y="2611420"/>
              <a:ext cx="8395252" cy="870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Lifelong learning is the condition for career longevity</a:t>
              </a:r>
              <a:endParaRPr/>
            </a:p>
          </p:txBody>
        </p:sp>
        <p:cxnSp>
          <p:nvCxnSpPr>
            <p:cNvPr id="189" name="Google Shape;189;p14"/>
            <p:cNvCxnSpPr/>
            <p:nvPr/>
          </p:nvCxnSpPr>
          <p:spPr>
            <a:xfrm>
              <a:off x="0" y="3481716"/>
              <a:ext cx="8395252" cy="0"/>
            </a:xfrm>
            <a:prstGeom prst="straightConnector1">
              <a:avLst/>
            </a:prstGeom>
            <a:gradFill>
              <a:gsLst>
                <a:gs pos="0">
                  <a:srgbClr val="A7E143"/>
                </a:gs>
                <a:gs pos="100000">
                  <a:srgbClr val="DCFF92"/>
                </a:gs>
              </a:gsLst>
              <a:lin ang="16200000" scaled="0"/>
            </a:gradFill>
            <a:ln cap="flat" cmpd="sng" w="9525">
              <a:solidFill>
                <a:srgbClr val="A3CF5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</p:cxnSp>
        <p:sp>
          <p:nvSpPr>
            <p:cNvPr id="190" name="Google Shape;190;p14"/>
            <p:cNvSpPr/>
            <p:nvPr/>
          </p:nvSpPr>
          <p:spPr>
            <a:xfrm>
              <a:off x="0" y="3481716"/>
              <a:ext cx="8395252" cy="870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 txBox="1"/>
            <p:nvPr/>
          </p:nvSpPr>
          <p:spPr>
            <a:xfrm>
              <a:off x="0" y="3481716"/>
              <a:ext cx="8395252" cy="8702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2850" lIns="102850" spcFirstLastPara="1" rIns="102850" wrap="square" tIns="1028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Higher education must redesign curricula accordingly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7837" y="723647"/>
            <a:ext cx="7559886" cy="6134353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5"/>
          <p:cNvSpPr txBox="1"/>
          <p:nvPr>
            <p:ph type="title"/>
          </p:nvPr>
        </p:nvSpPr>
        <p:spPr>
          <a:xfrm>
            <a:off x="382594" y="22626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US"/>
              <a:t>Workforce Expectations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 txBox="1"/>
          <p:nvPr>
            <p:ph idx="2" type="body"/>
          </p:nvPr>
        </p:nvSpPr>
        <p:spPr>
          <a:xfrm>
            <a:off x="511908" y="1539875"/>
            <a:ext cx="5386917" cy="4586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03" name="Google Shape;203;p16"/>
          <p:cNvSpPr txBox="1"/>
          <p:nvPr>
            <p:ph idx="4" type="body"/>
          </p:nvPr>
        </p:nvSpPr>
        <p:spPr>
          <a:xfrm>
            <a:off x="6193368" y="1539875"/>
            <a:ext cx="5389033" cy="4586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04" name="Google Shape;2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211" y="1855303"/>
            <a:ext cx="4482579" cy="3633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6" title="Interactive content from Mentimeter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4153" y="1553306"/>
            <a:ext cx="5724770" cy="46110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 txBox="1"/>
          <p:nvPr>
            <p:ph idx="1" type="subTitle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762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Follow CRA on social media</a:t>
            </a:r>
            <a:endParaRPr/>
          </a:p>
        </p:txBody>
      </p:sp>
      <p:sp>
        <p:nvSpPr>
          <p:cNvPr id="211" name="Google Shape;211;p17"/>
          <p:cNvSpPr txBox="1"/>
          <p:nvPr>
            <p:ph type="ctrTitle"/>
          </p:nvPr>
        </p:nvSpPr>
        <p:spPr>
          <a:xfrm>
            <a:off x="2285656" y="1649631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Stay Connected!</a:t>
            </a:r>
            <a:endParaRPr/>
          </a:p>
        </p:txBody>
      </p:sp>
      <p:grpSp>
        <p:nvGrpSpPr>
          <p:cNvPr id="212" name="Google Shape;212;p17"/>
          <p:cNvGrpSpPr/>
          <p:nvPr/>
        </p:nvGrpSpPr>
        <p:grpSpPr>
          <a:xfrm>
            <a:off x="1762409" y="245753"/>
            <a:ext cx="5073597" cy="1619531"/>
            <a:chOff x="1675200" y="1925918"/>
            <a:chExt cx="8622700" cy="2752431"/>
          </a:xfrm>
        </p:grpSpPr>
        <p:sp>
          <p:nvSpPr>
            <p:cNvPr id="213" name="Google Shape;213;p17"/>
            <p:cNvSpPr/>
            <p:nvPr/>
          </p:nvSpPr>
          <p:spPr>
            <a:xfrm>
              <a:off x="1684600" y="1932075"/>
              <a:ext cx="8613300" cy="2721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4"/>
                <a:buFont typeface="Arial"/>
                <a:buNone/>
              </a:pPr>
              <a:r>
                <a:t/>
              </a:r>
              <a:endParaRPr b="0" i="0" sz="82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14" name="Google Shape;214;p17" title="NAIRR Expansion Conference_General Logo (1).pn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75200" y="1925918"/>
              <a:ext cx="8606075" cy="27524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 txBox="1"/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</a:pPr>
            <a:r>
              <a:rPr lang="en-US"/>
              <a:t>References</a:t>
            </a:r>
            <a:br>
              <a:rPr lang="en-US"/>
            </a:br>
            <a:r>
              <a:rPr lang="en-US" sz="1200"/>
              <a:t>Attribution: AI-supported editing and content integration by Anthropic Poe and Copilot; image creation by Napkin.</a:t>
            </a:r>
            <a:br>
              <a:rPr lang="en-US" sz="1200"/>
            </a:br>
            <a:endParaRPr sz="1200"/>
          </a:p>
        </p:txBody>
      </p:sp>
      <p:sp>
        <p:nvSpPr>
          <p:cNvPr id="220" name="Google Shape;220;p18"/>
          <p:cNvSpPr txBox="1"/>
          <p:nvPr>
            <p:ph idx="1" type="body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57895"/>
              <a:buChar char="•"/>
            </a:pPr>
            <a:r>
              <a:rPr lang="en-US"/>
              <a:t>Chau, C. W., Holstein, K., &amp; Madaio, M. (2022). Part of the Conversation: Workforce Professionals' Perspectives on the Roles and Impacts of Workforce Technologies. </a:t>
            </a:r>
            <a:r>
              <a:rPr i="1" lang="en-US"/>
              <a:t>ACM on Human-Computer Interaction (PACMHCI)</a:t>
            </a:r>
            <a:r>
              <a:rPr lang="en-US"/>
              <a:t>, 1-22.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57895"/>
              <a:buChar char="•"/>
            </a:pPr>
            <a:r>
              <a:rPr lang="en-US"/>
              <a:t>Cramer, J. (2026). AI's impact on cognitive ability: MIT study reveals more troubling data . </a:t>
            </a:r>
            <a:r>
              <a:rPr i="1" lang="en-US"/>
              <a:t>Fast Company</a:t>
            </a:r>
            <a:r>
              <a:rPr lang="en-US"/>
              <a:t>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57895"/>
              <a:buChar char="•"/>
            </a:pPr>
            <a:r>
              <a:rPr lang="en-US"/>
              <a:t>Fischer, M. (2026). </a:t>
            </a:r>
            <a:r>
              <a:rPr i="1" lang="en-US"/>
              <a:t>When Did White-Collar Work Start to Look so Bleak?</a:t>
            </a:r>
            <a:r>
              <a:rPr lang="en-US"/>
              <a:t> New Yorker.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57895"/>
              <a:buChar char="•"/>
            </a:pPr>
            <a:r>
              <a:rPr lang="en-US"/>
              <a:t>Lichtenberg, N. (2025). Can't get a job? Blame AI? IMB exec says: 'You can't hire a college student now to just come in and create spreadsheet'. </a:t>
            </a:r>
            <a:r>
              <a:rPr i="1" lang="en-US"/>
              <a:t>Fortune</a:t>
            </a:r>
            <a:r>
              <a:rPr lang="en-US"/>
              <a:t>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57895"/>
              <a:buChar char="•"/>
            </a:pPr>
            <a:r>
              <a:rPr lang="en-US"/>
              <a:t>Mahaney, R. C., &amp; Benamati, J. S. (2007). Current and Future Entry-Level IT Workforce Needs in Organizations. </a:t>
            </a:r>
            <a:r>
              <a:rPr i="1" lang="en-US"/>
              <a:t>SIGMIS CPR '07</a:t>
            </a:r>
            <a:r>
              <a:rPr lang="en-US"/>
              <a:t>, (pp. 101-104).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57895"/>
              <a:buChar char="•"/>
            </a:pPr>
            <a:r>
              <a:rPr lang="en-US"/>
              <a:t>Mills, K., Ruiz, P., Lee, K.-w., Coenraad, M., Fusco, J., Roschelle, J., &amp; Weisgrau, J. (2024). AI Literacy: A Framework to Understand, Evaluate, and Use Emerging Technology. </a:t>
            </a:r>
            <a:r>
              <a:rPr i="1" lang="en-US"/>
              <a:t>Digital Promise</a:t>
            </a:r>
            <a:r>
              <a:rPr lang="en-US"/>
              <a:t>, 1-40.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57895"/>
              <a:buChar char="•"/>
            </a:pPr>
            <a:r>
              <a:rPr lang="en-US"/>
              <a:t>Surjadi, M. (2024). Colleges Race to Ready Students for the AI Workforce. </a:t>
            </a:r>
            <a:r>
              <a:rPr i="1" lang="en-US"/>
              <a:t>The Wall Street Journal</a:t>
            </a:r>
            <a:r>
              <a:rPr lang="en-US"/>
              <a:t>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57895"/>
              <a:buChar char="•"/>
            </a:pPr>
            <a:r>
              <a:rPr lang="en-US"/>
              <a:t>Talagala, N. (2024). How AI will (or Should) Change Computer Science Education. </a:t>
            </a:r>
            <a:r>
              <a:rPr i="1" lang="en-US"/>
              <a:t>Forbes</a:t>
            </a:r>
            <a:r>
              <a:rPr lang="en-US"/>
              <a:t>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57895"/>
              <a:buChar char="•"/>
            </a:pPr>
            <a:r>
              <a:rPr lang="en-US"/>
              <a:t>Todd, B. (2026). These 5 skills are AI-proof and likely to become more valuable 'over the next 5 years,' says Oxford-trained career expert. </a:t>
            </a:r>
            <a:r>
              <a:rPr i="1" lang="en-US"/>
              <a:t>CNBC</a:t>
            </a:r>
            <a:r>
              <a:rPr lang="en-US"/>
              <a:t>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57895"/>
              <a:buChar char="•"/>
            </a:pPr>
            <a:r>
              <a:rPr lang="en-US"/>
              <a:t>Weening, M., &amp; Crawford, K. (2026, June). How AI is reshaping education and the workforce. (E. Javers, Interviewer</a:t>
            </a:r>
            <a:endParaRPr b="1"/>
          </a:p>
          <a:p>
            <a:pPr indent="-2286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57895"/>
              <a:buNone/>
            </a:pPr>
            <a:r>
              <a:t/>
            </a:r>
            <a:endParaRPr b="1"/>
          </a:p>
          <a:p>
            <a:pPr indent="-22860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ct val="157895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chenchutta jackson</dc:creator>
</cp:coreProperties>
</file>