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4"/>
    <p:sldMasterId id="2147483658" r:id="rId5"/>
  </p:sldMasterIdLst>
  <p:notesMasterIdLst>
    <p:notesMasterId r:id="rId12"/>
  </p:notesMasterIdLst>
  <p:sldIdLst>
    <p:sldId id="256" r:id="rId6"/>
    <p:sldId id="257" r:id="rId7"/>
    <p:sldId id="258" r:id="rId8"/>
    <p:sldId id="261" r:id="rId9"/>
    <p:sldId id="259" r:id="rId10"/>
    <p:sldId id="260" r:id="rId11"/>
  </p:sldIdLst>
  <p:sldSz cx="12192000" cy="6858000"/>
  <p:notesSz cx="6858000" cy="9144000"/>
  <p:embeddedFontLs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BBB808-84E4-978F-30D0-2C1DB00139D6}" v="187" dt="2026-06-17T00:44:08.026"/>
    <p1510:client id="{CD8C25F2-B56F-C4E8-4426-F3F124A64FD7}" v="165" dt="2026-06-17T15:04:14.945"/>
    <p1510:client id="{DF5C77D9-2591-0819-8AB1-890F0CF52DCC}" v="11" dt="2026-06-16T23:30:17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yssa Williams" userId="S::awill157@msudenver.edu::0c4a8959-bf80-49f1-9442-b3ad7c8ef1c3" providerId="AD" clId="Web-{CD8C25F2-B56F-C4E8-4426-F3F124A64FD7}"/>
    <pc:docChg chg="modSld">
      <pc:chgData name="Alyssa Williams" userId="S::awill157@msudenver.edu::0c4a8959-bf80-49f1-9442-b3ad7c8ef1c3" providerId="AD" clId="Web-{CD8C25F2-B56F-C4E8-4426-F3F124A64FD7}" dt="2026-06-17T15:04:14.945" v="107" actId="20577"/>
      <pc:docMkLst>
        <pc:docMk/>
      </pc:docMkLst>
      <pc:sldChg chg="addSp delSp modSp">
        <pc:chgData name="Alyssa Williams" userId="S::awill157@msudenver.edu::0c4a8959-bf80-49f1-9442-b3ad7c8ef1c3" providerId="AD" clId="Web-{CD8C25F2-B56F-C4E8-4426-F3F124A64FD7}" dt="2026-06-17T15:04:14.945" v="107" actId="20577"/>
        <pc:sldMkLst>
          <pc:docMk/>
          <pc:sldMk cId="0" sldId="258"/>
        </pc:sldMkLst>
        <pc:spChg chg="add mod">
          <ac:chgData name="Alyssa Williams" userId="S::awill157@msudenver.edu::0c4a8959-bf80-49f1-9442-b3ad7c8ef1c3" providerId="AD" clId="Web-{CD8C25F2-B56F-C4E8-4426-F3F124A64FD7}" dt="2026-06-17T15:04:14.945" v="107" actId="20577"/>
          <ac:spMkLst>
            <pc:docMk/>
            <pc:sldMk cId="0" sldId="258"/>
            <ac:spMk id="2" creationId="{C00F5E85-E03F-248B-A977-AE049493B6FD}"/>
          </ac:spMkLst>
        </pc:spChg>
        <pc:spChg chg="mod topLvl">
          <ac:chgData name="Alyssa Williams" userId="S::awill157@msudenver.edu::0c4a8959-bf80-49f1-9442-b3ad7c8ef1c3" providerId="AD" clId="Web-{CD8C25F2-B56F-C4E8-4426-F3F124A64FD7}" dt="2026-06-17T15:02:06.816" v="66"/>
          <ac:spMkLst>
            <pc:docMk/>
            <pc:sldMk cId="0" sldId="258"/>
            <ac:spMk id="84" creationId="{00000000-0000-0000-0000-000000000000}"/>
          </ac:spMkLst>
        </pc:spChg>
        <pc:spChg chg="add del mod topLvl">
          <ac:chgData name="Alyssa Williams" userId="S::awill157@msudenver.edu::0c4a8959-bf80-49f1-9442-b3ad7c8ef1c3" providerId="AD" clId="Web-{CD8C25F2-B56F-C4E8-4426-F3F124A64FD7}" dt="2026-06-17T15:01:41.206" v="58"/>
          <ac:spMkLst>
            <pc:docMk/>
            <pc:sldMk cId="0" sldId="258"/>
            <ac:spMk id="87" creationId="{00000000-0000-0000-0000-000000000000}"/>
          </ac:spMkLst>
        </pc:spChg>
        <pc:grpChg chg="del">
          <ac:chgData name="Alyssa Williams" userId="S::awill157@msudenver.edu::0c4a8959-bf80-49f1-9442-b3ad7c8ef1c3" providerId="AD" clId="Web-{CD8C25F2-B56F-C4E8-4426-F3F124A64FD7}" dt="2026-06-17T15:02:06.816" v="66"/>
          <ac:grpSpMkLst>
            <pc:docMk/>
            <pc:sldMk cId="0" sldId="258"/>
            <ac:grpSpMk id="82" creationId="{00000000-0000-0000-0000-000000000000}"/>
          </ac:grpSpMkLst>
        </pc:grpChg>
        <pc:grpChg chg="add del">
          <ac:chgData name="Alyssa Williams" userId="S::awill157@msudenver.edu::0c4a8959-bf80-49f1-9442-b3ad7c8ef1c3" providerId="AD" clId="Web-{CD8C25F2-B56F-C4E8-4426-F3F124A64FD7}" dt="2026-06-17T15:01:35.533" v="57"/>
          <ac:grpSpMkLst>
            <pc:docMk/>
            <pc:sldMk cId="0" sldId="258"/>
            <ac:grpSpMk id="85" creationId="{00000000-0000-0000-0000-000000000000}"/>
          </ac:grpSpMkLst>
        </pc:grpChg>
        <pc:picChg chg="topLvl">
          <ac:chgData name="Alyssa Williams" userId="S::awill157@msudenver.edu::0c4a8959-bf80-49f1-9442-b3ad7c8ef1c3" providerId="AD" clId="Web-{CD8C25F2-B56F-C4E8-4426-F3F124A64FD7}" dt="2026-06-17T15:02:06.816" v="66"/>
          <ac:picMkLst>
            <pc:docMk/>
            <pc:sldMk cId="0" sldId="258"/>
            <ac:picMk id="83" creationId="{00000000-0000-0000-0000-000000000000}"/>
          </ac:picMkLst>
        </pc:picChg>
        <pc:picChg chg="mod topLvl">
          <ac:chgData name="Alyssa Williams" userId="S::awill157@msudenver.edu::0c4a8959-bf80-49f1-9442-b3ad7c8ef1c3" providerId="AD" clId="Web-{CD8C25F2-B56F-C4E8-4426-F3F124A64FD7}" dt="2026-06-17T15:01:35.533" v="57"/>
          <ac:picMkLst>
            <pc:docMk/>
            <pc:sldMk cId="0" sldId="258"/>
            <ac:picMk id="86" creationId="{00000000-0000-0000-0000-000000000000}"/>
          </ac:picMkLst>
        </pc:picChg>
      </pc:sldChg>
      <pc:sldChg chg="modSp">
        <pc:chgData name="Alyssa Williams" userId="S::awill157@msudenver.edu::0c4a8959-bf80-49f1-9442-b3ad7c8ef1c3" providerId="AD" clId="Web-{CD8C25F2-B56F-C4E8-4426-F3F124A64FD7}" dt="2026-06-17T15:00:00.468" v="27" actId="20577"/>
        <pc:sldMkLst>
          <pc:docMk/>
          <pc:sldMk cId="1399452274" sldId="261"/>
        </pc:sldMkLst>
        <pc:spChg chg="mod">
          <ac:chgData name="Alyssa Williams" userId="S::awill157@msudenver.edu::0c4a8959-bf80-49f1-9442-b3ad7c8ef1c3" providerId="AD" clId="Web-{CD8C25F2-B56F-C4E8-4426-F3F124A64FD7}" dt="2026-06-17T15:00:00.468" v="27" actId="20577"/>
          <ac:spMkLst>
            <pc:docMk/>
            <pc:sldMk cId="1399452274" sldId="261"/>
            <ac:spMk id="73" creationId="{DBE53122-998F-ACF1-C879-77C0FF8370A8}"/>
          </ac:spMkLst>
        </pc:spChg>
      </pc:sldChg>
    </pc:docChg>
  </pc:docChgLst>
  <pc:docChgLst>
    <pc:chgData name="Alyssa Williams" userId="S::awill157@msudenver.edu::0c4a8959-bf80-49f1-9442-b3ad7c8ef1c3" providerId="AD" clId="Web-{52BBB808-84E4-978F-30D0-2C1DB00139D6}"/>
    <pc:docChg chg="modSld">
      <pc:chgData name="Alyssa Williams" userId="S::awill157@msudenver.edu::0c4a8959-bf80-49f1-9442-b3ad7c8ef1c3" providerId="AD" clId="Web-{52BBB808-84E4-978F-30D0-2C1DB00139D6}" dt="2026-06-17T00:44:08.026" v="192" actId="20577"/>
      <pc:docMkLst>
        <pc:docMk/>
      </pc:docMkLst>
      <pc:sldChg chg="modSp">
        <pc:chgData name="Alyssa Williams" userId="S::awill157@msudenver.edu::0c4a8959-bf80-49f1-9442-b3ad7c8ef1c3" providerId="AD" clId="Web-{52BBB808-84E4-978F-30D0-2C1DB00139D6}" dt="2026-06-17T00:44:08.026" v="192" actId="20577"/>
        <pc:sldMkLst>
          <pc:docMk/>
          <pc:sldMk cId="0" sldId="257"/>
        </pc:sldMkLst>
        <pc:spChg chg="mod">
          <ac:chgData name="Alyssa Williams" userId="S::awill157@msudenver.edu::0c4a8959-bf80-49f1-9442-b3ad7c8ef1c3" providerId="AD" clId="Web-{52BBB808-84E4-978F-30D0-2C1DB00139D6}" dt="2026-06-17T00:44:08.026" v="192" actId="20577"/>
          <ac:spMkLst>
            <pc:docMk/>
            <pc:sldMk cId="0" sldId="257"/>
            <ac:spMk id="73" creationId="{00000000-0000-0000-0000-000000000000}"/>
          </ac:spMkLst>
        </pc:spChg>
      </pc:sldChg>
      <pc:sldChg chg="modSp">
        <pc:chgData name="Alyssa Williams" userId="S::awill157@msudenver.edu::0c4a8959-bf80-49f1-9442-b3ad7c8ef1c3" providerId="AD" clId="Web-{52BBB808-84E4-978F-30D0-2C1DB00139D6}" dt="2026-06-17T00:42:18.758" v="138" actId="20577"/>
        <pc:sldMkLst>
          <pc:docMk/>
          <pc:sldMk cId="0" sldId="260"/>
        </pc:sldMkLst>
        <pc:spChg chg="mod">
          <ac:chgData name="Alyssa Williams" userId="S::awill157@msudenver.edu::0c4a8959-bf80-49f1-9442-b3ad7c8ef1c3" providerId="AD" clId="Web-{52BBB808-84E4-978F-30D0-2C1DB00139D6}" dt="2026-06-17T00:42:18.758" v="138" actId="20577"/>
          <ac:spMkLst>
            <pc:docMk/>
            <pc:sldMk cId="0" sldId="260"/>
            <ac:spMk id="98" creationId="{00000000-0000-0000-0000-000000000000}"/>
          </ac:spMkLst>
        </pc:spChg>
      </pc:sldChg>
      <pc:sldChg chg="modSp">
        <pc:chgData name="Alyssa Williams" userId="S::awill157@msudenver.edu::0c4a8959-bf80-49f1-9442-b3ad7c8ef1c3" providerId="AD" clId="Web-{52BBB808-84E4-978F-30D0-2C1DB00139D6}" dt="2026-06-17T00:41:03.849" v="125" actId="20577"/>
        <pc:sldMkLst>
          <pc:docMk/>
          <pc:sldMk cId="1399452274" sldId="261"/>
        </pc:sldMkLst>
        <pc:spChg chg="mod">
          <ac:chgData name="Alyssa Williams" userId="S::awill157@msudenver.edu::0c4a8959-bf80-49f1-9442-b3ad7c8ef1c3" providerId="AD" clId="Web-{52BBB808-84E4-978F-30D0-2C1DB00139D6}" dt="2026-06-17T00:41:03.849" v="125" actId="20577"/>
          <ac:spMkLst>
            <pc:docMk/>
            <pc:sldMk cId="1399452274" sldId="261"/>
            <ac:spMk id="73" creationId="{DBE53122-998F-ACF1-C879-77C0FF8370A8}"/>
          </ac:spMkLst>
        </pc:spChg>
      </pc:sldChg>
    </pc:docChg>
  </pc:docChgLst>
  <pc:docChgLst>
    <pc:chgData name="Alyssa Williams" userId="S::awill157@msudenver.edu::0c4a8959-bf80-49f1-9442-b3ad7c8ef1c3" providerId="AD" clId="Web-{DF5C77D9-2591-0819-8AB1-890F0CF52DCC}"/>
    <pc:docChg chg="addSld modSld sldOrd">
      <pc:chgData name="Alyssa Williams" userId="S::awill157@msudenver.edu::0c4a8959-bf80-49f1-9442-b3ad7c8ef1c3" providerId="AD" clId="Web-{DF5C77D9-2591-0819-8AB1-890F0CF52DCC}" dt="2026-06-16T23:30:17.705" v="10" actId="20577"/>
      <pc:docMkLst>
        <pc:docMk/>
      </pc:docMkLst>
      <pc:sldChg chg="modSp add ord replId">
        <pc:chgData name="Alyssa Williams" userId="S::awill157@msudenver.edu::0c4a8959-bf80-49f1-9442-b3ad7c8ef1c3" providerId="AD" clId="Web-{DF5C77D9-2591-0819-8AB1-890F0CF52DCC}" dt="2026-06-16T23:30:17.705" v="10" actId="20577"/>
        <pc:sldMkLst>
          <pc:docMk/>
          <pc:sldMk cId="1399452274" sldId="261"/>
        </pc:sldMkLst>
        <pc:spChg chg="mod">
          <ac:chgData name="Alyssa Williams" userId="S::awill157@msudenver.edu::0c4a8959-bf80-49f1-9442-b3ad7c8ef1c3" providerId="AD" clId="Web-{DF5C77D9-2591-0819-8AB1-890F0CF52DCC}" dt="2026-06-16T23:30:17.705" v="10" actId="20577"/>
          <ac:spMkLst>
            <pc:docMk/>
            <pc:sldMk cId="1399452274" sldId="261"/>
            <ac:spMk id="72" creationId="{55B9A018-BCF6-15CC-4B08-CC316F3278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23EA16C-961C-D784-CE08-07E70C2D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:notes">
            <a:extLst>
              <a:ext uri="{FF2B5EF4-FFF2-40B4-BE49-F238E27FC236}">
                <a16:creationId xmlns:a16="http://schemas.microsoft.com/office/drawing/2014/main" id="{052056F8-6FA1-4EDD-4314-AEBF1B1CA3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:notes">
            <a:extLst>
              <a:ext uri="{FF2B5EF4-FFF2-40B4-BE49-F238E27FC236}">
                <a16:creationId xmlns:a16="http://schemas.microsoft.com/office/drawing/2014/main" id="{FDAA6094-C2D1-3C7F-3BE0-7B475A89BC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3859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12431b89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f12431b89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12431b89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g3f12431b89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8925"/>
            <a:ext cx="5899025" cy="18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70421" y="3131836"/>
            <a:ext cx="6375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70426" y="2143561"/>
            <a:ext cx="79701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- Blank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compariso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5" descr="A blue square with a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descr="A blue square with a white letter f on i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blue square with white letters on i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5" descr="A white butterfly in a blue circl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 descr="A close-up of a logo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8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0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 descr="A white background with black dot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 descr="CRA PPT_page ba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3" name="Google Shape;53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3-lab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msudenver.edu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rranjidh@msudenver.edu" TargetMode="External"/><Relationship Id="rId3" Type="http://schemas.openxmlformats.org/officeDocument/2006/relationships/image" Target="../media/image11.png"/><Relationship Id="rId7" Type="http://schemas.openxmlformats.org/officeDocument/2006/relationships/hyperlink" Target="https://www.linkedin.com/in/dr-ranjidha-rajan-488548b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11" Type="http://schemas.openxmlformats.org/officeDocument/2006/relationships/hyperlink" Target="mailto:awill157@msudenver.edu" TargetMode="External"/><Relationship Id="rId5" Type="http://schemas.openxmlformats.org/officeDocument/2006/relationships/hyperlink" Target="mailto:dpittma8@msudenver.edu" TargetMode="External"/><Relationship Id="rId10" Type="http://schemas.openxmlformats.org/officeDocument/2006/relationships/hyperlink" Target="https://www.linkedin.com/in/chillyssa/" TargetMode="External"/><Relationship Id="rId4" Type="http://schemas.openxmlformats.org/officeDocument/2006/relationships/hyperlink" Target="https://www.linkedin.com/in/danpittman1/" TargetMode="External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stainabilityhub.co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roadrunnerconnect.co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c3-lab.or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rranjidh@msudenver.edu" TargetMode="External"/><Relationship Id="rId5" Type="http://schemas.openxmlformats.org/officeDocument/2006/relationships/hyperlink" Target="mailto:dpittma8@msudenver.edu" TargetMode="External"/><Relationship Id="rId4" Type="http://schemas.openxmlformats.org/officeDocument/2006/relationships/hyperlink" Target="mailto:awill157@msudenver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subTitle" idx="1"/>
          </p:nvPr>
        </p:nvSpPr>
        <p:spPr>
          <a:xfrm>
            <a:off x="270425" y="3429000"/>
            <a:ext cx="8438400" cy="54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770"/>
              <a:buNone/>
            </a:pPr>
            <a:r>
              <a:rPr lang="en-US" sz="2060"/>
              <a:t>Navigating Student Development at Teaching-Focused Institutions</a:t>
            </a:r>
            <a:endParaRPr sz="2060"/>
          </a:p>
        </p:txBody>
      </p:sp>
      <p:sp>
        <p:nvSpPr>
          <p:cNvPr id="66" name="Google Shape;66;p12"/>
          <p:cNvSpPr txBox="1">
            <a:spLocks noGrp="1"/>
          </p:cNvSpPr>
          <p:nvPr>
            <p:ph type="ctrTitle"/>
          </p:nvPr>
        </p:nvSpPr>
        <p:spPr>
          <a:xfrm>
            <a:off x="270425" y="2143550"/>
            <a:ext cx="8268000" cy="1171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Tools, Undergraduate Student Teams, and Production Code:</a:t>
            </a:r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subTitle" idx="1"/>
          </p:nvPr>
        </p:nvSpPr>
        <p:spPr>
          <a:xfrm>
            <a:off x="1521825" y="3977702"/>
            <a:ext cx="4811400" cy="126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770"/>
              <a:buNone/>
            </a:pPr>
            <a:r>
              <a:rPr lang="en-US" sz="1600" i="0"/>
              <a:t>Daniel Pittman and Alyssa Williams </a:t>
            </a:r>
            <a:endParaRPr sz="1600" i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770"/>
              <a:buNone/>
            </a:pPr>
            <a:r>
              <a:rPr lang="en-US" sz="1600" i="0"/>
              <a:t>Metropolitan State University of Denver </a:t>
            </a:r>
            <a:endParaRPr sz="1600" i="0"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SzPts val="770"/>
              <a:buNone/>
            </a:pPr>
            <a:r>
              <a:rPr lang="en-US" sz="1600" i="0"/>
              <a:t>Friday, June 19, 2026</a:t>
            </a:r>
            <a:endParaRPr sz="1600" i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Community Centered Computing (C3) Lab 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75000"/>
              <a:buChar char="•"/>
            </a:pPr>
            <a:r>
              <a:rPr lang="en-US" sz="1900"/>
              <a:t>At </a:t>
            </a:r>
            <a:r>
              <a:rPr lang="en-US" sz="1900" b="1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C3 Lab</a:t>
            </a:r>
            <a:r>
              <a:rPr lang="en-US" sz="1900"/>
              <a:t>, we design and deploy computing systems that empower communities by improving access to information, strengthening decision-making, and enabling human-centered interaction with data and AI tools.</a:t>
            </a:r>
          </a:p>
          <a:p>
            <a:pPr indent="-323850">
              <a:spcBef>
                <a:spcPts val="1400"/>
              </a:spcBef>
              <a:buSzPct val="75000"/>
            </a:pPr>
            <a:r>
              <a:rPr lang="en-US" sz="1900" b="1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MSU Denver</a:t>
            </a:r>
            <a:r>
              <a:rPr lang="en-US" sz="1900"/>
              <a:t> is an open-enrollment, primarily undergraduate, teaching-focused university. Research is not our primary mission, yet undergraduates (many barely past their second year) are building production-deployed, grant and university-funded systems. </a:t>
            </a:r>
            <a:endParaRPr sz="1900"/>
          </a:p>
          <a:p>
            <a:pPr indent="-323850">
              <a:spcBef>
                <a:spcPts val="1400"/>
              </a:spcBef>
              <a:buSzPct val="75000"/>
            </a:pPr>
            <a:r>
              <a:rPr lang="en-US" sz="1900"/>
              <a:t>We work with 15 to 20 undergraduate student developers working alongside coursework, co-directed by Dr. Daniel Pittman and Dr. Ranjidha Rajan.</a:t>
            </a:r>
            <a:endParaRPr sz="1900"/>
          </a:p>
          <a:p>
            <a:pPr indent="-323850">
              <a:spcBef>
                <a:spcPts val="1400"/>
              </a:spcBef>
              <a:buSzPct val="75000"/>
            </a:pPr>
            <a:r>
              <a:rPr lang="en-US" sz="1900"/>
              <a:t>Our standing challenge is that teams turn over every semester, so we live with one persistent question: how do you keep code quality, knowledge continuity, and real learning alive on production systems when the team is always changing?</a:t>
            </a:r>
            <a:endParaRPr sz="1900"/>
          </a:p>
          <a:p>
            <a:pPr marL="457200" lvl="0" indent="-32385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75000"/>
              <a:buChar char="•"/>
            </a:pPr>
            <a:r>
              <a:rPr lang="en-US" sz="1900"/>
              <a:t>AI is now central. Tools like Claude Code are part of the daily workflow for code review, pair programming, and onboarding, which expands what a small student team can accomplish (and raises the questions we are here to discuss).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679546" y="241222"/>
            <a:ext cx="10363200" cy="7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C3 Lab Leadership</a:t>
            </a:r>
            <a:endParaRPr/>
          </a:p>
        </p:txBody>
      </p:sp>
      <p:grpSp>
        <p:nvGrpSpPr>
          <p:cNvPr id="79" name="Google Shape;79;p14"/>
          <p:cNvGrpSpPr/>
          <p:nvPr/>
        </p:nvGrpSpPr>
        <p:grpSpPr>
          <a:xfrm>
            <a:off x="639175" y="1361475"/>
            <a:ext cx="3351665" cy="5181375"/>
            <a:chOff x="639175" y="1418050"/>
            <a:chExt cx="3351665" cy="5181375"/>
          </a:xfrm>
        </p:grpSpPr>
        <p:pic>
          <p:nvPicPr>
            <p:cNvPr id="80" name="Google Shape;80;p14"/>
            <p:cNvPicPr preferRelativeResize="0"/>
            <p:nvPr/>
          </p:nvPicPr>
          <p:blipFill rotWithShape="1">
            <a:blip r:embed="rId3">
              <a:alphaModFix/>
            </a:blip>
            <a:srcRect l="8019" t="6325" r="8620" b="28938"/>
            <a:stretch/>
          </p:blipFill>
          <p:spPr>
            <a:xfrm>
              <a:off x="639175" y="1418050"/>
              <a:ext cx="3351665" cy="33676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4"/>
            <p:cNvSpPr txBox="1"/>
            <p:nvPr/>
          </p:nvSpPr>
          <p:spPr>
            <a:xfrm>
              <a:off x="815000" y="4760125"/>
              <a:ext cx="3000000" cy="183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u="sng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Dr. Daniel Pittman</a:t>
              </a:r>
              <a:endParaRPr sz="1700" b="1" u="sng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Co-Director</a:t>
              </a:r>
              <a:endParaRPr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Associate Professor</a:t>
              </a:r>
              <a:br>
                <a:rPr lang="en-US" sz="15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</a:br>
              <a:r>
                <a:rPr lang="en-US" sz="15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Computer Sciences</a:t>
              </a:r>
              <a:endParaRPr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-US" sz="1500" u="sng">
                  <a:solidFill>
                    <a:schemeClr val="hlink"/>
                  </a:solidFill>
                  <a:latin typeface="Helvetica Neue"/>
                  <a:ea typeface="Helvetica Neue"/>
                  <a:cs typeface="Helvetica Neue"/>
                  <a:sym typeface="Helvetica Neue"/>
                  <a:hlinkClick r:id="rId5"/>
                </a:rPr>
                <a:t>dpittma8@msudenver.edu</a:t>
              </a:r>
              <a:r>
                <a:rPr lang="en-US" sz="15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endParaRPr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83" name="Google Shape;83;p14"/>
          <p:cNvPicPr preferRelativeResize="0"/>
          <p:nvPr/>
        </p:nvPicPr>
        <p:blipFill rotWithShape="1">
          <a:blip r:embed="rId6">
            <a:alphaModFix/>
          </a:blip>
          <a:srcRect l="7687" t="6325" r="7560" b="28938"/>
          <a:stretch/>
        </p:blipFill>
        <p:spPr>
          <a:xfrm>
            <a:off x="4185321" y="1361472"/>
            <a:ext cx="3351665" cy="331242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 txBox="1"/>
          <p:nvPr/>
        </p:nvSpPr>
        <p:spPr>
          <a:xfrm>
            <a:off x="4361138" y="4703550"/>
            <a:ext cx="3000000" cy="202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u="sng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Dr. Ranjidha Rajan</a:t>
            </a:r>
            <a:endParaRPr sz="1700" b="1" u="sng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Co-Director</a:t>
            </a:r>
            <a:endParaRPr sz="16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Assistant Professor</a:t>
            </a:r>
            <a:br>
              <a:rPr lang="en-US" sz="1500" dirty="0">
                <a:latin typeface="Helvetica Neue"/>
                <a:ea typeface="Helvetica Neue"/>
                <a:cs typeface="Helvetica Neue"/>
              </a:rPr>
            </a:b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Sciences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u="sng" dirty="0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rranjidh@msudenver.edu</a:t>
            </a:r>
            <a:r>
              <a:rPr lang="en-US" sz="15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5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 rotWithShape="1">
          <a:blip r:embed="rId9">
            <a:alphaModFix/>
          </a:blip>
          <a:srcRect r="8509" b="28866"/>
          <a:stretch/>
        </p:blipFill>
        <p:spPr>
          <a:xfrm>
            <a:off x="7731459" y="1361470"/>
            <a:ext cx="3351665" cy="3371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4;p14">
            <a:extLst>
              <a:ext uri="{FF2B5EF4-FFF2-40B4-BE49-F238E27FC236}">
                <a16:creationId xmlns:a16="http://schemas.microsoft.com/office/drawing/2014/main" id="{C00F5E85-E03F-248B-A977-AE049493B6FD}"/>
              </a:ext>
            </a:extLst>
          </p:cNvPr>
          <p:cNvSpPr txBox="1"/>
          <p:nvPr/>
        </p:nvSpPr>
        <p:spPr>
          <a:xfrm>
            <a:off x="7910178" y="4703549"/>
            <a:ext cx="3000000" cy="202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700" b="1" u="sng" dirty="0">
                <a:solidFill>
                  <a:schemeClr val="bg2"/>
                </a:solidFill>
                <a:latin typeface="Helvetica Neue"/>
                <a:sym typeface="Helvetica Neue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Alyssa Williams</a:t>
            </a:r>
            <a:endParaRPr lang="en-US">
              <a:solidFill>
                <a:schemeClr val="bg2"/>
              </a:solidFill>
              <a:hlinkClick r:id="rId10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>
              <a:lnSpc>
                <a:spcPct val="114999"/>
              </a:lnSpc>
              <a:spcBef>
                <a:spcPts val="300"/>
              </a:spcBef>
            </a:pPr>
            <a:r>
              <a:rPr lang="en-US" sz="1600">
                <a:solidFill>
                  <a:schemeClr val="dk1"/>
                </a:solidFill>
                <a:latin typeface="Helvetica Neue"/>
                <a:sym typeface="Helvetica Neue"/>
              </a:rPr>
              <a:t>Technical Project Manager</a:t>
            </a:r>
            <a:endParaRPr>
              <a:solidFill>
                <a:schemeClr val="dk1"/>
              </a:solidFill>
            </a:endParaRPr>
          </a:p>
          <a:p>
            <a:pPr algn="ctr">
              <a:lnSpc>
                <a:spcPct val="114999"/>
              </a:lnSpc>
              <a:spcBef>
                <a:spcPts val="600"/>
              </a:spcBef>
            </a:pP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Staff</a:t>
            </a:r>
            <a:b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Computer Sciences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u="sng" dirty="0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awill157@msudenver.edu</a:t>
            </a:r>
            <a:r>
              <a:rPr lang="en-US" sz="15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5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3841B7DA-D60F-7314-81C6-25FD5302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55B9A018-BCF6-15CC-4B08-CC316F327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/>
              <a:t>Current Projects </a:t>
            </a:r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DBE53122-998F-ACF1-C879-77C0FF8370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1950" indent="-285750">
              <a:buSzPct val="75000"/>
            </a:pPr>
            <a:r>
              <a:rPr lang="en-US" sz="2100" b="1" dirty="0">
                <a:hlinkClick r:id="rId3"/>
              </a:rPr>
              <a:t>Sustainability Hub</a:t>
            </a:r>
            <a:r>
              <a:rPr lang="en-US" sz="2100"/>
              <a:t> - NSF-funded statewide platform integrating AI, geospatial systems, and natural language interaction to make Colorado's sustainability data accessible to all.</a:t>
            </a:r>
            <a:endParaRPr lang="en-US" sz="2100" dirty="0"/>
          </a:p>
          <a:p>
            <a:pPr marL="361950" indent="-285750">
              <a:buSzPct val="75000"/>
            </a:pPr>
            <a:r>
              <a:rPr lang="en-US" sz="2100" b="1"/>
              <a:t>RILE Connect</a:t>
            </a:r>
            <a:r>
              <a:rPr lang="en-US" sz="2100"/>
              <a:t> - SIPA-funded statewide STEM ecosystem platform connecting K-12 schools, higher education institutions, nonprofits, and industry partners across Colorado to strengthen STEM education and workforce development.</a:t>
            </a:r>
            <a:endParaRPr lang="en-US"/>
          </a:p>
          <a:p>
            <a:pPr marL="361950" indent="-285750">
              <a:buSzPct val="75000"/>
            </a:pPr>
            <a:r>
              <a:rPr lang="en-US" sz="2100" b="1" dirty="0">
                <a:hlinkClick r:id="rId4"/>
              </a:rPr>
              <a:t>Roadrunner Connect</a:t>
            </a:r>
            <a:r>
              <a:rPr lang="en-US" sz="2100"/>
              <a:t> - Mobile application enhancing broader </a:t>
            </a:r>
            <a:r>
              <a:rPr lang="en-US" sz="2100" err="1"/>
              <a:t>denver</a:t>
            </a:r>
            <a:r>
              <a:rPr lang="en-US" sz="2100" dirty="0"/>
              <a:t> </a:t>
            </a:r>
            <a:r>
              <a:rPr lang="en-US" sz="2100"/>
              <a:t>area community engagement at MSU Denver through gamified through gamified campus exploration and event discovery.</a:t>
            </a:r>
          </a:p>
          <a:p>
            <a:pPr marL="361950" indent="-285750">
              <a:buSzPct val="75000"/>
            </a:pPr>
            <a:r>
              <a:rPr lang="en-US" sz="2100" b="1"/>
              <a:t>Peer Support Hub</a:t>
            </a:r>
            <a:r>
              <a:rPr lang="en-US" sz="2100"/>
              <a:t> - Unified platform for coordinating Supplemental Instruction, Teaching Assistant, and Learning Assistant peer support programs at MSU </a:t>
            </a:r>
            <a:r>
              <a:rPr lang="en-US" sz="2100" dirty="0"/>
              <a:t>Denver, streamlining faculty applications and improving equitable distribution of peer support resources across departments</a:t>
            </a:r>
            <a:endParaRPr sz="2100"/>
          </a:p>
        </p:txBody>
      </p:sp>
    </p:spTree>
    <p:extLst>
      <p:ext uri="{BB962C8B-B14F-4D97-AF65-F5344CB8AC3E}">
        <p14:creationId xmlns:p14="http://schemas.microsoft.com/office/powerpoint/2010/main" val="139945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00" cy="6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Today’s Discussion Questions</a:t>
            </a:r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700" cy="47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6957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How are you integrating AI tools into student development work, and what guardrails are in place? </a:t>
            </a:r>
            <a:endParaRPr/>
          </a:p>
          <a:p>
            <a:pPr marL="457200" lvl="0" indent="-36957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How do you balance AI-assisted productivity with ensuring students can read, explain, and defend their code? </a:t>
            </a:r>
            <a:endParaRPr/>
          </a:p>
          <a:p>
            <a:pPr marL="457200" lvl="0" indent="-36957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What expectations are you setting for students around AI use, and how do you hold them accountable without discouraging adoption? </a:t>
            </a:r>
            <a:endParaRPr/>
          </a:p>
          <a:p>
            <a:pPr marL="457200" lvl="0" indent="-36957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75000"/>
              <a:buChar char="•"/>
            </a:pPr>
            <a:r>
              <a:rPr lang="en-US"/>
              <a:t>What project management or operational models have you adapted for student research teams?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subTitle" idx="1"/>
          </p:nvPr>
        </p:nvSpPr>
        <p:spPr>
          <a:xfrm>
            <a:off x="270425" y="2820825"/>
            <a:ext cx="8438400" cy="1507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770"/>
              <a:buNone/>
            </a:pPr>
            <a:r>
              <a:rPr lang="en-US" sz="2050"/>
              <a:t>Website - </a:t>
            </a:r>
            <a:r>
              <a:rPr lang="en-US" sz="205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c3-lab.org</a:t>
            </a:r>
            <a:r>
              <a:rPr lang="en-US" sz="2050" dirty="0"/>
              <a:t> </a:t>
            </a:r>
            <a:endParaRPr sz="205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770"/>
              <a:buNone/>
            </a:pPr>
            <a:r>
              <a:rPr lang="en-US" sz="2050"/>
              <a:t>Alyssa Williams, TPM - </a:t>
            </a:r>
            <a:r>
              <a:rPr lang="en-US" sz="205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awill157@msudenver.edu</a:t>
            </a:r>
            <a:r>
              <a:rPr lang="en-US" sz="2050" dirty="0"/>
              <a:t> </a:t>
            </a:r>
            <a:endParaRPr sz="205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SzPts val="770"/>
              <a:buNone/>
            </a:pPr>
            <a:r>
              <a:rPr lang="en-US" sz="2050"/>
              <a:t>Daniel Pittman, Co-director - </a:t>
            </a:r>
            <a:r>
              <a:rPr lang="en-US" sz="2050" u="sng" dirty="0">
                <a:solidFill>
                  <a:schemeClr val="hlink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dpittma8@msudenver.edu</a:t>
            </a:r>
            <a:endParaRPr sz="2060">
              <a:solidFill>
                <a:schemeClr val="hlink"/>
              </a:solidFill>
            </a:endParaRPr>
          </a:p>
          <a:p>
            <a:pPr algn="l">
              <a:buNone/>
            </a:pPr>
            <a:r>
              <a:rPr lang="en-US" sz="2100">
                <a:solidFill>
                  <a:srgbClr val="000000"/>
                </a:solidFill>
              </a:rPr>
              <a:t>Ranjidha Rajan, Co-director - </a:t>
            </a:r>
            <a:r>
              <a:rPr lang="en-US" sz="2100" dirty="0">
                <a:solidFill>
                  <a:schemeClr val="hlink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rranjidh@msudenver.edu</a:t>
            </a:r>
            <a:endParaRPr lang="en-US" sz="2100" i="0">
              <a:solidFill>
                <a:schemeClr val="hlink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SzPts val="770"/>
              <a:buNone/>
            </a:pPr>
            <a:endParaRPr lang="en-US" sz="2050" u="sng" dirty="0">
              <a:solidFill>
                <a:schemeClr val="hlink"/>
              </a:solidFill>
            </a:endParaRPr>
          </a:p>
          <a:p>
            <a:pPr marL="0" lvl="0" indent="0" algn="l">
              <a:spcBef>
                <a:spcPts val="480"/>
              </a:spcBef>
              <a:spcAft>
                <a:spcPts val="0"/>
              </a:spcAft>
              <a:buSzPts val="770"/>
              <a:buNone/>
            </a:pPr>
            <a:endParaRPr lang="en-US" sz="2050" u="sng" dirty="0">
              <a:solidFill>
                <a:schemeClr val="hlink"/>
              </a:solidFill>
            </a:endParaRPr>
          </a:p>
          <a:p>
            <a:pPr marL="0" indent="0" algn="l">
              <a:buSzPts val="770"/>
              <a:buNone/>
            </a:pPr>
            <a:endParaRPr lang="en-US" sz="2060"/>
          </a:p>
        </p:txBody>
      </p:sp>
      <p:sp>
        <p:nvSpPr>
          <p:cNvPr id="99" name="Google Shape;99;p16"/>
          <p:cNvSpPr txBox="1">
            <a:spLocks noGrp="1"/>
          </p:cNvSpPr>
          <p:nvPr>
            <p:ph type="ctrTitle"/>
          </p:nvPr>
        </p:nvSpPr>
        <p:spPr>
          <a:xfrm>
            <a:off x="270425" y="1846525"/>
            <a:ext cx="8268000" cy="1171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in touch!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79C9217876A8478B0A8CC3AD0AD4FA" ma:contentTypeVersion="14" ma:contentTypeDescription="Create a new document." ma:contentTypeScope="" ma:versionID="c3b53ce4e63ef8fcfb2d90ff52280610">
  <xsd:schema xmlns:xsd="http://www.w3.org/2001/XMLSchema" xmlns:xs="http://www.w3.org/2001/XMLSchema" xmlns:p="http://schemas.microsoft.com/office/2006/metadata/properties" xmlns:ns2="e12187ea-dc3f-45c3-ab42-a5dacf9c99ec" xmlns:ns3="3b91324e-0d3c-41e0-8602-5dda7e04f0c2" targetNamespace="http://schemas.microsoft.com/office/2006/metadata/properties" ma:root="true" ma:fieldsID="ffa04167973d1ccd28e771dcfd79dffe" ns2:_="" ns3:_="">
    <xsd:import namespace="e12187ea-dc3f-45c3-ab42-a5dacf9c99ec"/>
    <xsd:import namespace="3b91324e-0d3c-41e0-8602-5dda7e04f0c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187ea-dc3f-45c3-ab42-a5dacf9c99e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4d046c6b-b5e6-48ef-b988-0644c85f07a4}" ma:internalName="TaxCatchAll" ma:showField="CatchAllData" ma:web="e12187ea-dc3f-45c3-ab42-a5dacf9c99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91324e-0d3c-41e0-8602-5dda7e04f0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23401fd-4171-4ebb-b21f-c984330e7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b91324e-0d3c-41e0-8602-5dda7e04f0c2">
      <Terms xmlns="http://schemas.microsoft.com/office/infopath/2007/PartnerControls"/>
    </lcf76f155ced4ddcb4097134ff3c332f>
    <TaxCatchAll xmlns="e12187ea-dc3f-45c3-ab42-a5dacf9c99ec" xsi:nil="true"/>
  </documentManagement>
</p:properties>
</file>

<file path=customXml/itemProps1.xml><?xml version="1.0" encoding="utf-8"?>
<ds:datastoreItem xmlns:ds="http://schemas.openxmlformats.org/officeDocument/2006/customXml" ds:itemID="{81E3A353-5AFE-43E4-9063-D7C0DECDC4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D36ED2-CED0-418C-AD8A-E9B18B7BF5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187ea-dc3f-45c3-ab42-a5dacf9c99ec"/>
    <ds:schemaRef ds:uri="3b91324e-0d3c-41e0-8602-5dda7e04f0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6E104B-ACF0-4DC6-9536-8F19E6048AE6}">
  <ds:schemaRefs>
    <ds:schemaRef ds:uri="http://schemas.microsoft.com/office/2006/metadata/properties"/>
    <ds:schemaRef ds:uri="http://schemas.microsoft.com/office/infopath/2007/PartnerControls"/>
    <ds:schemaRef ds:uri="3b91324e-0d3c-41e0-8602-5dda7e04f0c2"/>
    <ds:schemaRef ds:uri="e12187ea-dc3f-45c3-ab42-a5dacf9c99e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Office Theme</vt:lpstr>
      <vt:lpstr>AI Tools, Undergraduate Student Teams, and Production Code:</vt:lpstr>
      <vt:lpstr>Community Centered Computing (C3) Lab </vt:lpstr>
      <vt:lpstr>C3 Lab Leadership</vt:lpstr>
      <vt:lpstr>Current Projects </vt:lpstr>
      <vt:lpstr>Today’s Discussion Questions</vt:lpstr>
      <vt:lpstr>Keep in touch!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88</cp:revision>
  <dcterms:modified xsi:type="dcterms:W3CDTF">2026-06-17T15:04:15Z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0x0101004379C9217876A8478B0A8CC3AD0AD4FA</vt:lpwstr>
  </property>
  <property fmtid="{D5CDD505-2E9C-101B-9397-08002B2CF9AE}" pid="3" name="MediaServiceImageTags">
    <vt:lpwstr/>
  </property>
</Properties>
</file>