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338" r:id="rId8"/>
    <p:sldId id="262" r:id="rId9"/>
    <p:sldId id="337" r:id="rId10"/>
    <p:sldId id="263" r:id="rId11"/>
    <p:sldId id="264" r:id="rId12"/>
    <p:sldId id="265" r:id="rId13"/>
    <p:sldId id="266" r:id="rId14"/>
    <p:sldId id="267" r:id="rId15"/>
    <p:sldId id="268" r:id="rId16"/>
    <p:sldId id="269" r:id="rId17"/>
    <p:sldId id="270" r:id="rId18"/>
    <p:sldId id="27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1"/>
    <p:restoredTop sz="80388"/>
  </p:normalViewPr>
  <p:slideViewPr>
    <p:cSldViewPr snapToGrid="0" snapToObjects="1">
      <p:cViewPr varScale="1">
        <p:scale>
          <a:sx n="113" d="100"/>
          <a:sy n="113" d="100"/>
        </p:scale>
        <p:origin x="1232" y="7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259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thanking the organizers and situating the talk as a practical classroom story.
The central claim is that GenAI is not just another tool students use outside class. It changes the nature of computing work, so we need a teachable structure for using it.
Preview the promise: a framework that faculty can reuse without requiring new infrastructure, large grants, or specialized AI courses.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for the whole talk.
In the past, AI was often something inside a program, such as a classifier or decision component. Then AI became a tool that supports developers. Now, in many workflows, AI participates in defining and constructing the program through prompts, explanations, tests, and iterative revisions.
The educational implication is simple: if students will work in this environment after graduation, we should teach them how to use it responsibly rather than pretending it does not exist.</a:t>
            </a:r>
          </a:p>
          <a:p>
            <a:r>
              <a:rPr lang="en-US" b="1" dirty="0"/>
              <a:t>ELIZA</a:t>
            </a:r>
            <a:r>
              <a:rPr lang="en-US" dirty="0"/>
              <a:t> → early text chatbot (very simple pattern matching) </a:t>
            </a:r>
          </a:p>
          <a:p>
            <a:r>
              <a:rPr lang="en-US" b="1" dirty="0"/>
              <a:t>Deep Blue</a:t>
            </a:r>
            <a:r>
              <a:rPr lang="en-US" dirty="0"/>
              <a:t> → specialized AI for chess (calculation + strategy search) </a:t>
            </a:r>
          </a:p>
          <a:p>
            <a:r>
              <a:rPr lang="en-US" b="1" dirty="0"/>
              <a:t>ChatGPT</a:t>
            </a:r>
            <a:r>
              <a:rPr lang="en-US" dirty="0"/>
              <a:t> → modern AI that generates human-like language using large-scale learning from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here is not that fundamentals disappear. The point is that the artifact students work with is broader than code alone.
When a program depends on a model, a dataset, a prompt, or an AI-generated explanation, students need habits for specification, evaluation, and documentation.
This is why the rest of the talk focuses on structured use rather than unrestricted use. Structure lets us preserve core learning while also preparing students for hybrid computing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motivation slides, state the central instructional problem: students are already using these tools, but many course policies still treat AI use as all-or-nothing.
The talk proposes a middle path. The key is not to ask, “Should AI be allowed?” in the abstract. The better question is, “What is the learning goal of this activity, and what kind of AI use supports that goal?”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Spend about three minutes on motivation, six minutes on the three categories, four minutes on classroom techniques, four minutes on assessment best practices, and the remaining time on scalability, outcomes, and questions.
Emphasize that this is designed to be practical for faculty who need course-ready ideas, not only theoretical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framework as the simplest reusable piece of the talk.
Category 1 is for exploration and creativity. Category 2 is for guided reasoning and reflection. Category 3 is for independent mastery.
The categories are not a hierarchy of difficulty. They are a way to align AI permissions with learning intent. The same course can and should use all three categories.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86883-1C0D-3542-BDBD-EC137AFC4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75C95-7F64-0A9C-D9D3-90ACC89B92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87DE64-02AD-954E-8EEE-2FD08DE9B209}"/>
              </a:ext>
            </a:extLst>
          </p:cNvPr>
          <p:cNvSpPr>
            <a:spLocks noGrp="1"/>
          </p:cNvSpPr>
          <p:nvPr>
            <p:ph type="body" idx="1"/>
          </p:nvPr>
        </p:nvSpPr>
        <p:spPr/>
        <p:txBody>
          <a:bodyPr/>
          <a:lstStyle/>
          <a:p>
            <a:r>
              <a:rPr lang="en-US" dirty="0"/>
              <a:t>Use this example to show that free use does not mean unstructured learning.
Students still have to define representations and explain their choices. AI helps them explore alternatives and generate implementation details more quickly.
A good phrase to use: “Free use is appropriate when the learning goal is breadth, exploration, comparison, or creativity—not when the goal is to measure individual mastery of a core skill.”</a:t>
            </a:r>
          </a:p>
        </p:txBody>
      </p:sp>
      <p:sp>
        <p:nvSpPr>
          <p:cNvPr id="4" name="Slide Number Placeholder 3">
            <a:extLst>
              <a:ext uri="{FF2B5EF4-FFF2-40B4-BE49-F238E27FC236}">
                <a16:creationId xmlns:a16="http://schemas.microsoft.com/office/drawing/2014/main" id="{24DA5494-AA5F-8D53-A3D3-1B4D48AE264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3434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example to show that free use does not mean unstructured learning.
Students still have to define representations and explain their choices. AI helps them explore alternatives and generate implementation details more quickly.
A good phrase to use: “Free use is appropriate when the learning goal is breadth, exploration, comparison, or creativity—not when the goal is to measure individual mastery of a core skill.”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2 is often the most useful category for programming and data structures.
Students must first write the logic in their own words. Then AI can be used to implement, compare, or debug.
The assessment target becomes the student’s reasoning and their ability to validate the AI output, not only whether the final code runs.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the framework from being misunderstood as “AI everywhere.”
Some competencies still need to be demonstrated independently. Students should be able to trace code, reason about recursion, analyze complexity, and explain data structure operations without a chatbot.
Category 3 also protects equity and confidence: students need evidence that they themselves understand the fundamentals.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classroom routines that can be repeated across assignments.
Clarifying questions help students avoid solving the wrong problem. Decomposition diagrams reduce overwhelm and encourage modular design. Function contracts give AI a clear target and give students a basis for testing. Verification loops teach students that AI output is provisional, not authoritative.
This is where prompt engineering becomes computational thinking.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1" indent="-342900">
              <a:buFont typeface="Arial" panose="020B0604020202020204" pitchFamily="34" charset="0"/>
              <a:buChar char="•"/>
              <a:defRPr sz="2200">
                <a:solidFill>
                  <a:srgbClr val="464646"/>
                </a:solidFill>
                <a:latin typeface="Calibri"/>
              </a:defRPr>
            </a:pPr>
            <a:r>
              <a:rPr lang="en-US" sz="2000" dirty="0"/>
              <a:t>Ask clarifying questions before solving problems</a:t>
            </a:r>
          </a:p>
          <a:p>
            <a:pPr marL="342900" lvl="1" indent="-342900">
              <a:buFont typeface="Arial" panose="020B0604020202020204" pitchFamily="34" charset="0"/>
              <a:buChar char="•"/>
              <a:defRPr sz="2200">
                <a:solidFill>
                  <a:srgbClr val="464646"/>
                </a:solidFill>
                <a:latin typeface="Calibri"/>
              </a:defRPr>
            </a:pPr>
            <a:r>
              <a:rPr lang="en-US" sz="2000" dirty="0"/>
              <a:t>Use decomposition diagrams to break large tasks into smaller components</a:t>
            </a:r>
          </a:p>
          <a:p>
            <a:pPr marL="342900" lvl="1" indent="-342900">
              <a:buFont typeface="Arial" panose="020B0604020202020204" pitchFamily="34" charset="0"/>
              <a:buChar char="•"/>
              <a:defRPr sz="2200">
                <a:solidFill>
                  <a:srgbClr val="464646"/>
                </a:solidFill>
                <a:latin typeface="Calibri"/>
              </a:defRPr>
            </a:pPr>
            <a:r>
              <a:rPr lang="en-US" sz="2000" dirty="0"/>
              <a:t>Define function contracts before using AI to implement solutions</a:t>
            </a:r>
          </a:p>
          <a:p>
            <a:r>
              <a:rPr lang="en-US" dirty="0"/>
              <a:t>
The important feature is that AI is delayed until students have clarified the problem and decomposed it. Students can ask AI to implement one function at a time, but they remain responsible for integration and testing.
This makes AI useful without letting it replace the design phase.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as the faculty-facing part of the talk.
At FIU KFSCIS, faculty discussions and classroom experiments over the past two semesters led to seven recurring assessment practices.
The headline is that good assessment in the GenAI era should not simply ask, “Can we detect cheating?” It should ask, “Have we designed the task so the valuable human work is visible?”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instance, instead of asking only for a working merge sort implementation, ask students to draw the recursion tree, annotate the time and space complexity, and explain what they verified after using AI.
Also point out that documentation is not only for policing. It teaches metacognition: students learn to notice what the AI gave them, what they trusted, what they changed, and why.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Use AI to help with rubrics, variations, mistakes, and feedback, while teachers make the final decisions.”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NAIRR theme of scaling AI education.
The value of this framework is that it is lightweight. It can be adopted in a single assignment, a module, or a course sequence.
For research-emerging institutions, this matters because faculty time and infrastructure are often limited. The scalable unit is the teaching routine: clarify, decompose, contract, verify, document.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outcome claims appropriately careful: preliminary classroom outcomes suggest improvements in engagement, problem-solving habits, responsible use, decomposition, and evaluation.
Then connect to NAIRR: the goal is not just individual course improvement. It is to build a community of practice around scalable AI education, especially approaches that can work across institutions with different resource levels.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main message in one sentence: GenAI can support learning when its use is intentionally aligned with the learning goal.
Invite questions around implementation: how to write policies, how to create AI usage reports, how to adapt the three categories in different courses, and how to assess reasoning rather than only products.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7F6F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4493999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Rook_(ches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en.wikipedia.org/wiki/Tic-tac-to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E3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E3F"/>
          </a:solidFill>
          <a:ln w="12700">
            <a:solidFill>
              <a:srgbClr val="081E3F">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081E3F">
              <a:alpha val="0"/>
            </a:srgbClr>
          </a:solidFill>
          <a:ln w="19050">
            <a:solidFill>
              <a:srgbClr val="B6862C">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081E3F">
              <a:alpha val="0"/>
            </a:srgbClr>
          </a:solidFill>
          <a:ln w="15240">
            <a:solidFill>
              <a:srgbClr val="B6862C">
                <a:alpha val="12000"/>
              </a:srgbClr>
            </a:solidFill>
            <a:prstDash val="solid"/>
          </a:ln>
        </p:spPr>
        <p:txBody>
          <a:bodyPr/>
          <a:lstStyle/>
          <a:p>
            <a:endParaRPr lang="en-US"/>
          </a:p>
        </p:txBody>
      </p:sp>
      <p:sp>
        <p:nvSpPr>
          <p:cNvPr id="6" name="Text 4"/>
          <p:cNvSpPr/>
          <p:nvPr/>
        </p:nvSpPr>
        <p:spPr>
          <a:xfrm>
            <a:off x="685800" y="914400"/>
            <a:ext cx="7863840" cy="1280160"/>
          </a:xfrm>
          <a:prstGeom prst="rect">
            <a:avLst/>
          </a:prstGeom>
          <a:noFill/>
          <a:ln/>
        </p:spPr>
        <p:txBody>
          <a:bodyPr wrap="square" lIns="0" tIns="0" rIns="0" bIns="0" rtlCol="0" anchor="ctr">
            <a:normAutofit/>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STRUCTURED INTEGRATION</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OF GENERATIVE AI</a:t>
            </a:r>
            <a:endParaRPr lang="en-US" sz="3800" dirty="0"/>
          </a:p>
        </p:txBody>
      </p:sp>
      <p:sp>
        <p:nvSpPr>
          <p:cNvPr id="7" name="Text 5"/>
          <p:cNvSpPr/>
          <p:nvPr/>
        </p:nvSpPr>
        <p:spPr>
          <a:xfrm>
            <a:off x="749808" y="2377440"/>
            <a:ext cx="7406640" cy="411480"/>
          </a:xfrm>
          <a:prstGeom prst="rect">
            <a:avLst/>
          </a:prstGeom>
          <a:noFill/>
          <a:ln/>
        </p:spPr>
        <p:txBody>
          <a:bodyPr wrap="square" lIns="0" tIns="0" rIns="0" bIns="0" rtlCol="0" anchor="ctr">
            <a:normAutofit/>
          </a:bodyPr>
          <a:lstStyle/>
          <a:p>
            <a:pPr marL="0" indent="0">
              <a:buNone/>
            </a:pPr>
            <a:r>
              <a:rPr lang="en-US" sz="2000" b="1" dirty="0">
                <a:solidFill>
                  <a:srgbClr val="D1A644"/>
                </a:solidFill>
              </a:rPr>
              <a:t>to Scale AI Education in Computing Programs</a:t>
            </a:r>
            <a:endParaRPr lang="en-US" sz="2000" dirty="0"/>
          </a:p>
        </p:txBody>
      </p:sp>
      <p:sp>
        <p:nvSpPr>
          <p:cNvPr id="8" name="Text 6"/>
          <p:cNvSpPr/>
          <p:nvPr/>
        </p:nvSpPr>
        <p:spPr>
          <a:xfrm>
            <a:off x="758952" y="5010912"/>
            <a:ext cx="6126480" cy="548640"/>
          </a:xfrm>
          <a:prstGeom prst="rect">
            <a:avLst/>
          </a:prstGeom>
          <a:noFill/>
          <a:ln/>
        </p:spPr>
        <p:txBody>
          <a:bodyPr wrap="square" lIns="0" tIns="0" rIns="0" bIns="0" rtlCol="0" anchor="ctr">
            <a:normAutofit fontScale="92500" lnSpcReduction="20000"/>
          </a:bodyPr>
          <a:lstStyle/>
          <a:p>
            <a:pPr marL="0" indent="0">
              <a:buNone/>
            </a:pPr>
            <a:r>
              <a:rPr lang="en-US" sz="1500" dirty="0">
                <a:solidFill>
                  <a:srgbClr val="FFFFFF"/>
                </a:solidFill>
              </a:rPr>
              <a:t> Samira Zad , Ph.D.</a:t>
            </a:r>
          </a:p>
          <a:p>
            <a:pPr marL="0" indent="0">
              <a:buNone/>
            </a:pPr>
            <a:r>
              <a:rPr lang="en-US" sz="1500" dirty="0">
                <a:solidFill>
                  <a:srgbClr val="FFFFFF"/>
                </a:solidFill>
              </a:rPr>
              <a:t>Assistant Teaching Professor</a:t>
            </a:r>
            <a:endParaRPr lang="en-US" sz="1500" dirty="0"/>
          </a:p>
          <a:p>
            <a:pPr marL="0" indent="0">
              <a:buNone/>
            </a:pPr>
            <a:r>
              <a:rPr lang="en-US" sz="1500" dirty="0">
                <a:solidFill>
                  <a:srgbClr val="FFFFFF"/>
                </a:solidFill>
              </a:rPr>
              <a:t>Florida International University</a:t>
            </a:r>
            <a:endParaRPr lang="en-US" sz="1500" dirty="0"/>
          </a:p>
        </p:txBody>
      </p:sp>
      <p:sp>
        <p:nvSpPr>
          <p:cNvPr id="10" name="Text 8"/>
          <p:cNvSpPr/>
          <p:nvPr/>
        </p:nvSpPr>
        <p:spPr>
          <a:xfrm>
            <a:off x="9189720" y="960120"/>
            <a:ext cx="2057400" cy="822960"/>
          </a:xfrm>
          <a:prstGeom prst="rect">
            <a:avLst/>
          </a:prstGeom>
          <a:solidFill>
            <a:srgbClr val="0A254E"/>
          </a:solidFill>
          <a:ln w="25400">
            <a:solidFill>
              <a:srgbClr val="B6862C"/>
            </a:solidFill>
          </a:ln>
        </p:spPr>
        <p:txBody>
          <a:bodyPr wrap="square" lIns="635" tIns="635" rIns="635" bIns="635" rtlCol="0" anchor="ctr"/>
          <a:lstStyle/>
          <a:p>
            <a:pPr marL="0" indent="0" algn="ctr">
              <a:buNone/>
            </a:pPr>
            <a:r>
              <a:rPr lang="en-US" sz="4600" b="1" dirty="0">
                <a:solidFill>
                  <a:srgbClr val="B6862C"/>
                </a:solidFill>
                <a:latin typeface="Aptos Display" pitchFamily="34" charset="0"/>
                <a:ea typeface="Aptos Display" pitchFamily="34" charset="-122"/>
                <a:cs typeface="Aptos Display" pitchFamily="34" charset="-120"/>
              </a:rPr>
              <a:t>FIU</a:t>
            </a:r>
            <a:endParaRPr lang="en-US" sz="4600" dirty="0"/>
          </a:p>
        </p:txBody>
      </p:sp>
      <p:sp>
        <p:nvSpPr>
          <p:cNvPr id="11" name="Text 9"/>
          <p:cNvSpPr/>
          <p:nvPr/>
        </p:nvSpPr>
        <p:spPr>
          <a:xfrm>
            <a:off x="4175607" y="5554980"/>
            <a:ext cx="6861848" cy="777240"/>
          </a:xfrm>
          <a:prstGeom prst="rect">
            <a:avLst/>
          </a:prstGeom>
          <a:solidFill>
            <a:srgbClr val="12325F"/>
          </a:solidFill>
          <a:ln w="15240">
            <a:solidFill>
              <a:srgbClr val="B6862C"/>
            </a:solidFill>
          </a:ln>
        </p:spPr>
        <p:txBody>
          <a:bodyPr wrap="square" lIns="1270" tIns="1270" rIns="1270" bIns="1270" rtlCol="0" anchor="ctr">
            <a:normAutofit/>
          </a:bodyPr>
          <a:lstStyle/>
          <a:p>
            <a:pPr marL="0" indent="0" algn="ctr">
              <a:buNone/>
            </a:pPr>
            <a:r>
              <a:rPr lang="en-US" sz="1800" b="1" dirty="0">
                <a:solidFill>
                  <a:srgbClr val="FFFFFF"/>
                </a:solidFill>
              </a:rPr>
              <a:t>AI as a support for thinking — not a replacement for thinking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Why GenAI now? Computing itself is changing</a:t>
            </a:r>
            <a:endParaRPr lang="en-US" sz="2750" dirty="0"/>
          </a:p>
        </p:txBody>
      </p:sp>
      <p:sp>
        <p:nvSpPr>
          <p:cNvPr id="7" name="Text 5"/>
          <p:cNvSpPr/>
          <p:nvPr/>
        </p:nvSpPr>
        <p:spPr>
          <a:xfrm>
            <a:off x="566928" y="960120"/>
            <a:ext cx="10725912" cy="320040"/>
          </a:xfrm>
          <a:prstGeom prst="rect">
            <a:avLst/>
          </a:prstGeom>
          <a:noFill/>
          <a:ln/>
        </p:spPr>
        <p:txBody>
          <a:bodyPr wrap="square" lIns="0" tIns="0" rIns="0" bIns="0" rtlCol="0" anchor="ctr">
            <a:noAutofit/>
          </a:bodyPr>
          <a:lstStyle/>
          <a:p>
            <a:pPr marL="0" indent="0">
              <a:buNone/>
            </a:pPr>
            <a:r>
              <a:rPr lang="en-US" dirty="0">
                <a:solidFill>
                  <a:srgbClr val="586579"/>
                </a:solidFill>
              </a:rPr>
              <a:t>The motivation is not only student convenience; it is a shift in what professional computing work looks like.</a:t>
            </a:r>
            <a:endParaRPr lang="en-US" dirty="0"/>
          </a:p>
        </p:txBody>
      </p:sp>
      <p:sp>
        <p:nvSpPr>
          <p:cNvPr id="8" name="Text 6"/>
          <p:cNvSpPr/>
          <p:nvPr/>
        </p:nvSpPr>
        <p:spPr>
          <a:xfrm>
            <a:off x="777240" y="2025228"/>
            <a:ext cx="2331720" cy="320040"/>
          </a:xfrm>
          <a:prstGeom prst="rect">
            <a:avLst/>
          </a:prstGeom>
          <a:solidFill>
            <a:srgbClr val="081E3F"/>
          </a:solidFill>
          <a:ln>
            <a:solidFill>
              <a:srgbClr val="081E3F">
                <a:alpha val="0"/>
              </a:srgbClr>
            </a:solidFill>
          </a:ln>
        </p:spPr>
        <p:txBody>
          <a:bodyPr wrap="square" lIns="762" tIns="762" rIns="762" bIns="762" rtlCol="0" anchor="ctr">
            <a:normAutofit/>
          </a:bodyPr>
          <a:lstStyle/>
          <a:p>
            <a:pPr marL="0" indent="0" algn="ctr">
              <a:buNone/>
            </a:pPr>
            <a:r>
              <a:rPr lang="en-US" sz="1400" b="1" dirty="0">
                <a:solidFill>
                  <a:srgbClr val="FFFFFF"/>
                </a:solidFill>
              </a:rPr>
              <a:t>1 · AI inside programs</a:t>
            </a:r>
            <a:endParaRPr lang="en-US" sz="1400" dirty="0"/>
          </a:p>
        </p:txBody>
      </p:sp>
      <p:sp>
        <p:nvSpPr>
          <p:cNvPr id="9" name="Text 7"/>
          <p:cNvSpPr/>
          <p:nvPr/>
        </p:nvSpPr>
        <p:spPr>
          <a:xfrm>
            <a:off x="777240" y="2676032"/>
            <a:ext cx="2560320" cy="1828800"/>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1380" b="1" dirty="0">
                <a:solidFill>
                  <a:srgbClr val="081E3F"/>
                </a:solidFill>
                <a:latin typeface="Aptos" pitchFamily="34" charset="0"/>
                <a:ea typeface="Aptos" pitchFamily="34" charset="-122"/>
                <a:cs typeface="Aptos" pitchFamily="34" charset="-120"/>
              </a:rPr>
              <a:t>Examples
</a:t>
            </a:r>
            <a:r>
              <a:rPr lang="en-US" sz="1380" dirty="0">
                <a:solidFill>
                  <a:srgbClr val="1C2733"/>
                </a:solidFill>
                <a:latin typeface="Aptos" pitchFamily="34" charset="0"/>
                <a:ea typeface="Aptos" pitchFamily="34" charset="-122"/>
                <a:cs typeface="Aptos" pitchFamily="34" charset="-120"/>
              </a:rPr>
              <a:t>ELIZA → Deep Blue → ChatGPT</a:t>
            </a:r>
            <a:endParaRPr lang="en-US" sz="1380" dirty="0"/>
          </a:p>
          <a:p>
            <a:pPr marL="0" indent="0">
              <a:buNone/>
            </a:pPr>
            <a:r>
              <a:rPr lang="en-US" sz="1380" dirty="0">
                <a:solidFill>
                  <a:srgbClr val="1C2733"/>
                </a:solidFill>
                <a:latin typeface="Aptos" pitchFamily="34" charset="0"/>
                <a:ea typeface="Aptos" pitchFamily="34" charset="-122"/>
                <a:cs typeface="Aptos" pitchFamily="34" charset="-120"/>
              </a:rPr>
              <a:t>AI appears as part of software behavior.</a:t>
            </a:r>
            <a:endParaRPr lang="en-US" sz="1380" dirty="0"/>
          </a:p>
        </p:txBody>
      </p:sp>
      <p:sp>
        <p:nvSpPr>
          <p:cNvPr id="10" name="Text 8"/>
          <p:cNvSpPr/>
          <p:nvPr/>
        </p:nvSpPr>
        <p:spPr>
          <a:xfrm>
            <a:off x="3840480" y="2025228"/>
            <a:ext cx="2514600" cy="320040"/>
          </a:xfrm>
          <a:prstGeom prst="rect">
            <a:avLst/>
          </a:prstGeom>
          <a:solidFill>
            <a:srgbClr val="081E3F"/>
          </a:solidFill>
          <a:ln>
            <a:solidFill>
              <a:srgbClr val="081E3F">
                <a:alpha val="0"/>
              </a:srgbClr>
            </a:solidFill>
          </a:ln>
        </p:spPr>
        <p:txBody>
          <a:bodyPr wrap="square" lIns="762" tIns="762" rIns="762" bIns="762" rtlCol="0" anchor="ctr">
            <a:normAutofit/>
          </a:bodyPr>
          <a:lstStyle/>
          <a:p>
            <a:pPr marL="0" indent="0" algn="ctr">
              <a:buNone/>
            </a:pPr>
            <a:r>
              <a:rPr lang="en-US" sz="1400" b="1" dirty="0">
                <a:solidFill>
                  <a:srgbClr val="FFFFFF"/>
                </a:solidFill>
              </a:rPr>
              <a:t>2 · AI supports developers</a:t>
            </a:r>
            <a:endParaRPr lang="en-US" sz="1400" dirty="0"/>
          </a:p>
        </p:txBody>
      </p:sp>
      <p:sp>
        <p:nvSpPr>
          <p:cNvPr id="11" name="Text 9"/>
          <p:cNvSpPr/>
          <p:nvPr/>
        </p:nvSpPr>
        <p:spPr>
          <a:xfrm>
            <a:off x="3703320" y="2676032"/>
            <a:ext cx="2788920" cy="1828800"/>
          </a:xfrm>
          <a:prstGeom prst="rect">
            <a:avLst/>
          </a:prstGeom>
          <a:solidFill>
            <a:srgbClr val="FFF4D6"/>
          </a:solidFill>
          <a:ln w="12700">
            <a:solidFill>
              <a:srgbClr val="D7DCE2"/>
            </a:solidFill>
          </a:ln>
        </p:spPr>
        <p:txBody>
          <a:bodyPr wrap="square" lIns="1778" tIns="1778" rIns="1778" bIns="1778" rtlCol="0" anchor="ctr">
            <a:normAutofit/>
          </a:bodyPr>
          <a:lstStyle/>
          <a:p>
            <a:pPr marL="0" indent="0">
              <a:buNone/>
            </a:pPr>
            <a:r>
              <a:rPr lang="en-US" sz="1380" b="1" dirty="0">
                <a:solidFill>
                  <a:srgbClr val="081E3F"/>
                </a:solidFill>
                <a:latin typeface="Aptos" pitchFamily="34" charset="0"/>
                <a:ea typeface="Aptos" pitchFamily="34" charset="-122"/>
                <a:cs typeface="Aptos" pitchFamily="34" charset="-120"/>
              </a:rPr>
              <a:t>Examples
</a:t>
            </a:r>
            <a:r>
              <a:rPr lang="en-US" sz="1380" dirty="0">
                <a:solidFill>
                  <a:srgbClr val="1C2733"/>
                </a:solidFill>
                <a:latin typeface="Aptos" pitchFamily="34" charset="0"/>
                <a:ea typeface="Aptos" pitchFamily="34" charset="-122"/>
                <a:cs typeface="Aptos" pitchFamily="34" charset="-120"/>
              </a:rPr>
              <a:t>Copilot → Cursor-like tools</a:t>
            </a:r>
            <a:endParaRPr lang="en-US" sz="1380" dirty="0"/>
          </a:p>
          <a:p>
            <a:pPr marL="0" indent="0">
              <a:buNone/>
            </a:pPr>
            <a:r>
              <a:rPr lang="en-US" sz="1380" dirty="0">
                <a:solidFill>
                  <a:srgbClr val="1C2733"/>
                </a:solidFill>
                <a:latin typeface="Aptos" pitchFamily="34" charset="0"/>
                <a:ea typeface="Aptos" pitchFamily="34" charset="-122"/>
                <a:cs typeface="Aptos" pitchFamily="34" charset="-120"/>
              </a:rPr>
              <a:t>AI helps edit, explain, debug, and refactor code.</a:t>
            </a:r>
            <a:endParaRPr lang="en-US" sz="1380" dirty="0"/>
          </a:p>
        </p:txBody>
      </p:sp>
      <p:sp>
        <p:nvSpPr>
          <p:cNvPr id="12" name="Text 10"/>
          <p:cNvSpPr/>
          <p:nvPr/>
        </p:nvSpPr>
        <p:spPr>
          <a:xfrm>
            <a:off x="7200900" y="2025228"/>
            <a:ext cx="3063240" cy="320040"/>
          </a:xfrm>
          <a:prstGeom prst="rect">
            <a:avLst/>
          </a:prstGeom>
          <a:solidFill>
            <a:srgbClr val="B6862C"/>
          </a:solidFill>
          <a:ln>
            <a:solidFill>
              <a:srgbClr val="B6862C">
                <a:alpha val="0"/>
              </a:srgbClr>
            </a:solidFill>
          </a:ln>
        </p:spPr>
        <p:txBody>
          <a:bodyPr wrap="square" lIns="762" tIns="762" rIns="762" bIns="762" rtlCol="0" anchor="ctr">
            <a:normAutofit/>
          </a:bodyPr>
          <a:lstStyle/>
          <a:p>
            <a:pPr marL="0" indent="0" algn="ctr">
              <a:buNone/>
            </a:pPr>
            <a:r>
              <a:rPr lang="en-US" sz="1400" b="1" dirty="0">
                <a:solidFill>
                  <a:srgbClr val="081E3F"/>
                </a:solidFill>
              </a:rPr>
              <a:t>3 · AI becomes part of programming</a:t>
            </a:r>
            <a:endParaRPr lang="en-US" sz="1400" dirty="0"/>
          </a:p>
        </p:txBody>
      </p:sp>
      <p:sp>
        <p:nvSpPr>
          <p:cNvPr id="13" name="Text 11"/>
          <p:cNvSpPr/>
          <p:nvPr/>
        </p:nvSpPr>
        <p:spPr>
          <a:xfrm>
            <a:off x="7086600" y="2676032"/>
            <a:ext cx="3291840" cy="1828800"/>
          </a:xfrm>
          <a:prstGeom prst="rect">
            <a:avLst/>
          </a:prstGeom>
          <a:solidFill>
            <a:srgbClr val="FFFFFF"/>
          </a:solidFill>
          <a:ln w="12700">
            <a:solidFill>
              <a:srgbClr val="B6862C"/>
            </a:solidFill>
          </a:ln>
        </p:spPr>
        <p:txBody>
          <a:bodyPr wrap="square" lIns="1778" tIns="1778" rIns="1778" bIns="1778" rtlCol="0" anchor="ctr">
            <a:normAutofit/>
          </a:bodyPr>
          <a:lstStyle/>
          <a:p>
            <a:pPr marL="0" indent="0">
              <a:buNone/>
            </a:pPr>
            <a:r>
              <a:rPr lang="en-US" sz="1380" b="1" dirty="0">
                <a:solidFill>
                  <a:srgbClr val="081E3F"/>
                </a:solidFill>
                <a:latin typeface="Aptos" pitchFamily="34" charset="0"/>
                <a:ea typeface="Aptos" pitchFamily="34" charset="-122"/>
                <a:cs typeface="Aptos" pitchFamily="34" charset="-120"/>
              </a:rPr>
              <a:t>Examples
</a:t>
            </a:r>
            <a:r>
              <a:rPr lang="en-US" sz="1380" dirty="0">
                <a:solidFill>
                  <a:srgbClr val="1C2733"/>
                </a:solidFill>
                <a:latin typeface="Aptos" pitchFamily="34" charset="0"/>
                <a:ea typeface="Aptos" pitchFamily="34" charset="-122"/>
                <a:cs typeface="Aptos" pitchFamily="34" charset="-120"/>
              </a:rPr>
              <a:t>Prompt-driven workflows</a:t>
            </a:r>
            <a:endParaRPr lang="en-US" sz="1380" dirty="0"/>
          </a:p>
          <a:p>
            <a:pPr marL="0" indent="0">
              <a:buNone/>
            </a:pPr>
            <a:r>
              <a:rPr lang="en-US" sz="1380" dirty="0">
                <a:solidFill>
                  <a:srgbClr val="1C2733"/>
                </a:solidFill>
                <a:latin typeface="Aptos" pitchFamily="34" charset="0"/>
                <a:ea typeface="Aptos" pitchFamily="34" charset="-122"/>
                <a:cs typeface="Aptos" pitchFamily="34" charset="-120"/>
              </a:rPr>
              <a:t>Natural-language specifications become part of the development loop.</a:t>
            </a:r>
            <a:endParaRPr lang="en-US" sz="1380" dirty="0"/>
          </a:p>
        </p:txBody>
      </p:sp>
      <p:sp>
        <p:nvSpPr>
          <p:cNvPr id="14" name="Shape 12"/>
          <p:cNvSpPr/>
          <p:nvPr/>
        </p:nvSpPr>
        <p:spPr>
          <a:xfrm>
            <a:off x="3429000" y="3590432"/>
            <a:ext cx="228600" cy="0"/>
          </a:xfrm>
          <a:prstGeom prst="line">
            <a:avLst/>
          </a:prstGeom>
          <a:noFill/>
          <a:ln w="25400">
            <a:solidFill>
              <a:srgbClr val="B6862C"/>
            </a:solidFill>
            <a:prstDash val="solid"/>
            <a:headEnd type="none"/>
            <a:tailEnd type="triangle"/>
          </a:ln>
        </p:spPr>
        <p:txBody>
          <a:bodyPr/>
          <a:lstStyle/>
          <a:p>
            <a:endParaRPr lang="en-US"/>
          </a:p>
        </p:txBody>
      </p:sp>
      <p:sp>
        <p:nvSpPr>
          <p:cNvPr id="15" name="Shape 13"/>
          <p:cNvSpPr/>
          <p:nvPr/>
        </p:nvSpPr>
        <p:spPr>
          <a:xfrm>
            <a:off x="6583680" y="3590432"/>
            <a:ext cx="457200" cy="0"/>
          </a:xfrm>
          <a:prstGeom prst="line">
            <a:avLst/>
          </a:prstGeom>
          <a:noFill/>
          <a:ln w="25400">
            <a:solidFill>
              <a:srgbClr val="B6862C"/>
            </a:solidFill>
            <a:prstDash val="solid"/>
            <a:headEnd type="none"/>
            <a:tailEnd type="triangle"/>
          </a:ln>
        </p:spPr>
        <p:txBody>
          <a:bodyPr/>
          <a:lstStyle/>
          <a:p>
            <a:endParaRPr lang="en-US"/>
          </a:p>
        </p:txBody>
      </p:sp>
      <p:sp>
        <p:nvSpPr>
          <p:cNvPr id="16" name="Text 14"/>
          <p:cNvSpPr/>
          <p:nvPr/>
        </p:nvSpPr>
        <p:spPr>
          <a:xfrm>
            <a:off x="1135227" y="5184648"/>
            <a:ext cx="9921240" cy="713232"/>
          </a:xfrm>
          <a:prstGeom prst="rect">
            <a:avLst/>
          </a:prstGeom>
          <a:solidFill>
            <a:srgbClr val="081E3F"/>
          </a:solidFill>
          <a:ln w="12700">
            <a:solidFill>
              <a:srgbClr val="081E3F"/>
            </a:solidFill>
          </a:ln>
        </p:spPr>
        <p:txBody>
          <a:bodyPr wrap="square" lIns="1524" tIns="1524" rIns="1524" bIns="1524" rtlCol="0" anchor="ctr">
            <a:normAutofit/>
          </a:bodyPr>
          <a:lstStyle/>
          <a:p>
            <a:pPr marL="0" indent="0" algn="ctr">
              <a:buNone/>
            </a:pPr>
            <a:r>
              <a:rPr lang="en-US" sz="2000" b="1" dirty="0">
                <a:solidFill>
                  <a:srgbClr val="FFFFFF"/>
                </a:solidFill>
              </a:rPr>
              <a:t>This is a progression in what counts as “programming”: from writing code, to directing tools, to specifying and validating AI-supported systems.</a:t>
            </a:r>
            <a:endParaRPr lang="en-US" sz="2000" dirty="0"/>
          </a:p>
        </p:txBody>
      </p:sp>
      <p:sp>
        <p:nvSpPr>
          <p:cNvPr id="17" name="Text 15"/>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8" name="Text 16"/>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Programs are becoming hybrid artifacts</a:t>
            </a:r>
            <a:endParaRPr lang="en-US" sz="2750" dirty="0"/>
          </a:p>
        </p:txBody>
      </p:sp>
      <p:sp>
        <p:nvSpPr>
          <p:cNvPr id="7" name="Text 5"/>
          <p:cNvSpPr/>
          <p:nvPr/>
        </p:nvSpPr>
        <p:spPr>
          <a:xfrm>
            <a:off x="566928" y="960120"/>
            <a:ext cx="9943028" cy="320040"/>
          </a:xfrm>
          <a:prstGeom prst="rect">
            <a:avLst/>
          </a:prstGeom>
          <a:noFill/>
          <a:ln/>
        </p:spPr>
        <p:txBody>
          <a:bodyPr wrap="square" lIns="0" tIns="0" rIns="0" bIns="0" rtlCol="0" anchor="ctr">
            <a:noAutofit/>
          </a:bodyPr>
          <a:lstStyle/>
          <a:p>
            <a:pPr marL="0" indent="0">
              <a:buNone/>
            </a:pPr>
            <a:r>
              <a:rPr lang="en-US" dirty="0">
                <a:solidFill>
                  <a:srgbClr val="586579"/>
                </a:solidFill>
              </a:rPr>
              <a:t>Modern computing work combines code with models, data, prompts, and human judgment.</a:t>
            </a:r>
            <a:endParaRPr lang="en-US" dirty="0"/>
          </a:p>
        </p:txBody>
      </p:sp>
      <p:sp>
        <p:nvSpPr>
          <p:cNvPr id="8" name="Text 6"/>
          <p:cNvSpPr/>
          <p:nvPr/>
        </p:nvSpPr>
        <p:spPr>
          <a:xfrm>
            <a:off x="777240" y="2103120"/>
            <a:ext cx="3108960" cy="2240280"/>
          </a:xfrm>
          <a:prstGeom prst="rect">
            <a:avLst/>
          </a:prstGeom>
          <a:solidFill>
            <a:srgbClr val="FFFFFF"/>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Traditional course artifact</a:t>
            </a:r>
            <a:r>
              <a:rPr lang="en-US" sz="1450" b="1" dirty="0">
                <a:solidFill>
                  <a:srgbClr val="081E3F"/>
                </a:solidFill>
                <a:latin typeface="Aptos" pitchFamily="34" charset="0"/>
                <a:ea typeface="Aptos" pitchFamily="34" charset="-122"/>
                <a:cs typeface="Aptos" pitchFamily="34" charset="-120"/>
              </a:rPr>
              <a:t>
</a:t>
            </a:r>
            <a:r>
              <a:rPr lang="en-US" dirty="0">
                <a:solidFill>
                  <a:srgbClr val="1C2733"/>
                </a:solidFill>
                <a:ea typeface="Aptos" pitchFamily="34" charset="-122"/>
                <a:cs typeface="Aptos" pitchFamily="34" charset="-120"/>
              </a:rPr>
              <a:t>Mostly code</a:t>
            </a:r>
            <a:endParaRPr lang="en-US" dirty="0"/>
          </a:p>
          <a:p>
            <a:pPr marL="0" indent="0">
              <a:buNone/>
            </a:pPr>
            <a:r>
              <a:rPr lang="en-US" dirty="0">
                <a:solidFill>
                  <a:srgbClr val="1C2733"/>
                </a:solidFill>
                <a:ea typeface="Aptos" pitchFamily="34" charset="-122"/>
                <a:cs typeface="Aptos" pitchFamily="34" charset="-120"/>
              </a:rPr>
              <a:t>Deterministic output</a:t>
            </a:r>
            <a:endParaRPr lang="en-US" dirty="0"/>
          </a:p>
          <a:p>
            <a:pPr marL="0" indent="0">
              <a:buNone/>
            </a:pPr>
            <a:r>
              <a:rPr lang="en-US" dirty="0">
                <a:solidFill>
                  <a:srgbClr val="1C2733"/>
                </a:solidFill>
                <a:ea typeface="Aptos" pitchFamily="34" charset="-122"/>
                <a:cs typeface="Aptos" pitchFamily="34" charset="-120"/>
              </a:rPr>
              <a:t>IDE debugger is central</a:t>
            </a:r>
            <a:endParaRPr lang="en-US" dirty="0"/>
          </a:p>
          <a:p>
            <a:pPr marL="0" indent="0">
              <a:buNone/>
            </a:pPr>
            <a:r>
              <a:rPr lang="en-US" dirty="0">
                <a:solidFill>
                  <a:srgbClr val="1C2733"/>
                </a:solidFill>
                <a:ea typeface="Aptos" pitchFamily="34" charset="-122"/>
                <a:cs typeface="Aptos" pitchFamily="34" charset="-120"/>
              </a:rPr>
              <a:t>Correctness often tied to tests</a:t>
            </a:r>
            <a:endParaRPr lang="en-US" dirty="0"/>
          </a:p>
        </p:txBody>
      </p:sp>
      <p:sp>
        <p:nvSpPr>
          <p:cNvPr id="9" name="Text 7"/>
          <p:cNvSpPr/>
          <p:nvPr/>
        </p:nvSpPr>
        <p:spPr>
          <a:xfrm>
            <a:off x="4526280" y="2103120"/>
            <a:ext cx="3108960" cy="2240280"/>
          </a:xfrm>
          <a:prstGeom prst="rect">
            <a:avLst/>
          </a:prstGeom>
          <a:solidFill>
            <a:srgbClr val="FFF4D6"/>
          </a:solidFill>
          <a:ln w="12700">
            <a:solidFill>
              <a:srgbClr val="B6862C"/>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GenAI-era artifact</a:t>
            </a:r>
            <a:r>
              <a:rPr lang="en-US" sz="1450" b="1" dirty="0">
                <a:solidFill>
                  <a:srgbClr val="081E3F"/>
                </a:solidFill>
                <a:latin typeface="Aptos" pitchFamily="34" charset="0"/>
                <a:ea typeface="Aptos" pitchFamily="34" charset="-122"/>
                <a:cs typeface="Aptos" pitchFamily="34" charset="-120"/>
              </a:rPr>
              <a:t>
</a:t>
            </a:r>
            <a:r>
              <a:rPr lang="en-US" dirty="0">
                <a:solidFill>
                  <a:srgbClr val="1C2733"/>
                </a:solidFill>
                <a:ea typeface="Aptos" pitchFamily="34" charset="-122"/>
                <a:cs typeface="Aptos" pitchFamily="34" charset="-120"/>
              </a:rPr>
              <a:t>Code + model behavior</a:t>
            </a:r>
            <a:endParaRPr lang="en-US" dirty="0"/>
          </a:p>
          <a:p>
            <a:pPr marL="0" indent="0">
              <a:buNone/>
            </a:pPr>
            <a:r>
              <a:rPr lang="en-US" dirty="0">
                <a:solidFill>
                  <a:srgbClr val="1C2733"/>
                </a:solidFill>
                <a:ea typeface="Aptos" pitchFamily="34" charset="-122"/>
                <a:cs typeface="Aptos" pitchFamily="34" charset="-120"/>
              </a:rPr>
              <a:t>Data-dependent inference</a:t>
            </a:r>
            <a:endParaRPr lang="en-US" dirty="0"/>
          </a:p>
          <a:p>
            <a:pPr marL="0" indent="0">
              <a:buNone/>
            </a:pPr>
            <a:r>
              <a:rPr lang="en-US" dirty="0">
                <a:solidFill>
                  <a:srgbClr val="1C2733"/>
                </a:solidFill>
                <a:ea typeface="Aptos" pitchFamily="34" charset="-122"/>
                <a:cs typeface="Aptos" pitchFamily="34" charset="-120"/>
              </a:rPr>
              <a:t>Prompts and context</a:t>
            </a:r>
            <a:endParaRPr lang="en-US" dirty="0"/>
          </a:p>
          <a:p>
            <a:pPr marL="0" indent="0">
              <a:buNone/>
            </a:pPr>
            <a:r>
              <a:rPr lang="en-US" dirty="0">
                <a:solidFill>
                  <a:srgbClr val="1C2733"/>
                </a:solidFill>
                <a:ea typeface="Aptos" pitchFamily="34" charset="-122"/>
                <a:cs typeface="Aptos" pitchFamily="34" charset="-120"/>
              </a:rPr>
              <a:t>Ambiguity and probabilistic output</a:t>
            </a:r>
            <a:endParaRPr lang="en-US" dirty="0"/>
          </a:p>
        </p:txBody>
      </p:sp>
      <p:sp>
        <p:nvSpPr>
          <p:cNvPr id="10" name="Text 8"/>
          <p:cNvSpPr/>
          <p:nvPr/>
        </p:nvSpPr>
        <p:spPr>
          <a:xfrm>
            <a:off x="8275320" y="2103120"/>
            <a:ext cx="3108960" cy="2240280"/>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Educational tension</a:t>
            </a:r>
            <a:r>
              <a:rPr lang="en-US" sz="1450" b="1" dirty="0">
                <a:solidFill>
                  <a:srgbClr val="081E3F"/>
                </a:solidFill>
                <a:latin typeface="Aptos" pitchFamily="34" charset="0"/>
                <a:ea typeface="Aptos" pitchFamily="34" charset="-122"/>
                <a:cs typeface="Aptos" pitchFamily="34" charset="-120"/>
              </a:rPr>
              <a:t>
</a:t>
            </a:r>
            <a:r>
              <a:rPr lang="en-US" dirty="0">
                <a:solidFill>
                  <a:srgbClr val="1C2733"/>
                </a:solidFill>
                <a:ea typeface="Aptos" pitchFamily="34" charset="-122"/>
                <a:cs typeface="Aptos" pitchFamily="34" charset="-120"/>
              </a:rPr>
              <a:t>Assignment deliverables can be generated quickly, but understanding, verification, and specification become more important.</a:t>
            </a:r>
            <a:endParaRPr lang="en-US" dirty="0"/>
          </a:p>
        </p:txBody>
      </p:sp>
      <p:sp>
        <p:nvSpPr>
          <p:cNvPr id="11" name="Shape 9"/>
          <p:cNvSpPr/>
          <p:nvPr/>
        </p:nvSpPr>
        <p:spPr>
          <a:xfrm>
            <a:off x="3977640" y="2834640"/>
            <a:ext cx="457200" cy="0"/>
          </a:xfrm>
          <a:prstGeom prst="line">
            <a:avLst/>
          </a:prstGeom>
          <a:noFill/>
          <a:ln w="25400">
            <a:solidFill>
              <a:srgbClr val="B6862C"/>
            </a:solidFill>
            <a:prstDash val="solid"/>
            <a:headEnd type="none"/>
            <a:tailEnd type="triangle"/>
          </a:ln>
        </p:spPr>
        <p:txBody>
          <a:bodyPr/>
          <a:lstStyle/>
          <a:p>
            <a:endParaRPr lang="en-US"/>
          </a:p>
        </p:txBody>
      </p:sp>
      <p:sp>
        <p:nvSpPr>
          <p:cNvPr id="12" name="Shape 10"/>
          <p:cNvSpPr/>
          <p:nvPr/>
        </p:nvSpPr>
        <p:spPr>
          <a:xfrm>
            <a:off x="7726680" y="2834640"/>
            <a:ext cx="457200" cy="0"/>
          </a:xfrm>
          <a:prstGeom prst="line">
            <a:avLst/>
          </a:prstGeom>
          <a:noFill/>
          <a:ln w="25400">
            <a:solidFill>
              <a:srgbClr val="B6862C"/>
            </a:solidFill>
            <a:prstDash val="solid"/>
            <a:headEnd type="none"/>
            <a:tailEnd type="triangle"/>
          </a:ln>
        </p:spPr>
        <p:txBody>
          <a:bodyPr/>
          <a:lstStyle/>
          <a:p>
            <a:endParaRPr lang="en-US"/>
          </a:p>
        </p:txBody>
      </p:sp>
      <p:sp>
        <p:nvSpPr>
          <p:cNvPr id="13" name="Text 11"/>
          <p:cNvSpPr/>
          <p:nvPr/>
        </p:nvSpPr>
        <p:spPr>
          <a:xfrm>
            <a:off x="502920" y="5234940"/>
            <a:ext cx="11094720" cy="502920"/>
          </a:xfrm>
          <a:prstGeom prst="rect">
            <a:avLst/>
          </a:prstGeom>
          <a:noFill/>
          <a:ln/>
        </p:spPr>
        <p:txBody>
          <a:bodyPr wrap="square" lIns="0" tIns="0" rIns="0" bIns="0" rtlCol="0" anchor="ctr">
            <a:noAutofit/>
          </a:bodyPr>
          <a:lstStyle/>
          <a:p>
            <a:pPr marL="0" indent="0" algn="ctr">
              <a:buNone/>
            </a:pPr>
            <a:r>
              <a:rPr lang="en-US" sz="2000" b="1" dirty="0">
                <a:solidFill>
                  <a:srgbClr val="081E3F"/>
                </a:solidFill>
              </a:rPr>
              <a:t>Therefore, AI integration is not only an academic-integrity issue; it is a curriculum-design issue.</a:t>
            </a:r>
            <a:endParaRPr lang="en-US" sz="2000" dirty="0"/>
          </a:p>
        </p:txBody>
      </p:sp>
      <p:sp>
        <p:nvSpPr>
          <p:cNvPr id="14" name="Text 12"/>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5" name="Text 13"/>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The core challenge</a:t>
            </a:r>
            <a:endParaRPr lang="en-US" sz="2750" dirty="0"/>
          </a:p>
        </p:txBody>
      </p:sp>
      <p:sp>
        <p:nvSpPr>
          <p:cNvPr id="7" name="Text 5"/>
          <p:cNvSpPr/>
          <p:nvPr/>
        </p:nvSpPr>
        <p:spPr>
          <a:xfrm>
            <a:off x="566928" y="960120"/>
            <a:ext cx="8778240" cy="320040"/>
          </a:xfrm>
          <a:prstGeom prst="rect">
            <a:avLst/>
          </a:prstGeom>
          <a:noFill/>
          <a:ln/>
        </p:spPr>
        <p:txBody>
          <a:bodyPr wrap="square" lIns="0" tIns="0" rIns="0" bIns="0" rtlCol="0" anchor="ctr">
            <a:normAutofit/>
          </a:bodyPr>
          <a:lstStyle/>
          <a:p>
            <a:pPr marL="0" indent="0">
              <a:buNone/>
            </a:pPr>
            <a:r>
              <a:rPr lang="en-US" dirty="0">
                <a:solidFill>
                  <a:srgbClr val="586579"/>
                </a:solidFill>
              </a:rPr>
              <a:t>GenAI is transforming computing education faster than our teaching models can adapt.</a:t>
            </a:r>
            <a:endParaRPr lang="en-US" dirty="0"/>
          </a:p>
        </p:txBody>
      </p:sp>
      <p:sp>
        <p:nvSpPr>
          <p:cNvPr id="8" name="Text 6"/>
          <p:cNvSpPr/>
          <p:nvPr/>
        </p:nvSpPr>
        <p:spPr>
          <a:xfrm>
            <a:off x="477892" y="2176272"/>
            <a:ext cx="3035808" cy="2167128"/>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Instructors must preserve</a:t>
            </a:r>
            <a:r>
              <a:rPr lang="en-US" sz="1600" b="1" dirty="0">
                <a:solidFill>
                  <a:srgbClr val="081E3F"/>
                </a:solidFill>
                <a:latin typeface="Aptos" pitchFamily="34" charset="0"/>
                <a:ea typeface="Aptos" pitchFamily="34" charset="-122"/>
                <a:cs typeface="Aptos" pitchFamily="34" charset="-120"/>
              </a:rPr>
              <a:t>
</a:t>
            </a:r>
            <a:r>
              <a:rPr lang="en-US" dirty="0">
                <a:solidFill>
                  <a:srgbClr val="1C2733"/>
                </a:solidFill>
                <a:ea typeface="Aptos" pitchFamily="34" charset="-122"/>
                <a:cs typeface="Aptos" pitchFamily="34" charset="-120"/>
              </a:rPr>
              <a:t>Critical thinking</a:t>
            </a:r>
            <a:endParaRPr lang="en-US" dirty="0"/>
          </a:p>
          <a:p>
            <a:pPr marL="0" indent="0">
              <a:buNone/>
            </a:pPr>
            <a:r>
              <a:rPr lang="en-US" dirty="0">
                <a:solidFill>
                  <a:srgbClr val="1C2733"/>
                </a:solidFill>
                <a:ea typeface="Aptos" pitchFamily="34" charset="-122"/>
                <a:cs typeface="Aptos" pitchFamily="34" charset="-120"/>
              </a:rPr>
              <a:t>Academic integrity</a:t>
            </a:r>
            <a:endParaRPr lang="en-US" dirty="0"/>
          </a:p>
          <a:p>
            <a:pPr marL="0" indent="0">
              <a:buNone/>
            </a:pPr>
            <a:r>
              <a:rPr lang="en-US" dirty="0">
                <a:solidFill>
                  <a:srgbClr val="1C2733"/>
                </a:solidFill>
                <a:ea typeface="Aptos" pitchFamily="34" charset="-122"/>
                <a:cs typeface="Aptos" pitchFamily="34" charset="-120"/>
              </a:rPr>
              <a:t>Foundational learning</a:t>
            </a:r>
            <a:endParaRPr lang="en-US" dirty="0"/>
          </a:p>
        </p:txBody>
      </p:sp>
      <p:sp>
        <p:nvSpPr>
          <p:cNvPr id="9" name="Text 7"/>
          <p:cNvSpPr/>
          <p:nvPr/>
        </p:nvSpPr>
        <p:spPr>
          <a:xfrm>
            <a:off x="4347915" y="2176272"/>
            <a:ext cx="3419969" cy="2167128"/>
          </a:xfrm>
          <a:prstGeom prst="rect">
            <a:avLst/>
          </a:prstGeom>
          <a:solidFill>
            <a:srgbClr val="FFF4D6"/>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Students now expect</a:t>
            </a:r>
            <a:r>
              <a:rPr lang="en-US" sz="1600" b="1" dirty="0">
                <a:solidFill>
                  <a:srgbClr val="081E3F"/>
                </a:solidFill>
                <a:latin typeface="Aptos" pitchFamily="34" charset="0"/>
                <a:ea typeface="Aptos" pitchFamily="34" charset="-122"/>
                <a:cs typeface="Aptos" pitchFamily="34" charset="-120"/>
              </a:rPr>
              <a:t>
</a:t>
            </a:r>
            <a:r>
              <a:rPr lang="en-US" dirty="0">
                <a:solidFill>
                  <a:srgbClr val="1C2733"/>
                </a:solidFill>
                <a:ea typeface="Aptos" pitchFamily="34" charset="-122"/>
                <a:cs typeface="Aptos" pitchFamily="34" charset="-120"/>
              </a:rPr>
              <a:t>Brainstorming help</a:t>
            </a:r>
            <a:endParaRPr lang="en-US" dirty="0"/>
          </a:p>
          <a:p>
            <a:pPr marL="0" indent="0">
              <a:buNone/>
            </a:pPr>
            <a:r>
              <a:rPr lang="en-US" dirty="0">
                <a:solidFill>
                  <a:srgbClr val="1C2733"/>
                </a:solidFill>
                <a:ea typeface="Aptos" pitchFamily="34" charset="-122"/>
                <a:cs typeface="Aptos" pitchFamily="34" charset="-120"/>
              </a:rPr>
              <a:t>Debugging help</a:t>
            </a:r>
            <a:endParaRPr lang="en-US" dirty="0"/>
          </a:p>
          <a:p>
            <a:pPr marL="0" indent="0">
              <a:buNone/>
            </a:pPr>
            <a:r>
              <a:rPr lang="en-US" dirty="0">
                <a:solidFill>
                  <a:srgbClr val="1C2733"/>
                </a:solidFill>
                <a:ea typeface="Aptos" pitchFamily="34" charset="-122"/>
                <a:cs typeface="Aptos" pitchFamily="34" charset="-120"/>
              </a:rPr>
              <a:t>Generated explanations and code</a:t>
            </a:r>
            <a:endParaRPr lang="en-US" dirty="0"/>
          </a:p>
        </p:txBody>
      </p:sp>
      <p:sp>
        <p:nvSpPr>
          <p:cNvPr id="10" name="Text 8"/>
          <p:cNvSpPr/>
          <p:nvPr/>
        </p:nvSpPr>
        <p:spPr>
          <a:xfrm>
            <a:off x="8549640" y="2176272"/>
            <a:ext cx="3246120" cy="2167128"/>
          </a:xfrm>
          <a:prstGeom prst="rect">
            <a:avLst/>
          </a:prstGeom>
          <a:solidFill>
            <a:srgbClr val="FFFFFF"/>
          </a:solidFill>
          <a:ln w="12700">
            <a:solidFill>
              <a:srgbClr val="B6862C"/>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Programs are changing</a:t>
            </a:r>
            <a:r>
              <a:rPr lang="en-US" sz="1600" b="1" dirty="0">
                <a:solidFill>
                  <a:srgbClr val="081E3F"/>
                </a:solidFill>
                <a:latin typeface="Aptos" pitchFamily="34" charset="0"/>
                <a:ea typeface="Aptos" pitchFamily="34" charset="-122"/>
                <a:cs typeface="Aptos" pitchFamily="34" charset="-120"/>
              </a:rPr>
              <a:t>
</a:t>
            </a:r>
            <a:r>
              <a:rPr lang="en-US" dirty="0">
                <a:solidFill>
                  <a:srgbClr val="1C2733"/>
                </a:solidFill>
                <a:ea typeface="Aptos" pitchFamily="34" charset="-122"/>
                <a:cs typeface="Aptos" pitchFamily="34" charset="-120"/>
              </a:rPr>
              <a:t>Code + data + models + prompts</a:t>
            </a:r>
            <a:endParaRPr lang="en-US" dirty="0"/>
          </a:p>
          <a:p>
            <a:pPr marL="0" indent="0">
              <a:buNone/>
            </a:pPr>
            <a:r>
              <a:rPr lang="en-US" dirty="0">
                <a:solidFill>
                  <a:srgbClr val="1C2733"/>
                </a:solidFill>
                <a:ea typeface="Aptos" pitchFamily="34" charset="-122"/>
                <a:cs typeface="Aptos" pitchFamily="34" charset="-120"/>
              </a:rPr>
              <a:t>Natural language becomes part of the workflow</a:t>
            </a:r>
            <a:endParaRPr lang="en-US" dirty="0"/>
          </a:p>
        </p:txBody>
      </p:sp>
      <p:sp>
        <p:nvSpPr>
          <p:cNvPr id="11" name="Shape 9"/>
          <p:cNvSpPr/>
          <p:nvPr/>
        </p:nvSpPr>
        <p:spPr>
          <a:xfrm flipV="1">
            <a:off x="3598390" y="3177539"/>
            <a:ext cx="654721" cy="4516"/>
          </a:xfrm>
          <a:prstGeom prst="line">
            <a:avLst/>
          </a:prstGeom>
          <a:noFill/>
          <a:ln w="25400">
            <a:solidFill>
              <a:srgbClr val="B6862C"/>
            </a:solidFill>
            <a:prstDash val="solid"/>
            <a:headEnd type="none"/>
            <a:tailEnd type="triangle"/>
          </a:ln>
        </p:spPr>
        <p:txBody>
          <a:bodyPr/>
          <a:lstStyle/>
          <a:p>
            <a:endParaRPr lang="en-US"/>
          </a:p>
        </p:txBody>
      </p:sp>
      <p:sp>
        <p:nvSpPr>
          <p:cNvPr id="12" name="Shape 10"/>
          <p:cNvSpPr/>
          <p:nvPr/>
        </p:nvSpPr>
        <p:spPr>
          <a:xfrm flipV="1">
            <a:off x="7862688" y="3177539"/>
            <a:ext cx="592148" cy="4516"/>
          </a:xfrm>
          <a:prstGeom prst="line">
            <a:avLst/>
          </a:prstGeom>
          <a:noFill/>
          <a:ln w="25400">
            <a:solidFill>
              <a:srgbClr val="B6862C"/>
            </a:solidFill>
            <a:prstDash val="solid"/>
            <a:headEnd type="none"/>
            <a:tailEnd type="triangle"/>
          </a:ln>
        </p:spPr>
        <p:txBody>
          <a:bodyPr/>
          <a:lstStyle/>
          <a:p>
            <a:endParaRPr lang="en-US"/>
          </a:p>
        </p:txBody>
      </p:sp>
      <p:sp>
        <p:nvSpPr>
          <p:cNvPr id="13" name="Text 11"/>
          <p:cNvSpPr/>
          <p:nvPr/>
        </p:nvSpPr>
        <p:spPr>
          <a:xfrm>
            <a:off x="238793" y="5372100"/>
            <a:ext cx="11714108" cy="502920"/>
          </a:xfrm>
          <a:prstGeom prst="rect">
            <a:avLst/>
          </a:prstGeom>
          <a:solidFill>
            <a:srgbClr val="FFFFFF"/>
          </a:solidFill>
          <a:ln>
            <a:solidFill>
              <a:srgbClr val="E6E8EC"/>
            </a:solidFill>
          </a:ln>
        </p:spPr>
        <p:txBody>
          <a:bodyPr wrap="square" lIns="1016" tIns="1016" rIns="1016" bIns="1016" rtlCol="0" anchor="ctr">
            <a:noAutofit/>
          </a:bodyPr>
          <a:lstStyle/>
          <a:p>
            <a:pPr marL="0" indent="0" algn="ctr">
              <a:buNone/>
            </a:pPr>
            <a:r>
              <a:rPr lang="en-US" sz="2000" b="1" dirty="0">
                <a:solidFill>
                  <a:srgbClr val="081E3F"/>
                </a:solidFill>
              </a:rPr>
              <a:t>Talk thesis: structure AI use by learning intent, then teach students to evaluate and direct AI outputs.</a:t>
            </a:r>
            <a:endParaRPr lang="en-US" sz="2000" dirty="0"/>
          </a:p>
        </p:txBody>
      </p:sp>
      <p:sp>
        <p:nvSpPr>
          <p:cNvPr id="14" name="Text 12"/>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5" name="Text 13"/>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Today’s talk roadmap</a:t>
            </a:r>
            <a:endParaRPr lang="en-US" sz="2750" dirty="0"/>
          </a:p>
        </p:txBody>
      </p:sp>
      <p:sp>
        <p:nvSpPr>
          <p:cNvPr id="7" name="Text 5"/>
          <p:cNvSpPr/>
          <p:nvPr/>
        </p:nvSpPr>
        <p:spPr>
          <a:xfrm>
            <a:off x="566928" y="960120"/>
            <a:ext cx="8778240" cy="320040"/>
          </a:xfrm>
          <a:prstGeom prst="rect">
            <a:avLst/>
          </a:prstGeom>
          <a:noFill/>
          <a:ln/>
        </p:spPr>
        <p:txBody>
          <a:bodyPr wrap="square" lIns="0" tIns="0" rIns="0" bIns="0" rtlCol="0" anchor="ctr">
            <a:normAutofit/>
          </a:bodyPr>
          <a:lstStyle/>
          <a:p>
            <a:pPr marL="0" indent="0">
              <a:buNone/>
            </a:pPr>
            <a:r>
              <a:rPr lang="en-US" sz="2000" dirty="0">
                <a:solidFill>
                  <a:srgbClr val="586579"/>
                </a:solidFill>
              </a:rPr>
              <a:t>A classroom-tested framework with reusable practices for scaling AI education.</a:t>
            </a:r>
            <a:endParaRPr lang="en-US" sz="2000" dirty="0"/>
          </a:p>
        </p:txBody>
      </p:sp>
      <p:sp>
        <p:nvSpPr>
          <p:cNvPr id="8" name="Text 6"/>
          <p:cNvSpPr/>
          <p:nvPr/>
        </p:nvSpPr>
        <p:spPr>
          <a:xfrm>
            <a:off x="502920" y="1600200"/>
            <a:ext cx="1874520" cy="1261872"/>
          </a:xfrm>
          <a:prstGeom prst="rect">
            <a:avLst/>
          </a:prstGeom>
          <a:solidFill>
            <a:srgbClr val="FFFFFF"/>
          </a:solidFill>
          <a:ln>
            <a:solidFill>
              <a:srgbClr val="E0E4EA"/>
            </a:solidFill>
          </a:ln>
        </p:spPr>
        <p:txBody>
          <a:bodyPr wrap="square" lIns="508" tIns="508" rIns="508" bIns="508" rtlCol="0" anchor="ctr">
            <a:normAutofit/>
          </a:bodyPr>
          <a:lstStyle/>
          <a:p>
            <a:pPr marL="0" indent="0" algn="ctr">
              <a:buNone/>
            </a:pPr>
            <a:r>
              <a:rPr lang="en-US" sz="3900" b="1" dirty="0">
                <a:solidFill>
                  <a:srgbClr val="081E3F"/>
                </a:solidFill>
                <a:latin typeface="Aptos Display" pitchFamily="34" charset="0"/>
                <a:ea typeface="Aptos Display" pitchFamily="34" charset="-122"/>
                <a:cs typeface="Aptos Display" pitchFamily="34" charset="-120"/>
              </a:rPr>
              <a:t>1
</a:t>
            </a:r>
            <a:r>
              <a:rPr lang="en-US" sz="1220" b="1" dirty="0">
                <a:solidFill>
                  <a:srgbClr val="1C2733"/>
                </a:solidFill>
                <a:latin typeface="Aptos Display" pitchFamily="34" charset="0"/>
                <a:ea typeface="Aptos Display" pitchFamily="34" charset="-122"/>
                <a:cs typeface="Aptos Display" pitchFamily="34" charset="-120"/>
              </a:rPr>
              <a:t>Why structure?</a:t>
            </a:r>
            <a:endParaRPr lang="en-US" sz="3900" dirty="0"/>
          </a:p>
        </p:txBody>
      </p:sp>
      <p:sp>
        <p:nvSpPr>
          <p:cNvPr id="9" name="Text 7"/>
          <p:cNvSpPr/>
          <p:nvPr/>
        </p:nvSpPr>
        <p:spPr>
          <a:xfrm>
            <a:off x="457200" y="2971800"/>
            <a:ext cx="1965960" cy="457200"/>
          </a:xfrm>
          <a:prstGeom prst="rect">
            <a:avLst/>
          </a:prstGeom>
          <a:noFill/>
          <a:ln/>
        </p:spPr>
        <p:txBody>
          <a:bodyPr wrap="square" lIns="0" tIns="0" rIns="0" bIns="0" rtlCol="0" anchor="ctr">
            <a:normAutofit/>
          </a:bodyPr>
          <a:lstStyle/>
          <a:p>
            <a:pPr marL="0" indent="0" algn="ctr">
              <a:buNone/>
            </a:pPr>
            <a:r>
              <a:rPr lang="en-US" sz="1150" dirty="0">
                <a:solidFill>
                  <a:srgbClr val="586579"/>
                </a:solidFill>
              </a:rPr>
              <a:t>Avoid both hype and blanket bans</a:t>
            </a:r>
            <a:endParaRPr lang="en-US" sz="1150" dirty="0"/>
          </a:p>
        </p:txBody>
      </p:sp>
      <p:sp>
        <p:nvSpPr>
          <p:cNvPr id="10" name="Shape 8"/>
          <p:cNvSpPr/>
          <p:nvPr/>
        </p:nvSpPr>
        <p:spPr>
          <a:xfrm>
            <a:off x="2423160" y="2221992"/>
            <a:ext cx="320040" cy="0"/>
          </a:xfrm>
          <a:prstGeom prst="line">
            <a:avLst/>
          </a:prstGeom>
          <a:noFill/>
          <a:ln w="25400">
            <a:solidFill>
              <a:srgbClr val="B6862C"/>
            </a:solidFill>
            <a:prstDash val="solid"/>
            <a:headEnd type="none"/>
            <a:tailEnd type="triangle"/>
          </a:ln>
        </p:spPr>
        <p:txBody>
          <a:bodyPr/>
          <a:lstStyle/>
          <a:p>
            <a:endParaRPr lang="en-US"/>
          </a:p>
        </p:txBody>
      </p:sp>
      <p:sp>
        <p:nvSpPr>
          <p:cNvPr id="11" name="Text 9"/>
          <p:cNvSpPr/>
          <p:nvPr/>
        </p:nvSpPr>
        <p:spPr>
          <a:xfrm>
            <a:off x="2834640" y="1600200"/>
            <a:ext cx="1874520" cy="1261872"/>
          </a:xfrm>
          <a:prstGeom prst="rect">
            <a:avLst/>
          </a:prstGeom>
          <a:solidFill>
            <a:srgbClr val="FFFFFF"/>
          </a:solidFill>
          <a:ln>
            <a:solidFill>
              <a:srgbClr val="E0E4EA"/>
            </a:solidFill>
          </a:ln>
        </p:spPr>
        <p:txBody>
          <a:bodyPr wrap="square" lIns="508" tIns="508" rIns="508" bIns="508" rtlCol="0" anchor="ctr">
            <a:normAutofit/>
          </a:bodyPr>
          <a:lstStyle/>
          <a:p>
            <a:pPr marL="0" indent="0" algn="ctr">
              <a:buNone/>
            </a:pPr>
            <a:r>
              <a:rPr lang="en-US" sz="3900" b="1" dirty="0">
                <a:solidFill>
                  <a:srgbClr val="081E3F"/>
                </a:solidFill>
                <a:latin typeface="Aptos Display" pitchFamily="34" charset="0"/>
                <a:ea typeface="Aptos Display" pitchFamily="34" charset="-122"/>
                <a:cs typeface="Aptos Display" pitchFamily="34" charset="-120"/>
              </a:rPr>
              <a:t>2
</a:t>
            </a:r>
            <a:r>
              <a:rPr lang="en-US" sz="1220" b="1" dirty="0">
                <a:solidFill>
                  <a:srgbClr val="1C2733"/>
                </a:solidFill>
                <a:latin typeface="Aptos Display" pitchFamily="34" charset="0"/>
                <a:ea typeface="Aptos Display" pitchFamily="34" charset="-122"/>
                <a:cs typeface="Aptos Display" pitchFamily="34" charset="-120"/>
              </a:rPr>
              <a:t>Three categories</a:t>
            </a:r>
            <a:endParaRPr lang="en-US" sz="3900" dirty="0"/>
          </a:p>
        </p:txBody>
      </p:sp>
      <p:sp>
        <p:nvSpPr>
          <p:cNvPr id="12" name="Text 10"/>
          <p:cNvSpPr/>
          <p:nvPr/>
        </p:nvSpPr>
        <p:spPr>
          <a:xfrm>
            <a:off x="2788920" y="2971800"/>
            <a:ext cx="1965960" cy="457200"/>
          </a:xfrm>
          <a:prstGeom prst="rect">
            <a:avLst/>
          </a:prstGeom>
          <a:noFill/>
          <a:ln/>
        </p:spPr>
        <p:txBody>
          <a:bodyPr wrap="square" lIns="0" tIns="0" rIns="0" bIns="0" rtlCol="0" anchor="ctr">
            <a:normAutofit/>
          </a:bodyPr>
          <a:lstStyle/>
          <a:p>
            <a:pPr marL="0" indent="0" algn="ctr">
              <a:buNone/>
            </a:pPr>
            <a:r>
              <a:rPr lang="en-US" sz="1150" dirty="0">
                <a:solidFill>
                  <a:srgbClr val="586579"/>
                </a:solidFill>
              </a:rPr>
              <a:t>Free · Guided · No AI</a:t>
            </a:r>
            <a:endParaRPr lang="en-US" sz="1150" dirty="0"/>
          </a:p>
        </p:txBody>
      </p:sp>
      <p:sp>
        <p:nvSpPr>
          <p:cNvPr id="13" name="Shape 11"/>
          <p:cNvSpPr/>
          <p:nvPr/>
        </p:nvSpPr>
        <p:spPr>
          <a:xfrm>
            <a:off x="4754880" y="2221992"/>
            <a:ext cx="320040" cy="0"/>
          </a:xfrm>
          <a:prstGeom prst="line">
            <a:avLst/>
          </a:prstGeom>
          <a:noFill/>
          <a:ln w="25400">
            <a:solidFill>
              <a:srgbClr val="B6862C"/>
            </a:solidFill>
            <a:prstDash val="solid"/>
            <a:headEnd type="none"/>
            <a:tailEnd type="triangle"/>
          </a:ln>
        </p:spPr>
        <p:txBody>
          <a:bodyPr/>
          <a:lstStyle/>
          <a:p>
            <a:endParaRPr lang="en-US"/>
          </a:p>
        </p:txBody>
      </p:sp>
      <p:sp>
        <p:nvSpPr>
          <p:cNvPr id="14" name="Text 12"/>
          <p:cNvSpPr/>
          <p:nvPr/>
        </p:nvSpPr>
        <p:spPr>
          <a:xfrm>
            <a:off x="5166360" y="1600200"/>
            <a:ext cx="1874520" cy="1261872"/>
          </a:xfrm>
          <a:prstGeom prst="rect">
            <a:avLst/>
          </a:prstGeom>
          <a:solidFill>
            <a:srgbClr val="FFFFFF"/>
          </a:solidFill>
          <a:ln>
            <a:solidFill>
              <a:srgbClr val="E0E4EA"/>
            </a:solidFill>
          </a:ln>
        </p:spPr>
        <p:txBody>
          <a:bodyPr wrap="square" lIns="508" tIns="508" rIns="508" bIns="508" rtlCol="0" anchor="ctr">
            <a:normAutofit/>
          </a:bodyPr>
          <a:lstStyle/>
          <a:p>
            <a:pPr marL="0" indent="0" algn="ctr">
              <a:buNone/>
            </a:pPr>
            <a:r>
              <a:rPr lang="en-US" sz="3900" b="1" dirty="0">
                <a:solidFill>
                  <a:srgbClr val="081E3F"/>
                </a:solidFill>
                <a:latin typeface="Aptos Display" pitchFamily="34" charset="0"/>
                <a:ea typeface="Aptos Display" pitchFamily="34" charset="-122"/>
                <a:cs typeface="Aptos Display" pitchFamily="34" charset="-120"/>
              </a:rPr>
              <a:t>3
</a:t>
            </a:r>
            <a:r>
              <a:rPr lang="en-US" sz="1220" b="1" dirty="0">
                <a:solidFill>
                  <a:srgbClr val="1C2733"/>
                </a:solidFill>
                <a:latin typeface="Aptos Display" pitchFamily="34" charset="0"/>
                <a:ea typeface="Aptos Display" pitchFamily="34" charset="-122"/>
                <a:cs typeface="Aptos Display" pitchFamily="34" charset="-120"/>
              </a:rPr>
              <a:t>Teaching techniques</a:t>
            </a:r>
            <a:endParaRPr lang="en-US" sz="3900" dirty="0"/>
          </a:p>
        </p:txBody>
      </p:sp>
      <p:sp>
        <p:nvSpPr>
          <p:cNvPr id="15" name="Text 13"/>
          <p:cNvSpPr/>
          <p:nvPr/>
        </p:nvSpPr>
        <p:spPr>
          <a:xfrm>
            <a:off x="5120640" y="2971800"/>
            <a:ext cx="1965960" cy="457200"/>
          </a:xfrm>
          <a:prstGeom prst="rect">
            <a:avLst/>
          </a:prstGeom>
          <a:noFill/>
          <a:ln/>
        </p:spPr>
        <p:txBody>
          <a:bodyPr wrap="square" lIns="0" tIns="0" rIns="0" bIns="0" rtlCol="0" anchor="ctr">
            <a:normAutofit/>
          </a:bodyPr>
          <a:lstStyle/>
          <a:p>
            <a:pPr marL="0" indent="0" algn="ctr">
              <a:buNone/>
            </a:pPr>
            <a:r>
              <a:rPr lang="en-US" sz="1150" dirty="0">
                <a:solidFill>
                  <a:srgbClr val="586579"/>
                </a:solidFill>
              </a:rPr>
              <a:t>Clarify · Decompose · Contract · Verify</a:t>
            </a:r>
            <a:endParaRPr lang="en-US" sz="1150" dirty="0"/>
          </a:p>
        </p:txBody>
      </p:sp>
      <p:sp>
        <p:nvSpPr>
          <p:cNvPr id="16" name="Shape 14"/>
          <p:cNvSpPr/>
          <p:nvPr/>
        </p:nvSpPr>
        <p:spPr>
          <a:xfrm>
            <a:off x="7086600" y="2221992"/>
            <a:ext cx="320040" cy="0"/>
          </a:xfrm>
          <a:prstGeom prst="line">
            <a:avLst/>
          </a:prstGeom>
          <a:noFill/>
          <a:ln w="25400">
            <a:solidFill>
              <a:srgbClr val="B6862C"/>
            </a:solidFill>
            <a:prstDash val="solid"/>
            <a:headEnd type="none"/>
            <a:tailEnd type="triangle"/>
          </a:ln>
        </p:spPr>
        <p:txBody>
          <a:bodyPr/>
          <a:lstStyle/>
          <a:p>
            <a:endParaRPr lang="en-US"/>
          </a:p>
        </p:txBody>
      </p:sp>
      <p:sp>
        <p:nvSpPr>
          <p:cNvPr id="17" name="Text 15"/>
          <p:cNvSpPr/>
          <p:nvPr/>
        </p:nvSpPr>
        <p:spPr>
          <a:xfrm>
            <a:off x="7498080" y="1600200"/>
            <a:ext cx="1874520" cy="1261872"/>
          </a:xfrm>
          <a:prstGeom prst="rect">
            <a:avLst/>
          </a:prstGeom>
          <a:solidFill>
            <a:srgbClr val="FFFFFF"/>
          </a:solidFill>
          <a:ln>
            <a:solidFill>
              <a:srgbClr val="E0E4EA"/>
            </a:solidFill>
          </a:ln>
        </p:spPr>
        <p:txBody>
          <a:bodyPr wrap="square" lIns="508" tIns="508" rIns="508" bIns="508" rtlCol="0" anchor="ctr">
            <a:normAutofit/>
          </a:bodyPr>
          <a:lstStyle/>
          <a:p>
            <a:pPr marL="0" indent="0" algn="ctr">
              <a:buNone/>
            </a:pPr>
            <a:r>
              <a:rPr lang="en-US" sz="3900" b="1" dirty="0">
                <a:solidFill>
                  <a:srgbClr val="B6862C"/>
                </a:solidFill>
                <a:latin typeface="Aptos Display" pitchFamily="34" charset="0"/>
                <a:ea typeface="Aptos Display" pitchFamily="34" charset="-122"/>
                <a:cs typeface="Aptos Display" pitchFamily="34" charset="-120"/>
              </a:rPr>
              <a:t>4
</a:t>
            </a:r>
            <a:r>
              <a:rPr lang="en-US" sz="1220" b="1" dirty="0">
                <a:solidFill>
                  <a:srgbClr val="1C2733"/>
                </a:solidFill>
                <a:latin typeface="Aptos Display" pitchFamily="34" charset="0"/>
                <a:ea typeface="Aptos Display" pitchFamily="34" charset="-122"/>
                <a:cs typeface="Aptos Display" pitchFamily="34" charset="-120"/>
              </a:rPr>
              <a:t>Assessment practices</a:t>
            </a:r>
            <a:endParaRPr lang="en-US" sz="3900" dirty="0"/>
          </a:p>
        </p:txBody>
      </p:sp>
      <p:sp>
        <p:nvSpPr>
          <p:cNvPr id="18" name="Text 16"/>
          <p:cNvSpPr/>
          <p:nvPr/>
        </p:nvSpPr>
        <p:spPr>
          <a:xfrm>
            <a:off x="7452360" y="2971800"/>
            <a:ext cx="1965960" cy="457200"/>
          </a:xfrm>
          <a:prstGeom prst="rect">
            <a:avLst/>
          </a:prstGeom>
          <a:noFill/>
          <a:ln/>
        </p:spPr>
        <p:txBody>
          <a:bodyPr wrap="square" lIns="0" tIns="0" rIns="0" bIns="0" rtlCol="0" anchor="ctr">
            <a:normAutofit/>
          </a:bodyPr>
          <a:lstStyle/>
          <a:p>
            <a:pPr marL="0" indent="0" algn="ctr">
              <a:buNone/>
            </a:pPr>
            <a:r>
              <a:rPr lang="en-US" sz="1150" dirty="0">
                <a:solidFill>
                  <a:srgbClr val="586579"/>
                </a:solidFill>
              </a:rPr>
              <a:t>FIU KFSCIS faculty lessons</a:t>
            </a:r>
            <a:endParaRPr lang="en-US" sz="1150" dirty="0"/>
          </a:p>
        </p:txBody>
      </p:sp>
      <p:sp>
        <p:nvSpPr>
          <p:cNvPr id="19" name="Shape 17"/>
          <p:cNvSpPr/>
          <p:nvPr/>
        </p:nvSpPr>
        <p:spPr>
          <a:xfrm>
            <a:off x="9418320" y="2221992"/>
            <a:ext cx="320040" cy="0"/>
          </a:xfrm>
          <a:prstGeom prst="line">
            <a:avLst/>
          </a:prstGeom>
          <a:noFill/>
          <a:ln w="25400">
            <a:solidFill>
              <a:srgbClr val="B6862C"/>
            </a:solidFill>
            <a:prstDash val="solid"/>
            <a:headEnd type="none"/>
            <a:tailEnd type="triangle"/>
          </a:ln>
        </p:spPr>
        <p:txBody>
          <a:bodyPr/>
          <a:lstStyle/>
          <a:p>
            <a:endParaRPr lang="en-US"/>
          </a:p>
        </p:txBody>
      </p:sp>
      <p:sp>
        <p:nvSpPr>
          <p:cNvPr id="20" name="Text 18"/>
          <p:cNvSpPr/>
          <p:nvPr/>
        </p:nvSpPr>
        <p:spPr>
          <a:xfrm>
            <a:off x="9829800" y="1600200"/>
            <a:ext cx="1874520" cy="1261872"/>
          </a:xfrm>
          <a:prstGeom prst="rect">
            <a:avLst/>
          </a:prstGeom>
          <a:solidFill>
            <a:srgbClr val="FFFFFF"/>
          </a:solidFill>
          <a:ln>
            <a:solidFill>
              <a:srgbClr val="E0E4EA"/>
            </a:solidFill>
          </a:ln>
        </p:spPr>
        <p:txBody>
          <a:bodyPr wrap="square" lIns="508" tIns="508" rIns="508" bIns="508" rtlCol="0" anchor="ctr">
            <a:normAutofit/>
          </a:bodyPr>
          <a:lstStyle/>
          <a:p>
            <a:pPr marL="0" indent="0" algn="ctr">
              <a:buNone/>
            </a:pPr>
            <a:r>
              <a:rPr lang="en-US" sz="3900" b="1" dirty="0">
                <a:solidFill>
                  <a:srgbClr val="081E3F"/>
                </a:solidFill>
                <a:latin typeface="Aptos Display" pitchFamily="34" charset="0"/>
                <a:ea typeface="Aptos Display" pitchFamily="34" charset="-122"/>
                <a:cs typeface="Aptos Display" pitchFamily="34" charset="-120"/>
              </a:rPr>
              <a:t>5
</a:t>
            </a:r>
            <a:r>
              <a:rPr lang="en-US" sz="1220" b="1" dirty="0">
                <a:solidFill>
                  <a:srgbClr val="1C2733"/>
                </a:solidFill>
                <a:latin typeface="Aptos Display" pitchFamily="34" charset="0"/>
                <a:ea typeface="Aptos Display" pitchFamily="34" charset="-122"/>
                <a:cs typeface="Aptos Display" pitchFamily="34" charset="-120"/>
              </a:rPr>
              <a:t>Scale &amp; outcomes</a:t>
            </a:r>
            <a:endParaRPr lang="en-US" sz="3900" dirty="0"/>
          </a:p>
        </p:txBody>
      </p:sp>
      <p:sp>
        <p:nvSpPr>
          <p:cNvPr id="21" name="Text 19"/>
          <p:cNvSpPr/>
          <p:nvPr/>
        </p:nvSpPr>
        <p:spPr>
          <a:xfrm>
            <a:off x="9784080" y="2971800"/>
            <a:ext cx="1965960" cy="457200"/>
          </a:xfrm>
          <a:prstGeom prst="rect">
            <a:avLst/>
          </a:prstGeom>
          <a:noFill/>
          <a:ln/>
        </p:spPr>
        <p:txBody>
          <a:bodyPr wrap="square" lIns="0" tIns="0" rIns="0" bIns="0" rtlCol="0" anchor="ctr">
            <a:normAutofit/>
          </a:bodyPr>
          <a:lstStyle/>
          <a:p>
            <a:pPr marL="0" indent="0" algn="ctr">
              <a:buNone/>
            </a:pPr>
            <a:r>
              <a:rPr lang="en-US" sz="1150" dirty="0">
                <a:solidFill>
                  <a:srgbClr val="586579"/>
                </a:solidFill>
              </a:rPr>
              <a:t>Reusable practices for programs</a:t>
            </a:r>
            <a:endParaRPr lang="en-US" sz="1150" dirty="0"/>
          </a:p>
        </p:txBody>
      </p:sp>
      <p:sp>
        <p:nvSpPr>
          <p:cNvPr id="22" name="Text 20"/>
          <p:cNvSpPr/>
          <p:nvPr/>
        </p:nvSpPr>
        <p:spPr>
          <a:xfrm>
            <a:off x="2739813" y="4828032"/>
            <a:ext cx="6515100" cy="658368"/>
          </a:xfrm>
          <a:prstGeom prst="rect">
            <a:avLst/>
          </a:prstGeom>
          <a:solidFill>
            <a:srgbClr val="081E3F"/>
          </a:solidFill>
          <a:ln>
            <a:solidFill>
              <a:srgbClr val="081E3F"/>
            </a:solidFill>
          </a:ln>
        </p:spPr>
        <p:txBody>
          <a:bodyPr wrap="square" lIns="889" tIns="889" rIns="889" bIns="889" rtlCol="0" anchor="ctr">
            <a:normAutofit/>
          </a:bodyPr>
          <a:lstStyle/>
          <a:p>
            <a:pPr marL="0" indent="0" algn="ctr">
              <a:buNone/>
            </a:pPr>
            <a:r>
              <a:rPr lang="en-US" sz="2200" b="1" dirty="0">
                <a:solidFill>
                  <a:srgbClr val="FFFFFF"/>
                </a:solidFill>
              </a:rPr>
              <a:t>Design principle: the AI policy is part of teaching.</a:t>
            </a:r>
            <a:endParaRPr lang="en-US" sz="2200" dirty="0"/>
          </a:p>
        </p:txBody>
      </p:sp>
      <p:sp>
        <p:nvSpPr>
          <p:cNvPr id="23" name="Text 21"/>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24" name="Text 22"/>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A simple structure faculty can reuse</a:t>
            </a:r>
            <a:endParaRPr lang="en-US" sz="2750" dirty="0"/>
          </a:p>
        </p:txBody>
      </p:sp>
      <p:sp>
        <p:nvSpPr>
          <p:cNvPr id="7" name="Text 5"/>
          <p:cNvSpPr/>
          <p:nvPr/>
        </p:nvSpPr>
        <p:spPr>
          <a:xfrm>
            <a:off x="566928" y="960120"/>
            <a:ext cx="8778240" cy="320040"/>
          </a:xfrm>
          <a:prstGeom prst="rect">
            <a:avLst/>
          </a:prstGeom>
          <a:noFill/>
          <a:ln/>
        </p:spPr>
        <p:txBody>
          <a:bodyPr wrap="square" lIns="0" tIns="0" rIns="0" bIns="0" rtlCol="0" anchor="ctr">
            <a:normAutofit/>
          </a:bodyPr>
          <a:lstStyle/>
          <a:p>
            <a:pPr marL="0" indent="0">
              <a:buNone/>
            </a:pPr>
            <a:r>
              <a:rPr lang="en-US" dirty="0">
                <a:solidFill>
                  <a:srgbClr val="586579"/>
                </a:solidFill>
              </a:rPr>
              <a:t>Student use of GenAI is organized around the purpose of the assignment.</a:t>
            </a:r>
            <a:endParaRPr lang="en-US" dirty="0"/>
          </a:p>
        </p:txBody>
      </p:sp>
      <p:sp>
        <p:nvSpPr>
          <p:cNvPr id="8" name="Text 6"/>
          <p:cNvSpPr/>
          <p:nvPr/>
        </p:nvSpPr>
        <p:spPr>
          <a:xfrm>
            <a:off x="685800" y="2269066"/>
            <a:ext cx="3246120" cy="2622973"/>
          </a:xfrm>
          <a:prstGeom prst="rect">
            <a:avLst/>
          </a:prstGeom>
          <a:solidFill>
            <a:srgbClr val="FFF4D6"/>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ea typeface="Aptos" pitchFamily="34" charset="-122"/>
                <a:cs typeface="Aptos" pitchFamily="34" charset="-120"/>
              </a:rPr>
              <a:t>Category 1 — Free Use
</a:t>
            </a:r>
            <a:r>
              <a:rPr lang="en-US" sz="2000" dirty="0">
                <a:solidFill>
                  <a:srgbClr val="1C2733"/>
                </a:solidFill>
                <a:ea typeface="Aptos" pitchFamily="34" charset="-122"/>
                <a:cs typeface="Aptos" pitchFamily="34" charset="-120"/>
              </a:rPr>
              <a:t>Exploration &amp; creativity</a:t>
            </a:r>
            <a:endParaRPr lang="en-US" sz="2000" dirty="0"/>
          </a:p>
          <a:p>
            <a:pPr marL="0" indent="0">
              <a:buNone/>
            </a:pPr>
            <a:endParaRPr lang="en-US" sz="1450" dirty="0"/>
          </a:p>
          <a:p>
            <a:pPr marL="0" indent="0">
              <a:buNone/>
            </a:pPr>
            <a:r>
              <a:rPr lang="en-US" dirty="0">
                <a:solidFill>
                  <a:srgbClr val="1C2733"/>
                </a:solidFill>
                <a:ea typeface="Aptos" pitchFamily="34" charset="-122"/>
                <a:cs typeface="Aptos" pitchFamily="34" charset="-120"/>
              </a:rPr>
              <a:t>Brainstorm ideas</a:t>
            </a:r>
            <a:endParaRPr lang="en-US" dirty="0"/>
          </a:p>
          <a:p>
            <a:pPr marL="0" indent="0">
              <a:buNone/>
            </a:pPr>
            <a:r>
              <a:rPr lang="en-US" dirty="0">
                <a:solidFill>
                  <a:srgbClr val="1C2733"/>
                </a:solidFill>
                <a:ea typeface="Aptos" pitchFamily="34" charset="-122"/>
                <a:cs typeface="Aptos" pitchFamily="34" charset="-120"/>
              </a:rPr>
              <a:t>Generate code/explanations</a:t>
            </a:r>
            <a:endParaRPr lang="en-US" dirty="0"/>
          </a:p>
          <a:p>
            <a:pPr marL="0" indent="0">
              <a:buNone/>
            </a:pPr>
            <a:r>
              <a:rPr lang="en-US" dirty="0">
                <a:solidFill>
                  <a:srgbClr val="1C2733"/>
                </a:solidFill>
                <a:ea typeface="Aptos" pitchFamily="34" charset="-122"/>
                <a:cs typeface="Aptos" pitchFamily="34" charset="-120"/>
              </a:rPr>
              <a:t>Debug and improve</a:t>
            </a:r>
            <a:endParaRPr lang="en-US" dirty="0"/>
          </a:p>
        </p:txBody>
      </p:sp>
      <p:sp>
        <p:nvSpPr>
          <p:cNvPr id="9" name="Text 7"/>
          <p:cNvSpPr/>
          <p:nvPr/>
        </p:nvSpPr>
        <p:spPr>
          <a:xfrm>
            <a:off x="4480560" y="2269066"/>
            <a:ext cx="3246120" cy="2622974"/>
          </a:xfrm>
          <a:prstGeom prst="rect">
            <a:avLst/>
          </a:prstGeom>
          <a:solidFill>
            <a:srgbClr val="EAF1F8"/>
          </a:solidFill>
          <a:ln w="12700">
            <a:solidFill>
              <a:srgbClr val="B6862C"/>
            </a:solidFill>
          </a:ln>
        </p:spPr>
        <p:txBody>
          <a:bodyPr wrap="square" lIns="1778" tIns="1778" rIns="1778" bIns="1778" rtlCol="0" anchor="ctr">
            <a:normAutofit/>
          </a:bodyPr>
          <a:lstStyle/>
          <a:p>
            <a:pPr marL="0" indent="0">
              <a:buNone/>
            </a:pPr>
            <a:r>
              <a:rPr lang="en-US" sz="2000" b="1" dirty="0">
                <a:solidFill>
                  <a:srgbClr val="081E3F"/>
                </a:solidFill>
                <a:ea typeface="Aptos" pitchFamily="34" charset="-122"/>
                <a:cs typeface="Aptos" pitchFamily="34" charset="-120"/>
              </a:rPr>
              <a:t>Category 2 — Limited / Guided Use
</a:t>
            </a:r>
            <a:r>
              <a:rPr lang="en-US" sz="2000" dirty="0">
                <a:solidFill>
                  <a:srgbClr val="1C2733"/>
                </a:solidFill>
                <a:ea typeface="Aptos" pitchFamily="34" charset="-122"/>
                <a:cs typeface="Aptos" pitchFamily="34" charset="-120"/>
              </a:rPr>
              <a:t>Guided practice &amp; reflection</a:t>
            </a:r>
            <a:endParaRPr lang="en-US" sz="2000" dirty="0"/>
          </a:p>
          <a:p>
            <a:pPr marL="0" indent="0">
              <a:buNone/>
            </a:pPr>
            <a:endParaRPr lang="en-US" dirty="0"/>
          </a:p>
          <a:p>
            <a:pPr marL="0" indent="0">
              <a:buNone/>
            </a:pPr>
            <a:r>
              <a:rPr lang="en-US" dirty="0">
                <a:solidFill>
                  <a:srgbClr val="1C2733"/>
                </a:solidFill>
                <a:ea typeface="Aptos" pitchFamily="34" charset="-122"/>
                <a:cs typeface="Aptos" pitchFamily="34" charset="-120"/>
              </a:rPr>
              <a:t>Design logic first</a:t>
            </a:r>
            <a:endParaRPr lang="en-US" dirty="0"/>
          </a:p>
          <a:p>
            <a:pPr marL="0" indent="0">
              <a:buNone/>
            </a:pPr>
            <a:r>
              <a:rPr lang="en-US" dirty="0">
                <a:solidFill>
                  <a:srgbClr val="1C2733"/>
                </a:solidFill>
                <a:ea typeface="Aptos" pitchFamily="34" charset="-122"/>
                <a:cs typeface="Aptos" pitchFamily="34" charset="-120"/>
              </a:rPr>
              <a:t>Compare AI with own solution</a:t>
            </a:r>
            <a:endParaRPr lang="en-US" dirty="0"/>
          </a:p>
          <a:p>
            <a:pPr marL="0" indent="0">
              <a:buNone/>
            </a:pPr>
            <a:r>
              <a:rPr lang="en-US" dirty="0">
                <a:solidFill>
                  <a:srgbClr val="1C2733"/>
                </a:solidFill>
                <a:ea typeface="Aptos" pitchFamily="34" charset="-122"/>
                <a:cs typeface="Aptos" pitchFamily="34" charset="-120"/>
              </a:rPr>
              <a:t>Use AI for specified tasks</a:t>
            </a:r>
            <a:endParaRPr lang="en-US" dirty="0"/>
          </a:p>
        </p:txBody>
      </p:sp>
      <p:sp>
        <p:nvSpPr>
          <p:cNvPr id="10" name="Text 8"/>
          <p:cNvSpPr/>
          <p:nvPr/>
        </p:nvSpPr>
        <p:spPr>
          <a:xfrm>
            <a:off x="8275320" y="2269064"/>
            <a:ext cx="3246120" cy="2622975"/>
          </a:xfrm>
          <a:prstGeom prst="rect">
            <a:avLst/>
          </a:prstGeom>
          <a:solidFill>
            <a:srgbClr val="FFFFFF"/>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ea typeface="Aptos" pitchFamily="34" charset="-122"/>
                <a:cs typeface="Aptos" pitchFamily="34" charset="-120"/>
              </a:rPr>
              <a:t>Category 3 — No AI Use
</a:t>
            </a:r>
            <a:r>
              <a:rPr lang="en-US" sz="2000" dirty="0">
                <a:solidFill>
                  <a:srgbClr val="1C2733"/>
                </a:solidFill>
                <a:ea typeface="Aptos" pitchFamily="34" charset="-122"/>
                <a:cs typeface="Aptos" pitchFamily="34" charset="-120"/>
              </a:rPr>
              <a:t>Core mastery</a:t>
            </a:r>
            <a:endParaRPr lang="en-US" sz="2000" dirty="0"/>
          </a:p>
          <a:p>
            <a:pPr marL="0" indent="0">
              <a:buNone/>
            </a:pPr>
            <a:endParaRPr lang="en-US" sz="1450" dirty="0"/>
          </a:p>
          <a:p>
            <a:pPr marL="0" indent="0">
              <a:buNone/>
            </a:pPr>
            <a:r>
              <a:rPr lang="en-US" dirty="0">
                <a:solidFill>
                  <a:srgbClr val="1C2733"/>
                </a:solidFill>
                <a:ea typeface="Aptos" pitchFamily="34" charset="-122"/>
                <a:cs typeface="Aptos" pitchFamily="34" charset="-120"/>
              </a:rPr>
              <a:t>Independent quizzes/exams</a:t>
            </a:r>
            <a:endParaRPr lang="en-US" dirty="0"/>
          </a:p>
          <a:p>
            <a:pPr marL="0" indent="0">
              <a:buNone/>
            </a:pPr>
            <a:r>
              <a:rPr lang="en-US" dirty="0">
                <a:solidFill>
                  <a:srgbClr val="1C2733"/>
                </a:solidFill>
                <a:ea typeface="Aptos" pitchFamily="34" charset="-122"/>
                <a:cs typeface="Aptos" pitchFamily="34" charset="-120"/>
              </a:rPr>
              <a:t>Foundational exercises</a:t>
            </a:r>
            <a:endParaRPr lang="en-US" dirty="0"/>
          </a:p>
          <a:p>
            <a:pPr marL="0" indent="0">
              <a:buNone/>
            </a:pPr>
            <a:r>
              <a:rPr lang="en-US" dirty="0">
                <a:solidFill>
                  <a:srgbClr val="1C2733"/>
                </a:solidFill>
                <a:ea typeface="Aptos" pitchFamily="34" charset="-122"/>
                <a:cs typeface="Aptos" pitchFamily="34" charset="-120"/>
              </a:rPr>
              <a:t>Measure individual learning</a:t>
            </a:r>
            <a:endParaRPr lang="en-US" dirty="0"/>
          </a:p>
        </p:txBody>
      </p:sp>
      <p:sp>
        <p:nvSpPr>
          <p:cNvPr id="11" name="Text 9"/>
          <p:cNvSpPr/>
          <p:nvPr/>
        </p:nvSpPr>
        <p:spPr>
          <a:xfrm>
            <a:off x="1920240" y="5376672"/>
            <a:ext cx="8321040" cy="457200"/>
          </a:xfrm>
          <a:prstGeom prst="rect">
            <a:avLst/>
          </a:prstGeom>
          <a:noFill/>
          <a:ln/>
        </p:spPr>
        <p:txBody>
          <a:bodyPr wrap="square" lIns="0" tIns="0" rIns="0" bIns="0" rtlCol="0" anchor="ctr">
            <a:normAutofit/>
          </a:bodyPr>
          <a:lstStyle/>
          <a:p>
            <a:pPr marL="0" indent="0" algn="ctr">
              <a:buNone/>
            </a:pPr>
            <a:r>
              <a:rPr lang="en-US" sz="1900" b="1" dirty="0">
                <a:solidFill>
                  <a:srgbClr val="081E3F"/>
                </a:solidFill>
              </a:rPr>
              <a:t>Balance creativity, guided learning, and independent problem solving.</a:t>
            </a:r>
            <a:endParaRPr lang="en-US" sz="1900" dirty="0"/>
          </a:p>
        </p:txBody>
      </p:sp>
      <p:sp>
        <p:nvSpPr>
          <p:cNvPr id="12" name="Text 10"/>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3" name="Text 11"/>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0290B-7630-9681-5A9C-AADCE94B823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CB506C8-D104-32E6-75E4-BBAAEBBF0DC7}"/>
              </a:ext>
            </a:extLst>
          </p:cNvPr>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C6662AA3-0124-174C-B4E9-BCB01F618633}"/>
              </a:ext>
            </a:extLst>
          </p:cNvPr>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a:extLst>
              <a:ext uri="{FF2B5EF4-FFF2-40B4-BE49-F238E27FC236}">
                <a16:creationId xmlns:a16="http://schemas.microsoft.com/office/drawing/2014/main" id="{1000CB65-1968-9A80-B862-E68384F7D433}"/>
              </a:ext>
            </a:extLst>
          </p:cNvPr>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a:extLst>
              <a:ext uri="{FF2B5EF4-FFF2-40B4-BE49-F238E27FC236}">
                <a16:creationId xmlns:a16="http://schemas.microsoft.com/office/drawing/2014/main" id="{CA443C81-6EA8-D9C1-2BF5-0564674B3342}"/>
              </a:ext>
            </a:extLst>
          </p:cNvPr>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a:extLst>
              <a:ext uri="{FF2B5EF4-FFF2-40B4-BE49-F238E27FC236}">
                <a16:creationId xmlns:a16="http://schemas.microsoft.com/office/drawing/2014/main" id="{5A8403F4-73C4-E4DF-6564-F3D2B24DF806}"/>
              </a:ext>
            </a:extLst>
          </p:cNvPr>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Category 1: Free Use of Generative AI</a:t>
            </a:r>
            <a:endParaRPr lang="en-US" sz="2750" dirty="0"/>
          </a:p>
        </p:txBody>
      </p:sp>
      <p:sp>
        <p:nvSpPr>
          <p:cNvPr id="7" name="Text 5">
            <a:extLst>
              <a:ext uri="{FF2B5EF4-FFF2-40B4-BE49-F238E27FC236}">
                <a16:creationId xmlns:a16="http://schemas.microsoft.com/office/drawing/2014/main" id="{C8092DF7-A0F0-297B-E82B-405F028C33A9}"/>
              </a:ext>
            </a:extLst>
          </p:cNvPr>
          <p:cNvSpPr/>
          <p:nvPr/>
        </p:nvSpPr>
        <p:spPr>
          <a:xfrm>
            <a:off x="576072" y="913668"/>
            <a:ext cx="8778240" cy="320040"/>
          </a:xfrm>
          <a:prstGeom prst="rect">
            <a:avLst/>
          </a:prstGeom>
          <a:noFill/>
          <a:ln/>
        </p:spPr>
        <p:txBody>
          <a:bodyPr wrap="square" lIns="0" tIns="0" rIns="0" bIns="0" rtlCol="0" anchor="ctr">
            <a:normAutofit/>
          </a:bodyPr>
          <a:lstStyle/>
          <a:p>
            <a:pPr marL="0" indent="0">
              <a:buNone/>
            </a:pPr>
            <a:r>
              <a:rPr lang="en-US" dirty="0">
                <a:solidFill>
                  <a:srgbClr val="586579"/>
                </a:solidFill>
              </a:rPr>
              <a:t>Let AI expand the solution space when the goal is creativity and breadth.</a:t>
            </a:r>
            <a:endParaRPr lang="en-US" dirty="0"/>
          </a:p>
        </p:txBody>
      </p:sp>
      <p:sp>
        <p:nvSpPr>
          <p:cNvPr id="14" name="Text 12">
            <a:extLst>
              <a:ext uri="{FF2B5EF4-FFF2-40B4-BE49-F238E27FC236}">
                <a16:creationId xmlns:a16="http://schemas.microsoft.com/office/drawing/2014/main" id="{220A8665-E274-4229-B5CC-BA5C29AC0590}"/>
              </a:ext>
            </a:extLst>
          </p:cNvPr>
          <p:cNvSpPr/>
          <p:nvPr/>
        </p:nvSpPr>
        <p:spPr>
          <a:xfrm>
            <a:off x="1245729" y="5406305"/>
            <a:ext cx="9509760" cy="502920"/>
          </a:xfrm>
          <a:prstGeom prst="rect">
            <a:avLst/>
          </a:prstGeom>
          <a:solidFill>
            <a:srgbClr val="081E3F"/>
          </a:solidFill>
          <a:ln>
            <a:solidFill>
              <a:srgbClr val="081E3F"/>
            </a:solidFill>
          </a:ln>
        </p:spPr>
        <p:txBody>
          <a:bodyPr wrap="square" lIns="1016" tIns="1016" rIns="1016" bIns="1016" rtlCol="0" anchor="ctr">
            <a:normAutofit/>
          </a:bodyPr>
          <a:lstStyle/>
          <a:p>
            <a:pPr marL="0" indent="0" algn="ctr">
              <a:buNone/>
            </a:pPr>
            <a:r>
              <a:rPr lang="en-US" sz="1900" b="1" dirty="0">
                <a:solidFill>
                  <a:srgbClr val="FFFFFF"/>
                </a:solidFill>
              </a:rPr>
              <a:t>Best fit: open-ended activities where “one right answer” is not the target.</a:t>
            </a:r>
            <a:endParaRPr lang="en-US" sz="1900" dirty="0"/>
          </a:p>
        </p:txBody>
      </p:sp>
      <p:sp>
        <p:nvSpPr>
          <p:cNvPr id="15" name="Text 13">
            <a:extLst>
              <a:ext uri="{FF2B5EF4-FFF2-40B4-BE49-F238E27FC236}">
                <a16:creationId xmlns:a16="http://schemas.microsoft.com/office/drawing/2014/main" id="{C68770DE-E29B-5D09-5C24-0864A71F155A}"/>
              </a:ext>
            </a:extLst>
          </p:cNvPr>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6" name="Text 14">
            <a:extLst>
              <a:ext uri="{FF2B5EF4-FFF2-40B4-BE49-F238E27FC236}">
                <a16:creationId xmlns:a16="http://schemas.microsoft.com/office/drawing/2014/main" id="{57D2C957-ADE5-8964-462C-9495145C73F2}"/>
              </a:ext>
            </a:extLst>
          </p:cNvPr>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07</a:t>
            </a:r>
            <a:endParaRPr lang="en-US" sz="800" dirty="0"/>
          </a:p>
        </p:txBody>
      </p:sp>
      <p:sp>
        <p:nvSpPr>
          <p:cNvPr id="17" name="TextBox 16">
            <a:extLst>
              <a:ext uri="{FF2B5EF4-FFF2-40B4-BE49-F238E27FC236}">
                <a16:creationId xmlns:a16="http://schemas.microsoft.com/office/drawing/2014/main" id="{1848112B-2A44-EFA7-4BFD-5E25BC974028}"/>
              </a:ext>
            </a:extLst>
          </p:cNvPr>
          <p:cNvSpPr txBox="1"/>
          <p:nvPr/>
        </p:nvSpPr>
        <p:spPr>
          <a:xfrm>
            <a:off x="1657350" y="2199925"/>
            <a:ext cx="2413161" cy="400110"/>
          </a:xfrm>
          <a:prstGeom prst="rect">
            <a:avLst/>
          </a:prstGeom>
          <a:noFill/>
        </p:spPr>
        <p:txBody>
          <a:bodyPr wrap="none">
            <a:spAutoFit/>
          </a:bodyPr>
          <a:lstStyle/>
          <a:p>
            <a:pPr>
              <a:defRPr sz="2200" b="1">
                <a:solidFill>
                  <a:srgbClr val="373737"/>
                </a:solidFill>
                <a:latin typeface="Calibri"/>
              </a:defRPr>
            </a:pPr>
            <a:r>
              <a:rPr sz="2000" dirty="0"/>
              <a:t>How Students Use AI</a:t>
            </a:r>
          </a:p>
        </p:txBody>
      </p:sp>
      <p:sp>
        <p:nvSpPr>
          <p:cNvPr id="18" name="TextBox 17">
            <a:extLst>
              <a:ext uri="{FF2B5EF4-FFF2-40B4-BE49-F238E27FC236}">
                <a16:creationId xmlns:a16="http://schemas.microsoft.com/office/drawing/2014/main" id="{D4E70558-5887-EFEC-D8F0-75F60E78CB1B}"/>
              </a:ext>
            </a:extLst>
          </p:cNvPr>
          <p:cNvSpPr txBox="1"/>
          <p:nvPr/>
        </p:nvSpPr>
        <p:spPr>
          <a:xfrm>
            <a:off x="1657350" y="2679986"/>
            <a:ext cx="4596694" cy="1323439"/>
          </a:xfrm>
          <a:prstGeom prst="rect">
            <a:avLst/>
          </a:prstGeom>
          <a:noFill/>
        </p:spPr>
        <p:txBody>
          <a:bodyPr wrap="square">
            <a:spAutoFit/>
          </a:bodyPr>
          <a:lstStyle/>
          <a:p>
            <a:pPr marL="285750" lvl="1" indent="-285750">
              <a:buFont typeface="Arial" panose="020B0604020202020204" pitchFamily="34" charset="0"/>
              <a:buChar char="•"/>
              <a:defRPr sz="2000">
                <a:solidFill>
                  <a:srgbClr val="464646"/>
                </a:solidFill>
                <a:latin typeface="Calibri"/>
              </a:defRPr>
            </a:pPr>
            <a:r>
              <a:rPr dirty="0"/>
              <a:t>Students can freely use Generative AI</a:t>
            </a:r>
          </a:p>
          <a:p>
            <a:pPr marL="285750" lvl="1" indent="-285750">
              <a:buFont typeface="Arial" panose="020B0604020202020204" pitchFamily="34" charset="0"/>
              <a:buChar char="•"/>
              <a:defRPr sz="2000">
                <a:solidFill>
                  <a:srgbClr val="464646"/>
                </a:solidFill>
                <a:latin typeface="Calibri"/>
              </a:defRPr>
            </a:pPr>
            <a:r>
              <a:rPr dirty="0"/>
              <a:t>Brainstorm ideas and approaches</a:t>
            </a:r>
          </a:p>
          <a:p>
            <a:pPr marL="285750" lvl="1" indent="-285750">
              <a:buFont typeface="Arial" panose="020B0604020202020204" pitchFamily="34" charset="0"/>
              <a:buChar char="•"/>
              <a:defRPr sz="2000">
                <a:solidFill>
                  <a:srgbClr val="464646"/>
                </a:solidFill>
                <a:latin typeface="Calibri"/>
              </a:defRPr>
            </a:pPr>
            <a:r>
              <a:rPr dirty="0"/>
              <a:t>Generate code and explanations</a:t>
            </a:r>
          </a:p>
          <a:p>
            <a:pPr marL="285750" lvl="1" indent="-285750">
              <a:buFont typeface="Arial" panose="020B0604020202020204" pitchFamily="34" charset="0"/>
              <a:buChar char="•"/>
              <a:defRPr sz="2000">
                <a:solidFill>
                  <a:srgbClr val="464646"/>
                </a:solidFill>
                <a:latin typeface="Calibri"/>
              </a:defRPr>
            </a:pPr>
            <a:r>
              <a:rPr dirty="0"/>
              <a:t>Debug and improve solutions</a:t>
            </a:r>
          </a:p>
        </p:txBody>
      </p:sp>
      <p:sp>
        <p:nvSpPr>
          <p:cNvPr id="19" name="Rounded Rectangle 18">
            <a:extLst>
              <a:ext uri="{FF2B5EF4-FFF2-40B4-BE49-F238E27FC236}">
                <a16:creationId xmlns:a16="http://schemas.microsoft.com/office/drawing/2014/main" id="{761BD891-4A92-91D1-4294-C66CBE99835B}"/>
              </a:ext>
            </a:extLst>
          </p:cNvPr>
          <p:cNvSpPr/>
          <p:nvPr/>
        </p:nvSpPr>
        <p:spPr>
          <a:xfrm>
            <a:off x="6805507" y="2575958"/>
            <a:ext cx="2532662" cy="1577619"/>
          </a:xfrm>
          <a:prstGeom prst="roundRect">
            <a:avLst/>
          </a:prstGeom>
          <a:solidFill>
            <a:srgbClr val="DC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03864"/>
                </a:solidFill>
              </a:defRPr>
            </a:pPr>
            <a:r>
              <a:rPr sz="2000" dirty="0"/>
              <a:t>Learning Intent</a:t>
            </a:r>
          </a:p>
          <a:p>
            <a:pPr algn="ctr">
              <a:defRPr sz="1600" b="1">
                <a:solidFill>
                  <a:srgbClr val="323232"/>
                </a:solidFill>
              </a:defRPr>
            </a:pPr>
            <a:r>
              <a:rPr sz="2000" dirty="0"/>
              <a:t>Exploration &amp; Creativity</a:t>
            </a:r>
          </a:p>
        </p:txBody>
      </p:sp>
    </p:spTree>
    <p:extLst>
      <p:ext uri="{BB962C8B-B14F-4D97-AF65-F5344CB8AC3E}">
        <p14:creationId xmlns:p14="http://schemas.microsoft.com/office/powerpoint/2010/main" val="1151207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Example of Category 1: Free Use of Generative AI</a:t>
            </a:r>
            <a:endParaRPr lang="en-US" sz="2750" dirty="0"/>
          </a:p>
        </p:txBody>
      </p:sp>
      <p:sp>
        <p:nvSpPr>
          <p:cNvPr id="8" name="Text 6"/>
          <p:cNvSpPr/>
          <p:nvPr/>
        </p:nvSpPr>
        <p:spPr>
          <a:xfrm>
            <a:off x="1661007" y="1099644"/>
            <a:ext cx="8869680" cy="3899864"/>
          </a:xfrm>
          <a:prstGeom prst="rect">
            <a:avLst/>
          </a:prstGeom>
          <a:solidFill>
            <a:srgbClr val="B6862C"/>
          </a:solidFill>
          <a:ln>
            <a:solidFill>
              <a:srgbClr val="B6862C">
                <a:alpha val="0"/>
              </a:srgbClr>
            </a:solidFill>
          </a:ln>
        </p:spPr>
        <p:txBody>
          <a:bodyPr wrap="square" lIns="762" tIns="762" rIns="762" bIns="762" rtlCol="0" anchor="ctr">
            <a:noAutofit/>
          </a:bodyPr>
          <a:lstStyle/>
          <a:p>
            <a:pPr>
              <a:spcAft>
                <a:spcPts val="450"/>
              </a:spcAft>
              <a:defRPr sz="2000" b="1">
                <a:solidFill>
                  <a:srgbClr val="323232"/>
                </a:solidFill>
                <a:latin typeface="Calibri"/>
              </a:defRPr>
            </a:pPr>
            <a:r>
              <a:rPr lang="en-US" sz="1600" dirty="0">
                <a:latin typeface="Aptos" panose="020B0004020202020204" pitchFamily="34" charset="0"/>
                <a:cs typeface="Calibri" panose="020F0502020204030204" pitchFamily="34" charset="0"/>
              </a:rPr>
              <a:t>In‑class activity: Implicit graph construction</a:t>
            </a:r>
          </a:p>
          <a:p>
            <a:pPr>
              <a:spcAft>
                <a:spcPts val="450"/>
              </a:spcAft>
              <a:defRPr sz="2000" b="1">
                <a:solidFill>
                  <a:srgbClr val="323232"/>
                </a:solidFill>
                <a:latin typeface="Calibri"/>
              </a:defRPr>
            </a:pPr>
            <a:r>
              <a:rPr lang="en-US" sz="1600" dirty="0">
                <a:latin typeface="Aptos" panose="020B0004020202020204" pitchFamily="34" charset="0"/>
                <a:cs typeface="Calibri" panose="020F0502020204030204" pitchFamily="34" charset="0"/>
              </a:rPr>
              <a:t>Instructions</a:t>
            </a:r>
          </a:p>
          <a:p>
            <a:r>
              <a:rPr lang="en-US" sz="1600" dirty="0">
                <a:latin typeface="Aptos" panose="020B0004020202020204" pitchFamily="34" charset="0"/>
                <a:cs typeface="Calibri" panose="020F0502020204030204" pitchFamily="34" charset="0"/>
              </a:rPr>
              <a:t>For each of the following implicit graphs, explain:</a:t>
            </a:r>
          </a:p>
          <a:p>
            <a:r>
              <a:rPr lang="en-US" sz="1600" dirty="0">
                <a:latin typeface="Aptos" panose="020B0004020202020204" pitchFamily="34" charset="0"/>
                <a:cs typeface="Calibri" panose="020F0502020204030204" pitchFamily="34" charset="0"/>
              </a:rPr>
              <a:t>How would you represent the nodes?</a:t>
            </a:r>
          </a:p>
          <a:p>
            <a:r>
              <a:rPr lang="en-US" sz="1600" dirty="0">
                <a:latin typeface="Aptos" panose="020B0004020202020204" pitchFamily="34" charset="0"/>
                <a:cs typeface="Calibri" panose="020F0502020204030204" pitchFamily="34" charset="0"/>
              </a:rPr>
              <a:t>For a given node, how do you find the neighboring nodes?</a:t>
            </a:r>
          </a:p>
          <a:p>
            <a:r>
              <a:rPr lang="en-US" sz="1600" dirty="0">
                <a:latin typeface="Aptos" panose="020B0004020202020204" pitchFamily="34" charset="0"/>
                <a:cs typeface="Calibri" panose="020F0502020204030204" pitchFamily="34" charset="0"/>
              </a:rPr>
              <a:t>How many nodes are there in total?</a:t>
            </a:r>
          </a:p>
          <a:p>
            <a:r>
              <a:rPr lang="en-US" sz="1600" dirty="0">
                <a:latin typeface="Aptos" panose="020B0004020202020204" pitchFamily="34" charset="0"/>
                <a:cs typeface="Calibri" panose="020F0502020204030204" pitchFamily="34" charset="0"/>
              </a:rPr>
              <a:t>Then, prompt GenAI to write a function that generates the neighbors of a node according to your strategy.</a:t>
            </a:r>
          </a:p>
          <a:p>
            <a:r>
              <a:rPr lang="en-US" sz="1600" dirty="0">
                <a:latin typeface="Aptos" panose="020B0004020202020204" pitchFamily="34" charset="0"/>
                <a:cs typeface="Calibri" panose="020F0502020204030204" pitchFamily="34" charset="0"/>
              </a:rPr>
              <a:t>Problems:</a:t>
            </a:r>
          </a:p>
          <a:p>
            <a:r>
              <a:rPr lang="en-US" sz="1600" dirty="0">
                <a:latin typeface="Aptos" panose="020B0004020202020204" pitchFamily="34" charset="0"/>
                <a:cs typeface="Calibri" panose="020F0502020204030204" pitchFamily="34" charset="0"/>
              </a:rPr>
              <a:t>A single </a:t>
            </a:r>
            <a:r>
              <a:rPr lang="en-US" sz="1600" u="sng" dirty="0">
                <a:latin typeface="Aptos" panose="020B0004020202020204" pitchFamily="34" charset="0"/>
                <a:cs typeface="Calibri" panose="020F0502020204030204" pitchFamily="34" charset="0"/>
                <a:hlinkClick r:id="rId3"/>
              </a:rPr>
              <a:t>rook</a:t>
            </a:r>
            <a:r>
              <a:rPr lang="en-US" sz="1600" dirty="0">
                <a:latin typeface="Aptos" panose="020B0004020202020204" pitchFamily="34" charset="0"/>
                <a:cs typeface="Calibri" panose="020F0502020204030204" pitchFamily="34" charset="0"/>
              </a:rPr>
              <a:t> on an 8x8 chessboard</a:t>
            </a:r>
          </a:p>
          <a:p>
            <a:pPr lvl="1"/>
            <a:r>
              <a:rPr lang="en-US" sz="1600" dirty="0">
                <a:latin typeface="Aptos" panose="020B0004020202020204" pitchFamily="34" charset="0"/>
                <a:cs typeface="Calibri" panose="020F0502020204030204" pitchFamily="34" charset="0"/>
              </a:rPr>
              <a:t>How to represent nodes:</a:t>
            </a:r>
          </a:p>
          <a:p>
            <a:pPr lvl="1"/>
            <a:r>
              <a:rPr lang="en-US" sz="1600" dirty="0">
                <a:latin typeface="Aptos" panose="020B0004020202020204" pitchFamily="34" charset="0"/>
                <a:cs typeface="Calibri" panose="020F0502020204030204" pitchFamily="34" charset="0"/>
              </a:rPr>
              <a:t>How to find neighbors: </a:t>
            </a:r>
          </a:p>
          <a:p>
            <a:r>
              <a:rPr lang="en-US" sz="1600" dirty="0">
                <a:latin typeface="Aptos" panose="020B0004020202020204" pitchFamily="34" charset="0"/>
                <a:cs typeface="Calibri" panose="020F0502020204030204" pitchFamily="34" charset="0"/>
              </a:rPr>
              <a:t>A game of </a:t>
            </a:r>
            <a:r>
              <a:rPr lang="en-US" sz="1600" u="sng" dirty="0">
                <a:latin typeface="Aptos" panose="020B0004020202020204" pitchFamily="34" charset="0"/>
                <a:cs typeface="Calibri" panose="020F0502020204030204" pitchFamily="34" charset="0"/>
                <a:hlinkClick r:id="rId4"/>
              </a:rPr>
              <a:t>tic-tac-toe</a:t>
            </a:r>
            <a:endParaRPr lang="en-US" sz="1600" dirty="0">
              <a:latin typeface="Aptos" panose="020B0004020202020204" pitchFamily="34" charset="0"/>
              <a:cs typeface="Calibri" panose="020F0502020204030204" pitchFamily="34" charset="0"/>
            </a:endParaRPr>
          </a:p>
          <a:p>
            <a:pPr lvl="1"/>
            <a:r>
              <a:rPr lang="en-US" sz="1600" dirty="0">
                <a:latin typeface="Aptos" panose="020B0004020202020204" pitchFamily="34" charset="0"/>
                <a:cs typeface="Calibri" panose="020F0502020204030204" pitchFamily="34" charset="0"/>
              </a:rPr>
              <a:t>How to represent nodes: </a:t>
            </a:r>
          </a:p>
          <a:p>
            <a:pPr lvl="1"/>
            <a:r>
              <a:rPr lang="en-US" sz="1600" dirty="0">
                <a:latin typeface="Aptos" panose="020B0004020202020204" pitchFamily="34" charset="0"/>
                <a:cs typeface="Calibri" panose="020F0502020204030204" pitchFamily="34" charset="0"/>
              </a:rPr>
              <a:t>How to find neighbors:</a:t>
            </a:r>
            <a:endParaRPr lang="en-US" sz="1600" dirty="0">
              <a:latin typeface="Aptos" panose="020B0004020202020204" pitchFamily="34" charset="0"/>
            </a:endParaRPr>
          </a:p>
        </p:txBody>
      </p:sp>
      <p:sp>
        <p:nvSpPr>
          <p:cNvPr id="9" name="Text 7"/>
          <p:cNvSpPr/>
          <p:nvPr/>
        </p:nvSpPr>
        <p:spPr>
          <a:xfrm>
            <a:off x="777240" y="5174280"/>
            <a:ext cx="2971800" cy="1234440"/>
          </a:xfrm>
          <a:prstGeom prst="rect">
            <a:avLst/>
          </a:prstGeom>
          <a:solidFill>
            <a:srgbClr val="FFFFFF"/>
          </a:solidFill>
          <a:ln w="12700">
            <a:solidFill>
              <a:srgbClr val="D7DCE2"/>
            </a:solidFill>
          </a:ln>
        </p:spPr>
        <p:txBody>
          <a:bodyPr wrap="square" lIns="1778" tIns="1778" rIns="1778" bIns="1778" rtlCol="0" anchor="ctr">
            <a:normAutofit/>
          </a:bodyPr>
          <a:lstStyle/>
          <a:p>
            <a:pPr marL="0" indent="0">
              <a:buNone/>
            </a:pPr>
            <a:r>
              <a:rPr lang="en-US" sz="1500" b="1" dirty="0">
                <a:solidFill>
                  <a:srgbClr val="081E3F"/>
                </a:solidFill>
                <a:latin typeface="Aptos" pitchFamily="34" charset="0"/>
                <a:ea typeface="Aptos" pitchFamily="34" charset="-122"/>
                <a:cs typeface="Aptos" pitchFamily="34" charset="-120"/>
              </a:rPr>
              <a:t>Student thinking first
</a:t>
            </a:r>
            <a:r>
              <a:rPr lang="en-US" sz="1500" dirty="0">
                <a:solidFill>
                  <a:srgbClr val="1C2733"/>
                </a:solidFill>
                <a:latin typeface="Aptos" pitchFamily="34" charset="0"/>
                <a:ea typeface="Aptos" pitchFamily="34" charset="-122"/>
                <a:cs typeface="Aptos" pitchFamily="34" charset="-120"/>
              </a:rPr>
              <a:t>Represent nodes</a:t>
            </a:r>
            <a:endParaRPr lang="en-US" sz="1500" dirty="0"/>
          </a:p>
          <a:p>
            <a:pPr marL="0" indent="0">
              <a:buNone/>
            </a:pPr>
            <a:r>
              <a:rPr lang="en-US" sz="1500" dirty="0">
                <a:solidFill>
                  <a:srgbClr val="1C2733"/>
                </a:solidFill>
                <a:latin typeface="Aptos" pitchFamily="34" charset="0"/>
                <a:ea typeface="Aptos" pitchFamily="34" charset="-122"/>
                <a:cs typeface="Aptos" pitchFamily="34" charset="-120"/>
              </a:rPr>
              <a:t>Find neighboring nodes</a:t>
            </a:r>
            <a:endParaRPr lang="en-US" sz="1500" dirty="0"/>
          </a:p>
          <a:p>
            <a:pPr marL="0" indent="0">
              <a:buNone/>
            </a:pPr>
            <a:r>
              <a:rPr lang="en-US" sz="1500" dirty="0">
                <a:solidFill>
                  <a:srgbClr val="1C2733"/>
                </a:solidFill>
                <a:latin typeface="Aptos" pitchFamily="34" charset="0"/>
                <a:ea typeface="Aptos" pitchFamily="34" charset="-122"/>
                <a:cs typeface="Aptos" pitchFamily="34" charset="-120"/>
              </a:rPr>
              <a:t>Estimate total number of nodes</a:t>
            </a:r>
            <a:endParaRPr lang="en-US" sz="1500" dirty="0"/>
          </a:p>
        </p:txBody>
      </p:sp>
      <p:sp>
        <p:nvSpPr>
          <p:cNvPr id="10" name="Text 8"/>
          <p:cNvSpPr/>
          <p:nvPr/>
        </p:nvSpPr>
        <p:spPr>
          <a:xfrm>
            <a:off x="4617720" y="5174278"/>
            <a:ext cx="2971800" cy="1234441"/>
          </a:xfrm>
          <a:prstGeom prst="rect">
            <a:avLst/>
          </a:prstGeom>
          <a:solidFill>
            <a:srgbClr val="FFF4D6"/>
          </a:solidFill>
          <a:ln w="12700">
            <a:solidFill>
              <a:srgbClr val="D7DCE2"/>
            </a:solidFill>
          </a:ln>
        </p:spPr>
        <p:txBody>
          <a:bodyPr wrap="square" lIns="1778" tIns="1778" rIns="1778" bIns="1778" rtlCol="0" anchor="ctr">
            <a:normAutofit/>
          </a:bodyPr>
          <a:lstStyle/>
          <a:p>
            <a:pPr marL="0" indent="0">
              <a:buNone/>
            </a:pPr>
            <a:r>
              <a:rPr lang="en-US" sz="1500" b="1" dirty="0">
                <a:solidFill>
                  <a:srgbClr val="081E3F"/>
                </a:solidFill>
                <a:latin typeface="Aptos" pitchFamily="34" charset="0"/>
                <a:ea typeface="Aptos" pitchFamily="34" charset="-122"/>
                <a:cs typeface="Aptos" pitchFamily="34" charset="-120"/>
              </a:rPr>
              <a:t>Then AI as a booster
</a:t>
            </a:r>
            <a:r>
              <a:rPr lang="en-US" sz="1500" dirty="0">
                <a:solidFill>
                  <a:srgbClr val="1C2733"/>
                </a:solidFill>
                <a:latin typeface="Aptos" pitchFamily="34" charset="0"/>
                <a:ea typeface="Aptos" pitchFamily="34" charset="-122"/>
                <a:cs typeface="Aptos" pitchFamily="34" charset="-120"/>
              </a:rPr>
              <a:t>Prompt AI to generate neighbor functions, compare strategies, and refine edge cases.</a:t>
            </a:r>
            <a:endParaRPr lang="en-US" sz="1500" dirty="0"/>
          </a:p>
        </p:txBody>
      </p:sp>
      <p:sp>
        <p:nvSpPr>
          <p:cNvPr id="11" name="Text 9"/>
          <p:cNvSpPr/>
          <p:nvPr/>
        </p:nvSpPr>
        <p:spPr>
          <a:xfrm>
            <a:off x="8458200" y="5174278"/>
            <a:ext cx="2971800" cy="1234442"/>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1500" b="1" dirty="0">
                <a:solidFill>
                  <a:srgbClr val="081E3F"/>
                </a:solidFill>
                <a:latin typeface="Aptos" pitchFamily="34" charset="0"/>
                <a:ea typeface="Aptos" pitchFamily="34" charset="-122"/>
                <a:cs typeface="Aptos" pitchFamily="34" charset="-120"/>
              </a:rPr>
              <a:t>Learning signal
</a:t>
            </a:r>
            <a:r>
              <a:rPr lang="en-US" sz="1500" dirty="0">
                <a:solidFill>
                  <a:srgbClr val="1C2733"/>
                </a:solidFill>
                <a:latin typeface="Aptos" pitchFamily="34" charset="0"/>
                <a:ea typeface="Aptos" pitchFamily="34" charset="-122"/>
                <a:cs typeface="Aptos" pitchFamily="34" charset="-120"/>
              </a:rPr>
              <a:t>Students practice abstraction while AI helps them see multiple designs quickly.</a:t>
            </a:r>
            <a:endParaRPr lang="en-US" sz="1500" dirty="0"/>
          </a:p>
        </p:txBody>
      </p:sp>
      <p:sp>
        <p:nvSpPr>
          <p:cNvPr id="12" name="Shape 10"/>
          <p:cNvSpPr/>
          <p:nvPr/>
        </p:nvSpPr>
        <p:spPr>
          <a:xfrm>
            <a:off x="3874911" y="5840324"/>
            <a:ext cx="594360" cy="0"/>
          </a:xfrm>
          <a:prstGeom prst="line">
            <a:avLst/>
          </a:prstGeom>
          <a:noFill/>
          <a:ln w="25400">
            <a:solidFill>
              <a:srgbClr val="B6862C"/>
            </a:solidFill>
            <a:prstDash val="solid"/>
            <a:headEnd type="none"/>
            <a:tailEnd type="triangle"/>
          </a:ln>
        </p:spPr>
        <p:txBody>
          <a:bodyPr/>
          <a:lstStyle/>
          <a:p>
            <a:endParaRPr lang="en-US"/>
          </a:p>
        </p:txBody>
      </p:sp>
      <p:sp>
        <p:nvSpPr>
          <p:cNvPr id="13" name="Shape 11"/>
          <p:cNvSpPr/>
          <p:nvPr/>
        </p:nvSpPr>
        <p:spPr>
          <a:xfrm>
            <a:off x="7749258" y="5840324"/>
            <a:ext cx="594360" cy="0"/>
          </a:xfrm>
          <a:prstGeom prst="line">
            <a:avLst/>
          </a:prstGeom>
          <a:noFill/>
          <a:ln w="25400">
            <a:solidFill>
              <a:srgbClr val="B6862C"/>
            </a:solidFill>
            <a:prstDash val="solid"/>
            <a:headEnd type="none"/>
            <a:tailEnd type="triangle"/>
          </a:ln>
        </p:spPr>
        <p:txBody>
          <a:bodyPr/>
          <a:lstStyle/>
          <a:p>
            <a:endParaRPr lang="en-US"/>
          </a:p>
        </p:txBody>
      </p:sp>
      <p:sp>
        <p:nvSpPr>
          <p:cNvPr id="15" name="Text 13"/>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6" name="Text 14"/>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07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09800" y="1920240"/>
            <a:ext cx="1463040" cy="50800"/>
          </a:xfrm>
          <a:prstGeom prst="rect">
            <a:avLst/>
          </a:prstGeom>
          <a:solidFill>
            <a:srgbClr val="20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 name="TextBox 3"/>
          <p:cNvSpPr txBox="1"/>
          <p:nvPr/>
        </p:nvSpPr>
        <p:spPr>
          <a:xfrm>
            <a:off x="2209800" y="2286001"/>
            <a:ext cx="2635658" cy="430887"/>
          </a:xfrm>
          <a:prstGeom prst="rect">
            <a:avLst/>
          </a:prstGeom>
          <a:noFill/>
        </p:spPr>
        <p:txBody>
          <a:bodyPr wrap="none">
            <a:spAutoFit/>
          </a:bodyPr>
          <a:lstStyle/>
          <a:p>
            <a:pPr>
              <a:defRPr sz="2200" b="1">
                <a:solidFill>
                  <a:srgbClr val="3C3C3C"/>
                </a:solidFill>
                <a:latin typeface="Calibri"/>
              </a:defRPr>
            </a:pPr>
            <a:r>
              <a:rPr sz="2200" dirty="0"/>
              <a:t>How Students Use AI</a:t>
            </a:r>
          </a:p>
        </p:txBody>
      </p:sp>
      <p:sp>
        <p:nvSpPr>
          <p:cNvPr id="5" name="TextBox 4"/>
          <p:cNvSpPr txBox="1"/>
          <p:nvPr/>
        </p:nvSpPr>
        <p:spPr>
          <a:xfrm>
            <a:off x="2209800" y="2926082"/>
            <a:ext cx="6031089" cy="1631216"/>
          </a:xfrm>
          <a:prstGeom prst="rect">
            <a:avLst/>
          </a:prstGeom>
          <a:noFill/>
        </p:spPr>
        <p:txBody>
          <a:bodyPr wrap="square">
            <a:spAutoFit/>
          </a:bodyPr>
          <a:lstStyle/>
          <a:p>
            <a:pPr>
              <a:defRPr sz="2000">
                <a:solidFill>
                  <a:srgbClr val="464646"/>
                </a:solidFill>
                <a:latin typeface="Calibri"/>
              </a:defRPr>
            </a:pPr>
            <a:r>
              <a:rPr sz="2000" dirty="0"/>
              <a:t>Students are allowed to use AI only as instructed</a:t>
            </a:r>
          </a:p>
          <a:p>
            <a:pPr marL="380990" lvl="1" indent="-380990">
              <a:buFont typeface="Arial" panose="020B0604020202020204" pitchFamily="34" charset="0"/>
              <a:buChar char="•"/>
              <a:defRPr sz="2000">
                <a:solidFill>
                  <a:srgbClr val="464646"/>
                </a:solidFill>
                <a:latin typeface="Calibri"/>
              </a:defRPr>
            </a:pPr>
            <a:r>
              <a:rPr sz="2000" dirty="0"/>
              <a:t>Generate specific functions</a:t>
            </a:r>
          </a:p>
          <a:p>
            <a:pPr marL="380990" lvl="1" indent="-380990">
              <a:buFont typeface="Arial" panose="020B0604020202020204" pitchFamily="34" charset="0"/>
              <a:buChar char="•"/>
              <a:defRPr sz="2000">
                <a:solidFill>
                  <a:srgbClr val="464646"/>
                </a:solidFill>
                <a:latin typeface="Calibri"/>
              </a:defRPr>
            </a:pPr>
            <a:r>
              <a:rPr sz="2000" dirty="0"/>
              <a:t>Compare AI‑generated solutions with their own</a:t>
            </a:r>
          </a:p>
          <a:p>
            <a:pPr marL="380990" lvl="1" indent="-380990">
              <a:buFont typeface="Arial" panose="020B0604020202020204" pitchFamily="34" charset="0"/>
              <a:buChar char="•"/>
              <a:defRPr sz="2000">
                <a:solidFill>
                  <a:srgbClr val="464646"/>
                </a:solidFill>
                <a:latin typeface="Calibri"/>
              </a:defRPr>
            </a:pPr>
            <a:r>
              <a:rPr sz="2000" dirty="0"/>
              <a:t>Use AI for debugging only</a:t>
            </a:r>
          </a:p>
          <a:p>
            <a:pPr marL="380990" lvl="1" indent="-380990">
              <a:buFont typeface="Arial" panose="020B0604020202020204" pitchFamily="34" charset="0"/>
              <a:buChar char="•"/>
              <a:defRPr sz="2000">
                <a:solidFill>
                  <a:srgbClr val="464646"/>
                </a:solidFill>
                <a:latin typeface="Calibri"/>
              </a:defRPr>
            </a:pPr>
            <a:r>
              <a:rPr sz="2000" dirty="0"/>
              <a:t>Use AI for specific lab instructions</a:t>
            </a:r>
          </a:p>
        </p:txBody>
      </p:sp>
      <p:sp>
        <p:nvSpPr>
          <p:cNvPr id="6" name="Rounded Rectangle 5"/>
          <p:cNvSpPr/>
          <p:nvPr/>
        </p:nvSpPr>
        <p:spPr>
          <a:xfrm>
            <a:off x="8425208" y="2809145"/>
            <a:ext cx="2377440" cy="2011680"/>
          </a:xfrm>
          <a:prstGeom prst="roundRect">
            <a:avLst/>
          </a:prstGeom>
          <a:solidFill>
            <a:srgbClr val="EB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03864"/>
                </a:solidFill>
              </a:defRPr>
            </a:pPr>
            <a:r>
              <a:rPr sz="1400"/>
              <a:t>Learning Intent</a:t>
            </a:r>
          </a:p>
          <a:p>
            <a:pPr algn="ctr">
              <a:defRPr sz="1600" b="1">
                <a:solidFill>
                  <a:srgbClr val="373737"/>
                </a:solidFill>
              </a:defRPr>
            </a:pPr>
            <a:r>
              <a:rPr sz="1600"/>
              <a:t>Guided Practice &amp; Reflection</a:t>
            </a:r>
          </a:p>
        </p:txBody>
      </p:sp>
      <p:sp>
        <p:nvSpPr>
          <p:cNvPr id="7" name="Text 4">
            <a:extLst>
              <a:ext uri="{FF2B5EF4-FFF2-40B4-BE49-F238E27FC236}">
                <a16:creationId xmlns:a16="http://schemas.microsoft.com/office/drawing/2014/main" id="{C8DF76A8-6760-4157-367A-E91A6DD141F4}"/>
              </a:ext>
            </a:extLst>
          </p:cNvPr>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Category 2: Limited/ partial Use of Generative AI</a:t>
            </a:r>
            <a:endParaRPr lang="en-US" sz="2750" dirty="0"/>
          </a:p>
        </p:txBody>
      </p:sp>
      <p:sp>
        <p:nvSpPr>
          <p:cNvPr id="8" name="Text 5">
            <a:extLst>
              <a:ext uri="{FF2B5EF4-FFF2-40B4-BE49-F238E27FC236}">
                <a16:creationId xmlns:a16="http://schemas.microsoft.com/office/drawing/2014/main" id="{94027AE9-3C45-D223-B9C0-049DD3A575DF}"/>
              </a:ext>
            </a:extLst>
          </p:cNvPr>
          <p:cNvSpPr/>
          <p:nvPr/>
        </p:nvSpPr>
        <p:spPr>
          <a:xfrm>
            <a:off x="566928" y="960120"/>
            <a:ext cx="8778240" cy="320040"/>
          </a:xfrm>
          <a:prstGeom prst="rect">
            <a:avLst/>
          </a:prstGeom>
          <a:noFill/>
          <a:ln/>
        </p:spPr>
        <p:txBody>
          <a:bodyPr wrap="square" lIns="0" tIns="0" rIns="0" bIns="0" rtlCol="0" anchor="ctr">
            <a:normAutofit/>
          </a:bodyPr>
          <a:lstStyle/>
          <a:p>
            <a:pPr marL="0" indent="0">
              <a:buNone/>
            </a:pPr>
            <a:r>
              <a:rPr lang="en-US" dirty="0">
                <a:solidFill>
                  <a:srgbClr val="586579"/>
                </a:solidFill>
              </a:rPr>
              <a:t>Students earn the right to ask AI by first making their own design decisions.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305" y="0"/>
            <a:ext cx="12191695" cy="7547979"/>
          </a:xfrm>
          <a:prstGeom prst="rect">
            <a:avLst/>
          </a:prstGeom>
          <a:solidFill>
            <a:srgbClr val="F7F6F0"/>
          </a:solidFill>
          <a:ln w="12700">
            <a:solidFill>
              <a:srgbClr val="F7F6F0">
                <a:alpha val="0"/>
              </a:srgbClr>
            </a:solidFill>
            <a:prstDash val="solid"/>
          </a:ln>
        </p:spPr>
        <p:txBody>
          <a:bodyPr/>
          <a:lstStyle/>
          <a:p>
            <a:endParaRPr lang="en-US" dirty="0"/>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396240" y="393192"/>
            <a:ext cx="9003792" cy="502920"/>
          </a:xfrm>
          <a:prstGeom prst="rect">
            <a:avLst/>
          </a:prstGeom>
          <a:noFill/>
          <a:ln/>
        </p:spPr>
        <p:txBody>
          <a:bodyPr wrap="square" lIns="0" tIns="0" rIns="0" bIns="0" rtlCol="0" anchor="ctr">
            <a:normAutofit/>
          </a:bodyPr>
          <a:lstStyle/>
          <a:p>
            <a:r>
              <a:rPr lang="en-US" sz="2750" b="1" dirty="0">
                <a:solidFill>
                  <a:srgbClr val="081E3F"/>
                </a:solidFill>
                <a:latin typeface="Aptos Display" pitchFamily="34" charset="0"/>
                <a:ea typeface="Aptos Display" pitchFamily="34" charset="-122"/>
                <a:cs typeface="Aptos Display" pitchFamily="34" charset="-120"/>
              </a:rPr>
              <a:t>Example of Category 2: Limited/ partial Use of Generative AI</a:t>
            </a:r>
            <a:endParaRPr lang="en-US" sz="2750" dirty="0"/>
          </a:p>
        </p:txBody>
      </p:sp>
      <p:sp>
        <p:nvSpPr>
          <p:cNvPr id="8" name="Text 6"/>
          <p:cNvSpPr/>
          <p:nvPr/>
        </p:nvSpPr>
        <p:spPr>
          <a:xfrm>
            <a:off x="686105" y="4739194"/>
            <a:ext cx="2084832" cy="780173"/>
          </a:xfrm>
          <a:prstGeom prst="rect">
            <a:avLst/>
          </a:prstGeom>
          <a:solidFill>
            <a:srgbClr val="FFFFFF"/>
          </a:solidFill>
          <a:ln>
            <a:solidFill>
              <a:srgbClr val="E0E4EA"/>
            </a:solidFill>
          </a:ln>
        </p:spPr>
        <p:txBody>
          <a:bodyPr wrap="square" lIns="508" tIns="508" rIns="508" bIns="508" rtlCol="0" anchor="ctr">
            <a:normAutofit lnSpcReduction="10000"/>
          </a:bodyPr>
          <a:lstStyle/>
          <a:p>
            <a:pPr marL="0" indent="0" algn="ctr">
              <a:buNone/>
            </a:pPr>
            <a:r>
              <a:rPr lang="en-US" sz="3900" b="1" dirty="0">
                <a:solidFill>
                  <a:srgbClr val="081E3F"/>
                </a:solidFill>
                <a:latin typeface="Aptos Display" pitchFamily="34" charset="0"/>
                <a:ea typeface="Aptos Display" pitchFamily="34" charset="-122"/>
                <a:cs typeface="Aptos Display" pitchFamily="34" charset="-120"/>
              </a:rPr>
              <a:t>1
</a:t>
            </a:r>
            <a:r>
              <a:rPr lang="en-US" sz="1220" b="1" dirty="0">
                <a:solidFill>
                  <a:srgbClr val="1C2733"/>
                </a:solidFill>
                <a:latin typeface="Aptos Display" pitchFamily="34" charset="0"/>
                <a:ea typeface="Aptos Display" pitchFamily="34" charset="-122"/>
                <a:cs typeface="Aptos Display" pitchFamily="34" charset="-120"/>
              </a:rPr>
              <a:t>Base cases</a:t>
            </a:r>
            <a:endParaRPr lang="en-US" sz="3900" dirty="0"/>
          </a:p>
        </p:txBody>
      </p:sp>
      <p:sp>
        <p:nvSpPr>
          <p:cNvPr id="9" name="Text 7"/>
          <p:cNvSpPr/>
          <p:nvPr/>
        </p:nvSpPr>
        <p:spPr>
          <a:xfrm>
            <a:off x="640385" y="5656528"/>
            <a:ext cx="2148840" cy="310896"/>
          </a:xfrm>
          <a:prstGeom prst="rect">
            <a:avLst/>
          </a:prstGeom>
          <a:noFill/>
          <a:ln/>
        </p:spPr>
        <p:txBody>
          <a:bodyPr wrap="square" lIns="0" tIns="0" rIns="0" bIns="0" rtlCol="0" anchor="ctr">
            <a:normAutofit/>
          </a:bodyPr>
          <a:lstStyle/>
          <a:p>
            <a:pPr marL="0" indent="0" algn="ctr">
              <a:buNone/>
            </a:pPr>
            <a:r>
              <a:rPr lang="en-US" sz="1150" dirty="0">
                <a:solidFill>
                  <a:srgbClr val="586579"/>
                </a:solidFill>
              </a:rPr>
              <a:t>Describe in words</a:t>
            </a:r>
            <a:endParaRPr lang="en-US" sz="1150" dirty="0"/>
          </a:p>
        </p:txBody>
      </p:sp>
      <p:sp>
        <p:nvSpPr>
          <p:cNvPr id="10" name="Shape 8"/>
          <p:cNvSpPr/>
          <p:nvPr/>
        </p:nvSpPr>
        <p:spPr>
          <a:xfrm>
            <a:off x="2834945" y="4934152"/>
            <a:ext cx="502920" cy="0"/>
          </a:xfrm>
          <a:prstGeom prst="line">
            <a:avLst/>
          </a:prstGeom>
          <a:noFill/>
          <a:ln w="25400">
            <a:solidFill>
              <a:srgbClr val="B6862C"/>
            </a:solidFill>
            <a:prstDash val="solid"/>
            <a:headEnd type="none"/>
            <a:tailEnd type="triangle"/>
          </a:ln>
        </p:spPr>
        <p:txBody>
          <a:bodyPr/>
          <a:lstStyle/>
          <a:p>
            <a:endParaRPr lang="en-US"/>
          </a:p>
        </p:txBody>
      </p:sp>
      <p:sp>
        <p:nvSpPr>
          <p:cNvPr id="11" name="Text 9"/>
          <p:cNvSpPr/>
          <p:nvPr/>
        </p:nvSpPr>
        <p:spPr>
          <a:xfrm>
            <a:off x="3475025" y="4739194"/>
            <a:ext cx="2084832" cy="780174"/>
          </a:xfrm>
          <a:prstGeom prst="rect">
            <a:avLst/>
          </a:prstGeom>
          <a:solidFill>
            <a:srgbClr val="FFFFFF"/>
          </a:solidFill>
          <a:ln>
            <a:solidFill>
              <a:srgbClr val="E0E4EA"/>
            </a:solidFill>
          </a:ln>
        </p:spPr>
        <p:txBody>
          <a:bodyPr wrap="square" lIns="508" tIns="508" rIns="508" bIns="508" rtlCol="0" anchor="ctr">
            <a:normAutofit lnSpcReduction="10000"/>
          </a:bodyPr>
          <a:lstStyle/>
          <a:p>
            <a:pPr marL="0" indent="0" algn="ctr">
              <a:buNone/>
            </a:pPr>
            <a:r>
              <a:rPr lang="en-US" sz="3900" b="1" dirty="0">
                <a:solidFill>
                  <a:srgbClr val="081E3F"/>
                </a:solidFill>
                <a:latin typeface="Aptos Display" pitchFamily="34" charset="0"/>
                <a:ea typeface="Aptos Display" pitchFamily="34" charset="-122"/>
                <a:cs typeface="Aptos Display" pitchFamily="34" charset="-120"/>
              </a:rPr>
              <a:t>2
</a:t>
            </a:r>
            <a:r>
              <a:rPr lang="en-US" sz="1220" b="1" dirty="0">
                <a:solidFill>
                  <a:srgbClr val="1C2733"/>
                </a:solidFill>
                <a:latin typeface="Aptos Display" pitchFamily="34" charset="0"/>
                <a:ea typeface="Aptos Display" pitchFamily="34" charset="-122"/>
                <a:cs typeface="Aptos Display" pitchFamily="34" charset="-120"/>
              </a:rPr>
              <a:t>Recursive cases</a:t>
            </a:r>
            <a:endParaRPr lang="en-US" sz="3900" dirty="0"/>
          </a:p>
        </p:txBody>
      </p:sp>
      <p:sp>
        <p:nvSpPr>
          <p:cNvPr id="12" name="Text 10"/>
          <p:cNvSpPr/>
          <p:nvPr/>
        </p:nvSpPr>
        <p:spPr>
          <a:xfrm>
            <a:off x="3429305" y="5656528"/>
            <a:ext cx="2148840" cy="310896"/>
          </a:xfrm>
          <a:prstGeom prst="rect">
            <a:avLst/>
          </a:prstGeom>
          <a:noFill/>
          <a:ln/>
        </p:spPr>
        <p:txBody>
          <a:bodyPr wrap="square" lIns="0" tIns="0" rIns="0" bIns="0" rtlCol="0" anchor="ctr">
            <a:normAutofit/>
          </a:bodyPr>
          <a:lstStyle/>
          <a:p>
            <a:pPr marL="0" indent="0" algn="ctr">
              <a:buNone/>
            </a:pPr>
            <a:r>
              <a:rPr lang="en-US" sz="1150" dirty="0">
                <a:solidFill>
                  <a:srgbClr val="586579"/>
                </a:solidFill>
              </a:rPr>
              <a:t>Assume subproblem results</a:t>
            </a:r>
            <a:endParaRPr lang="en-US" sz="1150" dirty="0"/>
          </a:p>
        </p:txBody>
      </p:sp>
      <p:sp>
        <p:nvSpPr>
          <p:cNvPr id="13" name="Shape 11"/>
          <p:cNvSpPr/>
          <p:nvPr/>
        </p:nvSpPr>
        <p:spPr>
          <a:xfrm>
            <a:off x="5623865" y="4934152"/>
            <a:ext cx="502920" cy="0"/>
          </a:xfrm>
          <a:prstGeom prst="line">
            <a:avLst/>
          </a:prstGeom>
          <a:noFill/>
          <a:ln w="25400">
            <a:solidFill>
              <a:srgbClr val="B6862C"/>
            </a:solidFill>
            <a:prstDash val="solid"/>
            <a:headEnd type="none"/>
            <a:tailEnd type="triangle"/>
          </a:ln>
        </p:spPr>
        <p:txBody>
          <a:bodyPr/>
          <a:lstStyle/>
          <a:p>
            <a:endParaRPr lang="en-US"/>
          </a:p>
        </p:txBody>
      </p:sp>
      <p:sp>
        <p:nvSpPr>
          <p:cNvPr id="14" name="Text 12"/>
          <p:cNvSpPr/>
          <p:nvPr/>
        </p:nvSpPr>
        <p:spPr>
          <a:xfrm>
            <a:off x="6263945" y="4739194"/>
            <a:ext cx="2084832" cy="780174"/>
          </a:xfrm>
          <a:prstGeom prst="rect">
            <a:avLst/>
          </a:prstGeom>
          <a:solidFill>
            <a:srgbClr val="FFFFFF"/>
          </a:solidFill>
          <a:ln>
            <a:solidFill>
              <a:srgbClr val="E0E4EA"/>
            </a:solidFill>
          </a:ln>
        </p:spPr>
        <p:txBody>
          <a:bodyPr wrap="square" lIns="508" tIns="508" rIns="508" bIns="508" rtlCol="0" anchor="ctr">
            <a:normAutofit lnSpcReduction="10000"/>
          </a:bodyPr>
          <a:lstStyle/>
          <a:p>
            <a:pPr marL="0" indent="0" algn="ctr">
              <a:buNone/>
            </a:pPr>
            <a:r>
              <a:rPr lang="en-US" sz="3900" b="1" dirty="0">
                <a:solidFill>
                  <a:srgbClr val="B6862C"/>
                </a:solidFill>
                <a:latin typeface="Aptos Display" pitchFamily="34" charset="0"/>
                <a:ea typeface="Aptos Display" pitchFamily="34" charset="-122"/>
                <a:cs typeface="Aptos Display" pitchFamily="34" charset="-120"/>
              </a:rPr>
              <a:t>3
</a:t>
            </a:r>
            <a:r>
              <a:rPr lang="en-US" sz="1220" b="1" dirty="0">
                <a:solidFill>
                  <a:srgbClr val="1C2733"/>
                </a:solidFill>
                <a:latin typeface="Aptos Display" pitchFamily="34" charset="0"/>
                <a:ea typeface="Aptos Display" pitchFamily="34" charset="-122"/>
                <a:cs typeface="Aptos Display" pitchFamily="34" charset="-120"/>
              </a:rPr>
              <a:t>AI implementation</a:t>
            </a:r>
            <a:endParaRPr lang="en-US" sz="3900" dirty="0"/>
          </a:p>
        </p:txBody>
      </p:sp>
      <p:sp>
        <p:nvSpPr>
          <p:cNvPr id="15" name="Text 13"/>
          <p:cNvSpPr/>
          <p:nvPr/>
        </p:nvSpPr>
        <p:spPr>
          <a:xfrm>
            <a:off x="6218225" y="5656528"/>
            <a:ext cx="2148840" cy="310896"/>
          </a:xfrm>
          <a:prstGeom prst="rect">
            <a:avLst/>
          </a:prstGeom>
          <a:noFill/>
          <a:ln/>
        </p:spPr>
        <p:txBody>
          <a:bodyPr wrap="square" lIns="0" tIns="0" rIns="0" bIns="0" rtlCol="0" anchor="ctr">
            <a:normAutofit/>
          </a:bodyPr>
          <a:lstStyle/>
          <a:p>
            <a:pPr marL="0" indent="0" algn="ctr">
              <a:buNone/>
            </a:pPr>
            <a:r>
              <a:rPr lang="en-US" sz="1150" dirty="0">
                <a:solidFill>
                  <a:srgbClr val="586579"/>
                </a:solidFill>
              </a:rPr>
              <a:t>Generate or compare code</a:t>
            </a:r>
            <a:endParaRPr lang="en-US" sz="1150" dirty="0"/>
          </a:p>
        </p:txBody>
      </p:sp>
      <p:sp>
        <p:nvSpPr>
          <p:cNvPr id="16" name="Shape 14"/>
          <p:cNvSpPr/>
          <p:nvPr/>
        </p:nvSpPr>
        <p:spPr>
          <a:xfrm>
            <a:off x="8412785" y="4934152"/>
            <a:ext cx="502920" cy="0"/>
          </a:xfrm>
          <a:prstGeom prst="line">
            <a:avLst/>
          </a:prstGeom>
          <a:noFill/>
          <a:ln w="25400">
            <a:solidFill>
              <a:srgbClr val="B6862C"/>
            </a:solidFill>
            <a:prstDash val="solid"/>
            <a:headEnd type="none"/>
            <a:tailEnd type="triangle"/>
          </a:ln>
        </p:spPr>
        <p:txBody>
          <a:bodyPr/>
          <a:lstStyle/>
          <a:p>
            <a:endParaRPr lang="en-US"/>
          </a:p>
        </p:txBody>
      </p:sp>
      <p:sp>
        <p:nvSpPr>
          <p:cNvPr id="17" name="Text 15"/>
          <p:cNvSpPr/>
          <p:nvPr/>
        </p:nvSpPr>
        <p:spPr>
          <a:xfrm>
            <a:off x="9052865" y="4739194"/>
            <a:ext cx="2084832" cy="780174"/>
          </a:xfrm>
          <a:prstGeom prst="rect">
            <a:avLst/>
          </a:prstGeom>
          <a:solidFill>
            <a:srgbClr val="FFFFFF"/>
          </a:solidFill>
          <a:ln>
            <a:solidFill>
              <a:srgbClr val="E0E4EA"/>
            </a:solidFill>
          </a:ln>
        </p:spPr>
        <p:txBody>
          <a:bodyPr wrap="square" lIns="508" tIns="508" rIns="508" bIns="508" rtlCol="0" anchor="ctr">
            <a:normAutofit lnSpcReduction="10000"/>
          </a:bodyPr>
          <a:lstStyle/>
          <a:p>
            <a:pPr marL="0" indent="0" algn="ctr">
              <a:buNone/>
            </a:pPr>
            <a:r>
              <a:rPr lang="en-US" sz="3900" b="1" dirty="0">
                <a:solidFill>
                  <a:srgbClr val="081E3F"/>
                </a:solidFill>
                <a:latin typeface="Aptos Display" pitchFamily="34" charset="0"/>
                <a:ea typeface="Aptos Display" pitchFamily="34" charset="-122"/>
                <a:cs typeface="Aptos Display" pitchFamily="34" charset="-120"/>
              </a:rPr>
              <a:t>4
</a:t>
            </a:r>
            <a:r>
              <a:rPr lang="en-US" sz="1220" b="1" dirty="0">
                <a:solidFill>
                  <a:srgbClr val="1C2733"/>
                </a:solidFill>
                <a:latin typeface="Aptos Display" pitchFamily="34" charset="0"/>
                <a:ea typeface="Aptos Display" pitchFamily="34" charset="-122"/>
                <a:cs typeface="Aptos Display" pitchFamily="34" charset="-120"/>
              </a:rPr>
              <a:t>Evidence</a:t>
            </a:r>
            <a:endParaRPr lang="en-US" sz="3900" dirty="0"/>
          </a:p>
        </p:txBody>
      </p:sp>
      <p:sp>
        <p:nvSpPr>
          <p:cNvPr id="18" name="Text 16"/>
          <p:cNvSpPr/>
          <p:nvPr/>
        </p:nvSpPr>
        <p:spPr>
          <a:xfrm>
            <a:off x="9007145" y="5656528"/>
            <a:ext cx="2148840" cy="310896"/>
          </a:xfrm>
          <a:prstGeom prst="rect">
            <a:avLst/>
          </a:prstGeom>
          <a:noFill/>
          <a:ln/>
        </p:spPr>
        <p:txBody>
          <a:bodyPr wrap="square" lIns="0" tIns="0" rIns="0" bIns="0" rtlCol="0" anchor="ctr">
            <a:normAutofit/>
          </a:bodyPr>
          <a:lstStyle/>
          <a:p>
            <a:pPr marL="0" indent="0" algn="ctr">
              <a:buNone/>
            </a:pPr>
            <a:r>
              <a:rPr lang="en-US" sz="1150" dirty="0">
                <a:solidFill>
                  <a:srgbClr val="586579"/>
                </a:solidFill>
              </a:rPr>
              <a:t>Test, debug, reflect</a:t>
            </a:r>
            <a:endParaRPr lang="en-US" sz="1150" dirty="0"/>
          </a:p>
        </p:txBody>
      </p:sp>
      <p:sp>
        <p:nvSpPr>
          <p:cNvPr id="19" name="Text 17"/>
          <p:cNvSpPr/>
          <p:nvPr/>
        </p:nvSpPr>
        <p:spPr>
          <a:xfrm>
            <a:off x="1005840" y="6132691"/>
            <a:ext cx="4754880" cy="1143000"/>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1400" b="1" dirty="0">
                <a:solidFill>
                  <a:srgbClr val="081E3F"/>
                </a:solidFill>
                <a:latin typeface="Aptos" pitchFamily="34" charset="0"/>
                <a:ea typeface="Aptos" pitchFamily="34" charset="-122"/>
                <a:cs typeface="Aptos" pitchFamily="34" charset="-120"/>
              </a:rPr>
              <a:t>Example: Binary tree recursion
</a:t>
            </a:r>
            <a:r>
              <a:rPr lang="en-US" sz="1400" dirty="0">
                <a:solidFill>
                  <a:srgbClr val="1C2733"/>
                </a:solidFill>
                <a:latin typeface="Aptos" pitchFamily="34" charset="0"/>
                <a:ea typeface="Aptos" pitchFamily="34" charset="-122"/>
                <a:cs typeface="Aptos" pitchFamily="34" charset="-120"/>
              </a:rPr>
              <a:t>Students identify base and recursive cases for sum, leaves, and height before asking an LLM to implement or compare solutions.</a:t>
            </a:r>
            <a:endParaRPr lang="en-US" sz="1400" dirty="0"/>
          </a:p>
        </p:txBody>
      </p:sp>
      <p:sp>
        <p:nvSpPr>
          <p:cNvPr id="20" name="Text 18"/>
          <p:cNvSpPr/>
          <p:nvPr/>
        </p:nvSpPr>
        <p:spPr>
          <a:xfrm>
            <a:off x="6400800" y="6132691"/>
            <a:ext cx="4754880" cy="1143000"/>
          </a:xfrm>
          <a:prstGeom prst="rect">
            <a:avLst/>
          </a:prstGeom>
          <a:solidFill>
            <a:srgbClr val="FFFFFF"/>
          </a:solidFill>
          <a:ln w="12700">
            <a:solidFill>
              <a:srgbClr val="B6862C"/>
            </a:solidFill>
          </a:ln>
        </p:spPr>
        <p:txBody>
          <a:bodyPr wrap="square" lIns="1778" tIns="1778" rIns="1778" bIns="1778" rtlCol="0" anchor="ctr">
            <a:normAutofit/>
          </a:bodyPr>
          <a:lstStyle/>
          <a:p>
            <a:pPr marL="0" indent="0">
              <a:buNone/>
            </a:pPr>
            <a:r>
              <a:rPr lang="en-US" sz="1400" b="1" dirty="0">
                <a:solidFill>
                  <a:srgbClr val="081E3F"/>
                </a:solidFill>
                <a:latin typeface="Aptos" pitchFamily="34" charset="0"/>
                <a:ea typeface="Aptos" pitchFamily="34" charset="-122"/>
                <a:cs typeface="Aptos" pitchFamily="34" charset="-120"/>
              </a:rPr>
              <a:t>Why it scales
</a:t>
            </a:r>
            <a:r>
              <a:rPr lang="en-US" sz="1400" dirty="0">
                <a:solidFill>
                  <a:srgbClr val="1C2733"/>
                </a:solidFill>
                <a:latin typeface="Aptos" pitchFamily="34" charset="0"/>
                <a:ea typeface="Aptos" pitchFamily="34" charset="-122"/>
                <a:cs typeface="Aptos" pitchFamily="34" charset="-120"/>
              </a:rPr>
              <a:t>The same workflow works across courses: algorithms, data structures, software engineering, and intro programming.</a:t>
            </a:r>
            <a:endParaRPr lang="en-US" sz="1400" dirty="0"/>
          </a:p>
        </p:txBody>
      </p:sp>
      <p:sp>
        <p:nvSpPr>
          <p:cNvPr id="21" name="Text 19"/>
          <p:cNvSpPr/>
          <p:nvPr/>
        </p:nvSpPr>
        <p:spPr>
          <a:xfrm>
            <a:off x="311596" y="7346811"/>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22" name="Text 20"/>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08</a:t>
            </a:r>
            <a:endParaRPr lang="en-US" sz="800" dirty="0"/>
          </a:p>
        </p:txBody>
      </p:sp>
      <p:sp>
        <p:nvSpPr>
          <p:cNvPr id="23" name="Text 6">
            <a:extLst>
              <a:ext uri="{FF2B5EF4-FFF2-40B4-BE49-F238E27FC236}">
                <a16:creationId xmlns:a16="http://schemas.microsoft.com/office/drawing/2014/main" id="{8A322109-2BAA-7F75-3C96-B5F04F33E9D4}"/>
              </a:ext>
            </a:extLst>
          </p:cNvPr>
          <p:cNvSpPr/>
          <p:nvPr/>
        </p:nvSpPr>
        <p:spPr>
          <a:xfrm>
            <a:off x="1966265" y="964298"/>
            <a:ext cx="7223760" cy="3670134"/>
          </a:xfrm>
          <a:prstGeom prst="rect">
            <a:avLst/>
          </a:prstGeom>
          <a:solidFill>
            <a:srgbClr val="B6862C"/>
          </a:solidFill>
          <a:ln>
            <a:solidFill>
              <a:srgbClr val="B6862C">
                <a:alpha val="0"/>
              </a:srgbClr>
            </a:solidFill>
          </a:ln>
        </p:spPr>
        <p:txBody>
          <a:bodyPr wrap="square" lIns="762" tIns="762" rIns="762" bIns="762" rtlCol="0" anchor="ctr">
            <a:noAutofit/>
          </a:bodyPr>
          <a:lstStyle/>
          <a:p>
            <a:pPr>
              <a:defRPr sz="1800" b="1">
                <a:solidFill>
                  <a:srgbClr val="3C3C3C"/>
                </a:solidFill>
                <a:latin typeface="Calibri"/>
              </a:defRPr>
            </a:pPr>
            <a:endParaRPr lang="en-US" sz="1600" dirty="0"/>
          </a:p>
          <a:p>
            <a:pPr>
              <a:defRPr sz="1800" b="1">
                <a:solidFill>
                  <a:srgbClr val="3C3C3C"/>
                </a:solidFill>
                <a:latin typeface="Calibri"/>
              </a:defRPr>
            </a:pPr>
            <a:r>
              <a:rPr lang="en-US" sz="1600" dirty="0"/>
              <a:t>In-class activity: Binary tree recursion</a:t>
            </a:r>
          </a:p>
          <a:p>
            <a:pPr>
              <a:defRPr sz="1800" b="1">
                <a:solidFill>
                  <a:srgbClr val="3C3C3C"/>
                </a:solidFill>
                <a:latin typeface="Calibri"/>
              </a:defRPr>
            </a:pPr>
            <a:r>
              <a:rPr lang="en-US" sz="1600" dirty="0"/>
              <a:t>For each of the following functions:</a:t>
            </a:r>
          </a:p>
          <a:p>
            <a:pPr lvl="1">
              <a:defRPr sz="1600" b="0">
                <a:solidFill>
                  <a:srgbClr val="3C3C3C"/>
                </a:solidFill>
                <a:latin typeface="Calibri"/>
              </a:defRPr>
            </a:pPr>
            <a:r>
              <a:rPr lang="en-US" sz="1600" dirty="0"/>
              <a:t>Describe what the base case(s) should be in words.</a:t>
            </a:r>
          </a:p>
          <a:p>
            <a:pPr lvl="1">
              <a:defRPr sz="1600" b="0">
                <a:solidFill>
                  <a:srgbClr val="3C3C3C"/>
                </a:solidFill>
                <a:latin typeface="Calibri"/>
              </a:defRPr>
            </a:pPr>
            <a:r>
              <a:rPr lang="en-US" sz="1600" dirty="0"/>
              <a:t>Determine the simplest possible tree(s) you can compute the value for.</a:t>
            </a:r>
          </a:p>
          <a:p>
            <a:pPr lvl="1">
              <a:defRPr sz="1600" b="0">
                <a:solidFill>
                  <a:srgbClr val="3C3C3C"/>
                </a:solidFill>
                <a:latin typeface="Calibri"/>
              </a:defRPr>
            </a:pPr>
            <a:r>
              <a:rPr lang="en-US" sz="1600" dirty="0"/>
              <a:t>Describe what the recursive case(s) should be in words.</a:t>
            </a:r>
          </a:p>
          <a:p>
            <a:pPr lvl="1">
              <a:defRPr sz="1600" b="0">
                <a:solidFill>
                  <a:srgbClr val="3C3C3C"/>
                </a:solidFill>
                <a:latin typeface="Calibri"/>
              </a:defRPr>
            </a:pPr>
            <a:r>
              <a:rPr lang="en-US" sz="1600" dirty="0"/>
              <a:t>Determine how to compute f(root) assuming you know f(</a:t>
            </a:r>
            <a:r>
              <a:rPr lang="en-US" sz="1600" dirty="0" err="1"/>
              <a:t>root.left</a:t>
            </a:r>
            <a:r>
              <a:rPr lang="en-US" sz="1600" dirty="0"/>
              <a:t>) and f(</a:t>
            </a:r>
            <a:r>
              <a:rPr lang="en-US" sz="1600" dirty="0" err="1"/>
              <a:t>root.right</a:t>
            </a:r>
            <a:r>
              <a:rPr lang="en-US" sz="1600" dirty="0"/>
              <a:t>).</a:t>
            </a:r>
          </a:p>
          <a:p>
            <a:pPr lvl="1">
              <a:defRPr sz="1600" b="0">
                <a:solidFill>
                  <a:srgbClr val="3C3C3C"/>
                </a:solidFill>
                <a:latin typeface="Calibri"/>
              </a:defRPr>
            </a:pPr>
            <a:r>
              <a:rPr lang="en-US" sz="1600" dirty="0"/>
              <a:t>Ask an LLM to implement the function based on your reasoning, or implement it yourself.</a:t>
            </a:r>
          </a:p>
          <a:p>
            <a:pPr lvl="1">
              <a:defRPr sz="1600" b="0">
                <a:solidFill>
                  <a:srgbClr val="3C3C3C"/>
                </a:solidFill>
                <a:latin typeface="Calibri"/>
              </a:defRPr>
            </a:pPr>
            <a:r>
              <a:rPr lang="en-US" sz="1600" dirty="0"/>
              <a:t>Test your functions using example trees (AI may help generate test trees).</a:t>
            </a:r>
          </a:p>
          <a:p>
            <a:pPr>
              <a:defRPr sz="1800" b="1">
                <a:solidFill>
                  <a:srgbClr val="3C3C3C"/>
                </a:solidFill>
                <a:latin typeface="Calibri"/>
              </a:defRPr>
            </a:pPr>
            <a:r>
              <a:rPr lang="en-US" sz="1600" dirty="0"/>
              <a:t>Functions</a:t>
            </a:r>
          </a:p>
          <a:p>
            <a:pPr lvl="1">
              <a:defRPr sz="1600" b="0">
                <a:solidFill>
                  <a:srgbClr val="3C3C3C"/>
                </a:solidFill>
                <a:latin typeface="Calibri"/>
              </a:defRPr>
            </a:pPr>
            <a:r>
              <a:rPr lang="en-US" sz="1600" dirty="0"/>
              <a:t>Compute the sum of all values in a binary tree</a:t>
            </a:r>
          </a:p>
          <a:p>
            <a:pPr lvl="1">
              <a:defRPr sz="1600" b="0">
                <a:solidFill>
                  <a:srgbClr val="3C3C3C"/>
                </a:solidFill>
                <a:latin typeface="Calibri"/>
              </a:defRPr>
            </a:pPr>
            <a:r>
              <a:rPr lang="en-US" sz="1600" dirty="0"/>
              <a:t>Count the number of leaves in a binary tree</a:t>
            </a:r>
          </a:p>
          <a:p>
            <a:pPr lvl="1">
              <a:defRPr sz="1600" b="0">
                <a:solidFill>
                  <a:srgbClr val="3C3C3C"/>
                </a:solidFill>
                <a:latin typeface="Calibri"/>
              </a:defRPr>
            </a:pPr>
            <a:r>
              <a:rPr lang="en-US" sz="1600" dirty="0"/>
              <a:t>Compute the height of a binary tree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Category 3: No AI for core competencies</a:t>
            </a:r>
            <a:endParaRPr lang="en-US" sz="2750" dirty="0"/>
          </a:p>
        </p:txBody>
      </p:sp>
      <p:sp>
        <p:nvSpPr>
          <p:cNvPr id="7" name="Text 5"/>
          <p:cNvSpPr/>
          <p:nvPr/>
        </p:nvSpPr>
        <p:spPr>
          <a:xfrm>
            <a:off x="566928" y="960120"/>
            <a:ext cx="8778240" cy="320040"/>
          </a:xfrm>
          <a:prstGeom prst="rect">
            <a:avLst/>
          </a:prstGeom>
          <a:noFill/>
          <a:ln/>
        </p:spPr>
        <p:txBody>
          <a:bodyPr wrap="square" lIns="0" tIns="0" rIns="0" bIns="0" rtlCol="0" anchor="ctr">
            <a:normAutofit/>
          </a:bodyPr>
          <a:lstStyle/>
          <a:p>
            <a:pPr marL="0" indent="0">
              <a:buNone/>
            </a:pPr>
            <a:r>
              <a:rPr lang="en-US" dirty="0">
                <a:solidFill>
                  <a:srgbClr val="586579"/>
                </a:solidFill>
              </a:rPr>
              <a:t>Responsible integration also means knowing when not to rely on AI.</a:t>
            </a:r>
            <a:endParaRPr lang="en-US" dirty="0"/>
          </a:p>
        </p:txBody>
      </p:sp>
      <p:sp>
        <p:nvSpPr>
          <p:cNvPr id="8" name="Text 6"/>
          <p:cNvSpPr/>
          <p:nvPr/>
        </p:nvSpPr>
        <p:spPr>
          <a:xfrm>
            <a:off x="868680" y="2652888"/>
            <a:ext cx="2971800" cy="1919111"/>
          </a:xfrm>
          <a:prstGeom prst="rect">
            <a:avLst/>
          </a:prstGeom>
          <a:solidFill>
            <a:srgbClr val="FFFFFF"/>
          </a:solidFill>
          <a:ln w="12700">
            <a:solidFill>
              <a:srgbClr val="B6862C"/>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Controlled assessments</a:t>
            </a:r>
            <a:r>
              <a:rPr lang="en-US" b="1" dirty="0">
                <a:solidFill>
                  <a:srgbClr val="081E3F"/>
                </a:solidFill>
                <a:latin typeface="Aptos" pitchFamily="34" charset="0"/>
                <a:ea typeface="Aptos" pitchFamily="34" charset="-122"/>
                <a:cs typeface="Aptos" pitchFamily="34" charset="-120"/>
              </a:rPr>
              <a:t>
</a:t>
            </a:r>
            <a:r>
              <a:rPr lang="en-US" dirty="0">
                <a:solidFill>
                  <a:srgbClr val="1C2733"/>
                </a:solidFill>
                <a:latin typeface="Aptos" pitchFamily="34" charset="0"/>
                <a:ea typeface="Aptos" pitchFamily="34" charset="-122"/>
                <a:cs typeface="Aptos" pitchFamily="34" charset="-120"/>
              </a:rPr>
              <a:t>Quizzes</a:t>
            </a:r>
            <a:endParaRPr lang="en-US" dirty="0"/>
          </a:p>
          <a:p>
            <a:pPr marL="0" indent="0">
              <a:buNone/>
            </a:pPr>
            <a:r>
              <a:rPr lang="en-US" dirty="0">
                <a:solidFill>
                  <a:srgbClr val="1C2733"/>
                </a:solidFill>
                <a:latin typeface="Aptos" pitchFamily="34" charset="0"/>
                <a:ea typeface="Aptos" pitchFamily="34" charset="-122"/>
                <a:cs typeface="Aptos" pitchFamily="34" charset="-120"/>
              </a:rPr>
              <a:t>Exams</a:t>
            </a:r>
            <a:endParaRPr lang="en-US" dirty="0"/>
          </a:p>
          <a:p>
            <a:pPr marL="0" indent="0">
              <a:buNone/>
            </a:pPr>
            <a:r>
              <a:rPr lang="en-US" dirty="0">
                <a:solidFill>
                  <a:srgbClr val="1C2733"/>
                </a:solidFill>
                <a:latin typeface="Aptos" pitchFamily="34" charset="0"/>
                <a:ea typeface="Aptos" pitchFamily="34" charset="-122"/>
                <a:cs typeface="Aptos" pitchFamily="34" charset="-120"/>
              </a:rPr>
              <a:t>In-class exercises</a:t>
            </a:r>
            <a:endParaRPr lang="en-US" dirty="0"/>
          </a:p>
          <a:p>
            <a:pPr marL="0" indent="0">
              <a:buNone/>
            </a:pPr>
            <a:r>
              <a:rPr lang="en-US" dirty="0">
                <a:solidFill>
                  <a:srgbClr val="1C2733"/>
                </a:solidFill>
                <a:latin typeface="Aptos" pitchFamily="34" charset="0"/>
                <a:ea typeface="Aptos" pitchFamily="34" charset="-122"/>
                <a:cs typeface="Aptos" pitchFamily="34" charset="-120"/>
              </a:rPr>
              <a:t>Short analytical responses</a:t>
            </a:r>
            <a:endParaRPr lang="en-US" dirty="0"/>
          </a:p>
        </p:txBody>
      </p:sp>
      <p:sp>
        <p:nvSpPr>
          <p:cNvPr id="9" name="Text 7"/>
          <p:cNvSpPr/>
          <p:nvPr/>
        </p:nvSpPr>
        <p:spPr>
          <a:xfrm>
            <a:off x="4617720" y="2652888"/>
            <a:ext cx="2971800" cy="1919112"/>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Foundational concepts</a:t>
            </a:r>
            <a:r>
              <a:rPr lang="en-US" b="1" dirty="0">
                <a:solidFill>
                  <a:srgbClr val="081E3F"/>
                </a:solidFill>
                <a:latin typeface="Aptos" pitchFamily="34" charset="0"/>
                <a:ea typeface="Aptos" pitchFamily="34" charset="-122"/>
                <a:cs typeface="Aptos" pitchFamily="34" charset="-120"/>
              </a:rPr>
              <a:t>
</a:t>
            </a:r>
            <a:r>
              <a:rPr lang="en-US" dirty="0">
                <a:solidFill>
                  <a:srgbClr val="1C2733"/>
                </a:solidFill>
                <a:latin typeface="Aptos" pitchFamily="34" charset="0"/>
                <a:ea typeface="Aptos" pitchFamily="34" charset="-122"/>
                <a:cs typeface="Aptos" pitchFamily="34" charset="-120"/>
              </a:rPr>
              <a:t>Tracing code</a:t>
            </a:r>
            <a:endParaRPr lang="en-US" dirty="0"/>
          </a:p>
          <a:p>
            <a:pPr marL="0" indent="0">
              <a:buNone/>
            </a:pPr>
            <a:r>
              <a:rPr lang="en-US" dirty="0">
                <a:solidFill>
                  <a:srgbClr val="1C2733"/>
                </a:solidFill>
                <a:latin typeface="Aptos" pitchFamily="34" charset="0"/>
                <a:ea typeface="Aptos" pitchFamily="34" charset="-122"/>
                <a:cs typeface="Aptos" pitchFamily="34" charset="-120"/>
              </a:rPr>
              <a:t>Recursion basics</a:t>
            </a:r>
            <a:endParaRPr lang="en-US" dirty="0"/>
          </a:p>
          <a:p>
            <a:pPr marL="0" indent="0">
              <a:buNone/>
            </a:pPr>
            <a:r>
              <a:rPr lang="en-US" dirty="0">
                <a:solidFill>
                  <a:srgbClr val="1C2733"/>
                </a:solidFill>
                <a:latin typeface="Aptos" pitchFamily="34" charset="0"/>
                <a:ea typeface="Aptos" pitchFamily="34" charset="-122"/>
                <a:cs typeface="Aptos" pitchFamily="34" charset="-120"/>
              </a:rPr>
              <a:t>Logic and complexity</a:t>
            </a:r>
            <a:endParaRPr lang="en-US" dirty="0"/>
          </a:p>
          <a:p>
            <a:pPr marL="0" indent="0">
              <a:buNone/>
            </a:pPr>
            <a:r>
              <a:rPr lang="en-US" dirty="0">
                <a:solidFill>
                  <a:srgbClr val="1C2733"/>
                </a:solidFill>
                <a:latin typeface="Aptos" pitchFamily="34" charset="0"/>
                <a:ea typeface="Aptos" pitchFamily="34" charset="-122"/>
                <a:cs typeface="Aptos" pitchFamily="34" charset="-120"/>
              </a:rPr>
              <a:t>Data structure operations</a:t>
            </a:r>
            <a:endParaRPr lang="en-US" dirty="0"/>
          </a:p>
        </p:txBody>
      </p:sp>
      <p:sp>
        <p:nvSpPr>
          <p:cNvPr id="10" name="Text 8"/>
          <p:cNvSpPr/>
          <p:nvPr/>
        </p:nvSpPr>
        <p:spPr>
          <a:xfrm>
            <a:off x="8366760" y="2652888"/>
            <a:ext cx="2971800" cy="1919112"/>
          </a:xfrm>
          <a:prstGeom prst="rect">
            <a:avLst/>
          </a:prstGeom>
          <a:solidFill>
            <a:srgbClr val="FFF4D6"/>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Outcome</a:t>
            </a:r>
            <a:r>
              <a:rPr lang="en-US" b="1" dirty="0">
                <a:solidFill>
                  <a:srgbClr val="081E3F"/>
                </a:solidFill>
                <a:latin typeface="Aptos" pitchFamily="34" charset="0"/>
                <a:ea typeface="Aptos" pitchFamily="34" charset="-122"/>
                <a:cs typeface="Aptos" pitchFamily="34" charset="-120"/>
              </a:rPr>
              <a:t>
</a:t>
            </a:r>
            <a:r>
              <a:rPr lang="en-US" dirty="0">
                <a:solidFill>
                  <a:srgbClr val="1C2733"/>
                </a:solidFill>
                <a:latin typeface="Aptos" pitchFamily="34" charset="0"/>
                <a:ea typeface="Aptos" pitchFamily="34" charset="-122"/>
                <a:cs typeface="Aptos" pitchFamily="34" charset="-120"/>
              </a:rPr>
              <a:t>Independent problem-solving skill and confidence before AI-assisted workflows.</a:t>
            </a:r>
            <a:endParaRPr lang="en-US" dirty="0"/>
          </a:p>
        </p:txBody>
      </p:sp>
      <p:sp>
        <p:nvSpPr>
          <p:cNvPr id="11" name="Text 9"/>
          <p:cNvSpPr/>
          <p:nvPr/>
        </p:nvSpPr>
        <p:spPr>
          <a:xfrm>
            <a:off x="1005841" y="5303520"/>
            <a:ext cx="10045982" cy="457200"/>
          </a:xfrm>
          <a:prstGeom prst="rect">
            <a:avLst/>
          </a:prstGeom>
          <a:noFill/>
          <a:ln/>
        </p:spPr>
        <p:txBody>
          <a:bodyPr wrap="square" lIns="0" tIns="0" rIns="0" bIns="0" rtlCol="0" anchor="ctr">
            <a:noAutofit/>
          </a:bodyPr>
          <a:lstStyle/>
          <a:p>
            <a:pPr marL="0" indent="0" algn="ctr">
              <a:buNone/>
            </a:pPr>
            <a:r>
              <a:rPr lang="en-US" sz="2000" b="1" dirty="0">
                <a:solidFill>
                  <a:srgbClr val="081E3F"/>
                </a:solidFill>
              </a:rPr>
              <a:t>The framework avoids a false choice: students can learn with AI and still demonstrate mastery without AI.</a:t>
            </a:r>
            <a:endParaRPr lang="en-US" sz="2000" dirty="0"/>
          </a:p>
        </p:txBody>
      </p:sp>
      <p:sp>
        <p:nvSpPr>
          <p:cNvPr id="12" name="Text 10"/>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3" name="Text 11"/>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09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Practical techniques students can use immediately</a:t>
            </a:r>
            <a:endParaRPr lang="en-US" sz="2750" dirty="0"/>
          </a:p>
        </p:txBody>
      </p:sp>
      <p:sp>
        <p:nvSpPr>
          <p:cNvPr id="7" name="Text 5"/>
          <p:cNvSpPr/>
          <p:nvPr/>
        </p:nvSpPr>
        <p:spPr>
          <a:xfrm>
            <a:off x="566928" y="960120"/>
            <a:ext cx="8778240" cy="320040"/>
          </a:xfrm>
          <a:prstGeom prst="rect">
            <a:avLst/>
          </a:prstGeom>
          <a:noFill/>
          <a:ln/>
        </p:spPr>
        <p:txBody>
          <a:bodyPr wrap="square" lIns="0" tIns="0" rIns="0" bIns="0" rtlCol="0" anchor="ctr">
            <a:normAutofit/>
          </a:bodyPr>
          <a:lstStyle/>
          <a:p>
            <a:pPr marL="0" indent="0">
              <a:buNone/>
            </a:pPr>
            <a:r>
              <a:rPr lang="en-US" dirty="0">
                <a:solidFill>
                  <a:srgbClr val="586579"/>
                </a:solidFill>
              </a:rPr>
              <a:t>The method turns prompt engineering into problem-solving discipline.</a:t>
            </a:r>
            <a:endParaRPr lang="en-US" dirty="0"/>
          </a:p>
        </p:txBody>
      </p:sp>
      <p:sp>
        <p:nvSpPr>
          <p:cNvPr id="8" name="Text 6"/>
          <p:cNvSpPr/>
          <p:nvPr/>
        </p:nvSpPr>
        <p:spPr>
          <a:xfrm>
            <a:off x="914400" y="1481328"/>
            <a:ext cx="4526280" cy="1234440"/>
          </a:xfrm>
          <a:prstGeom prst="rect">
            <a:avLst/>
          </a:prstGeom>
          <a:solidFill>
            <a:srgbClr val="FFF4D6"/>
          </a:solidFill>
          <a:ln w="12700">
            <a:solidFill>
              <a:srgbClr val="D7DCE2"/>
            </a:solidFill>
          </a:ln>
        </p:spPr>
        <p:txBody>
          <a:bodyPr wrap="square" lIns="1778" tIns="1778" rIns="1778" bIns="1778" rtlCol="0" anchor="ctr">
            <a:normAutofit/>
          </a:bodyPr>
          <a:lstStyle/>
          <a:p>
            <a:pPr marL="0" indent="0">
              <a:buNone/>
            </a:pPr>
            <a:r>
              <a:rPr lang="en-US" sz="1550" b="1" dirty="0">
                <a:solidFill>
                  <a:srgbClr val="081E3F"/>
                </a:solidFill>
                <a:latin typeface="Aptos" pitchFamily="34" charset="0"/>
                <a:ea typeface="Aptos" pitchFamily="34" charset="-122"/>
                <a:cs typeface="Aptos" pitchFamily="34" charset="-120"/>
              </a:rPr>
              <a:t>Clarifying questions
</a:t>
            </a:r>
            <a:r>
              <a:rPr lang="en-US" sz="1550" dirty="0">
                <a:solidFill>
                  <a:srgbClr val="1C2733"/>
                </a:solidFill>
                <a:latin typeface="Aptos" pitchFamily="34" charset="0"/>
                <a:ea typeface="Aptos" pitchFamily="34" charset="-122"/>
                <a:cs typeface="Aptos" pitchFamily="34" charset="-120"/>
              </a:rPr>
              <a:t>Refine ambiguous tasks before coding</a:t>
            </a:r>
            <a:endParaRPr lang="en-US" sz="1550" dirty="0"/>
          </a:p>
        </p:txBody>
      </p:sp>
      <p:sp>
        <p:nvSpPr>
          <p:cNvPr id="9" name="Text 7"/>
          <p:cNvSpPr/>
          <p:nvPr/>
        </p:nvSpPr>
        <p:spPr>
          <a:xfrm>
            <a:off x="6400800" y="1481328"/>
            <a:ext cx="4526280" cy="1234440"/>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1550" b="1" dirty="0">
                <a:solidFill>
                  <a:srgbClr val="081E3F"/>
                </a:solidFill>
                <a:latin typeface="Aptos" pitchFamily="34" charset="0"/>
                <a:ea typeface="Aptos" pitchFamily="34" charset="-122"/>
                <a:cs typeface="Aptos" pitchFamily="34" charset="-120"/>
              </a:rPr>
              <a:t>Decomposition diagrams
</a:t>
            </a:r>
            <a:r>
              <a:rPr lang="en-US" sz="1550" dirty="0">
                <a:solidFill>
                  <a:srgbClr val="1C2733"/>
                </a:solidFill>
                <a:latin typeface="Aptos" pitchFamily="34" charset="0"/>
                <a:ea typeface="Aptos" pitchFamily="34" charset="-122"/>
                <a:cs typeface="Aptos" pitchFamily="34" charset="-120"/>
              </a:rPr>
              <a:t>Break large problems into smaller functions</a:t>
            </a:r>
            <a:endParaRPr lang="en-US" sz="1550" dirty="0"/>
          </a:p>
        </p:txBody>
      </p:sp>
      <p:sp>
        <p:nvSpPr>
          <p:cNvPr id="10" name="Text 8"/>
          <p:cNvSpPr/>
          <p:nvPr/>
        </p:nvSpPr>
        <p:spPr>
          <a:xfrm>
            <a:off x="914400" y="3703320"/>
            <a:ext cx="4526280" cy="1234440"/>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1550" b="1" dirty="0">
                <a:solidFill>
                  <a:srgbClr val="081E3F"/>
                </a:solidFill>
                <a:latin typeface="Aptos" pitchFamily="34" charset="0"/>
                <a:ea typeface="Aptos" pitchFamily="34" charset="-122"/>
                <a:cs typeface="Aptos" pitchFamily="34" charset="-120"/>
              </a:rPr>
              <a:t>Function contracts
</a:t>
            </a:r>
            <a:r>
              <a:rPr lang="en-US" sz="1550" dirty="0">
                <a:solidFill>
                  <a:srgbClr val="1C2733"/>
                </a:solidFill>
                <a:latin typeface="Aptos" pitchFamily="34" charset="0"/>
                <a:ea typeface="Aptos" pitchFamily="34" charset="-122"/>
                <a:cs typeface="Aptos" pitchFamily="34" charset="-120"/>
              </a:rPr>
              <a:t>Specify inputs, outputs, assumptions, edge cases</a:t>
            </a:r>
            <a:endParaRPr lang="en-US" sz="1550" dirty="0"/>
          </a:p>
        </p:txBody>
      </p:sp>
      <p:sp>
        <p:nvSpPr>
          <p:cNvPr id="11" name="Text 9"/>
          <p:cNvSpPr/>
          <p:nvPr/>
        </p:nvSpPr>
        <p:spPr>
          <a:xfrm>
            <a:off x="6400800" y="3703320"/>
            <a:ext cx="4526280" cy="1234440"/>
          </a:xfrm>
          <a:prstGeom prst="rect">
            <a:avLst/>
          </a:prstGeom>
          <a:solidFill>
            <a:srgbClr val="FFF4D6"/>
          </a:solidFill>
          <a:ln w="12700">
            <a:solidFill>
              <a:srgbClr val="D7DCE2"/>
            </a:solidFill>
          </a:ln>
        </p:spPr>
        <p:txBody>
          <a:bodyPr wrap="square" lIns="1778" tIns="1778" rIns="1778" bIns="1778" rtlCol="0" anchor="ctr">
            <a:normAutofit/>
          </a:bodyPr>
          <a:lstStyle/>
          <a:p>
            <a:pPr marL="0" indent="0">
              <a:buNone/>
            </a:pPr>
            <a:r>
              <a:rPr lang="en-US" sz="1550" b="1" dirty="0">
                <a:solidFill>
                  <a:srgbClr val="081E3F"/>
                </a:solidFill>
                <a:latin typeface="Aptos" pitchFamily="34" charset="0"/>
                <a:ea typeface="Aptos" pitchFamily="34" charset="-122"/>
                <a:cs typeface="Aptos" pitchFamily="34" charset="-120"/>
              </a:rPr>
              <a:t>Verification loops
</a:t>
            </a:r>
            <a:r>
              <a:rPr lang="en-US" sz="1550" dirty="0">
                <a:solidFill>
                  <a:srgbClr val="1C2733"/>
                </a:solidFill>
                <a:latin typeface="Aptos" pitchFamily="34" charset="0"/>
                <a:ea typeface="Aptos" pitchFamily="34" charset="-122"/>
                <a:cs typeface="Aptos" pitchFamily="34" charset="-120"/>
              </a:rPr>
              <a:t>Test AI output and explain revisions</a:t>
            </a:r>
            <a:endParaRPr lang="en-US" sz="1550" dirty="0"/>
          </a:p>
        </p:txBody>
      </p:sp>
      <p:sp>
        <p:nvSpPr>
          <p:cNvPr id="12" name="Shape 10"/>
          <p:cNvSpPr/>
          <p:nvPr/>
        </p:nvSpPr>
        <p:spPr>
          <a:xfrm flipH="1" flipV="1">
            <a:off x="3145971" y="5374059"/>
            <a:ext cx="5649686" cy="0"/>
          </a:xfrm>
          <a:prstGeom prst="line">
            <a:avLst/>
          </a:prstGeom>
          <a:noFill/>
          <a:ln w="25400">
            <a:solidFill>
              <a:srgbClr val="B6862C">
                <a:alpha val="80000"/>
              </a:srgbClr>
            </a:solidFill>
            <a:prstDash val="solid"/>
          </a:ln>
        </p:spPr>
        <p:txBody>
          <a:bodyPr/>
          <a:lstStyle/>
          <a:p>
            <a:endParaRPr lang="en-US"/>
          </a:p>
        </p:txBody>
      </p:sp>
      <p:sp>
        <p:nvSpPr>
          <p:cNvPr id="13" name="Text 11"/>
          <p:cNvSpPr/>
          <p:nvPr/>
        </p:nvSpPr>
        <p:spPr>
          <a:xfrm>
            <a:off x="4267200" y="5669280"/>
            <a:ext cx="3657600" cy="457200"/>
          </a:xfrm>
          <a:prstGeom prst="rect">
            <a:avLst/>
          </a:prstGeom>
          <a:solidFill>
            <a:srgbClr val="081E3F"/>
          </a:solidFill>
          <a:ln>
            <a:solidFill>
              <a:srgbClr val="081E3F"/>
            </a:solidFill>
          </a:ln>
        </p:spPr>
        <p:txBody>
          <a:bodyPr wrap="square" lIns="1016" tIns="1016" rIns="1016" bIns="1016" rtlCol="0" anchor="ctr"/>
          <a:lstStyle/>
          <a:p>
            <a:pPr marL="0" indent="0" algn="ctr">
              <a:buNone/>
            </a:pPr>
            <a:r>
              <a:rPr lang="en-US" sz="2200" b="1" dirty="0">
                <a:solidFill>
                  <a:srgbClr val="FFFFFF"/>
                </a:solidFill>
              </a:rPr>
              <a:t>Human judgment first</a:t>
            </a:r>
            <a:endParaRPr lang="en-US" sz="2200" dirty="0"/>
          </a:p>
        </p:txBody>
      </p:sp>
      <p:sp>
        <p:nvSpPr>
          <p:cNvPr id="14" name="Text 12"/>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5" name="Text 13"/>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dirty="0"/>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Classroom example: “Let’s write a spell checker”</a:t>
            </a:r>
            <a:endParaRPr lang="en-US" sz="2750" dirty="0"/>
          </a:p>
        </p:txBody>
      </p:sp>
      <p:sp>
        <p:nvSpPr>
          <p:cNvPr id="7" name="Text 5"/>
          <p:cNvSpPr/>
          <p:nvPr/>
        </p:nvSpPr>
        <p:spPr>
          <a:xfrm>
            <a:off x="566928" y="960120"/>
            <a:ext cx="8778240" cy="320040"/>
          </a:xfrm>
          <a:prstGeom prst="rect">
            <a:avLst/>
          </a:prstGeom>
          <a:noFill/>
          <a:ln/>
        </p:spPr>
        <p:txBody>
          <a:bodyPr wrap="square" lIns="0" tIns="0" rIns="0" bIns="0" rtlCol="0" anchor="ctr">
            <a:normAutofit/>
          </a:bodyPr>
          <a:lstStyle/>
          <a:p>
            <a:pPr marL="0" indent="0">
              <a:buNone/>
            </a:pPr>
            <a:r>
              <a:rPr lang="en-US" dirty="0">
                <a:solidFill>
                  <a:srgbClr val="586579"/>
                </a:solidFill>
              </a:rPr>
              <a:t>Students own the design; AI assists with implementation.</a:t>
            </a:r>
            <a:endParaRPr lang="en-US" dirty="0"/>
          </a:p>
        </p:txBody>
      </p:sp>
      <p:sp>
        <p:nvSpPr>
          <p:cNvPr id="8" name="Text 6"/>
          <p:cNvSpPr/>
          <p:nvPr/>
        </p:nvSpPr>
        <p:spPr>
          <a:xfrm>
            <a:off x="777240" y="4307848"/>
            <a:ext cx="1463040" cy="320040"/>
          </a:xfrm>
          <a:prstGeom prst="rect">
            <a:avLst/>
          </a:prstGeom>
          <a:solidFill>
            <a:srgbClr val="081E3F"/>
          </a:solidFill>
          <a:ln>
            <a:solidFill>
              <a:srgbClr val="081E3F">
                <a:alpha val="0"/>
              </a:srgbClr>
            </a:solidFill>
          </a:ln>
        </p:spPr>
        <p:txBody>
          <a:bodyPr wrap="square" lIns="762" tIns="762" rIns="762" bIns="762" rtlCol="0" anchor="ctr">
            <a:normAutofit/>
          </a:bodyPr>
          <a:lstStyle/>
          <a:p>
            <a:pPr marL="0" indent="0" algn="ctr">
              <a:buNone/>
            </a:pPr>
            <a:r>
              <a:rPr lang="en-US" sz="1050" b="1" dirty="0">
                <a:solidFill>
                  <a:srgbClr val="FFFFFF"/>
                </a:solidFill>
              </a:rPr>
              <a:t>Vague task</a:t>
            </a:r>
            <a:endParaRPr lang="en-US" sz="1050" dirty="0"/>
          </a:p>
        </p:txBody>
      </p:sp>
      <p:sp>
        <p:nvSpPr>
          <p:cNvPr id="9" name="Text 7"/>
          <p:cNvSpPr/>
          <p:nvPr/>
        </p:nvSpPr>
        <p:spPr>
          <a:xfrm>
            <a:off x="685800" y="4707468"/>
            <a:ext cx="2286000" cy="1096150"/>
          </a:xfrm>
          <a:prstGeom prst="rect">
            <a:avLst/>
          </a:prstGeom>
          <a:solidFill>
            <a:srgbClr val="FFFFFF"/>
          </a:solidFill>
          <a:ln w="12700">
            <a:solidFill>
              <a:srgbClr val="D7DCE2"/>
            </a:solidFill>
          </a:ln>
        </p:spPr>
        <p:txBody>
          <a:bodyPr wrap="square" lIns="1778" tIns="1778" rIns="1778" bIns="1778" rtlCol="0" anchor="ctr">
            <a:normAutofit/>
          </a:bodyPr>
          <a:lstStyle/>
          <a:p>
            <a:pPr marL="0" indent="0">
              <a:buNone/>
            </a:pPr>
            <a:r>
              <a:rPr lang="en-US" sz="1350" b="1" dirty="0">
                <a:solidFill>
                  <a:srgbClr val="081E3F"/>
                </a:solidFill>
                <a:latin typeface="Aptos" pitchFamily="34" charset="0"/>
                <a:ea typeface="Aptos" pitchFamily="34" charset="-122"/>
                <a:cs typeface="Aptos" pitchFamily="34" charset="-120"/>
              </a:rPr>
              <a:t>Clarify
</a:t>
            </a:r>
            <a:r>
              <a:rPr lang="en-US" sz="1350" dirty="0">
                <a:solidFill>
                  <a:srgbClr val="1C2733"/>
                </a:solidFill>
                <a:latin typeface="Aptos" pitchFamily="34" charset="0"/>
                <a:ea typeface="Aptos" pitchFamily="34" charset="-122"/>
                <a:cs typeface="Aptos" pitchFamily="34" charset="-120"/>
              </a:rPr>
              <a:t>Dictionary source?</a:t>
            </a:r>
            <a:endParaRPr lang="en-US" sz="1350" dirty="0"/>
          </a:p>
          <a:p>
            <a:pPr marL="0" indent="0">
              <a:buNone/>
            </a:pPr>
            <a:r>
              <a:rPr lang="en-US" sz="1350" dirty="0">
                <a:solidFill>
                  <a:srgbClr val="1C2733"/>
                </a:solidFill>
                <a:latin typeface="Aptos" pitchFamily="34" charset="0"/>
                <a:ea typeface="Aptos" pitchFamily="34" charset="-122"/>
                <a:cs typeface="Aptos" pitchFamily="34" charset="-120"/>
              </a:rPr>
              <a:t>Case sensitivity?</a:t>
            </a:r>
            <a:endParaRPr lang="en-US" sz="1350" dirty="0"/>
          </a:p>
          <a:p>
            <a:pPr marL="0" indent="0">
              <a:buNone/>
            </a:pPr>
            <a:r>
              <a:rPr lang="en-US" sz="1350" dirty="0">
                <a:solidFill>
                  <a:srgbClr val="1C2733"/>
                </a:solidFill>
                <a:latin typeface="Aptos" pitchFamily="34" charset="0"/>
                <a:ea typeface="Aptos" pitchFamily="34" charset="-122"/>
                <a:cs typeface="Aptos" pitchFamily="34" charset="-120"/>
              </a:rPr>
              <a:t>Suggestions or only detection?</a:t>
            </a:r>
            <a:endParaRPr lang="en-US" sz="1350" dirty="0"/>
          </a:p>
        </p:txBody>
      </p:sp>
      <p:sp>
        <p:nvSpPr>
          <p:cNvPr id="10" name="Text 8"/>
          <p:cNvSpPr/>
          <p:nvPr/>
        </p:nvSpPr>
        <p:spPr>
          <a:xfrm>
            <a:off x="3474720" y="4307848"/>
            <a:ext cx="1554480" cy="320040"/>
          </a:xfrm>
          <a:prstGeom prst="rect">
            <a:avLst/>
          </a:prstGeom>
          <a:solidFill>
            <a:srgbClr val="081E3F"/>
          </a:solidFill>
          <a:ln>
            <a:solidFill>
              <a:srgbClr val="081E3F">
                <a:alpha val="0"/>
              </a:srgbClr>
            </a:solidFill>
          </a:ln>
        </p:spPr>
        <p:txBody>
          <a:bodyPr wrap="square" lIns="762" tIns="762" rIns="762" bIns="762" rtlCol="0" anchor="ctr">
            <a:normAutofit/>
          </a:bodyPr>
          <a:lstStyle/>
          <a:p>
            <a:pPr marL="0" indent="0" algn="ctr">
              <a:buNone/>
            </a:pPr>
            <a:r>
              <a:rPr lang="en-US" sz="1050" b="1" dirty="0">
                <a:solidFill>
                  <a:srgbClr val="FFFFFF"/>
                </a:solidFill>
              </a:rPr>
              <a:t>Decompose</a:t>
            </a:r>
            <a:endParaRPr lang="en-US" sz="1050" dirty="0"/>
          </a:p>
        </p:txBody>
      </p:sp>
      <p:sp>
        <p:nvSpPr>
          <p:cNvPr id="11" name="Text 9"/>
          <p:cNvSpPr/>
          <p:nvPr/>
        </p:nvSpPr>
        <p:spPr>
          <a:xfrm>
            <a:off x="3291840" y="4707468"/>
            <a:ext cx="2468880" cy="1096150"/>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1350" b="1" dirty="0">
                <a:solidFill>
                  <a:srgbClr val="081E3F"/>
                </a:solidFill>
                <a:latin typeface="Aptos" pitchFamily="34" charset="0"/>
                <a:ea typeface="Aptos" pitchFamily="34" charset="-122"/>
                <a:cs typeface="Aptos" pitchFamily="34" charset="-120"/>
              </a:rPr>
              <a:t>Plan modules
</a:t>
            </a:r>
            <a:r>
              <a:rPr lang="en-US" sz="1350" dirty="0">
                <a:solidFill>
                  <a:srgbClr val="1C2733"/>
                </a:solidFill>
                <a:latin typeface="Aptos" pitchFamily="34" charset="0"/>
                <a:ea typeface="Aptos" pitchFamily="34" charset="-122"/>
                <a:cs typeface="Aptos" pitchFamily="34" charset="-120"/>
              </a:rPr>
              <a:t>load_dictionary()</a:t>
            </a:r>
            <a:endParaRPr lang="en-US" sz="1350" dirty="0"/>
          </a:p>
          <a:p>
            <a:pPr marL="0" indent="0">
              <a:buNone/>
            </a:pPr>
            <a:r>
              <a:rPr lang="en-US" sz="1350" dirty="0">
                <a:solidFill>
                  <a:srgbClr val="1C2733"/>
                </a:solidFill>
                <a:latin typeface="Aptos" pitchFamily="34" charset="0"/>
                <a:ea typeface="Aptos" pitchFamily="34" charset="-122"/>
                <a:cs typeface="Aptos" pitchFamily="34" charset="-120"/>
              </a:rPr>
              <a:t>tokenize_text()</a:t>
            </a:r>
            <a:endParaRPr lang="en-US" sz="1350" dirty="0"/>
          </a:p>
          <a:p>
            <a:pPr marL="0" indent="0">
              <a:buNone/>
            </a:pPr>
            <a:r>
              <a:rPr lang="en-US" sz="1350" dirty="0">
                <a:solidFill>
                  <a:srgbClr val="1C2733"/>
                </a:solidFill>
                <a:latin typeface="Aptos" pitchFamily="34" charset="0"/>
                <a:ea typeface="Aptos" pitchFamily="34" charset="-122"/>
                <a:cs typeface="Aptos" pitchFamily="34" charset="-120"/>
              </a:rPr>
              <a:t>find_misspellings()</a:t>
            </a:r>
            <a:endParaRPr lang="en-US" sz="1350" dirty="0"/>
          </a:p>
          <a:p>
            <a:pPr marL="0" indent="0">
              <a:buNone/>
            </a:pPr>
            <a:r>
              <a:rPr lang="en-US" sz="1350" dirty="0">
                <a:solidFill>
                  <a:srgbClr val="1C2733"/>
                </a:solidFill>
                <a:latin typeface="Aptos" pitchFamily="34" charset="0"/>
                <a:ea typeface="Aptos" pitchFamily="34" charset="-122"/>
                <a:cs typeface="Aptos" pitchFamily="34" charset="-120"/>
              </a:rPr>
              <a:t>suggest_words()</a:t>
            </a:r>
            <a:endParaRPr lang="en-US" sz="1350" dirty="0"/>
          </a:p>
        </p:txBody>
      </p:sp>
      <p:sp>
        <p:nvSpPr>
          <p:cNvPr id="12" name="Text 10"/>
          <p:cNvSpPr/>
          <p:nvPr/>
        </p:nvSpPr>
        <p:spPr>
          <a:xfrm>
            <a:off x="6309360" y="4307848"/>
            <a:ext cx="1417320" cy="320040"/>
          </a:xfrm>
          <a:prstGeom prst="rect">
            <a:avLst/>
          </a:prstGeom>
          <a:solidFill>
            <a:srgbClr val="081E3F"/>
          </a:solidFill>
          <a:ln>
            <a:solidFill>
              <a:srgbClr val="081E3F">
                <a:alpha val="0"/>
              </a:srgbClr>
            </a:solidFill>
          </a:ln>
        </p:spPr>
        <p:txBody>
          <a:bodyPr wrap="square" lIns="762" tIns="762" rIns="762" bIns="762" rtlCol="0" anchor="ctr">
            <a:normAutofit/>
          </a:bodyPr>
          <a:lstStyle/>
          <a:p>
            <a:pPr marL="0" indent="0" algn="ctr">
              <a:buNone/>
            </a:pPr>
            <a:r>
              <a:rPr lang="en-US" sz="1050" b="1" dirty="0">
                <a:solidFill>
                  <a:srgbClr val="FFFFFF"/>
                </a:solidFill>
              </a:rPr>
              <a:t>Contract</a:t>
            </a:r>
            <a:endParaRPr lang="en-US" sz="1050" dirty="0"/>
          </a:p>
        </p:txBody>
      </p:sp>
      <p:sp>
        <p:nvSpPr>
          <p:cNvPr id="13" name="Text 11"/>
          <p:cNvSpPr/>
          <p:nvPr/>
        </p:nvSpPr>
        <p:spPr>
          <a:xfrm>
            <a:off x="6172200" y="4707468"/>
            <a:ext cx="2103120" cy="1096150"/>
          </a:xfrm>
          <a:prstGeom prst="rect">
            <a:avLst/>
          </a:prstGeom>
          <a:solidFill>
            <a:srgbClr val="FFF4D6"/>
          </a:solidFill>
          <a:ln w="12700">
            <a:solidFill>
              <a:srgbClr val="D7DCE2"/>
            </a:solidFill>
          </a:ln>
        </p:spPr>
        <p:txBody>
          <a:bodyPr wrap="square" lIns="1778" tIns="1778" rIns="1778" bIns="1778" rtlCol="0" anchor="ctr">
            <a:normAutofit/>
          </a:bodyPr>
          <a:lstStyle/>
          <a:p>
            <a:pPr marL="0" indent="0">
              <a:buNone/>
            </a:pPr>
            <a:r>
              <a:rPr lang="en-US" sz="1350" b="1" dirty="0">
                <a:solidFill>
                  <a:srgbClr val="081E3F"/>
                </a:solidFill>
                <a:latin typeface="Aptos" pitchFamily="34" charset="0"/>
                <a:ea typeface="Aptos" pitchFamily="34" charset="-122"/>
                <a:cs typeface="Aptos" pitchFamily="34" charset="-120"/>
              </a:rPr>
              <a:t>Specify
</a:t>
            </a:r>
            <a:r>
              <a:rPr lang="en-US" sz="1350" dirty="0">
                <a:solidFill>
                  <a:srgbClr val="1C2733"/>
                </a:solidFill>
                <a:latin typeface="Aptos" pitchFamily="34" charset="0"/>
                <a:ea typeface="Aptos" pitchFamily="34" charset="-122"/>
                <a:cs typeface="Aptos" pitchFamily="34" charset="-120"/>
              </a:rPr>
              <a:t>Inputs</a:t>
            </a:r>
            <a:endParaRPr lang="en-US" sz="1350" dirty="0"/>
          </a:p>
          <a:p>
            <a:pPr marL="0" indent="0">
              <a:buNone/>
            </a:pPr>
            <a:r>
              <a:rPr lang="en-US" sz="1350" dirty="0">
                <a:solidFill>
                  <a:srgbClr val="1C2733"/>
                </a:solidFill>
                <a:latin typeface="Aptos" pitchFamily="34" charset="0"/>
                <a:ea typeface="Aptos" pitchFamily="34" charset="-122"/>
                <a:cs typeface="Aptos" pitchFamily="34" charset="-120"/>
              </a:rPr>
              <a:t>Outputs</a:t>
            </a:r>
            <a:endParaRPr lang="en-US" sz="1350" dirty="0"/>
          </a:p>
          <a:p>
            <a:pPr marL="0" indent="0">
              <a:buNone/>
            </a:pPr>
            <a:r>
              <a:rPr lang="en-US" sz="1350" dirty="0">
                <a:solidFill>
                  <a:srgbClr val="1C2733"/>
                </a:solidFill>
                <a:latin typeface="Aptos" pitchFamily="34" charset="0"/>
                <a:ea typeface="Aptos" pitchFamily="34" charset="-122"/>
                <a:cs typeface="Aptos" pitchFamily="34" charset="-120"/>
              </a:rPr>
              <a:t>Edge cases</a:t>
            </a:r>
            <a:endParaRPr lang="en-US" sz="1350" dirty="0"/>
          </a:p>
          <a:p>
            <a:pPr marL="0" indent="0">
              <a:buNone/>
            </a:pPr>
            <a:r>
              <a:rPr lang="en-US" sz="1350" dirty="0">
                <a:solidFill>
                  <a:srgbClr val="1C2733"/>
                </a:solidFill>
                <a:latin typeface="Aptos" pitchFamily="34" charset="0"/>
                <a:ea typeface="Aptos" pitchFamily="34" charset="-122"/>
                <a:cs typeface="Aptos" pitchFamily="34" charset="-120"/>
              </a:rPr>
              <a:t>Tests</a:t>
            </a:r>
            <a:endParaRPr lang="en-US" sz="1350" dirty="0"/>
          </a:p>
        </p:txBody>
      </p:sp>
      <p:sp>
        <p:nvSpPr>
          <p:cNvPr id="14" name="Text 12"/>
          <p:cNvSpPr/>
          <p:nvPr/>
        </p:nvSpPr>
        <p:spPr>
          <a:xfrm>
            <a:off x="8869680" y="4307848"/>
            <a:ext cx="1508760" cy="320040"/>
          </a:xfrm>
          <a:prstGeom prst="rect">
            <a:avLst/>
          </a:prstGeom>
          <a:solidFill>
            <a:srgbClr val="B6862C"/>
          </a:solidFill>
          <a:ln>
            <a:solidFill>
              <a:srgbClr val="B6862C">
                <a:alpha val="0"/>
              </a:srgbClr>
            </a:solidFill>
          </a:ln>
        </p:spPr>
        <p:txBody>
          <a:bodyPr wrap="square" lIns="762" tIns="762" rIns="762" bIns="762" rtlCol="0" anchor="ctr">
            <a:normAutofit/>
          </a:bodyPr>
          <a:lstStyle/>
          <a:p>
            <a:pPr marL="0" indent="0" algn="ctr">
              <a:buNone/>
            </a:pPr>
            <a:r>
              <a:rPr lang="en-US" sz="1050" b="1" dirty="0">
                <a:solidFill>
                  <a:srgbClr val="081E3F"/>
                </a:solidFill>
              </a:rPr>
              <a:t>AI assist</a:t>
            </a:r>
            <a:endParaRPr lang="en-US" sz="1050" dirty="0"/>
          </a:p>
        </p:txBody>
      </p:sp>
      <p:sp>
        <p:nvSpPr>
          <p:cNvPr id="15" name="Text 13"/>
          <p:cNvSpPr/>
          <p:nvPr/>
        </p:nvSpPr>
        <p:spPr>
          <a:xfrm>
            <a:off x="8595360" y="4707468"/>
            <a:ext cx="2606040" cy="1096150"/>
          </a:xfrm>
          <a:prstGeom prst="rect">
            <a:avLst/>
          </a:prstGeom>
          <a:solidFill>
            <a:srgbClr val="FFFFFF"/>
          </a:solidFill>
          <a:ln w="12700">
            <a:solidFill>
              <a:srgbClr val="B6862C"/>
            </a:solidFill>
          </a:ln>
        </p:spPr>
        <p:txBody>
          <a:bodyPr wrap="square" lIns="1778" tIns="1778" rIns="1778" bIns="1778" rtlCol="0" anchor="ctr">
            <a:normAutofit/>
          </a:bodyPr>
          <a:lstStyle/>
          <a:p>
            <a:pPr marL="0" indent="0">
              <a:buNone/>
            </a:pPr>
            <a:r>
              <a:rPr lang="en-US" sz="1350" b="1" dirty="0">
                <a:solidFill>
                  <a:srgbClr val="081E3F"/>
                </a:solidFill>
                <a:latin typeface="Aptos" pitchFamily="34" charset="0"/>
                <a:ea typeface="Aptos" pitchFamily="34" charset="-122"/>
                <a:cs typeface="Aptos" pitchFamily="34" charset="-120"/>
              </a:rPr>
              <a:t>Implement + test
</a:t>
            </a:r>
            <a:r>
              <a:rPr lang="en-US" sz="1350" dirty="0">
                <a:solidFill>
                  <a:srgbClr val="1C2733"/>
                </a:solidFill>
                <a:latin typeface="Aptos" pitchFamily="34" charset="0"/>
                <a:ea typeface="Aptos" pitchFamily="34" charset="-122"/>
                <a:cs typeface="Aptos" pitchFamily="34" charset="-120"/>
              </a:rPr>
              <a:t>Ask for one function at a time. Integrate, run tests, revise manually.</a:t>
            </a:r>
            <a:endParaRPr lang="en-US" sz="1350" dirty="0"/>
          </a:p>
        </p:txBody>
      </p:sp>
      <p:sp>
        <p:nvSpPr>
          <p:cNvPr id="16" name="Shape 14"/>
          <p:cNvSpPr/>
          <p:nvPr/>
        </p:nvSpPr>
        <p:spPr>
          <a:xfrm>
            <a:off x="2971800" y="5261751"/>
            <a:ext cx="228600" cy="0"/>
          </a:xfrm>
          <a:prstGeom prst="line">
            <a:avLst/>
          </a:prstGeom>
          <a:noFill/>
          <a:ln w="25400">
            <a:solidFill>
              <a:srgbClr val="B6862C"/>
            </a:solidFill>
            <a:prstDash val="solid"/>
            <a:headEnd type="none"/>
            <a:tailEnd type="triangle"/>
          </a:ln>
        </p:spPr>
        <p:txBody>
          <a:bodyPr/>
          <a:lstStyle/>
          <a:p>
            <a:endParaRPr lang="en-US"/>
          </a:p>
        </p:txBody>
      </p:sp>
      <p:sp>
        <p:nvSpPr>
          <p:cNvPr id="17" name="Shape 15"/>
          <p:cNvSpPr/>
          <p:nvPr/>
        </p:nvSpPr>
        <p:spPr>
          <a:xfrm>
            <a:off x="5794248" y="5261751"/>
            <a:ext cx="301752" cy="0"/>
          </a:xfrm>
          <a:prstGeom prst="line">
            <a:avLst/>
          </a:prstGeom>
          <a:noFill/>
          <a:ln w="25400">
            <a:solidFill>
              <a:srgbClr val="B6862C"/>
            </a:solidFill>
            <a:prstDash val="solid"/>
            <a:headEnd type="none"/>
            <a:tailEnd type="triangle"/>
          </a:ln>
        </p:spPr>
        <p:txBody>
          <a:bodyPr/>
          <a:lstStyle/>
          <a:p>
            <a:endParaRPr lang="en-US"/>
          </a:p>
        </p:txBody>
      </p:sp>
      <p:sp>
        <p:nvSpPr>
          <p:cNvPr id="18" name="Shape 16"/>
          <p:cNvSpPr/>
          <p:nvPr/>
        </p:nvSpPr>
        <p:spPr>
          <a:xfrm>
            <a:off x="8275320" y="5261751"/>
            <a:ext cx="228600" cy="0"/>
          </a:xfrm>
          <a:prstGeom prst="line">
            <a:avLst/>
          </a:prstGeom>
          <a:noFill/>
          <a:ln w="25400">
            <a:solidFill>
              <a:srgbClr val="B6862C"/>
            </a:solidFill>
            <a:prstDash val="solid"/>
            <a:headEnd type="none"/>
            <a:tailEnd type="triangle"/>
          </a:ln>
        </p:spPr>
        <p:txBody>
          <a:bodyPr/>
          <a:lstStyle/>
          <a:p>
            <a:endParaRPr lang="en-US"/>
          </a:p>
        </p:txBody>
      </p:sp>
      <p:sp>
        <p:nvSpPr>
          <p:cNvPr id="19" name="Text 17"/>
          <p:cNvSpPr/>
          <p:nvPr/>
        </p:nvSpPr>
        <p:spPr>
          <a:xfrm>
            <a:off x="1020927" y="5875528"/>
            <a:ext cx="10149840" cy="548640"/>
          </a:xfrm>
          <a:prstGeom prst="rect">
            <a:avLst/>
          </a:prstGeom>
          <a:solidFill>
            <a:srgbClr val="FFFFFF"/>
          </a:solidFill>
          <a:ln>
            <a:solidFill>
              <a:srgbClr val="E6E8EC"/>
            </a:solidFill>
          </a:ln>
        </p:spPr>
        <p:txBody>
          <a:bodyPr wrap="square" lIns="1016" tIns="1016" rIns="1016" bIns="1016" rtlCol="0" anchor="ctr">
            <a:normAutofit lnSpcReduction="10000"/>
          </a:bodyPr>
          <a:lstStyle/>
          <a:p>
            <a:pPr marL="0" indent="0" algn="ctr">
              <a:buNone/>
            </a:pPr>
            <a:r>
              <a:rPr lang="en-US" sz="1800" b="1" dirty="0">
                <a:solidFill>
                  <a:srgbClr val="081E3F"/>
                </a:solidFill>
              </a:rPr>
              <a:t>The assignment teaches specification, modular thinking, testing, and responsible AI use—not just code generation.</a:t>
            </a:r>
            <a:endParaRPr lang="en-US" sz="1800" dirty="0"/>
          </a:p>
        </p:txBody>
      </p:sp>
      <p:sp>
        <p:nvSpPr>
          <p:cNvPr id="20" name="Text 18"/>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21" name="Text 19"/>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11</a:t>
            </a:r>
            <a:endParaRPr lang="en-US" sz="800" dirty="0"/>
          </a:p>
        </p:txBody>
      </p:sp>
      <p:sp>
        <p:nvSpPr>
          <p:cNvPr id="23" name="Text 6">
            <a:extLst>
              <a:ext uri="{FF2B5EF4-FFF2-40B4-BE49-F238E27FC236}">
                <a16:creationId xmlns:a16="http://schemas.microsoft.com/office/drawing/2014/main" id="{3CF6DC37-C1DE-E4ED-35E1-75D20F4D6717}"/>
              </a:ext>
            </a:extLst>
          </p:cNvPr>
          <p:cNvSpPr/>
          <p:nvPr/>
        </p:nvSpPr>
        <p:spPr>
          <a:xfrm>
            <a:off x="2148840" y="1539973"/>
            <a:ext cx="7223760" cy="2508061"/>
          </a:xfrm>
          <a:prstGeom prst="rect">
            <a:avLst/>
          </a:prstGeom>
          <a:solidFill>
            <a:srgbClr val="B6862C"/>
          </a:solidFill>
          <a:ln>
            <a:solidFill>
              <a:srgbClr val="B6862C">
                <a:alpha val="0"/>
              </a:srgbClr>
            </a:solidFill>
          </a:ln>
        </p:spPr>
        <p:txBody>
          <a:bodyPr wrap="square" lIns="762" tIns="762" rIns="762" bIns="762" rtlCol="0" anchor="ctr">
            <a:noAutofit/>
          </a:bodyPr>
          <a:lstStyle/>
          <a:p>
            <a:pPr>
              <a:defRPr sz="2000" b="1">
                <a:solidFill>
                  <a:srgbClr val="3C3C3C"/>
                </a:solidFill>
                <a:latin typeface="Calibri"/>
              </a:defRPr>
            </a:pPr>
            <a:r>
              <a:rPr lang="en-US" dirty="0">
                <a:latin typeface="Aptos" panose="020B0004020202020204" pitchFamily="34" charset="0"/>
              </a:rPr>
              <a:t>Activity Overview</a:t>
            </a:r>
          </a:p>
          <a:p>
            <a:pPr marL="342900" lvl="1" indent="-342900">
              <a:buFont typeface="Arial" panose="020B0604020202020204" pitchFamily="34" charset="0"/>
              <a:buChar char="•"/>
              <a:defRPr sz="1800" b="0">
                <a:solidFill>
                  <a:srgbClr val="3C3C3C"/>
                </a:solidFill>
                <a:latin typeface="Calibri"/>
              </a:defRPr>
            </a:pPr>
            <a:r>
              <a:rPr lang="en-US" dirty="0">
                <a:latin typeface="Aptos" panose="020B0004020202020204" pitchFamily="34" charset="0"/>
              </a:rPr>
              <a:t>Students implement a simple spell checker.</a:t>
            </a:r>
          </a:p>
          <a:p>
            <a:pPr marL="342900" lvl="1" indent="-342900">
              <a:buFont typeface="Arial" panose="020B0604020202020204" pitchFamily="34" charset="0"/>
              <a:buChar char="•"/>
              <a:defRPr sz="1800" b="0">
                <a:solidFill>
                  <a:srgbClr val="3C3C3C"/>
                </a:solidFill>
                <a:latin typeface="Calibri"/>
              </a:defRPr>
            </a:pPr>
            <a:r>
              <a:rPr lang="en-US" dirty="0">
                <a:latin typeface="Aptos" panose="020B0004020202020204" pitchFamily="34" charset="0"/>
              </a:rPr>
              <a:t>Use decomposition diagrams to break the problem into functions.</a:t>
            </a:r>
          </a:p>
          <a:p>
            <a:pPr>
              <a:defRPr sz="2000" b="1">
                <a:solidFill>
                  <a:srgbClr val="3C3C3C"/>
                </a:solidFill>
                <a:latin typeface="Calibri"/>
              </a:defRPr>
            </a:pPr>
            <a:r>
              <a:rPr lang="en-US" dirty="0">
                <a:latin typeface="Aptos" panose="020B0004020202020204" pitchFamily="34" charset="0"/>
              </a:rPr>
              <a:t>Function‑by‑Function Workflow</a:t>
            </a:r>
          </a:p>
          <a:p>
            <a:pPr marL="342900" lvl="1" indent="-342900">
              <a:buFont typeface="Arial" panose="020B0604020202020204" pitchFamily="34" charset="0"/>
              <a:buChar char="•"/>
              <a:defRPr sz="1800" b="0">
                <a:solidFill>
                  <a:srgbClr val="3C3C3C"/>
                </a:solidFill>
                <a:latin typeface="Calibri"/>
              </a:defRPr>
            </a:pPr>
            <a:r>
              <a:rPr lang="en-US" dirty="0">
                <a:latin typeface="Aptos" panose="020B0004020202020204" pitchFamily="34" charset="0"/>
              </a:rPr>
              <a:t>Define the function contract.</a:t>
            </a:r>
          </a:p>
          <a:p>
            <a:pPr marL="342900" lvl="1" indent="-342900">
              <a:buFont typeface="Arial" panose="020B0604020202020204" pitchFamily="34" charset="0"/>
              <a:buChar char="•"/>
              <a:defRPr sz="1800" b="0">
                <a:solidFill>
                  <a:srgbClr val="3C3C3C"/>
                </a:solidFill>
                <a:latin typeface="Calibri"/>
              </a:defRPr>
            </a:pPr>
            <a:r>
              <a:rPr lang="en-US" dirty="0">
                <a:latin typeface="Aptos" panose="020B0004020202020204" pitchFamily="34" charset="0"/>
              </a:rPr>
              <a:t>Ask an LLM to help implement the function.</a:t>
            </a:r>
          </a:p>
          <a:p>
            <a:pPr marL="342900" lvl="1" indent="-342900">
              <a:buFont typeface="Arial" panose="020B0604020202020204" pitchFamily="34" charset="0"/>
              <a:buChar char="•"/>
              <a:defRPr sz="1800" b="0">
                <a:solidFill>
                  <a:srgbClr val="3C3C3C"/>
                </a:solidFill>
                <a:latin typeface="Calibri"/>
              </a:defRPr>
            </a:pPr>
            <a:r>
              <a:rPr lang="en-US" dirty="0">
                <a:latin typeface="Aptos" panose="020B0004020202020204" pitchFamily="34" charset="0"/>
              </a:rPr>
              <a:t>Integrate and test the full program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fontScale="92500"/>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Assessment best practices from FIU KFSCIS experimentation</a:t>
            </a:r>
            <a:endParaRPr lang="en-US" sz="2750" dirty="0"/>
          </a:p>
        </p:txBody>
      </p:sp>
      <p:sp>
        <p:nvSpPr>
          <p:cNvPr id="7" name="Text 5"/>
          <p:cNvSpPr/>
          <p:nvPr/>
        </p:nvSpPr>
        <p:spPr>
          <a:xfrm>
            <a:off x="566928" y="960120"/>
            <a:ext cx="11228832" cy="320040"/>
          </a:xfrm>
          <a:prstGeom prst="rect">
            <a:avLst/>
          </a:prstGeom>
          <a:noFill/>
          <a:ln/>
        </p:spPr>
        <p:txBody>
          <a:bodyPr wrap="square" lIns="0" tIns="0" rIns="0" bIns="0" rtlCol="0" anchor="ctr">
            <a:noAutofit/>
          </a:bodyPr>
          <a:lstStyle/>
          <a:p>
            <a:pPr marL="0" indent="0">
              <a:buNone/>
            </a:pPr>
            <a:r>
              <a:rPr lang="en-US" dirty="0">
                <a:solidFill>
                  <a:srgbClr val="586579"/>
                </a:solidFill>
              </a:rPr>
              <a:t>Across the past two semesters, faculty converged on practices that make AI use visible, evaluable, and learning-centered.</a:t>
            </a:r>
            <a:endParaRPr lang="en-US" dirty="0"/>
          </a:p>
        </p:txBody>
      </p:sp>
      <p:sp>
        <p:nvSpPr>
          <p:cNvPr id="8" name="Text 6"/>
          <p:cNvSpPr/>
          <p:nvPr/>
        </p:nvSpPr>
        <p:spPr>
          <a:xfrm>
            <a:off x="594360" y="1554480"/>
            <a:ext cx="2514600" cy="1115568"/>
          </a:xfrm>
          <a:prstGeom prst="rect">
            <a:avLst/>
          </a:prstGeom>
          <a:solidFill>
            <a:srgbClr val="EAF1F8"/>
          </a:solidFill>
          <a:ln w="12700">
            <a:solidFill>
              <a:srgbClr val="D7DCE2"/>
            </a:solidFill>
          </a:ln>
        </p:spPr>
        <p:txBody>
          <a:bodyPr wrap="square" lIns="1524" tIns="1524" rIns="1524" bIns="1524" rtlCol="0" anchor="ctr">
            <a:normAutofit/>
          </a:bodyPr>
          <a:lstStyle/>
          <a:p>
            <a:pPr marL="0" indent="0" algn="ctr">
              <a:buNone/>
            </a:pPr>
            <a:r>
              <a:rPr lang="en-US" sz="1320" b="1" dirty="0">
                <a:solidFill>
                  <a:srgbClr val="081E3F"/>
                </a:solidFill>
              </a:rPr>
              <a:t>1</a:t>
            </a:r>
            <a:endParaRPr lang="en-US" sz="1320" dirty="0"/>
          </a:p>
          <a:p>
            <a:pPr marL="0" indent="0" algn="ctr">
              <a:buNone/>
            </a:pPr>
            <a:r>
              <a:rPr lang="en-US" sz="1320" b="1" dirty="0">
                <a:solidFill>
                  <a:srgbClr val="081E3F"/>
                </a:solidFill>
              </a:rPr>
              <a:t>Complex, real-world projects</a:t>
            </a:r>
            <a:endParaRPr lang="en-US" sz="1320" dirty="0"/>
          </a:p>
        </p:txBody>
      </p:sp>
      <p:sp>
        <p:nvSpPr>
          <p:cNvPr id="9" name="Text 7"/>
          <p:cNvSpPr/>
          <p:nvPr/>
        </p:nvSpPr>
        <p:spPr>
          <a:xfrm>
            <a:off x="3474720" y="1554480"/>
            <a:ext cx="2514600" cy="1115568"/>
          </a:xfrm>
          <a:prstGeom prst="rect">
            <a:avLst/>
          </a:prstGeom>
          <a:solidFill>
            <a:srgbClr val="FFF4D6"/>
          </a:solidFill>
          <a:ln w="12700">
            <a:solidFill>
              <a:srgbClr val="D7DCE2"/>
            </a:solidFill>
          </a:ln>
        </p:spPr>
        <p:txBody>
          <a:bodyPr wrap="square" lIns="1524" tIns="1524" rIns="1524" bIns="1524" rtlCol="0" anchor="ctr">
            <a:normAutofit/>
          </a:bodyPr>
          <a:lstStyle/>
          <a:p>
            <a:pPr marL="0" indent="0" algn="ctr">
              <a:buNone/>
            </a:pPr>
            <a:r>
              <a:rPr lang="en-US" sz="1320" b="1" dirty="0">
                <a:solidFill>
                  <a:srgbClr val="081E3F"/>
                </a:solidFill>
              </a:rPr>
              <a:t>2</a:t>
            </a:r>
            <a:endParaRPr lang="en-US" sz="1320" dirty="0"/>
          </a:p>
          <a:p>
            <a:pPr marL="0" indent="0" algn="ctr">
              <a:buNone/>
            </a:pPr>
            <a:r>
              <a:rPr lang="en-US" sz="1320" b="1" dirty="0">
                <a:solidFill>
                  <a:srgbClr val="081E3F"/>
                </a:solidFill>
              </a:rPr>
              <a:t>Shift from product to reasoning</a:t>
            </a:r>
            <a:endParaRPr lang="en-US" sz="1320" dirty="0"/>
          </a:p>
        </p:txBody>
      </p:sp>
      <p:sp>
        <p:nvSpPr>
          <p:cNvPr id="10" name="Text 8"/>
          <p:cNvSpPr/>
          <p:nvPr/>
        </p:nvSpPr>
        <p:spPr>
          <a:xfrm>
            <a:off x="6355080" y="1554480"/>
            <a:ext cx="2514600" cy="1115568"/>
          </a:xfrm>
          <a:prstGeom prst="rect">
            <a:avLst/>
          </a:prstGeom>
          <a:solidFill>
            <a:srgbClr val="EAF1F8"/>
          </a:solidFill>
          <a:ln w="12700">
            <a:solidFill>
              <a:srgbClr val="D7DCE2"/>
            </a:solidFill>
          </a:ln>
        </p:spPr>
        <p:txBody>
          <a:bodyPr wrap="square" lIns="1524" tIns="1524" rIns="1524" bIns="1524" rtlCol="0" anchor="ctr">
            <a:normAutofit/>
          </a:bodyPr>
          <a:lstStyle/>
          <a:p>
            <a:pPr marL="0" indent="0" algn="ctr">
              <a:buNone/>
            </a:pPr>
            <a:r>
              <a:rPr lang="en-US" sz="1320" b="1" dirty="0">
                <a:solidFill>
                  <a:srgbClr val="081E3F"/>
                </a:solidFill>
              </a:rPr>
              <a:t>3</a:t>
            </a:r>
            <a:endParaRPr lang="en-US" sz="1320" dirty="0"/>
          </a:p>
          <a:p>
            <a:pPr marL="0" indent="0" algn="ctr">
              <a:buNone/>
            </a:pPr>
            <a:r>
              <a:rPr lang="en-US" sz="1320" b="1" dirty="0">
                <a:solidFill>
                  <a:srgbClr val="081E3F"/>
                </a:solidFill>
              </a:rPr>
              <a:t>Evaluate AI-generated results</a:t>
            </a:r>
            <a:endParaRPr lang="en-US" sz="1320" dirty="0"/>
          </a:p>
        </p:txBody>
      </p:sp>
      <p:sp>
        <p:nvSpPr>
          <p:cNvPr id="11" name="Text 9"/>
          <p:cNvSpPr/>
          <p:nvPr/>
        </p:nvSpPr>
        <p:spPr>
          <a:xfrm>
            <a:off x="9235440" y="1554480"/>
            <a:ext cx="2514600" cy="1115568"/>
          </a:xfrm>
          <a:prstGeom prst="rect">
            <a:avLst/>
          </a:prstGeom>
          <a:solidFill>
            <a:srgbClr val="EAF1F8"/>
          </a:solidFill>
          <a:ln w="12700">
            <a:solidFill>
              <a:srgbClr val="D7DCE2"/>
            </a:solidFill>
          </a:ln>
        </p:spPr>
        <p:txBody>
          <a:bodyPr wrap="square" lIns="1524" tIns="1524" rIns="1524" bIns="1524" rtlCol="0" anchor="ctr">
            <a:normAutofit/>
          </a:bodyPr>
          <a:lstStyle/>
          <a:p>
            <a:pPr marL="0" indent="0" algn="ctr">
              <a:buNone/>
            </a:pPr>
            <a:r>
              <a:rPr lang="en-US" sz="1320" b="1" dirty="0">
                <a:solidFill>
                  <a:srgbClr val="081E3F"/>
                </a:solidFill>
              </a:rPr>
              <a:t>4</a:t>
            </a:r>
            <a:endParaRPr lang="en-US" sz="1320" dirty="0"/>
          </a:p>
          <a:p>
            <a:pPr algn="ctr"/>
            <a:r>
              <a:rPr lang="en-US" sz="1320" b="1" dirty="0">
                <a:solidFill>
                  <a:srgbClr val="081E3F"/>
                </a:solidFill>
              </a:rPr>
              <a:t>Add helpful challenges</a:t>
            </a:r>
            <a:endParaRPr lang="en-US" sz="1320" dirty="0"/>
          </a:p>
        </p:txBody>
      </p:sp>
      <p:sp>
        <p:nvSpPr>
          <p:cNvPr id="12" name="Text 10"/>
          <p:cNvSpPr/>
          <p:nvPr/>
        </p:nvSpPr>
        <p:spPr>
          <a:xfrm>
            <a:off x="594360" y="3246120"/>
            <a:ext cx="2514600" cy="1115568"/>
          </a:xfrm>
          <a:prstGeom prst="rect">
            <a:avLst/>
          </a:prstGeom>
          <a:solidFill>
            <a:srgbClr val="FFFFFF"/>
          </a:solidFill>
          <a:ln w="12700">
            <a:solidFill>
              <a:srgbClr val="D7DCE2"/>
            </a:solidFill>
          </a:ln>
        </p:spPr>
        <p:txBody>
          <a:bodyPr wrap="square" lIns="1524" tIns="1524" rIns="1524" bIns="1524" rtlCol="0" anchor="ctr">
            <a:normAutofit/>
          </a:bodyPr>
          <a:lstStyle/>
          <a:p>
            <a:pPr marL="0" indent="0" algn="ctr">
              <a:buNone/>
            </a:pPr>
            <a:r>
              <a:rPr lang="en-US" sz="1320" b="1" dirty="0">
                <a:solidFill>
                  <a:srgbClr val="081E3F"/>
                </a:solidFill>
              </a:rPr>
              <a:t>5</a:t>
            </a:r>
            <a:endParaRPr lang="en-US" sz="1320" dirty="0"/>
          </a:p>
          <a:p>
            <a:pPr marL="0" indent="0" algn="ctr">
              <a:buNone/>
            </a:pPr>
            <a:r>
              <a:rPr lang="en-US" sz="1320" b="1" dirty="0">
                <a:solidFill>
                  <a:srgbClr val="081E3F"/>
                </a:solidFill>
              </a:rPr>
              <a:t>Preserve core fundamentals</a:t>
            </a:r>
            <a:endParaRPr lang="en-US" sz="1320" dirty="0"/>
          </a:p>
        </p:txBody>
      </p:sp>
      <p:sp>
        <p:nvSpPr>
          <p:cNvPr id="13" name="Text 11"/>
          <p:cNvSpPr/>
          <p:nvPr/>
        </p:nvSpPr>
        <p:spPr>
          <a:xfrm>
            <a:off x="3474720" y="3246120"/>
            <a:ext cx="2514600" cy="1115568"/>
          </a:xfrm>
          <a:prstGeom prst="rect">
            <a:avLst/>
          </a:prstGeom>
          <a:solidFill>
            <a:srgbClr val="FFF4D6"/>
          </a:solidFill>
          <a:ln w="12700">
            <a:solidFill>
              <a:srgbClr val="B6862C"/>
            </a:solidFill>
          </a:ln>
        </p:spPr>
        <p:txBody>
          <a:bodyPr wrap="square" lIns="1524" tIns="1524" rIns="1524" bIns="1524" rtlCol="0" anchor="ctr">
            <a:normAutofit/>
          </a:bodyPr>
          <a:lstStyle/>
          <a:p>
            <a:pPr marL="0" indent="0" algn="ctr">
              <a:buNone/>
            </a:pPr>
            <a:r>
              <a:rPr lang="en-US" sz="1320" b="1" dirty="0">
                <a:solidFill>
                  <a:srgbClr val="081E3F"/>
                </a:solidFill>
              </a:rPr>
              <a:t>6</a:t>
            </a:r>
            <a:endParaRPr lang="en-US" sz="1320" dirty="0"/>
          </a:p>
          <a:p>
            <a:pPr marL="0" indent="0" algn="ctr">
              <a:buNone/>
            </a:pPr>
            <a:r>
              <a:rPr lang="en-US" sz="1320" b="1" dirty="0">
                <a:solidFill>
                  <a:srgbClr val="081E3F"/>
                </a:solidFill>
              </a:rPr>
              <a:t>Require documentation</a:t>
            </a:r>
            <a:endParaRPr lang="en-US" sz="1320" dirty="0"/>
          </a:p>
        </p:txBody>
      </p:sp>
      <p:sp>
        <p:nvSpPr>
          <p:cNvPr id="14" name="Text 12"/>
          <p:cNvSpPr/>
          <p:nvPr/>
        </p:nvSpPr>
        <p:spPr>
          <a:xfrm>
            <a:off x="6355080" y="3246120"/>
            <a:ext cx="2514600" cy="1115568"/>
          </a:xfrm>
          <a:prstGeom prst="rect">
            <a:avLst/>
          </a:prstGeom>
          <a:solidFill>
            <a:srgbClr val="EAF1F8"/>
          </a:solidFill>
          <a:ln w="12700">
            <a:solidFill>
              <a:srgbClr val="D7DCE2"/>
            </a:solidFill>
          </a:ln>
        </p:spPr>
        <p:txBody>
          <a:bodyPr wrap="square" lIns="1524" tIns="1524" rIns="1524" bIns="1524" rtlCol="0" anchor="ctr">
            <a:normAutofit/>
          </a:bodyPr>
          <a:lstStyle/>
          <a:p>
            <a:pPr marL="0" indent="0" algn="ctr">
              <a:buNone/>
            </a:pPr>
            <a:r>
              <a:rPr lang="en-US" sz="1320" b="1" dirty="0">
                <a:solidFill>
                  <a:srgbClr val="081E3F"/>
                </a:solidFill>
              </a:rPr>
              <a:t>7</a:t>
            </a:r>
            <a:endParaRPr lang="en-US" sz="1320" dirty="0"/>
          </a:p>
          <a:p>
            <a:pPr marL="0" indent="0" algn="ctr">
              <a:buNone/>
            </a:pPr>
            <a:r>
              <a:rPr lang="en-US" sz="1320" b="1" dirty="0">
                <a:solidFill>
                  <a:srgbClr val="081E3F"/>
                </a:solidFill>
              </a:rPr>
              <a:t>GenAI-supported instruction</a:t>
            </a:r>
            <a:endParaRPr lang="en-US" sz="1320" dirty="0"/>
          </a:p>
        </p:txBody>
      </p:sp>
      <p:sp>
        <p:nvSpPr>
          <p:cNvPr id="15" name="Text 13"/>
          <p:cNvSpPr/>
          <p:nvPr/>
        </p:nvSpPr>
        <p:spPr>
          <a:xfrm>
            <a:off x="1051560" y="5257800"/>
            <a:ext cx="10058400" cy="566928"/>
          </a:xfrm>
          <a:prstGeom prst="rect">
            <a:avLst/>
          </a:prstGeom>
          <a:solidFill>
            <a:srgbClr val="081E3F"/>
          </a:solidFill>
          <a:ln>
            <a:solidFill>
              <a:srgbClr val="081E3F"/>
            </a:solidFill>
          </a:ln>
        </p:spPr>
        <p:txBody>
          <a:bodyPr wrap="square" lIns="1016" tIns="1016" rIns="1016" bIns="1016" rtlCol="0" anchor="ctr">
            <a:normAutofit/>
          </a:bodyPr>
          <a:lstStyle/>
          <a:p>
            <a:pPr marL="0" indent="0" algn="ctr">
              <a:buNone/>
            </a:pPr>
            <a:r>
              <a:rPr lang="en-US" sz="1800" b="1" dirty="0">
                <a:solidFill>
                  <a:srgbClr val="FFFFFF"/>
                </a:solidFill>
              </a:rPr>
              <a:t>Shared lesson: do not only police AI use; redesign assessments so students must reason, validate, document, and explain.</a:t>
            </a:r>
            <a:endParaRPr lang="en-US" sz="1800" dirty="0"/>
          </a:p>
        </p:txBody>
      </p:sp>
      <p:sp>
        <p:nvSpPr>
          <p:cNvPr id="16" name="Text 14"/>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7" name="Text 15"/>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12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What the “7 pillars” look like in practice</a:t>
            </a:r>
            <a:endParaRPr lang="en-US" sz="2750" dirty="0"/>
          </a:p>
        </p:txBody>
      </p:sp>
      <p:sp>
        <p:nvSpPr>
          <p:cNvPr id="7" name="Text 5"/>
          <p:cNvSpPr/>
          <p:nvPr/>
        </p:nvSpPr>
        <p:spPr>
          <a:xfrm>
            <a:off x="566928" y="960120"/>
            <a:ext cx="8778240" cy="320040"/>
          </a:xfrm>
          <a:prstGeom prst="rect">
            <a:avLst/>
          </a:prstGeom>
          <a:noFill/>
          <a:ln/>
        </p:spPr>
        <p:txBody>
          <a:bodyPr wrap="square" lIns="0" tIns="0" rIns="0" bIns="0" rtlCol="0" anchor="ctr">
            <a:normAutofit/>
          </a:bodyPr>
          <a:lstStyle/>
          <a:p>
            <a:pPr marL="0" indent="0">
              <a:buNone/>
            </a:pPr>
            <a:r>
              <a:rPr lang="en-US" dirty="0">
                <a:solidFill>
                  <a:srgbClr val="586579"/>
                </a:solidFill>
              </a:rPr>
              <a:t>The practices can be combined with the three-category framework.</a:t>
            </a:r>
            <a:endParaRPr lang="en-US" dirty="0"/>
          </a:p>
        </p:txBody>
      </p:sp>
      <p:sp>
        <p:nvSpPr>
          <p:cNvPr id="8" name="Text 6"/>
          <p:cNvSpPr/>
          <p:nvPr/>
        </p:nvSpPr>
        <p:spPr>
          <a:xfrm>
            <a:off x="777240" y="1417320"/>
            <a:ext cx="3246120" cy="1984248"/>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1600" b="1" dirty="0">
                <a:solidFill>
                  <a:srgbClr val="081E3F"/>
                </a:solidFill>
                <a:latin typeface="Aptos" pitchFamily="34" charset="0"/>
                <a:ea typeface="Aptos" pitchFamily="34" charset="-122"/>
                <a:cs typeface="Aptos" pitchFamily="34" charset="-120"/>
              </a:rPr>
              <a:t>Design richer tasks
</a:t>
            </a:r>
            <a:r>
              <a:rPr lang="en-US" sz="1600" dirty="0">
                <a:solidFill>
                  <a:srgbClr val="1C2733"/>
                </a:solidFill>
                <a:latin typeface="Aptos" pitchFamily="34" charset="0"/>
                <a:ea typeface="Aptos" pitchFamily="34" charset="-122"/>
                <a:cs typeface="Aptos" pitchFamily="34" charset="-120"/>
              </a:rPr>
              <a:t>Use complex, real-world projects so AI alone cannot complete the intellectual work. Ask students to elicit requirements, define assumptions, and justify scope.</a:t>
            </a:r>
            <a:endParaRPr lang="en-US" sz="1600" dirty="0"/>
          </a:p>
        </p:txBody>
      </p:sp>
      <p:sp>
        <p:nvSpPr>
          <p:cNvPr id="9" name="Text 7"/>
          <p:cNvSpPr/>
          <p:nvPr/>
        </p:nvSpPr>
        <p:spPr>
          <a:xfrm>
            <a:off x="4480560" y="1417320"/>
            <a:ext cx="3246120" cy="1984248"/>
          </a:xfrm>
          <a:prstGeom prst="rect">
            <a:avLst/>
          </a:prstGeom>
          <a:solidFill>
            <a:srgbClr val="FFF4D6"/>
          </a:solidFill>
          <a:ln w="12700">
            <a:solidFill>
              <a:srgbClr val="B6862C"/>
            </a:solidFill>
          </a:ln>
        </p:spPr>
        <p:txBody>
          <a:bodyPr wrap="square" lIns="1778" tIns="1778" rIns="1778" bIns="1778" rtlCol="0" anchor="ctr">
            <a:normAutofit/>
          </a:bodyPr>
          <a:lstStyle/>
          <a:p>
            <a:pPr marL="0" indent="0">
              <a:buNone/>
            </a:pPr>
            <a:r>
              <a:rPr lang="en-US" sz="1600" b="1" dirty="0">
                <a:solidFill>
                  <a:srgbClr val="081E3F"/>
                </a:solidFill>
                <a:latin typeface="Aptos" pitchFamily="34" charset="0"/>
                <a:ea typeface="Aptos" pitchFamily="34" charset="-122"/>
                <a:cs typeface="Aptos" pitchFamily="34" charset="-120"/>
              </a:rPr>
              <a:t>Grade reasoning + validation
</a:t>
            </a:r>
            <a:r>
              <a:rPr lang="en-US" sz="1600" dirty="0">
                <a:solidFill>
                  <a:srgbClr val="1C2733"/>
                </a:solidFill>
                <a:latin typeface="Aptos" pitchFamily="34" charset="0"/>
                <a:ea typeface="Aptos" pitchFamily="34" charset="-122"/>
                <a:cs typeface="Aptos" pitchFamily="34" charset="-120"/>
              </a:rPr>
              <a:t>Evaluate explanations, choices, tests, limitations, and corrections to AI-generated output—not only final code correctness.</a:t>
            </a:r>
            <a:endParaRPr lang="en-US" sz="1600" dirty="0"/>
          </a:p>
        </p:txBody>
      </p:sp>
      <p:sp>
        <p:nvSpPr>
          <p:cNvPr id="10" name="Text 8"/>
          <p:cNvSpPr/>
          <p:nvPr/>
        </p:nvSpPr>
        <p:spPr>
          <a:xfrm>
            <a:off x="8183880" y="1417320"/>
            <a:ext cx="3246120" cy="1984248"/>
          </a:xfrm>
          <a:prstGeom prst="rect">
            <a:avLst/>
          </a:prstGeom>
          <a:solidFill>
            <a:srgbClr val="FFFFFF"/>
          </a:solidFill>
          <a:ln w="12700">
            <a:solidFill>
              <a:srgbClr val="D7DCE2"/>
            </a:solidFill>
          </a:ln>
        </p:spPr>
        <p:txBody>
          <a:bodyPr wrap="square" lIns="1778" tIns="1778" rIns="1778" bIns="1778" rtlCol="0" anchor="ctr">
            <a:normAutofit/>
          </a:bodyPr>
          <a:lstStyle/>
          <a:p>
            <a:pPr marL="0" indent="0">
              <a:buNone/>
            </a:pPr>
            <a:r>
              <a:rPr lang="en-US" sz="1600" b="1" dirty="0">
                <a:solidFill>
                  <a:srgbClr val="081E3F"/>
                </a:solidFill>
                <a:latin typeface="Aptos" pitchFamily="34" charset="0"/>
                <a:ea typeface="Aptos" pitchFamily="34" charset="-122"/>
                <a:cs typeface="Aptos" pitchFamily="34" charset="-120"/>
              </a:rPr>
              <a:t>Build productive friction
</a:t>
            </a:r>
            <a:r>
              <a:rPr lang="en-US" sz="1600" dirty="0">
                <a:solidFill>
                  <a:srgbClr val="1C2733"/>
                </a:solidFill>
                <a:latin typeface="Aptos" pitchFamily="34" charset="0"/>
                <a:ea typeface="Aptos" pitchFamily="34" charset="-122"/>
                <a:cs typeface="Aptos" pitchFamily="34" charset="-120"/>
              </a:rPr>
              <a:t>Require reflection, recursion trees, trace tables, verification checklists, AI usage reports, and short oral or written explanations.</a:t>
            </a:r>
            <a:endParaRPr lang="en-US" sz="1600" dirty="0"/>
          </a:p>
        </p:txBody>
      </p:sp>
      <p:sp>
        <p:nvSpPr>
          <p:cNvPr id="11" name="Text 9"/>
          <p:cNvSpPr/>
          <p:nvPr/>
        </p:nvSpPr>
        <p:spPr>
          <a:xfrm>
            <a:off x="960120" y="4572000"/>
            <a:ext cx="3200400" cy="1517904"/>
          </a:xfrm>
          <a:prstGeom prst="rect">
            <a:avLst/>
          </a:prstGeom>
          <a:solidFill>
            <a:srgbClr val="FFFFFF"/>
          </a:solidFill>
          <a:ln w="12700">
            <a:solidFill>
              <a:srgbClr val="B6862C"/>
            </a:solidFill>
          </a:ln>
        </p:spPr>
        <p:txBody>
          <a:bodyPr wrap="square" lIns="1778" tIns="1778" rIns="1778" bIns="1778" rtlCol="0" anchor="ctr">
            <a:noAutofit/>
          </a:bodyPr>
          <a:lstStyle/>
          <a:p>
            <a:pPr marL="0" indent="0">
              <a:buNone/>
            </a:pPr>
            <a:r>
              <a:rPr lang="en-US" sz="1600" b="1" dirty="0">
                <a:solidFill>
                  <a:srgbClr val="081E3F"/>
                </a:solidFill>
                <a:latin typeface="Aptos" pitchFamily="34" charset="0"/>
                <a:ea typeface="Aptos" pitchFamily="34" charset="-122"/>
                <a:cs typeface="Aptos" pitchFamily="34" charset="-120"/>
              </a:rPr>
              <a:t>Preserve fundamentals
</a:t>
            </a:r>
            <a:r>
              <a:rPr lang="en-US" sz="1600" dirty="0">
                <a:solidFill>
                  <a:srgbClr val="1C2733"/>
                </a:solidFill>
                <a:latin typeface="Aptos" pitchFamily="34" charset="0"/>
                <a:ea typeface="Aptos" pitchFamily="34" charset="-122"/>
                <a:cs typeface="Aptos" pitchFamily="34" charset="-120"/>
              </a:rPr>
              <a:t>Use no-AI quizzes, exams, in-class exercises, and short analytical responses to confirm independent mastery.</a:t>
            </a:r>
            <a:endParaRPr lang="en-US" sz="1600" dirty="0"/>
          </a:p>
        </p:txBody>
      </p:sp>
      <p:sp>
        <p:nvSpPr>
          <p:cNvPr id="12" name="Text 10"/>
          <p:cNvSpPr/>
          <p:nvPr/>
        </p:nvSpPr>
        <p:spPr>
          <a:xfrm>
            <a:off x="4526280" y="4571999"/>
            <a:ext cx="3200400" cy="1517903"/>
          </a:xfrm>
          <a:prstGeom prst="rect">
            <a:avLst/>
          </a:prstGeom>
          <a:solidFill>
            <a:srgbClr val="EAF1F8"/>
          </a:solidFill>
          <a:ln w="12700">
            <a:solidFill>
              <a:srgbClr val="D7DCE2"/>
            </a:solidFill>
          </a:ln>
        </p:spPr>
        <p:txBody>
          <a:bodyPr wrap="square" lIns="1778" tIns="1778" rIns="1778" bIns="1778" rtlCol="0" anchor="ctr">
            <a:noAutofit/>
          </a:bodyPr>
          <a:lstStyle/>
          <a:p>
            <a:pPr marL="0" indent="0">
              <a:buNone/>
            </a:pPr>
            <a:r>
              <a:rPr lang="en-US" sz="1600" b="1" dirty="0">
                <a:solidFill>
                  <a:srgbClr val="081E3F"/>
                </a:solidFill>
                <a:latin typeface="Aptos" pitchFamily="34" charset="0"/>
                <a:ea typeface="Aptos" pitchFamily="34" charset="-122"/>
                <a:cs typeface="Aptos" pitchFamily="34" charset="-120"/>
              </a:rPr>
              <a:t>Support instructors too
</a:t>
            </a:r>
            <a:r>
              <a:rPr lang="en-US" sz="1600" dirty="0">
                <a:solidFill>
                  <a:srgbClr val="1C2733"/>
                </a:solidFill>
                <a:latin typeface="Aptos" pitchFamily="34" charset="0"/>
                <a:ea typeface="Aptos" pitchFamily="34" charset="-122"/>
                <a:cs typeface="Aptos" pitchFamily="34" charset="-120"/>
              </a:rPr>
              <a:t>Use GenAI to draft rubrics, generate variants, summarize common mistakes, and support feedback while preserving instructor judgment.</a:t>
            </a:r>
            <a:endParaRPr lang="en-US" sz="1600" dirty="0"/>
          </a:p>
        </p:txBody>
      </p:sp>
      <p:sp>
        <p:nvSpPr>
          <p:cNvPr id="13" name="Text 11"/>
          <p:cNvSpPr/>
          <p:nvPr/>
        </p:nvSpPr>
        <p:spPr>
          <a:xfrm>
            <a:off x="8092440" y="4572000"/>
            <a:ext cx="3200400" cy="1517902"/>
          </a:xfrm>
          <a:prstGeom prst="rect">
            <a:avLst/>
          </a:prstGeom>
          <a:solidFill>
            <a:srgbClr val="FFF4D6"/>
          </a:solidFill>
          <a:ln w="12700">
            <a:solidFill>
              <a:srgbClr val="D7DCE2"/>
            </a:solidFill>
          </a:ln>
        </p:spPr>
        <p:txBody>
          <a:bodyPr wrap="square" lIns="1778" tIns="1778" rIns="1778" bIns="1778" rtlCol="0" anchor="ctr">
            <a:normAutofit/>
          </a:bodyPr>
          <a:lstStyle/>
          <a:p>
            <a:pPr marL="0" indent="0">
              <a:buNone/>
            </a:pPr>
            <a:r>
              <a:rPr lang="en-US" sz="1600" b="1" dirty="0">
                <a:solidFill>
                  <a:srgbClr val="081E3F"/>
                </a:solidFill>
                <a:latin typeface="Aptos" pitchFamily="34" charset="0"/>
                <a:ea typeface="Aptos" pitchFamily="34" charset="-122"/>
                <a:cs typeface="Aptos" pitchFamily="34" charset="-120"/>
              </a:rPr>
              <a:t>Make use transparent
</a:t>
            </a:r>
            <a:r>
              <a:rPr lang="en-US" sz="1600" dirty="0">
                <a:solidFill>
                  <a:srgbClr val="1C2733"/>
                </a:solidFill>
                <a:latin typeface="Aptos" pitchFamily="34" charset="0"/>
                <a:ea typeface="Aptos" pitchFamily="34" charset="-122"/>
                <a:cs typeface="Aptos" pitchFamily="34" charset="-120"/>
              </a:rPr>
              <a:t>Ask what prompts were used, what was accepted or rejected, what was changed manually, and why.</a:t>
            </a:r>
            <a:endParaRPr lang="en-US" sz="1600" dirty="0"/>
          </a:p>
        </p:txBody>
      </p:sp>
      <p:sp>
        <p:nvSpPr>
          <p:cNvPr id="14" name="Text 12"/>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5" name="Text 13"/>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13</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Why this scales across computing programs</a:t>
            </a:r>
            <a:endParaRPr lang="en-US" sz="2750" dirty="0"/>
          </a:p>
        </p:txBody>
      </p:sp>
      <p:sp>
        <p:nvSpPr>
          <p:cNvPr id="7" name="Text 5"/>
          <p:cNvSpPr/>
          <p:nvPr/>
        </p:nvSpPr>
        <p:spPr>
          <a:xfrm>
            <a:off x="566928" y="960120"/>
            <a:ext cx="8778240" cy="320040"/>
          </a:xfrm>
          <a:prstGeom prst="rect">
            <a:avLst/>
          </a:prstGeom>
          <a:noFill/>
          <a:ln/>
        </p:spPr>
        <p:txBody>
          <a:bodyPr wrap="square" lIns="0" tIns="0" rIns="0" bIns="0" rtlCol="0" anchor="ctr">
            <a:normAutofit/>
          </a:bodyPr>
          <a:lstStyle/>
          <a:p>
            <a:pPr marL="0" indent="0">
              <a:buNone/>
            </a:pPr>
            <a:r>
              <a:rPr lang="en-US" dirty="0">
                <a:solidFill>
                  <a:srgbClr val="586579"/>
                </a:solidFill>
              </a:rPr>
              <a:t>The framework is modular, reusable, and does not require specialized infrastructure.</a:t>
            </a:r>
            <a:endParaRPr lang="en-US" dirty="0"/>
          </a:p>
        </p:txBody>
      </p:sp>
      <p:sp>
        <p:nvSpPr>
          <p:cNvPr id="8" name="Text 6"/>
          <p:cNvSpPr/>
          <p:nvPr/>
        </p:nvSpPr>
        <p:spPr>
          <a:xfrm>
            <a:off x="822960" y="1508760"/>
            <a:ext cx="3246120" cy="2306884"/>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Course-level reuse</a:t>
            </a:r>
            <a:r>
              <a:rPr lang="en-US" b="1" dirty="0">
                <a:solidFill>
                  <a:srgbClr val="081E3F"/>
                </a:solidFill>
                <a:latin typeface="Aptos" pitchFamily="34" charset="0"/>
                <a:ea typeface="Aptos" pitchFamily="34" charset="-122"/>
                <a:cs typeface="Aptos" pitchFamily="34" charset="-120"/>
              </a:rPr>
              <a:t>
</a:t>
            </a:r>
            <a:r>
              <a:rPr lang="en-US" dirty="0">
                <a:solidFill>
                  <a:srgbClr val="1C2733"/>
                </a:solidFill>
                <a:latin typeface="Aptos" pitchFamily="34" charset="0"/>
                <a:ea typeface="Aptos" pitchFamily="34" charset="-122"/>
                <a:cs typeface="Aptos" pitchFamily="34" charset="-120"/>
              </a:rPr>
              <a:t>Tag each activity by AI category. Reuse the same policy language and reflection prompts across modules.</a:t>
            </a:r>
            <a:endParaRPr lang="en-US" dirty="0"/>
          </a:p>
        </p:txBody>
      </p:sp>
      <p:sp>
        <p:nvSpPr>
          <p:cNvPr id="9" name="Text 7"/>
          <p:cNvSpPr/>
          <p:nvPr/>
        </p:nvSpPr>
        <p:spPr>
          <a:xfrm>
            <a:off x="4480560" y="1508760"/>
            <a:ext cx="3246120" cy="2306884"/>
          </a:xfrm>
          <a:prstGeom prst="rect">
            <a:avLst/>
          </a:prstGeom>
          <a:solidFill>
            <a:srgbClr val="FFFFFF"/>
          </a:solidFill>
          <a:ln w="12700">
            <a:solidFill>
              <a:srgbClr val="B6862C"/>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Faculty-time friendly</a:t>
            </a:r>
            <a:r>
              <a:rPr lang="en-US" b="1" dirty="0">
                <a:solidFill>
                  <a:srgbClr val="081E3F"/>
                </a:solidFill>
                <a:latin typeface="Aptos" pitchFamily="34" charset="0"/>
                <a:ea typeface="Aptos" pitchFamily="34" charset="-122"/>
                <a:cs typeface="Aptos" pitchFamily="34" charset="-120"/>
              </a:rPr>
              <a:t>
</a:t>
            </a:r>
            <a:r>
              <a:rPr lang="en-US" dirty="0">
                <a:solidFill>
                  <a:srgbClr val="1C2733"/>
                </a:solidFill>
                <a:latin typeface="Aptos" pitchFamily="34" charset="0"/>
                <a:ea typeface="Aptos" pitchFamily="34" charset="-122"/>
                <a:cs typeface="Aptos" pitchFamily="34" charset="-120"/>
              </a:rPr>
              <a:t>Provide templates: clarifying-question prompt, decomposition worksheet, AI usage report, verification checklist.</a:t>
            </a:r>
            <a:endParaRPr lang="en-US" dirty="0"/>
          </a:p>
        </p:txBody>
      </p:sp>
      <p:sp>
        <p:nvSpPr>
          <p:cNvPr id="10" name="Text 8"/>
          <p:cNvSpPr/>
          <p:nvPr/>
        </p:nvSpPr>
        <p:spPr>
          <a:xfrm>
            <a:off x="8138160" y="1508760"/>
            <a:ext cx="3246120" cy="2306884"/>
          </a:xfrm>
          <a:prstGeom prst="rect">
            <a:avLst/>
          </a:prstGeom>
          <a:solidFill>
            <a:srgbClr val="FFF4D6"/>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Institutional fit</a:t>
            </a:r>
            <a:r>
              <a:rPr lang="en-US" b="1" dirty="0">
                <a:solidFill>
                  <a:srgbClr val="081E3F"/>
                </a:solidFill>
                <a:latin typeface="Aptos" pitchFamily="34" charset="0"/>
                <a:ea typeface="Aptos" pitchFamily="34" charset="-122"/>
                <a:cs typeface="Aptos" pitchFamily="34" charset="-120"/>
              </a:rPr>
              <a:t>
</a:t>
            </a:r>
            <a:r>
              <a:rPr lang="en-US" dirty="0">
                <a:solidFill>
                  <a:srgbClr val="1C2733"/>
                </a:solidFill>
                <a:latin typeface="Aptos" pitchFamily="34" charset="0"/>
                <a:ea typeface="Aptos" pitchFamily="34" charset="-122"/>
                <a:cs typeface="Aptos" pitchFamily="34" charset="-120"/>
              </a:rPr>
              <a:t>Especially useful for research-emerging institutions with limited faculty time and resources.</a:t>
            </a:r>
            <a:endParaRPr lang="en-US" dirty="0"/>
          </a:p>
        </p:txBody>
      </p:sp>
      <p:sp>
        <p:nvSpPr>
          <p:cNvPr id="11" name="Text 9"/>
          <p:cNvSpPr/>
          <p:nvPr/>
        </p:nvSpPr>
        <p:spPr>
          <a:xfrm>
            <a:off x="996244" y="4673938"/>
            <a:ext cx="9875520" cy="502920"/>
          </a:xfrm>
          <a:prstGeom prst="rect">
            <a:avLst/>
          </a:prstGeom>
          <a:solidFill>
            <a:srgbClr val="081E3F"/>
          </a:solidFill>
          <a:ln>
            <a:solidFill>
              <a:srgbClr val="081E3F"/>
            </a:solidFill>
          </a:ln>
        </p:spPr>
        <p:txBody>
          <a:bodyPr wrap="square" lIns="1016" tIns="1016" rIns="1016" bIns="1016" rtlCol="0" anchor="ctr">
            <a:normAutofit/>
          </a:bodyPr>
          <a:lstStyle/>
          <a:p>
            <a:pPr marL="0" indent="0" algn="ctr">
              <a:buNone/>
            </a:pPr>
            <a:r>
              <a:rPr lang="en-US" sz="2000" b="1" dirty="0">
                <a:solidFill>
                  <a:srgbClr val="FFFFFF"/>
                </a:solidFill>
              </a:rPr>
              <a:t>Scalability comes from shared routines—not from adding another platform.</a:t>
            </a:r>
            <a:endParaRPr lang="en-US" sz="2000" dirty="0"/>
          </a:p>
        </p:txBody>
      </p:sp>
      <p:sp>
        <p:nvSpPr>
          <p:cNvPr id="12" name="Text 10"/>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3" name="Text 11"/>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14</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7F6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6F0"/>
          </a:solidFill>
          <a:ln w="12700">
            <a:solidFill>
              <a:srgbClr val="F7F6F0">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F7F6F0">
              <a:alpha val="0"/>
            </a:srgbClr>
          </a:solidFill>
          <a:ln w="19050">
            <a:solidFill>
              <a:srgbClr val="081E3F">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F7F6F0">
              <a:alpha val="0"/>
            </a:srgbClr>
          </a:solidFill>
          <a:ln w="15240">
            <a:solidFill>
              <a:srgbClr val="081E3F">
                <a:alpha val="12000"/>
              </a:srgbClr>
            </a:solidFill>
            <a:prstDash val="solid"/>
          </a:ln>
        </p:spPr>
        <p:txBody>
          <a:bodyPr/>
          <a:lstStyle/>
          <a:p>
            <a:endParaRPr lang="en-US"/>
          </a:p>
        </p:txBody>
      </p:sp>
      <p:sp>
        <p:nvSpPr>
          <p:cNvPr id="6" name="Text 4"/>
          <p:cNvSpPr/>
          <p:nvPr/>
        </p:nvSpPr>
        <p:spPr>
          <a:xfrm>
            <a:off x="530352" y="393192"/>
            <a:ext cx="8869680" cy="502920"/>
          </a:xfrm>
          <a:prstGeom prst="rect">
            <a:avLst/>
          </a:prstGeom>
          <a:noFill/>
          <a:ln/>
        </p:spPr>
        <p:txBody>
          <a:bodyPr wrap="square" lIns="0" tIns="0" rIns="0" bIns="0" rtlCol="0" anchor="ctr">
            <a:normAutofit/>
          </a:bodyPr>
          <a:lstStyle/>
          <a:p>
            <a:pPr marL="0" indent="0">
              <a:buNone/>
            </a:pPr>
            <a:r>
              <a:rPr lang="en-US" sz="2750" b="1" dirty="0">
                <a:solidFill>
                  <a:srgbClr val="081E3F"/>
                </a:solidFill>
                <a:latin typeface="Aptos Display" pitchFamily="34" charset="0"/>
                <a:ea typeface="Aptos Display" pitchFamily="34" charset="-122"/>
                <a:cs typeface="Aptos Display" pitchFamily="34" charset="-120"/>
              </a:rPr>
              <a:t>Early outcomes and NAIRR alignment</a:t>
            </a:r>
            <a:endParaRPr lang="en-US" sz="2750" dirty="0"/>
          </a:p>
        </p:txBody>
      </p:sp>
      <p:sp>
        <p:nvSpPr>
          <p:cNvPr id="7" name="Text 5"/>
          <p:cNvSpPr/>
          <p:nvPr/>
        </p:nvSpPr>
        <p:spPr>
          <a:xfrm>
            <a:off x="566928" y="960120"/>
            <a:ext cx="8778240" cy="320040"/>
          </a:xfrm>
          <a:prstGeom prst="rect">
            <a:avLst/>
          </a:prstGeom>
          <a:noFill/>
          <a:ln/>
        </p:spPr>
        <p:txBody>
          <a:bodyPr wrap="square" lIns="0" tIns="0" rIns="0" bIns="0" rtlCol="0" anchor="ctr">
            <a:normAutofit/>
          </a:bodyPr>
          <a:lstStyle/>
          <a:p>
            <a:pPr marL="0" indent="0">
              <a:buNone/>
            </a:pPr>
            <a:r>
              <a:rPr lang="en-US" dirty="0">
                <a:solidFill>
                  <a:srgbClr val="586579"/>
                </a:solidFill>
              </a:rPr>
              <a:t>The framework supports core AI competencies for graduates.</a:t>
            </a:r>
            <a:endParaRPr lang="en-US" dirty="0"/>
          </a:p>
        </p:txBody>
      </p:sp>
      <p:sp>
        <p:nvSpPr>
          <p:cNvPr id="8" name="Text 6"/>
          <p:cNvSpPr/>
          <p:nvPr/>
        </p:nvSpPr>
        <p:spPr>
          <a:xfrm>
            <a:off x="244145" y="2483556"/>
            <a:ext cx="3977640" cy="2368634"/>
          </a:xfrm>
          <a:prstGeom prst="rect">
            <a:avLst/>
          </a:prstGeom>
          <a:solidFill>
            <a:srgbClr val="FFFFFF"/>
          </a:solidFill>
          <a:ln w="12700">
            <a:solidFill>
              <a:srgbClr val="B6862C"/>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Preliminary classroom outcomes</a:t>
            </a:r>
            <a:r>
              <a:rPr lang="en-US" b="1" dirty="0">
                <a:solidFill>
                  <a:srgbClr val="081E3F"/>
                </a:solidFill>
                <a:latin typeface="Aptos" pitchFamily="34" charset="0"/>
                <a:ea typeface="Aptos" pitchFamily="34" charset="-122"/>
                <a:cs typeface="Aptos" pitchFamily="34" charset="-120"/>
              </a:rPr>
              <a:t>
</a:t>
            </a:r>
            <a:r>
              <a:rPr lang="en-US" dirty="0">
                <a:solidFill>
                  <a:srgbClr val="1C2733"/>
                </a:solidFill>
                <a:latin typeface="Aptos" pitchFamily="34" charset="0"/>
                <a:ea typeface="Aptos" pitchFamily="34" charset="-122"/>
                <a:cs typeface="Aptos" pitchFamily="34" charset="-120"/>
              </a:rPr>
              <a:t>Improved student engagement</a:t>
            </a:r>
            <a:endParaRPr lang="en-US" dirty="0"/>
          </a:p>
          <a:p>
            <a:pPr marL="0" indent="0">
              <a:buNone/>
            </a:pPr>
            <a:r>
              <a:rPr lang="en-US" dirty="0">
                <a:solidFill>
                  <a:srgbClr val="1C2733"/>
                </a:solidFill>
                <a:latin typeface="Aptos" pitchFamily="34" charset="0"/>
                <a:ea typeface="Aptos" pitchFamily="34" charset="-122"/>
                <a:cs typeface="Aptos" pitchFamily="34" charset="-120"/>
              </a:rPr>
              <a:t>Stronger problem-solving habits</a:t>
            </a:r>
            <a:endParaRPr lang="en-US" dirty="0"/>
          </a:p>
          <a:p>
            <a:pPr marL="0" indent="0">
              <a:buNone/>
            </a:pPr>
            <a:r>
              <a:rPr lang="en-US" dirty="0">
                <a:solidFill>
                  <a:srgbClr val="1C2733"/>
                </a:solidFill>
                <a:latin typeface="Aptos" pitchFamily="34" charset="0"/>
                <a:ea typeface="Aptos" pitchFamily="34" charset="-122"/>
                <a:cs typeface="Aptos" pitchFamily="34" charset="-120"/>
              </a:rPr>
              <a:t>More responsible AI use</a:t>
            </a:r>
            <a:endParaRPr lang="en-US" dirty="0"/>
          </a:p>
          <a:p>
            <a:pPr marL="0" indent="0">
              <a:buNone/>
            </a:pPr>
            <a:r>
              <a:rPr lang="en-US" dirty="0">
                <a:solidFill>
                  <a:srgbClr val="1C2733"/>
                </a:solidFill>
                <a:latin typeface="Aptos" pitchFamily="34" charset="0"/>
                <a:ea typeface="Aptos" pitchFamily="34" charset="-122"/>
                <a:cs typeface="Aptos" pitchFamily="34" charset="-120"/>
              </a:rPr>
              <a:t>Better decomposition and evaluation</a:t>
            </a:r>
            <a:endParaRPr lang="en-US" dirty="0"/>
          </a:p>
        </p:txBody>
      </p:sp>
      <p:sp>
        <p:nvSpPr>
          <p:cNvPr id="9" name="Text 7"/>
          <p:cNvSpPr/>
          <p:nvPr/>
        </p:nvSpPr>
        <p:spPr>
          <a:xfrm>
            <a:off x="4450384" y="2483556"/>
            <a:ext cx="3350237" cy="2385624"/>
          </a:xfrm>
          <a:prstGeom prst="rect">
            <a:avLst/>
          </a:prstGeom>
          <a:solidFill>
            <a:srgbClr val="EAF1F8"/>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AI competencies developed</a:t>
            </a:r>
            <a:r>
              <a:rPr lang="en-US" b="1" dirty="0">
                <a:solidFill>
                  <a:srgbClr val="081E3F"/>
                </a:solidFill>
                <a:latin typeface="Aptos" pitchFamily="34" charset="0"/>
                <a:ea typeface="Aptos" pitchFamily="34" charset="-122"/>
                <a:cs typeface="Aptos" pitchFamily="34" charset="-120"/>
              </a:rPr>
              <a:t>
</a:t>
            </a:r>
            <a:r>
              <a:rPr lang="en-US" dirty="0">
                <a:solidFill>
                  <a:srgbClr val="1C2733"/>
                </a:solidFill>
                <a:latin typeface="Aptos" pitchFamily="34" charset="0"/>
                <a:ea typeface="Aptos" pitchFamily="34" charset="-122"/>
                <a:cs typeface="Aptos" pitchFamily="34" charset="-120"/>
              </a:rPr>
              <a:t>Ethical and responsible use</a:t>
            </a:r>
            <a:endParaRPr lang="en-US" dirty="0"/>
          </a:p>
          <a:p>
            <a:pPr marL="0" indent="0">
              <a:buNone/>
            </a:pPr>
            <a:r>
              <a:rPr lang="en-US" dirty="0">
                <a:solidFill>
                  <a:srgbClr val="1C2733"/>
                </a:solidFill>
                <a:latin typeface="Aptos" pitchFamily="34" charset="0"/>
                <a:ea typeface="Aptos" pitchFamily="34" charset="-122"/>
                <a:cs typeface="Aptos" pitchFamily="34" charset="-120"/>
              </a:rPr>
              <a:t>Prompting as problem framing</a:t>
            </a:r>
            <a:endParaRPr lang="en-US" dirty="0"/>
          </a:p>
          <a:p>
            <a:pPr marL="0" indent="0">
              <a:buNone/>
            </a:pPr>
            <a:r>
              <a:rPr lang="en-US" dirty="0">
                <a:solidFill>
                  <a:srgbClr val="1C2733"/>
                </a:solidFill>
                <a:latin typeface="Aptos" pitchFamily="34" charset="0"/>
                <a:ea typeface="Aptos" pitchFamily="34" charset="-122"/>
                <a:cs typeface="Aptos" pitchFamily="34" charset="-120"/>
              </a:rPr>
              <a:t>Critical evaluation of AI outputs</a:t>
            </a:r>
            <a:endParaRPr lang="en-US" dirty="0"/>
          </a:p>
          <a:p>
            <a:pPr marL="0" indent="0">
              <a:buNone/>
            </a:pPr>
            <a:r>
              <a:rPr lang="en-US" dirty="0">
                <a:solidFill>
                  <a:srgbClr val="1C2733"/>
                </a:solidFill>
                <a:latin typeface="Aptos" pitchFamily="34" charset="0"/>
                <a:ea typeface="Aptos" pitchFamily="34" charset="-122"/>
                <a:cs typeface="Aptos" pitchFamily="34" charset="-120"/>
              </a:rPr>
              <a:t>Knowing when not to use AI</a:t>
            </a:r>
            <a:endParaRPr lang="en-US" dirty="0"/>
          </a:p>
        </p:txBody>
      </p:sp>
      <p:sp>
        <p:nvSpPr>
          <p:cNvPr id="10" name="Text 8"/>
          <p:cNvSpPr/>
          <p:nvPr/>
        </p:nvSpPr>
        <p:spPr>
          <a:xfrm>
            <a:off x="8321040" y="2483556"/>
            <a:ext cx="3017520" cy="2362764"/>
          </a:xfrm>
          <a:prstGeom prst="rect">
            <a:avLst/>
          </a:prstGeom>
          <a:solidFill>
            <a:srgbClr val="FFF4D6"/>
          </a:solidFill>
          <a:ln w="12700">
            <a:solidFill>
              <a:srgbClr val="D7DCE2"/>
            </a:solidFill>
          </a:ln>
        </p:spPr>
        <p:txBody>
          <a:bodyPr wrap="square" lIns="1778" tIns="1778" rIns="1778" bIns="1778" rtlCol="0" anchor="ctr">
            <a:normAutofit/>
          </a:bodyPr>
          <a:lstStyle/>
          <a:p>
            <a:pPr marL="0" indent="0">
              <a:buNone/>
            </a:pPr>
            <a:r>
              <a:rPr lang="en-US" sz="2000" b="1" dirty="0">
                <a:solidFill>
                  <a:srgbClr val="081E3F"/>
                </a:solidFill>
                <a:latin typeface="Aptos" pitchFamily="34" charset="0"/>
                <a:ea typeface="Aptos" pitchFamily="34" charset="-122"/>
                <a:cs typeface="Aptos" pitchFamily="34" charset="-120"/>
              </a:rPr>
              <a:t>NAIRR contribution</a:t>
            </a:r>
            <a:r>
              <a:rPr lang="en-US" b="1" dirty="0">
                <a:solidFill>
                  <a:srgbClr val="081E3F"/>
                </a:solidFill>
                <a:latin typeface="Aptos" pitchFamily="34" charset="0"/>
                <a:ea typeface="Aptos" pitchFamily="34" charset="-122"/>
                <a:cs typeface="Aptos" pitchFamily="34" charset="-120"/>
              </a:rPr>
              <a:t>
</a:t>
            </a:r>
            <a:r>
              <a:rPr lang="en-US" dirty="0">
                <a:solidFill>
                  <a:srgbClr val="1C2733"/>
                </a:solidFill>
                <a:latin typeface="Aptos" pitchFamily="34" charset="0"/>
                <a:ea typeface="Aptos" pitchFamily="34" charset="-122"/>
                <a:cs typeface="Aptos" pitchFamily="34" charset="-120"/>
              </a:rPr>
              <a:t>Classroom-ready strategies</a:t>
            </a:r>
            <a:endParaRPr lang="en-US" dirty="0"/>
          </a:p>
          <a:p>
            <a:pPr marL="0" indent="0">
              <a:buNone/>
            </a:pPr>
            <a:r>
              <a:rPr lang="en-US" dirty="0">
                <a:solidFill>
                  <a:srgbClr val="1C2733"/>
                </a:solidFill>
                <a:latin typeface="Aptos" pitchFamily="34" charset="0"/>
                <a:ea typeface="Aptos" pitchFamily="34" charset="-122"/>
                <a:cs typeface="Aptos" pitchFamily="34" charset="-120"/>
              </a:rPr>
              <a:t>Reusable curriculum practices</a:t>
            </a:r>
            <a:endParaRPr lang="en-US" dirty="0"/>
          </a:p>
          <a:p>
            <a:pPr marL="0" indent="0">
              <a:buNone/>
            </a:pPr>
            <a:r>
              <a:rPr lang="en-US" dirty="0">
                <a:solidFill>
                  <a:srgbClr val="1C2733"/>
                </a:solidFill>
                <a:latin typeface="Aptos" pitchFamily="34" charset="0"/>
                <a:ea typeface="Aptos" pitchFamily="34" charset="-122"/>
                <a:cs typeface="Aptos" pitchFamily="34" charset="-120"/>
              </a:rPr>
              <a:t>Community of practice for scalable AI education</a:t>
            </a:r>
            <a:endParaRPr lang="en-US" dirty="0"/>
          </a:p>
        </p:txBody>
      </p:sp>
      <p:sp>
        <p:nvSpPr>
          <p:cNvPr id="11" name="Text 9"/>
          <p:cNvSpPr/>
          <p:nvPr/>
        </p:nvSpPr>
        <p:spPr>
          <a:xfrm>
            <a:off x="1234440" y="5349240"/>
            <a:ext cx="9784080" cy="457200"/>
          </a:xfrm>
          <a:prstGeom prst="rect">
            <a:avLst/>
          </a:prstGeom>
          <a:noFill/>
          <a:ln/>
        </p:spPr>
        <p:txBody>
          <a:bodyPr wrap="square" lIns="0" tIns="0" rIns="0" bIns="0" rtlCol="0" anchor="ctr">
            <a:normAutofit/>
          </a:bodyPr>
          <a:lstStyle/>
          <a:p>
            <a:pPr marL="0" indent="0" algn="ctr">
              <a:buNone/>
            </a:pPr>
            <a:r>
              <a:rPr lang="en-US" sz="1900" b="1" dirty="0">
                <a:solidFill>
                  <a:srgbClr val="081E3F"/>
                </a:solidFill>
              </a:rPr>
              <a:t>Students learn to direct AI, verify AI, and remain accountable for the final work.</a:t>
            </a:r>
            <a:endParaRPr lang="en-US" sz="1900" dirty="0"/>
          </a:p>
        </p:txBody>
      </p:sp>
      <p:sp>
        <p:nvSpPr>
          <p:cNvPr id="12" name="Text 10"/>
          <p:cNvSpPr/>
          <p:nvPr/>
        </p:nvSpPr>
        <p:spPr>
          <a:xfrm>
            <a:off x="502920" y="6473952"/>
            <a:ext cx="6766560" cy="201168"/>
          </a:xfrm>
          <a:prstGeom prst="rect">
            <a:avLst/>
          </a:prstGeom>
          <a:noFill/>
          <a:ln/>
        </p:spPr>
        <p:txBody>
          <a:bodyPr wrap="square" lIns="0" tIns="0" rIns="0" bIns="0" rtlCol="0" anchor="ctr"/>
          <a:lstStyle/>
          <a:p>
            <a:pPr marL="0" indent="0">
              <a:buNone/>
            </a:pPr>
            <a:r>
              <a:rPr lang="en-US" sz="750" dirty="0">
                <a:solidFill>
                  <a:srgbClr val="586579"/>
                </a:solidFill>
                <a:latin typeface="Aptos" pitchFamily="34" charset="0"/>
                <a:ea typeface="Aptos" pitchFamily="34" charset="-122"/>
                <a:cs typeface="Aptos" pitchFamily="34" charset="-120"/>
              </a:rPr>
              <a:t>FIU KFSCIS · Structured GenAI Integration · NAIRR</a:t>
            </a:r>
            <a:endParaRPr lang="en-US" sz="750" dirty="0"/>
          </a:p>
        </p:txBody>
      </p:sp>
      <p:sp>
        <p:nvSpPr>
          <p:cNvPr id="13" name="Text 11"/>
          <p:cNvSpPr/>
          <p:nvPr/>
        </p:nvSpPr>
        <p:spPr>
          <a:xfrm>
            <a:off x="11292840" y="6446520"/>
            <a:ext cx="365760" cy="228600"/>
          </a:xfrm>
          <a:prstGeom prst="rect">
            <a:avLst/>
          </a:prstGeom>
          <a:noFill/>
          <a:ln/>
        </p:spPr>
        <p:txBody>
          <a:bodyPr wrap="square" lIns="0" tIns="0" rIns="0" bIns="0" rtlCol="0" anchor="ctr"/>
          <a:lstStyle/>
          <a:p>
            <a:pPr marL="0" indent="0" algn="r">
              <a:buNone/>
            </a:pPr>
            <a:r>
              <a:rPr lang="en-US" sz="800" dirty="0">
                <a:solidFill>
                  <a:srgbClr val="586579"/>
                </a:solidFill>
                <a:latin typeface="Aptos" pitchFamily="34" charset="0"/>
                <a:ea typeface="Aptos" pitchFamily="34" charset="-122"/>
                <a:cs typeface="Aptos" pitchFamily="34" charset="-120"/>
              </a:rPr>
              <a:t>15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81E3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E3F"/>
          </a:solidFill>
          <a:ln w="12700">
            <a:solidFill>
              <a:srgbClr val="081E3F">
                <a:alpha val="0"/>
              </a:srgbClr>
            </a:solidFill>
            <a:prstDash val="solid"/>
          </a:ln>
        </p:spPr>
        <p:txBody>
          <a:bodyPr/>
          <a:lstStyle/>
          <a:p>
            <a:endParaRPr lang="en-US"/>
          </a:p>
        </p:txBody>
      </p:sp>
      <p:sp>
        <p:nvSpPr>
          <p:cNvPr id="3" name="Shape 1"/>
          <p:cNvSpPr/>
          <p:nvPr/>
        </p:nvSpPr>
        <p:spPr>
          <a:xfrm>
            <a:off x="0" y="0"/>
            <a:ext cx="12191695" cy="109728"/>
          </a:xfrm>
          <a:prstGeom prst="rect">
            <a:avLst/>
          </a:prstGeom>
          <a:solidFill>
            <a:srgbClr val="B6862C"/>
          </a:solidFill>
          <a:ln w="12700">
            <a:solidFill>
              <a:srgbClr val="B6862C">
                <a:alpha val="0"/>
              </a:srgbClr>
            </a:solidFill>
            <a:prstDash val="solid"/>
          </a:ln>
        </p:spPr>
        <p:txBody>
          <a:bodyPr/>
          <a:lstStyle/>
          <a:p>
            <a:endParaRPr lang="en-US"/>
          </a:p>
        </p:txBody>
      </p:sp>
      <p:sp>
        <p:nvSpPr>
          <p:cNvPr id="4" name="Shape 2"/>
          <p:cNvSpPr/>
          <p:nvPr/>
        </p:nvSpPr>
        <p:spPr>
          <a:xfrm>
            <a:off x="10195560" y="219456"/>
            <a:ext cx="1600200" cy="1143000"/>
          </a:xfrm>
          <a:prstGeom prst="arc">
            <a:avLst/>
          </a:prstGeom>
          <a:solidFill>
            <a:srgbClr val="081E3F">
              <a:alpha val="0"/>
            </a:srgbClr>
          </a:solidFill>
          <a:ln w="19050">
            <a:solidFill>
              <a:srgbClr val="B6862C">
                <a:alpha val="18000"/>
              </a:srgbClr>
            </a:solidFill>
            <a:prstDash val="solid"/>
          </a:ln>
        </p:spPr>
        <p:txBody>
          <a:bodyPr/>
          <a:lstStyle/>
          <a:p>
            <a:endParaRPr lang="en-US"/>
          </a:p>
        </p:txBody>
      </p:sp>
      <p:sp>
        <p:nvSpPr>
          <p:cNvPr id="5" name="Shape 3"/>
          <p:cNvSpPr/>
          <p:nvPr/>
        </p:nvSpPr>
        <p:spPr>
          <a:xfrm>
            <a:off x="182880" y="5486400"/>
            <a:ext cx="960120" cy="841248"/>
          </a:xfrm>
          <a:prstGeom prst="arc">
            <a:avLst/>
          </a:prstGeom>
          <a:solidFill>
            <a:srgbClr val="081E3F">
              <a:alpha val="0"/>
            </a:srgbClr>
          </a:solidFill>
          <a:ln w="15240">
            <a:solidFill>
              <a:srgbClr val="B6862C">
                <a:alpha val="12000"/>
              </a:srgbClr>
            </a:solidFill>
            <a:prstDash val="solid"/>
          </a:ln>
        </p:spPr>
        <p:txBody>
          <a:bodyPr/>
          <a:lstStyle/>
          <a:p>
            <a:endParaRPr lang="en-US"/>
          </a:p>
        </p:txBody>
      </p:sp>
      <p:sp>
        <p:nvSpPr>
          <p:cNvPr id="6" name="Text 4"/>
          <p:cNvSpPr/>
          <p:nvPr/>
        </p:nvSpPr>
        <p:spPr>
          <a:xfrm>
            <a:off x="685800" y="685800"/>
            <a:ext cx="2468880" cy="457200"/>
          </a:xfrm>
          <a:prstGeom prst="rect">
            <a:avLst/>
          </a:prstGeom>
          <a:noFill/>
          <a:ln/>
        </p:spPr>
        <p:txBody>
          <a:bodyPr wrap="square" lIns="0" tIns="0" rIns="0" bIns="0" rtlCol="0" anchor="ctr"/>
          <a:lstStyle/>
          <a:p>
            <a:pPr marL="0" indent="0">
              <a:buNone/>
            </a:pPr>
            <a:r>
              <a:rPr lang="en-US" sz="2200" b="1" dirty="0">
                <a:solidFill>
                  <a:srgbClr val="B6862C"/>
                </a:solidFill>
              </a:rPr>
              <a:t>Takeaway</a:t>
            </a:r>
            <a:endParaRPr lang="en-US" sz="2200" dirty="0"/>
          </a:p>
        </p:txBody>
      </p:sp>
      <p:sp>
        <p:nvSpPr>
          <p:cNvPr id="7" name="Text 5"/>
          <p:cNvSpPr/>
          <p:nvPr/>
        </p:nvSpPr>
        <p:spPr>
          <a:xfrm>
            <a:off x="685800" y="1417320"/>
            <a:ext cx="10424160" cy="1143000"/>
          </a:xfrm>
          <a:prstGeom prst="rect">
            <a:avLst/>
          </a:prstGeom>
          <a:noFill/>
          <a:ln/>
        </p:spPr>
        <p:txBody>
          <a:bodyPr wrap="square" lIns="0" tIns="0" rIns="0" bIns="0" rtlCol="0" anchor="ctr">
            <a:normAutofit/>
          </a:bodyPr>
          <a:lstStyle/>
          <a:p>
            <a:pPr marL="0" indent="0">
              <a:buNone/>
            </a:pPr>
            <a:r>
              <a:rPr lang="en-US" sz="3500" b="1" dirty="0">
                <a:solidFill>
                  <a:srgbClr val="FFFFFF"/>
                </a:solidFill>
                <a:latin typeface="Aptos Display" pitchFamily="34" charset="0"/>
                <a:ea typeface="Aptos Display" pitchFamily="34" charset="-122"/>
                <a:cs typeface="Aptos Display" pitchFamily="34" charset="-120"/>
              </a:rPr>
              <a:t>Structured AI integration makes GenAI teachable, assessable, and scalable.</a:t>
            </a:r>
            <a:endParaRPr lang="en-US" sz="3500" dirty="0"/>
          </a:p>
        </p:txBody>
      </p:sp>
      <p:sp>
        <p:nvSpPr>
          <p:cNvPr id="8" name="Text 6"/>
          <p:cNvSpPr/>
          <p:nvPr/>
        </p:nvSpPr>
        <p:spPr>
          <a:xfrm>
            <a:off x="777240" y="3246120"/>
            <a:ext cx="3383280" cy="1280160"/>
          </a:xfrm>
          <a:prstGeom prst="rect">
            <a:avLst/>
          </a:prstGeom>
          <a:solidFill>
            <a:srgbClr val="12325F"/>
          </a:solidFill>
          <a:ln w="12700">
            <a:solidFill>
              <a:srgbClr val="B6862C"/>
            </a:solidFill>
          </a:ln>
        </p:spPr>
        <p:txBody>
          <a:bodyPr wrap="square" lIns="1778" tIns="1778" rIns="1778" bIns="1778" rtlCol="0" anchor="ctr">
            <a:normAutofit/>
          </a:bodyPr>
          <a:lstStyle/>
          <a:p>
            <a:pPr marL="0" indent="0">
              <a:buNone/>
            </a:pPr>
            <a:r>
              <a:rPr lang="en-US" sz="1350" b="1" dirty="0">
                <a:solidFill>
                  <a:srgbClr val="B6862C"/>
                </a:solidFill>
                <a:latin typeface="Aptos" pitchFamily="34" charset="0"/>
                <a:ea typeface="Aptos" pitchFamily="34" charset="-122"/>
                <a:cs typeface="Aptos" pitchFamily="34" charset="-120"/>
              </a:rPr>
              <a:t>1. Align AI use with learning intent
</a:t>
            </a:r>
            <a:r>
              <a:rPr lang="en-US" sz="1350" dirty="0">
                <a:solidFill>
                  <a:srgbClr val="FFFFFF"/>
                </a:solidFill>
                <a:latin typeface="Aptos" pitchFamily="34" charset="0"/>
                <a:ea typeface="Aptos" pitchFamily="34" charset="-122"/>
                <a:cs typeface="Aptos" pitchFamily="34" charset="-120"/>
              </a:rPr>
              <a:t>Free use for exploration; guided use for reflection; no AI for core mastery.</a:t>
            </a:r>
            <a:endParaRPr lang="en-US" sz="1350" dirty="0"/>
          </a:p>
        </p:txBody>
      </p:sp>
      <p:sp>
        <p:nvSpPr>
          <p:cNvPr id="9" name="Text 7"/>
          <p:cNvSpPr/>
          <p:nvPr/>
        </p:nvSpPr>
        <p:spPr>
          <a:xfrm>
            <a:off x="4434840" y="3246120"/>
            <a:ext cx="3383280" cy="1280160"/>
          </a:xfrm>
          <a:prstGeom prst="rect">
            <a:avLst/>
          </a:prstGeom>
          <a:solidFill>
            <a:srgbClr val="12325F"/>
          </a:solidFill>
          <a:ln w="12700">
            <a:solidFill>
              <a:srgbClr val="B6862C"/>
            </a:solidFill>
          </a:ln>
        </p:spPr>
        <p:txBody>
          <a:bodyPr wrap="square" lIns="1778" tIns="1778" rIns="1778" bIns="1778" rtlCol="0" anchor="ctr">
            <a:normAutofit/>
          </a:bodyPr>
          <a:lstStyle/>
          <a:p>
            <a:pPr marL="0" indent="0">
              <a:buNone/>
            </a:pPr>
            <a:r>
              <a:rPr lang="en-US" sz="1350" b="1" dirty="0">
                <a:solidFill>
                  <a:srgbClr val="B6862C"/>
                </a:solidFill>
                <a:latin typeface="Aptos" pitchFamily="34" charset="0"/>
                <a:ea typeface="Aptos" pitchFamily="34" charset="-122"/>
                <a:cs typeface="Aptos" pitchFamily="34" charset="-120"/>
              </a:rPr>
              <a:t>2. Teach AI as process, not shortcut
</a:t>
            </a:r>
            <a:r>
              <a:rPr lang="en-US" sz="1350" dirty="0">
                <a:solidFill>
                  <a:srgbClr val="FFFFFF"/>
                </a:solidFill>
                <a:latin typeface="Aptos" pitchFamily="34" charset="0"/>
                <a:ea typeface="Aptos" pitchFamily="34" charset="-122"/>
                <a:cs typeface="Aptos" pitchFamily="34" charset="-120"/>
              </a:rPr>
              <a:t>Clarify, decompose, contract, implement, verify, and document.</a:t>
            </a:r>
            <a:endParaRPr lang="en-US" sz="1350" dirty="0"/>
          </a:p>
        </p:txBody>
      </p:sp>
      <p:sp>
        <p:nvSpPr>
          <p:cNvPr id="10" name="Text 8"/>
          <p:cNvSpPr/>
          <p:nvPr/>
        </p:nvSpPr>
        <p:spPr>
          <a:xfrm>
            <a:off x="8092440" y="3246120"/>
            <a:ext cx="3383280" cy="1280160"/>
          </a:xfrm>
          <a:prstGeom prst="rect">
            <a:avLst/>
          </a:prstGeom>
          <a:solidFill>
            <a:srgbClr val="12325F"/>
          </a:solidFill>
          <a:ln w="12700">
            <a:solidFill>
              <a:srgbClr val="B6862C"/>
            </a:solidFill>
          </a:ln>
        </p:spPr>
        <p:txBody>
          <a:bodyPr wrap="square" lIns="1778" tIns="1778" rIns="1778" bIns="1778" rtlCol="0" anchor="ctr">
            <a:normAutofit/>
          </a:bodyPr>
          <a:lstStyle/>
          <a:p>
            <a:pPr marL="0" indent="0">
              <a:buNone/>
            </a:pPr>
            <a:r>
              <a:rPr lang="en-US" sz="1350" b="1" dirty="0">
                <a:solidFill>
                  <a:srgbClr val="B6862C"/>
                </a:solidFill>
                <a:latin typeface="Aptos" pitchFamily="34" charset="0"/>
                <a:ea typeface="Aptos" pitchFamily="34" charset="-122"/>
                <a:cs typeface="Aptos" pitchFamily="34" charset="-120"/>
              </a:rPr>
              <a:t>3. Scale with reusable routines
</a:t>
            </a:r>
            <a:r>
              <a:rPr lang="en-US" sz="1350" dirty="0">
                <a:solidFill>
                  <a:srgbClr val="FFFFFF"/>
                </a:solidFill>
                <a:latin typeface="Aptos" pitchFamily="34" charset="0"/>
                <a:ea typeface="Aptos" pitchFamily="34" charset="-122"/>
                <a:cs typeface="Aptos" pitchFamily="34" charset="-120"/>
              </a:rPr>
              <a:t>Modular practices can travel across courses and institutions.</a:t>
            </a:r>
            <a:endParaRPr lang="en-US" sz="1350" dirty="0"/>
          </a:p>
        </p:txBody>
      </p:sp>
      <p:sp>
        <p:nvSpPr>
          <p:cNvPr id="11" name="Text 9"/>
          <p:cNvSpPr/>
          <p:nvPr/>
        </p:nvSpPr>
        <p:spPr>
          <a:xfrm>
            <a:off x="4160520" y="5623560"/>
            <a:ext cx="3840480" cy="502920"/>
          </a:xfrm>
          <a:prstGeom prst="rect">
            <a:avLst/>
          </a:prstGeom>
          <a:noFill/>
          <a:ln/>
        </p:spPr>
        <p:txBody>
          <a:bodyPr wrap="square" lIns="0" tIns="0" rIns="0" bIns="0" rtlCol="0" anchor="ctr"/>
          <a:lstStyle/>
          <a:p>
            <a:pPr marL="0" indent="0" algn="ctr">
              <a:buNone/>
            </a:pPr>
            <a:r>
              <a:rPr lang="en-US" sz="2800" b="1" dirty="0">
                <a:solidFill>
                  <a:srgbClr val="B6862C"/>
                </a:solidFill>
              </a:rPr>
              <a:t>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9975</TotalTime>
  <Words>3257</Words>
  <Application>Microsoft Macintosh PowerPoint</Application>
  <PresentationFormat>Widescreen</PresentationFormat>
  <Paragraphs>305</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Florida International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Structured Integration of Generative AI to Scale AI Education in Computing Programs</dc:title>
  <dc:subject>Structured Integration of Generative AI to Scale AI Education in Computing Programs</dc:subject>
  <dc:creator>OpenAI</dc:creator>
  <cp:lastModifiedBy>Samira Zad</cp:lastModifiedBy>
  <cp:revision>3</cp:revision>
  <dcterms:created xsi:type="dcterms:W3CDTF">2026-06-10T19:29:07Z</dcterms:created>
  <dcterms:modified xsi:type="dcterms:W3CDTF">2026-06-17T18:39:35Z</dcterms:modified>
</cp:coreProperties>
</file>