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32"/>
  </p:notesMasterIdLst>
  <p:sldIdLst>
    <p:sldId id="289" r:id="rId5"/>
    <p:sldId id="290" r:id="rId6"/>
    <p:sldId id="291" r:id="rId7"/>
    <p:sldId id="292" r:id="rId8"/>
    <p:sldId id="293" r:id="rId9"/>
    <p:sldId id="294" r:id="rId10"/>
    <p:sldId id="262" r:id="rId11"/>
    <p:sldId id="295" r:id="rId12"/>
    <p:sldId id="296" r:id="rId13"/>
    <p:sldId id="297" r:id="rId14"/>
    <p:sldId id="298" r:id="rId15"/>
    <p:sldId id="267" r:id="rId16"/>
    <p:sldId id="268" r:id="rId17"/>
    <p:sldId id="269" r:id="rId18"/>
    <p:sldId id="270" r:id="rId19"/>
    <p:sldId id="271" r:id="rId20"/>
    <p:sldId id="272" r:id="rId21"/>
    <p:sldId id="301" r:id="rId22"/>
    <p:sldId id="302" r:id="rId23"/>
    <p:sldId id="303" r:id="rId24"/>
    <p:sldId id="304" r:id="rId25"/>
    <p:sldId id="305" r:id="rId26"/>
    <p:sldId id="306" r:id="rId27"/>
    <p:sldId id="279" r:id="rId28"/>
    <p:sldId id="280" r:id="rId29"/>
    <p:sldId id="307" r:id="rId30"/>
    <p:sldId id="30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22D592-3C95-44C4-8BCA-60324C5691A3}">
          <p14:sldIdLst>
            <p14:sldId id="289"/>
          </p14:sldIdLst>
        </p14:section>
        <p14:section name="The Pilot Launch- Alissa" id="{3DE4D4C3-A3E0-45FB-8F99-D57DB6D19B15}">
          <p14:sldIdLst>
            <p14:sldId id="290"/>
            <p14:sldId id="291"/>
            <p14:sldId id="292"/>
            <p14:sldId id="293"/>
            <p14:sldId id="294"/>
            <p14:sldId id="262"/>
            <p14:sldId id="295"/>
            <p14:sldId id="296"/>
            <p14:sldId id="297"/>
            <p14:sldId id="298"/>
            <p14:sldId id="267"/>
            <p14:sldId id="268"/>
            <p14:sldId id="269"/>
          </p14:sldIdLst>
        </p14:section>
        <p14:section name="Faculty Demand- Sam" id="{C08E8AE3-ECF9-4505-96FF-B60C178F3E3E}">
          <p14:sldIdLst>
            <p14:sldId id="270"/>
            <p14:sldId id="271"/>
            <p14:sldId id="272"/>
            <p14:sldId id="301"/>
            <p14:sldId id="302"/>
          </p14:sldIdLst>
        </p14:section>
        <p14:section name="The Institutional Response- Alexei" id="{DA87C909-E405-4333-9586-24484A1BEE44}">
          <p14:sldIdLst>
            <p14:sldId id="303"/>
            <p14:sldId id="304"/>
            <p14:sldId id="305"/>
            <p14:sldId id="306"/>
            <p14:sldId id="279"/>
            <p14:sldId id="280"/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6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7AC7C5F-1B00-EA76-1CA8-FD2096A1AB81}" name="Kolesnikov, Alexei" initials="AK" userId="S::akolesnikov@towson.edu::361f1071-a049-4a5a-83ac-2675c6b72e82" providerId="AD"/>
  <p188:author id="{59BFEC87-A16D-0C37-9AD9-DCD1BC3AAFFE}" name="Harrington, Alissa" initials="AH" userId="S::aharrington@towson.edu::a49c829e-5284-46e4-8a50-0979c5b3584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1D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862" autoAdjust="0"/>
  </p:normalViewPr>
  <p:slideViewPr>
    <p:cSldViewPr snapToGrid="0">
      <p:cViewPr varScale="1">
        <p:scale>
          <a:sx n="56" d="100"/>
          <a:sy n="56" d="100"/>
        </p:scale>
        <p:origin x="1044" y="48"/>
      </p:cViewPr>
      <p:guideLst>
        <p:guide orient="horz" pos="2160"/>
        <p:guide pos="56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lesnikov, Alexei" userId="361f1071-a049-4a5a-83ac-2675c6b72e82" providerId="ADAL" clId="{5D58BFE4-B675-4976-9B34-A45BC6B2C338}"/>
    <pc:docChg chg="custSel modSld">
      <pc:chgData name="Kolesnikov, Alexei" userId="361f1071-a049-4a5a-83ac-2675c6b72e82" providerId="ADAL" clId="{5D58BFE4-B675-4976-9B34-A45BC6B2C338}" dt="2026-06-18T15:54:52.703" v="66" actId="20577"/>
      <pc:docMkLst>
        <pc:docMk/>
      </pc:docMkLst>
      <pc:sldChg chg="modSp mod">
        <pc:chgData name="Kolesnikov, Alexei" userId="361f1071-a049-4a5a-83ac-2675c6b72e82" providerId="ADAL" clId="{5D58BFE4-B675-4976-9B34-A45BC6B2C338}" dt="2026-06-18T15:54:07.495" v="18" actId="20577"/>
        <pc:sldMkLst>
          <pc:docMk/>
          <pc:sldMk cId="0" sldId="291"/>
        </pc:sldMkLst>
        <pc:spChg chg="mod">
          <ac:chgData name="Kolesnikov, Alexei" userId="361f1071-a049-4a5a-83ac-2675c6b72e82" providerId="ADAL" clId="{5D58BFE4-B675-4976-9B34-A45BC6B2C338}" dt="2026-06-18T15:54:07.495" v="18" actId="20577"/>
          <ac:spMkLst>
            <pc:docMk/>
            <pc:sldMk cId="0" sldId="291"/>
            <ac:spMk id="9" creationId="{00000000-0000-0000-0000-000000000000}"/>
          </ac:spMkLst>
        </pc:spChg>
      </pc:sldChg>
      <pc:sldChg chg="modSp mod">
        <pc:chgData name="Kolesnikov, Alexei" userId="361f1071-a049-4a5a-83ac-2675c6b72e82" providerId="ADAL" clId="{5D58BFE4-B675-4976-9B34-A45BC6B2C338}" dt="2026-06-18T15:54:52.703" v="66" actId="20577"/>
        <pc:sldMkLst>
          <pc:docMk/>
          <pc:sldMk cId="0" sldId="308"/>
        </pc:sldMkLst>
        <pc:spChg chg="mod">
          <ac:chgData name="Kolesnikov, Alexei" userId="361f1071-a049-4a5a-83ac-2675c6b72e82" providerId="ADAL" clId="{5D58BFE4-B675-4976-9B34-A45BC6B2C338}" dt="2026-06-18T15:54:52.703" v="66" actId="20577"/>
          <ac:spMkLst>
            <pc:docMk/>
            <pc:sldMk cId="0" sldId="308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8F7AD-AB77-43BC-9188-C53E1420A16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D16EA-7204-4C2F-8827-CF752D138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3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Link to Padlet https://padlet.com/TUFACET/NAIRRPilot26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43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59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8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502920"/>
            <a:ext cx="2468880" cy="214884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4294967295"/>
          </p:nvPr>
        </p:nvSpPr>
        <p:spPr>
          <a:xfrm>
            <a:off x="822960" y="2103120"/>
            <a:ext cx="8686800" cy="20116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Faculty Ready.
</a:t>
            </a: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Institution Not.</a:t>
            </a:r>
            <a:endParaRPr kumimoji="0" lang="en-US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4297680"/>
            <a:ext cx="1280160" cy="109728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Alexei Kolesnikov · Samuel Collins · Alissa Harrington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Towson University, Maryland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NAIRR Pilot · Classroom Expansion Conferences — Research Emerging (Large)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QR code to Padlet. Visit https://padlet.com/TUFACET/NAIRRPilot26&#10;">
            <a:extLst>
              <a:ext uri="{FF2B5EF4-FFF2-40B4-BE49-F238E27FC236}">
                <a16:creationId xmlns:a16="http://schemas.microsoft.com/office/drawing/2014/main" id="{BA3CAB8B-18F6-B9F9-20CC-6303B01E7B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3824838"/>
            <a:ext cx="2405114" cy="24051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Our provost said: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822960" y="2834640"/>
            <a:ext cx="10058400" cy="12801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Get ChatGPT</a:t>
            </a:r>
            <a:r>
              <a:rPr kumimoji="0" lang="en-US" sz="7200" b="1" i="0" u="none" strike="noStrike" kern="1200" cap="none" spc="0" normalizeH="0" baseline="0" noProof="0">
                <a:ln>
                  <a:noFill/>
                </a:ln>
                <a:solidFill>
                  <a:srgbClr val="CC99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7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>
            <a:spLocks noGrp="1"/>
          </p:cNvSpPr>
          <p:nvPr>
            <p:ph type="title" idx="4294967295"/>
          </p:nvPr>
        </p:nvSpPr>
        <p:spPr>
          <a:xfrm>
            <a:off x="822960" y="914400"/>
            <a:ext cx="10698480" cy="914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AI pilot readiness</a:t>
            </a: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78992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PILOT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19456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2395728"/>
            <a:ext cx="374904" cy="3749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148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Competitive application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1920240" y="2651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applied </a:t>
            </a:r>
            <a:r>
              <a:rPr lang="en-US" sz="14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a seat in the ChatGPT EDU pilot.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33756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538728"/>
            <a:ext cx="374904" cy="3749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20240" y="3291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Faculty proposed real projects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920240" y="3794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Use cases came from faculty, not a mandate.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48056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4681728"/>
            <a:ext cx="374904" cy="3749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920240" y="4434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Clear goals for AI use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920240" y="4937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Each participant set concrete aims for the tool.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4294967295"/>
          </p:nvPr>
        </p:nvSpPr>
        <p:spPr>
          <a:xfrm>
            <a:off x="822960" y="1554480"/>
            <a:ext cx="7315200" cy="18288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Everything was
</a:t>
            </a: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CC99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86868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Community space launched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8680" y="4069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Faculty came together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4663440"/>
            <a:ext cx="1097280" cy="5486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4800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Momentum was 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CC99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2395728"/>
            <a:ext cx="640080" cy="109728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>
            <a:spLocks noGrp="1"/>
          </p:cNvSpPr>
          <p:nvPr>
            <p:ph type="title" idx="4294967295"/>
          </p:nvPr>
        </p:nvSpPr>
        <p:spPr>
          <a:xfrm>
            <a:off x="777240" y="3017520"/>
            <a:ext cx="7772400" cy="12801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And we waited…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4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WAIT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Procurement, access, and the gap between a tool and a working environment.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pic>
        <p:nvPicPr>
          <p:cNvPr id="8" name="Picture 7" descr="QR Code to Padlet: https://padlet.com/TUFACET/NAIRRPilot26&#10;">
            <a:extLst>
              <a:ext uri="{FF2B5EF4-FFF2-40B4-BE49-F238E27FC236}">
                <a16:creationId xmlns:a16="http://schemas.microsoft.com/office/drawing/2014/main" id="{CA201097-B1C2-96D5-E4F7-23B937AD7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639" y="2270459"/>
            <a:ext cx="2520616" cy="25206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WAIT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>
            <a:spLocks noGrp="1"/>
          </p:cNvSpPr>
          <p:nvPr>
            <p:ph type="title" idx="4294967295"/>
          </p:nvPr>
        </p:nvSpPr>
        <p:spPr>
          <a:xfrm>
            <a:off x="822960" y="914400"/>
            <a:ext cx="10698480" cy="914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Procurement process</a:t>
            </a: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1" descr="A simple line drawing diagram illustrating a tangled, looping path from &quot;start&quot; on the left to &quot;finish&quot; on the right. The black line visually represents a complex or confusing journey with numerous twists and overlaps before reaching the endpoint.&#10;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80160" y="1828800"/>
            <a:ext cx="9601200" cy="4297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From green-light to access: a long, nonlinear path.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pic>
        <p:nvPicPr>
          <p:cNvPr id="3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377440"/>
            <a:ext cx="1737360" cy="173736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3657600" y="2011680"/>
            <a:ext cx="6400800" cy="1371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>
                <a:ln>
                  <a:noFill/>
                </a:ln>
                <a:solidFill>
                  <a:srgbClr val="CC99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12+</a:t>
            </a:r>
            <a:endParaRPr kumimoji="0" lang="en-US" sz="9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3703320" y="33375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0" cap="none" spc="10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MONTHS</a:t>
            </a: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2"/>
          <p:cNvSpPr>
            <a:spLocks/>
          </p:cNvSpPr>
          <p:nvPr/>
        </p:nvSpPr>
        <p:spPr>
          <a:xfrm>
            <a:off x="3749040" y="4206240"/>
            <a:ext cx="6400800" cy="457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to access the tool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4294967295"/>
          </p:nvPr>
        </p:nvSpPr>
        <p:spPr>
          <a:xfrm>
            <a:off x="822960" y="2103120"/>
            <a:ext cx="6217920" cy="20116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Access was
</a:t>
            </a:r>
            <a:r>
              <a:rPr kumimoji="0" lang="en-US" sz="58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r>
              <a:rPr kumimoji="0" lang="en-US" sz="5800" b="1" i="0" u="none" strike="noStrike" kern="1200" cap="none" spc="0" normalizeH="0" baseline="0" noProof="0">
                <a:ln>
                  <a:noFill/>
                </a:ln>
                <a:solidFill>
                  <a:srgbClr val="CC99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5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5160" y="2148840"/>
            <a:ext cx="18288" cy="246888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7315200" y="2103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TOTAL LICENSES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3063240"/>
            <a:ext cx="3474720" cy="22860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0" y="3154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~200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FACULTY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3657600"/>
            <a:ext cx="3474720" cy="16459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~100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IT &amp; GRAD STUDENTS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1,000+ FACULTY ON CAMPUS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pic>
        <p:nvPicPr>
          <p:cNvPr id="3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737360"/>
            <a:ext cx="914400" cy="914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822960" y="2834640"/>
            <a:ext cx="10515600" cy="1645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Momentum lost
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before work begins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CC99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5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4709160"/>
            <a:ext cx="1828800" cy="73152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5576" y="251460"/>
            <a:ext cx="566928" cy="352044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REALITY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>
            <a:spLocks noGrp="1"/>
          </p:cNvSpPr>
          <p:nvPr>
            <p:ph type="title" idx="4294967295"/>
          </p:nvPr>
        </p:nvSpPr>
        <p:spPr>
          <a:xfrm>
            <a:off x="822960" y="914400"/>
            <a:ext cx="10698480" cy="914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Not the tool they were expecting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14813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It's a constrained version.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148840"/>
            <a:ext cx="4846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8992" y="2286000"/>
            <a:ext cx="4389120" cy="3474720"/>
          </a:xfrm>
          <a:prstGeom prst="rect">
            <a:avLst/>
          </a:prstGeom>
        </p:spPr>
      </p:pic>
      <p:sp>
        <p:nvSpPr>
          <p:cNvPr id="9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228600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9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092" y="2427732"/>
            <a:ext cx="283464" cy="2834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86600" y="22128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Limited sharing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3218688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9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092" y="3360420"/>
            <a:ext cx="283464" cy="2834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86600" y="314553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 integration into research workflows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415137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9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092" y="4293108"/>
            <a:ext cx="283464" cy="28346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86600" y="407822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 access to the broader ecosystem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5084064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9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1092" y="5225796"/>
            <a:ext cx="283464" cy="28346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086600" y="50109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 connectors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4294967295"/>
          </p:nvPr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tool is here.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But the ecosystem isn't.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4297680"/>
            <a:ext cx="1280160" cy="91440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WHAT WE SAW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>
            <a:spLocks noGrp="1"/>
          </p:cNvSpPr>
          <p:nvPr>
            <p:ph type="title" idx="4294967295"/>
          </p:nvPr>
        </p:nvSpPr>
        <p:spPr>
          <a:xfrm>
            <a:off x="822960" y="914400"/>
            <a:ext cx="10698480" cy="914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Low pilot-community engagement</a:t>
            </a: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6073" y="232029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17" y="2558034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94793" y="227457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CC99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~25%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3302998" y="225171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Engaged in discussions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6073" y="369189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17" y="3929634"/>
            <a:ext cx="438912" cy="438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94793" y="364617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CC99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~30%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/>
          <p:nvPr/>
        </p:nvSpPr>
        <p:spPr>
          <a:xfrm>
            <a:off x="3302998" y="362331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Submitted updates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Forum activity was quiet — which turned out to be the wrong place to look.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98890E-FC2F-212C-244B-FD5B31E43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7734" y="1763998"/>
            <a:ext cx="4980449" cy="41796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WHAT WE SAW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>
            <a:spLocks noGrp="1"/>
          </p:cNvSpPr>
          <p:nvPr>
            <p:ph type="title" idx="4294967295"/>
          </p:nvPr>
        </p:nvSpPr>
        <p:spPr>
          <a:xfrm>
            <a:off x="822960" y="914400"/>
            <a:ext cx="10698480" cy="914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Workspace data told a different story</a:t>
            </a: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28600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2478024"/>
            <a:ext cx="393192" cy="3931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22128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~200,000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187452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Interactions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52044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3712464"/>
            <a:ext cx="393192" cy="3931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74520" y="34472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87452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Structured projects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75488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4946904"/>
            <a:ext cx="393192" cy="3931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874520" y="46817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Active use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874520" y="5212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Across disciplines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822960" y="6309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TU ChatGPT EDU workspace analytics — community formed in the work, not the LMS.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FFD36B5-DA36-7348-8567-A9CA910A0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26" y="1330762"/>
            <a:ext cx="6835334" cy="455688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WHAT WE SAW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>
            <a:spLocks noGrp="1"/>
          </p:cNvSpPr>
          <p:nvPr>
            <p:ph type="title" idx="4294967295"/>
          </p:nvPr>
        </p:nvSpPr>
        <p:spPr>
          <a:xfrm>
            <a:off x="822960" y="914400"/>
            <a:ext cx="10698480" cy="914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impact survey confirmed it</a:t>
            </a: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651760"/>
            <a:ext cx="34290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651760"/>
            <a:ext cx="342900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29718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312724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749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43000" y="42519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Response rate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2651760"/>
            <a:ext cx="34290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2651760"/>
            <a:ext cx="342900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29718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31272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6320" y="3749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Teaching + research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846320" y="42519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Where faculty applied it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2651760"/>
            <a:ext cx="34290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2651760"/>
            <a:ext cx="342900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9640" y="29718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31272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49640" y="3749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Real outcomes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8549640" y="42519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Faculty reported concrete results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10267" y="0"/>
            <a:ext cx="4171108" cy="6858000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2395728"/>
            <a:ext cx="640080" cy="109728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560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4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FACULTY DEMAND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>
            <a:spLocks noGrp="1"/>
          </p:cNvSpPr>
          <p:nvPr>
            <p:ph type="title" idx="4294967295"/>
          </p:nvPr>
        </p:nvSpPr>
        <p:spPr>
          <a:xfrm>
            <a:off x="777240" y="3017520"/>
            <a:ext cx="7772400" cy="12801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Proposed projects in the arts, humanities &amp; social sciences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4526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Faculty have proposed AI-infused projects that imply real computational and infrastructural needs.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QR code to padlet: https://padlet.com/TUFACET/NAIRRPilot26&#10;">
            <a:extLst>
              <a:ext uri="{FF2B5EF4-FFF2-40B4-BE49-F238E27FC236}">
                <a16:creationId xmlns:a16="http://schemas.microsoft.com/office/drawing/2014/main" id="{76E1CD69-1772-CC80-DEC7-5BC1A0883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5513" y="2279984"/>
            <a:ext cx="2520616" cy="25206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FACULTY DEMAND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>
            <a:spLocks noGrp="1"/>
          </p:cNvSpPr>
          <p:nvPr>
            <p:ph type="title" idx="4294967295"/>
          </p:nvPr>
        </p:nvSpPr>
        <p:spPr>
          <a:xfrm>
            <a:off x="822960" y="914400"/>
            <a:ext cx="10698480" cy="914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Medieval Village Detection in Ireland</a:t>
            </a: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1600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Training AI on drone/aerial imagery to detect medieval village settlements, with crowdsourced validation through an app interface.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514600"/>
            <a:ext cx="3429000" cy="2743200"/>
          </a:xfrm>
          <a:prstGeom prst="rect">
            <a:avLst/>
          </a:prstGeom>
          <a:solidFill>
            <a:srgbClr val="F2EBDB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514600"/>
            <a:ext cx="342900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28346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29900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36118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Drone capture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143000" y="41148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5A504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Aerial field photography across candidate sites.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2514600"/>
            <a:ext cx="3429000" cy="2743200"/>
          </a:xfrm>
          <a:prstGeom prst="rect">
            <a:avLst/>
          </a:prstGeom>
          <a:solidFill>
            <a:srgbClr val="F2EBDB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2514600"/>
            <a:ext cx="342900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28346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29900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6320" y="36118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ML training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846320" y="41148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5A504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 model learns to detect settlement patterns.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2514600"/>
            <a:ext cx="3429000" cy="2743200"/>
          </a:xfrm>
          <a:prstGeom prst="rect">
            <a:avLst/>
          </a:prstGeom>
          <a:solidFill>
            <a:srgbClr val="F2EBDB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2514600"/>
            <a:ext cx="342900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9640" y="28346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299008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49640" y="36118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Crowdsource validation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549640" y="41148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5A504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Community verifies and labels findings.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FACULTY DEMAND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>
            <a:spLocks noGrp="1"/>
          </p:cNvSpPr>
          <p:nvPr>
            <p:ph type="title" idx="4294967295"/>
          </p:nvPr>
        </p:nvSpPr>
        <p:spPr>
          <a:xfrm>
            <a:off x="822960" y="914400"/>
            <a:ext cx="10698480" cy="914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Jazz Melody Recognition Archive</a:t>
            </a: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86800" y="960120"/>
            <a:ext cx="2651760" cy="3977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16002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 melody-recognition system over a large digital archive of jazz recordings — query-by-humming and motif search for scholars.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606040"/>
            <a:ext cx="2377440" cy="2743200"/>
          </a:xfrm>
          <a:prstGeom prst="rect">
            <a:avLst/>
          </a:prstGeom>
          <a:solidFill>
            <a:srgbClr val="F2EBDB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606040"/>
            <a:ext cx="237744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88036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301752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Melody extraction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097280" y="40233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A504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Pulling melodic lines from polyphonic, improvised recordings.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2606040"/>
            <a:ext cx="2377440" cy="2743200"/>
          </a:xfrm>
          <a:prstGeom prst="rect">
            <a:avLst/>
          </a:prstGeom>
          <a:solidFill>
            <a:srgbClr val="F2EBDB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2606040"/>
            <a:ext cx="237744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288036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301752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0332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Pattern matching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3703320" y="40233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A504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Query-by-humming and motif search across thousands of tracks.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2606040"/>
            <a:ext cx="2377440" cy="2743200"/>
          </a:xfrm>
          <a:prstGeom prst="rect">
            <a:avLst/>
          </a:prstGeom>
          <a:solidFill>
            <a:srgbClr val="F2EBDB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2606040"/>
            <a:ext cx="237744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288036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01752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30936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Scholarly access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6309360" y="40233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A504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Opening a closed archive to musicologists and the public.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FACULTY DEMAND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>
            <a:spLocks noGrp="1"/>
          </p:cNvSpPr>
          <p:nvPr>
            <p:ph type="title" idx="4294967295"/>
          </p:nvPr>
        </p:nvSpPr>
        <p:spPr>
          <a:xfrm>
            <a:off x="822960" y="914400"/>
            <a:ext cx="10698480" cy="914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Imperial-Era Japanese Archive</a:t>
            </a: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29600" y="800111"/>
            <a:ext cx="2823210" cy="15971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16002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Training OCR and handwritten-text-recognition (HTR) systems on an imperial-era Japanese archive.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743200"/>
            <a:ext cx="3429000" cy="2697480"/>
          </a:xfrm>
          <a:prstGeom prst="rect">
            <a:avLst/>
          </a:prstGeom>
          <a:solidFill>
            <a:srgbClr val="F2EBDB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743200"/>
            <a:ext cx="342900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30632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321868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3840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Script complexity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143000" y="43434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5A504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Classical kana, kanji variants, and mixed printed/handwritten documents that defeat standard OCR.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2743200"/>
            <a:ext cx="3429000" cy="2697480"/>
          </a:xfrm>
          <a:prstGeom prst="rect">
            <a:avLst/>
          </a:prstGeom>
          <a:solidFill>
            <a:srgbClr val="F2EBDB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2743200"/>
            <a:ext cx="342900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30632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218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46320" y="3840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4846320" y="43434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5A504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Custom HTR models fine-tuned on annotated archive samples.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2743200"/>
            <a:ext cx="3429000" cy="2697480"/>
          </a:xfrm>
          <a:prstGeom prst="rect">
            <a:avLst/>
          </a:prstGeom>
          <a:solidFill>
            <a:srgbClr val="F2EBDB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2743200"/>
            <a:ext cx="342900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9640" y="30632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088" y="3218688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549640" y="3840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Digital access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8549640" y="43434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5A504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Transcribed texts made searchable and linkable for new research.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FACULTY DEMAND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>
            <a:spLocks noGrp="1"/>
          </p:cNvSpPr>
          <p:nvPr>
            <p:ph type="title" idx="4294967295"/>
          </p:nvPr>
        </p:nvSpPr>
        <p:spPr>
          <a:xfrm>
            <a:off x="822960" y="914400"/>
            <a:ext cx="10698480" cy="914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Community-Designed Apps for Culture &amp; Environment</a:t>
            </a: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1600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Collaboratively designed apps built with communities, not just for them — with real back-end infrastructural support.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377440"/>
            <a:ext cx="3429000" cy="3657600"/>
          </a:xfrm>
          <a:prstGeom prst="rect">
            <a:avLst/>
          </a:prstGeom>
          <a:solidFill>
            <a:srgbClr val="F2EBDB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377440"/>
            <a:ext cx="342900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2688" y="2542032"/>
            <a:ext cx="3209544" cy="1417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41605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Historical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43000" y="466344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5A504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Map heritage sites, collect oral histories, connect communities with cultural legacy.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2377440"/>
            <a:ext cx="3429000" cy="3657600"/>
          </a:xfrm>
          <a:prstGeom prst="rect">
            <a:avLst/>
          </a:prstGeom>
          <a:solidFill>
            <a:srgbClr val="F2EBDB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2377440"/>
            <a:ext cx="342900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36008" y="2542032"/>
            <a:ext cx="3209544" cy="1417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0" y="41605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846320" y="466344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5A504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Pollution monitoring, tree-canopy and heat-island tracking across Baltimore.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2377440"/>
            <a:ext cx="3429000" cy="3657600"/>
          </a:xfrm>
          <a:prstGeom prst="rect">
            <a:avLst/>
          </a:prstGeom>
          <a:solidFill>
            <a:srgbClr val="F2EBDB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2377440"/>
            <a:ext cx="342900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39328" y="2542032"/>
            <a:ext cx="3209544" cy="1417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49640" y="41605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Cultural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8549640" y="466344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5A504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Documenting and enabling art interventions — murals and AR projects.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2395728"/>
            <a:ext cx="640080" cy="109728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560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4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INSTITUTIONAL RESPONSE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>
            <a:spLocks noGrp="1"/>
          </p:cNvSpPr>
          <p:nvPr>
            <p:ph type="title" idx="4294967295"/>
          </p:nvPr>
        </p:nvSpPr>
        <p:spPr>
          <a:xfrm>
            <a:off x="777240" y="3017520"/>
            <a:ext cx="7772400" cy="12801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Recognizing heterogeneity.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From a self-selected fifth to a coordinated, federated response.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pic>
        <p:nvPicPr>
          <p:cNvPr id="8" name="Picture 7" descr="QR code to padlet: https://padlet.com/TUFACET/NAIRRPilot26&#10;">
            <a:extLst>
              <a:ext uri="{FF2B5EF4-FFF2-40B4-BE49-F238E27FC236}">
                <a16:creationId xmlns:a16="http://schemas.microsoft.com/office/drawing/2014/main" id="{53AED1C7-FCE4-428E-2D56-E20BC12EF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6214" y="2279984"/>
            <a:ext cx="2520616" cy="25206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INSTITUTIONAL RESPONSE · DIAGNOSIS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>
            <a:spLocks noGrp="1"/>
          </p:cNvSpPr>
          <p:nvPr>
            <p:ph type="title" idx="4294967295"/>
          </p:nvPr>
        </p:nvSpPr>
        <p:spPr>
          <a:xfrm>
            <a:off x="822960" y="914400"/>
            <a:ext cx="10698480" cy="914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What you just saw is a self-selected fifth.</a:t>
            </a: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1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pilot's movers are there. The design problem is supporting them while engaging everyone else.</a:t>
            </a:r>
            <a:endParaRPr kumimoji="0" lang="en-US" sz="1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606040"/>
            <a:ext cx="5074920" cy="2788920"/>
          </a:xfrm>
          <a:prstGeom prst="rect">
            <a:avLst/>
          </a:prstGeom>
          <a:solidFill>
            <a:srgbClr val="F2EBDB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606040"/>
            <a:ext cx="507492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2898648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D4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08152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29968" y="289864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movers</a:t>
            </a: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188720" y="368503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CC99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~1/5 of faculty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188720" y="416052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5A504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Opted in. Experimenting across a widening range of tools.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5A504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What they need is room to run: fewer constraints, not more persuasion.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3640" y="2606040"/>
            <a:ext cx="5074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3640" y="2606040"/>
            <a:ext cx="5074920" cy="64008"/>
          </a:xfrm>
          <a:prstGeom prst="rect">
            <a:avLst/>
          </a:prstGeom>
          <a:solidFill>
            <a:srgbClr val="8A8A8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0" y="2898648"/>
            <a:ext cx="731520" cy="731520"/>
          </a:xfrm>
          <a:prstGeom prst="ellipse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08152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70648" y="289864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silent majority</a:t>
            </a: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6629400" y="36850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1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not on a maturity gradient, heterogeneous in kind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629400" y="4178808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Some haven't engaged yet.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Some have principled or labor-based reasons not to.</a:t>
            </a: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 legitimate position to answer, not convert.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 coordinated response has to hold both groups at once.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INSTITUTIONAL RESPONSE · THE MODEL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>
            <a:spLocks noGrp="1"/>
          </p:cNvSpPr>
          <p:nvPr>
            <p:ph type="title" idx="4294967295"/>
          </p:nvPr>
        </p:nvSpPr>
        <p:spPr>
          <a:xfrm>
            <a:off x="822960" y="914400"/>
            <a:ext cx="10789920" cy="10515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You can't impose one posture on a divided faculty. </a:t>
            </a: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CC99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 we federate.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19933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Each tier owns its own engagement with AI. The institute coordinates and resources, it does not mandate.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697480"/>
            <a:ext cx="10515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697480"/>
            <a:ext cx="91440" cy="78638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5568" y="2834640"/>
            <a:ext cx="512064" cy="512064"/>
          </a:xfrm>
          <a:prstGeom prst="ellipse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296265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74520" y="2697480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Faculty  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FACET AI Hub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537960" y="2743200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Community of practice. Pioneered faculty AI support since 2022.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4503084"/>
            <a:ext cx="10515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4503084"/>
            <a:ext cx="91440" cy="786384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5568" y="4640244"/>
            <a:ext cx="512064" cy="512064"/>
          </a:xfrm>
          <a:prstGeom prst="ellipse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584" y="4768260"/>
            <a:ext cx="256032" cy="256032"/>
          </a:xfrm>
          <a:prstGeom prst="rect">
            <a:avLst/>
          </a:prstGeom>
        </p:spPr>
      </p:pic>
      <p:sp>
        <p:nvSpPr>
          <p:cNvPr id="19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600282"/>
            <a:ext cx="10515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1874520" y="3600282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College-level  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Disciplinary integration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6537960" y="364600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Still emerging, and this will be a sizeable resource draw.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874520" y="4503084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Institutional  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Towson AI Institute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537960" y="4548804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Coordinates strategy, resources, partnerships across the three areas.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600282"/>
            <a:ext cx="91440" cy="786384"/>
          </a:xfrm>
          <a:prstGeom prst="rect">
            <a:avLst/>
          </a:prstGeom>
          <a:solidFill>
            <a:srgbClr val="8A8A8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5568" y="3737442"/>
            <a:ext cx="512064" cy="512064"/>
          </a:xfrm>
          <a:prstGeom prst="ellipse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584" y="3865458"/>
            <a:ext cx="256032" cy="256032"/>
          </a:xfrm>
          <a:prstGeom prst="rect">
            <a:avLst/>
          </a:prstGeom>
        </p:spPr>
      </p:pic>
      <p:sp>
        <p:nvSpPr>
          <p:cNvPr id="25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5405886"/>
            <a:ext cx="10515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5405886"/>
            <a:ext cx="91440" cy="786384"/>
          </a:xfrm>
          <a:prstGeom prst="rect">
            <a:avLst/>
          </a:prstGeom>
          <a:solidFill>
            <a:srgbClr val="151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5568" y="5543046"/>
            <a:ext cx="512064" cy="512064"/>
          </a:xfrm>
          <a:prstGeom prst="ellipse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3584" y="5671062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874520" y="5405886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Network  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National alliances · NAIRR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6537960" y="5451606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Where the top tier reaches outward. (Next: the NAIRR ask.)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2395728"/>
            <a:ext cx="640080" cy="109728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560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4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NAIRR LAYER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>
            <a:spLocks noGrp="1"/>
          </p:cNvSpPr>
          <p:nvPr>
            <p:ph type="title" idx="4294967295"/>
          </p:nvPr>
        </p:nvSpPr>
        <p:spPr>
          <a:xfrm>
            <a:off x="777240" y="3017520"/>
            <a:ext cx="7772400" cy="12801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What we would ask of a shared national resource.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compute is real. Getting faculty to it is an open problem.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NAIRR LAYER · DIAGNOSIS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>
            <a:spLocks noGrp="1"/>
          </p:cNvSpPr>
          <p:nvPr>
            <p:ph type="title" idx="4294967295"/>
          </p:nvPr>
        </p:nvSpPr>
        <p:spPr>
          <a:xfrm>
            <a:off x="822960" y="914400"/>
            <a:ext cx="10698480" cy="914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intake is a capacity filter.</a:t>
            </a: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9264" y="4873019"/>
            <a:ext cx="4675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1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Four of the six scored review criteria reward capacity an institution must already have.</a:t>
            </a:r>
            <a:endParaRPr kumimoji="0" lang="en-US" sz="1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4768" y="2395391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2596559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9264" y="1985435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WHO WINS IN MARYLAND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969264" y="2345466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2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r>
              <a:rPr kumimoji="0" lang="en-US" sz="62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kumimoji="0" lang="en-US" sz="6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969264" y="3256253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Maryland NAIRR allocations went to the state's four R1 / very-high-research institutions.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969264" y="3827615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only two exceptions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— Morgan State and St. Mary's College — came via the lighter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Start-Up and Classroom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tracks, never the main research call.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6803136" y="2468543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Feasibility of the technical approach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803136" y="2779439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presumes someone who can scope a compute job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4768" y="3254927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3456095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03136" y="3328079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Need for the computing resources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803136" y="3638975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presumes a sized, justified request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4768" y="4114463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4315631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03136" y="4187615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Knowledge &amp; experience of the team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803136" y="4498511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presumes a prior AI-research track record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4768" y="4973999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5175167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03136" y="5047151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Estimated resource requirements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6803136" y="5358047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presumes GPU-hour / node-hour estimation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Source: NAIRR Pilot public allocations list (708 awarded projects), as of June 2026. PI-institution count; directional, not a controlled comparison.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NAIRR LAYER · WHAT WOULD HELP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>
            <a:spLocks noGrp="1"/>
          </p:cNvSpPr>
          <p:nvPr>
            <p:ph type="title" idx="4294967295"/>
          </p:nvPr>
        </p:nvSpPr>
        <p:spPr>
          <a:xfrm>
            <a:off x="822960" y="914400"/>
            <a:ext cx="10698480" cy="8229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Don't teach the tool. </a:t>
            </a:r>
            <a:r>
              <a:rPr kumimoji="0" lang="en-US" sz="34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Match the problem.</a:t>
            </a: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17830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1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way in today rewards people who already know what to ask for. Our faculty come with a problem first.</a:t>
            </a:r>
            <a:endParaRPr kumimoji="0" lang="en-US" sz="1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834640"/>
            <a:ext cx="5074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834640"/>
            <a:ext cx="507492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3154680"/>
            <a:ext cx="640080" cy="640080"/>
          </a:xfrm>
          <a:prstGeom prst="ellipse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33101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31546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How it works now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188720" y="402336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Capable resources, reachable by researchers sophisticated enough to map their own work onto them.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3640" y="2834640"/>
            <a:ext cx="5074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3640" y="2834640"/>
            <a:ext cx="5074920" cy="64008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0" y="3154680"/>
            <a:ext cx="640080" cy="640080"/>
          </a:xfrm>
          <a:prstGeom prst="ellipse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33101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06640" y="31546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What faculty actually need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629400" y="402336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Someone who takes the problem they walk in with </a:t>
            </a:r>
          </a:p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and finds whether a resource fits.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502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NAIRR LAYER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>
            <a:spLocks noGrp="1"/>
          </p:cNvSpPr>
          <p:nvPr>
            <p:ph type="title" idx="4294967295"/>
          </p:nvPr>
        </p:nvSpPr>
        <p:spPr>
          <a:xfrm>
            <a:off x="822960" y="1097280"/>
            <a:ext cx="10607040" cy="15544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resources are there.
</a:t>
            </a: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access, not yet.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NAIRR has the compute. We are missing the help that turns a faculty member's problem into something that matches the capacity. This has to happen close to the faculty.</a:t>
            </a:r>
            <a:endParaRPr kumimoji="0" lang="en-US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31521" y="3779124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622961" y="377912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Faculty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level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31521" y="4998325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39640" y="4297680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622961" y="4998325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College level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(emerging)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31080" y="42976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Institutional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(AI Institute)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39199" y="4297680"/>
            <a:ext cx="2468880" cy="868680"/>
          </a:xfrm>
          <a:prstGeom prst="rect">
            <a:avLst/>
          </a:prstGeom>
          <a:solidFill>
            <a:srgbClr val="CC9900"/>
          </a:solidFill>
          <a:ln w="12700">
            <a:solidFill>
              <a:srgbClr val="CC9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130639" y="42976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(NAIRR · CAA)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2395728"/>
            <a:ext cx="640080" cy="109728"/>
          </a:xfrm>
          <a:prstGeom prst="rect">
            <a:avLst/>
          </a:prstGeom>
          <a:solidFill>
            <a:srgbClr val="CC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560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40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LOOKING FORWARD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>
            <a:spLocks noGrp="1"/>
          </p:cNvSpPr>
          <p:nvPr>
            <p:ph type="title" idx="4294967295"/>
          </p:nvPr>
        </p:nvSpPr>
        <p:spPr>
          <a:xfrm>
            <a:off x="777240" y="3017520"/>
            <a:ext cx="7772400" cy="12801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151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Where this goes next.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74320"/>
            <a:ext cx="566928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Discussion: We started with our story, let’s hear yours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QR code to padlet: https://padlet.com/TUFACET/NAIRRPilot26&#10;">
            <a:extLst>
              <a:ext uri="{FF2B5EF4-FFF2-40B4-BE49-F238E27FC236}">
                <a16:creationId xmlns:a16="http://schemas.microsoft.com/office/drawing/2014/main" id="{FE050B88-8875-BCFF-E3D8-589BC15CA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19" y="2018852"/>
            <a:ext cx="2377441" cy="23774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8095e89-a308-450c-8815-3791809b90a8">
      <Terms xmlns="http://schemas.microsoft.com/office/infopath/2007/PartnerControls"/>
    </lcf76f155ced4ddcb4097134ff3c332f>
    <TaxCatchAll xmlns="d6b5cbbd-f22e-4b64-8294-ec5ae69ced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1738E499B61D49B14BB787D397DF68" ma:contentTypeVersion="11" ma:contentTypeDescription="Create a new document." ma:contentTypeScope="" ma:versionID="9e1e29acb2fc6a8c261a05cd7483d58a">
  <xsd:schema xmlns:xsd="http://www.w3.org/2001/XMLSchema" xmlns:xs="http://www.w3.org/2001/XMLSchema" xmlns:p="http://schemas.microsoft.com/office/2006/metadata/properties" xmlns:ns2="38095e89-a308-450c-8815-3791809b90a8" xmlns:ns3="d6b5cbbd-f22e-4b64-8294-ec5ae69ced8b" targetNamespace="http://schemas.microsoft.com/office/2006/metadata/properties" ma:root="true" ma:fieldsID="7fade67d840de1e913936f54547e5fb1" ns2:_="" ns3:_="">
    <xsd:import namespace="38095e89-a308-450c-8815-3791809b90a8"/>
    <xsd:import namespace="d6b5cbbd-f22e-4b64-8294-ec5ae69ced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095e89-a308-450c-8815-3791809b90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32b07bb-fd7d-413e-8714-e6af48a485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b5cbbd-f22e-4b64-8294-ec5ae69ced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d80c4ed-ea85-4709-a4cc-b6420ff34631}" ma:internalName="TaxCatchAll" ma:showField="CatchAllData" ma:web="d6b5cbbd-f22e-4b64-8294-ec5ae69ced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BD959C-FB7C-4028-9958-C841FED0E4DD}">
  <ds:schemaRefs>
    <ds:schemaRef ds:uri="http://schemas.microsoft.com/office/2006/metadata/properties"/>
    <ds:schemaRef ds:uri="http://schemas.microsoft.com/office/infopath/2007/PartnerControls"/>
    <ds:schemaRef ds:uri="38095e89-a308-450c-8815-3791809b90a8"/>
    <ds:schemaRef ds:uri="d6b5cbbd-f22e-4b64-8294-ec5ae69ced8b"/>
  </ds:schemaRefs>
</ds:datastoreItem>
</file>

<file path=customXml/itemProps2.xml><?xml version="1.0" encoding="utf-8"?>
<ds:datastoreItem xmlns:ds="http://schemas.openxmlformats.org/officeDocument/2006/customXml" ds:itemID="{99D03BA6-F06C-4796-8F66-98FB021903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095e89-a308-450c-8815-3791809b90a8"/>
    <ds:schemaRef ds:uri="d6b5cbbd-f22e-4b64-8294-ec5ae69ced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87BBE0-7689-4F63-BF75-032FFCB6F6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1170</Words>
  <Application>Microsoft Office PowerPoint</Application>
  <PresentationFormat>Widescreen</PresentationFormat>
  <Paragraphs>203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Arial</vt:lpstr>
      <vt:lpstr>Calibri</vt:lpstr>
      <vt:lpstr>1_Office Theme</vt:lpstr>
      <vt:lpstr>Faculty Ready.
Institution Not.</vt:lpstr>
      <vt:lpstr>Get ChatGPT.</vt:lpstr>
      <vt:lpstr>AI pilot readiness</vt:lpstr>
      <vt:lpstr>Everything was
Ready.</vt:lpstr>
      <vt:lpstr>And we waited…</vt:lpstr>
      <vt:lpstr>Procurement process</vt:lpstr>
      <vt:lpstr>12+</vt:lpstr>
      <vt:lpstr>Access was
Limited.</vt:lpstr>
      <vt:lpstr>Momentum lost
before work begins.</vt:lpstr>
      <vt:lpstr>Not the tool they were expecting</vt:lpstr>
      <vt:lpstr>The tool is here. But the ecosystem isn't.</vt:lpstr>
      <vt:lpstr>Low pilot-community engagement</vt:lpstr>
      <vt:lpstr>Workspace data told a different story</vt:lpstr>
      <vt:lpstr>The impact survey confirmed it</vt:lpstr>
      <vt:lpstr>Proposed projects in the arts, humanities &amp; social sciences</vt:lpstr>
      <vt:lpstr>Medieval Village Detection in Ireland</vt:lpstr>
      <vt:lpstr>Jazz Melody Recognition Archive</vt:lpstr>
      <vt:lpstr>Imperial-Era Japanese Archive</vt:lpstr>
      <vt:lpstr>Community-Designed Apps for Culture &amp; Environment</vt:lpstr>
      <vt:lpstr>Recognizing heterogeneity.</vt:lpstr>
      <vt:lpstr>What you just saw is a self-selected fifth.</vt:lpstr>
      <vt:lpstr>You can't impose one posture on a divided faculty. So we federate.</vt:lpstr>
      <vt:lpstr>What we would ask of a shared national resource.</vt:lpstr>
      <vt:lpstr>The intake is a capacity filter.</vt:lpstr>
      <vt:lpstr>Don't teach the tool. Match the problem.</vt:lpstr>
      <vt:lpstr>The resources are there.
The access, not yet.</vt:lpstr>
      <vt:lpstr>Where this goes next.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Kolesnikov, Alexei</cp:lastModifiedBy>
  <cp:revision>5</cp:revision>
  <dcterms:created xsi:type="dcterms:W3CDTF">2026-04-24T20:17:34Z</dcterms:created>
  <dcterms:modified xsi:type="dcterms:W3CDTF">2026-06-18T15:54:56Z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0x0101005C1738E499B61D49B14BB787D397DF68</vt:lpwstr>
  </property>
</Properties>
</file>