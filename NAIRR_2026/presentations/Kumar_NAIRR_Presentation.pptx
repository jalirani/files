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y="6858000" cx="12192000"/>
  <p:notesSz cx="6858000" cy="9144000"/>
  <p:embeddedFontLst>
    <p:embeddedFont>
      <p:font typeface="Helvetica Neue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21" Type="http://schemas.openxmlformats.org/officeDocument/2006/relationships/font" Target="fonts/HelveticaNeue-bold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2.xml"/><Relationship Id="rId19" Type="http://schemas.openxmlformats.org/officeDocument/2006/relationships/font" Target="fonts/HelveticaNeue-bold.fntdata"/><Relationship Id="rId6" Type="http://schemas.openxmlformats.org/officeDocument/2006/relationships/slideMaster" Target="slideMasters/slideMaster3.xml"/><Relationship Id="rId18" Type="http://schemas.openxmlformats.org/officeDocument/2006/relationships/font" Target="fonts/HelveticaNeue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" name="Google Shape;7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d8d62bb90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ed8d62bb90_1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d8d62bb90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ed8d62bb90_1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d8d62bb90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ed8d62bb90_1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d8d62bb90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ed8d62bb90_1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d8d62bb90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ed8d62bb90_1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d8d62bb90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ed8d62bb90_1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d8d62bb90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ed8d62bb90_1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1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1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rgbClr val="1E22AA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0050612" cy="581073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RA PPT_Cover.png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-10027"/>
            <a:ext cx="12192000" cy="68680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RA PPT_Cover.png" id="13" name="Google Shape;1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68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17445" y="937933"/>
            <a:ext cx="9119325" cy="2918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Logo - Blank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609600" y="488058"/>
            <a:ext cx="8790878" cy="690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Logo comparison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b="0" i="1" sz="2800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" name="Google Shape;19;p4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»"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0" name="Google Shape;20;p4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b="0" i="1" sz="2800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1" name="Google Shape;21;p4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b="0" i="0" sz="2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b="0" i="0" sz="1800"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b="0" i="0" sz="1800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b="0" i="0" sz="1800"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»"/>
              <a:defRPr b="0" i="0" sz="1800"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609600" y="488058"/>
            <a:ext cx="8772939" cy="690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1_Title Slide">
    <p:bg>
      <p:bgPr>
        <a:solidFill>
          <a:srgbClr val="1E22AA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0"/>
            <a:ext cx="10050612" cy="581073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RA PPT_Cover.png" id="25" name="Google Shape;2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0027"/>
            <a:ext cx="12192000" cy="6868027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5"/>
          <p:cNvSpPr txBox="1"/>
          <p:nvPr>
            <p:ph idx="1" type="subTitle"/>
          </p:nvPr>
        </p:nvSpPr>
        <p:spPr>
          <a:xfrm>
            <a:off x="1809987" y="2384888"/>
            <a:ext cx="4835252" cy="5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i="1" sz="2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type="ctrTitle"/>
          </p:nvPr>
        </p:nvSpPr>
        <p:spPr>
          <a:xfrm>
            <a:off x="2285656" y="1649631"/>
            <a:ext cx="3883913" cy="849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A blue square with a white logo&#10;&#10;Description automatically generated" id="28" name="Google Shape;2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0220" y="2935063"/>
            <a:ext cx="2181773" cy="10908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square with a white letter f on it&#10;&#10;Description automatically generated" id="29" name="Google Shape;2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19289" y="3590677"/>
            <a:ext cx="2181773" cy="10908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square with white letters on it&#10;&#10;Description automatically generated" id="30" name="Google Shape;3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8898" y="2905368"/>
            <a:ext cx="2181773" cy="10908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white butterfly in a blue circle&#10;&#10;AI-generated content may be incorrect." id="31" name="Google Shape;31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43617" y="3605589"/>
            <a:ext cx="2201828" cy="11009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-up of a logo&#10;&#10;AI-generated content may be incorrect." id="32" name="Google Shape;32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98170" y="-54312"/>
            <a:ext cx="5494550" cy="1758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1_Title Slide 2">
    <p:bg>
      <p:bgPr>
        <a:solidFill>
          <a:srgbClr val="1E22AA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/>
        </p:nvSpPr>
        <p:spPr>
          <a:xfrm>
            <a:off x="0" y="0"/>
            <a:ext cx="10050612" cy="581073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RA PPT_Cover.png" id="35" name="Google Shape;3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-10027"/>
            <a:ext cx="12192000" cy="68680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RA PPT_Cover.png" id="36" name="Google Shape;36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68027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6"/>
          <p:cNvSpPr txBox="1"/>
          <p:nvPr>
            <p:ph idx="1" type="subTitle"/>
          </p:nvPr>
        </p:nvSpPr>
        <p:spPr>
          <a:xfrm>
            <a:off x="391043" y="3268046"/>
            <a:ext cx="7153509" cy="849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1" sz="3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type="ctrTitle"/>
          </p:nvPr>
        </p:nvSpPr>
        <p:spPr>
          <a:xfrm>
            <a:off x="391043" y="1810748"/>
            <a:ext cx="8187179" cy="849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b="1" i="0" sz="3600" cap="none">
                <a:solidFill>
                  <a:srgbClr val="213E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9" name="Google Shape;39;p6"/>
          <p:cNvPicPr preferRelativeResize="0"/>
          <p:nvPr/>
        </p:nvPicPr>
        <p:blipFill rotWithShape="1">
          <a:blip r:embed="rId3">
            <a:alphaModFix/>
          </a:blip>
          <a:srcRect b="0" l="6397" r="6397" t="0"/>
          <a:stretch/>
        </p:blipFill>
        <p:spPr>
          <a:xfrm>
            <a:off x="138898" y="249444"/>
            <a:ext cx="5705750" cy="849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1_Section Header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hite background with black dots&#10;&#10;Description automatically generated" id="41" name="Google Shape;4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 txBox="1"/>
          <p:nvPr>
            <p:ph type="title"/>
          </p:nvPr>
        </p:nvSpPr>
        <p:spPr>
          <a:xfrm>
            <a:off x="609600" y="383886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625475" y="1301750"/>
            <a:ext cx="9521825" cy="477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3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»"/>
              <a:defRPr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1_Section Header 2">
    <p:bg>
      <p:bgPr>
        <a:solidFill>
          <a:schemeClr val="lt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hite background with black dots&#10;&#10;Description automatically generated" id="45" name="Google Shape;4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8"/>
          <p:cNvSpPr txBox="1"/>
          <p:nvPr>
            <p:ph type="title"/>
          </p:nvPr>
        </p:nvSpPr>
        <p:spPr>
          <a:xfrm>
            <a:off x="963084" y="3216047"/>
            <a:ext cx="10363200" cy="7844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1" i="0" sz="3600" cap="none">
                <a:solidFill>
                  <a:srgbClr val="213E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1_Section Header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hite background with black dots&#10;&#10;Description automatically generated" id="53" name="Google Shape;5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0"/>
          <p:cNvSpPr txBox="1"/>
          <p:nvPr>
            <p:ph type="title"/>
          </p:nvPr>
        </p:nvSpPr>
        <p:spPr>
          <a:xfrm>
            <a:off x="609600" y="383886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625475" y="1301750"/>
            <a:ext cx="9521825" cy="477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3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»"/>
              <a:defRPr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1_Section Header 2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hite background with black dots&#10;&#10;Description automatically generated" id="57" name="Google Shape;5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1"/>
          <p:cNvSpPr txBox="1"/>
          <p:nvPr>
            <p:ph type="title"/>
          </p:nvPr>
        </p:nvSpPr>
        <p:spPr>
          <a:xfrm>
            <a:off x="963084" y="3216047"/>
            <a:ext cx="10363200" cy="7844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1" i="0" sz="3600" cap="none">
                <a:solidFill>
                  <a:srgbClr val="213E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No logo - Empt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title"/>
          </p:nvPr>
        </p:nvSpPr>
        <p:spPr>
          <a:xfrm>
            <a:off x="609600" y="488058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No logo - Two tables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b="0" i="1" sz="2800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7" name="Google Shape;67;p14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»"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8" name="Google Shape;68;p14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b="0" i="1" sz="2800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9" name="Google Shape;69;p14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b="0" i="0" sz="2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b="0" i="0" sz="1800"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b="0" i="0" sz="1800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b="0" i="0" sz="1800"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»"/>
              <a:defRPr b="0" i="0" sz="1800"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70" name="Google Shape;70;p14"/>
          <p:cNvSpPr txBox="1"/>
          <p:nvPr>
            <p:ph type="title"/>
          </p:nvPr>
        </p:nvSpPr>
        <p:spPr>
          <a:xfrm>
            <a:off x="609600" y="488058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10" Type="http://schemas.openxmlformats.org/officeDocument/2006/relationships/theme" Target="../theme/theme4.xml"/><Relationship Id="rId9" Type="http://schemas.openxmlformats.org/officeDocument/2006/relationships/slideLayout" Target="../slideLayouts/slideLayout7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theme" Target="../theme/theme3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A PPT_page bars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7785" y="-20484"/>
            <a:ext cx="12229655" cy="689642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609600" y="383886"/>
            <a:ext cx="8395252" cy="690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1E22A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04853" y="131433"/>
            <a:ext cx="3289850" cy="105275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A PPT_page bars.png" id="48" name="Google Shape;48;p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7785" y="-20484"/>
            <a:ext cx="12229655" cy="6896422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9"/>
          <p:cNvSpPr txBox="1"/>
          <p:nvPr>
            <p:ph type="title"/>
          </p:nvPr>
        </p:nvSpPr>
        <p:spPr>
          <a:xfrm>
            <a:off x="609600" y="383886"/>
            <a:ext cx="8395252" cy="690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1E22A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9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51" name="Google Shape;51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04853" y="131433"/>
            <a:ext cx="3289850" cy="105275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3"/>
    <p:sldLayoutId id="2147483656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A PPT_page bars.png" id="60" name="Google Shape;60;p1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7785" y="-20484"/>
            <a:ext cx="12229655" cy="6896422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2"/>
          <p:cNvSpPr txBox="1"/>
          <p:nvPr>
            <p:ph type="title"/>
          </p:nvPr>
        </p:nvSpPr>
        <p:spPr>
          <a:xfrm>
            <a:off x="609600" y="383886"/>
            <a:ext cx="10972800" cy="690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1E22A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12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2"/>
    <p:sldLayoutId id="2147483658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hyperlink" Target="mailto:venkataramani.kumar@upr.edu" TargetMode="External"/><Relationship Id="rId4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hyperlink" Target="mailto:venkataramani.kumar@upr.edu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15"/>
          <p:cNvGrpSpPr/>
          <p:nvPr/>
        </p:nvGrpSpPr>
        <p:grpSpPr>
          <a:xfrm>
            <a:off x="285525" y="618775"/>
            <a:ext cx="7842475" cy="3254925"/>
            <a:chOff x="837550" y="656850"/>
            <a:chExt cx="7842475" cy="3254925"/>
          </a:xfrm>
        </p:grpSpPr>
        <p:sp>
          <p:nvSpPr>
            <p:cNvPr id="76" name="Google Shape;76;p15"/>
            <p:cNvSpPr/>
            <p:nvPr/>
          </p:nvSpPr>
          <p:spPr>
            <a:xfrm>
              <a:off x="837550" y="685275"/>
              <a:ext cx="7766400" cy="3226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7" name="Google Shape;77;p15" title="NAIRR Expansion Conference_RE lg.png"/>
            <p:cNvPicPr preferRelativeResize="0"/>
            <p:nvPr/>
          </p:nvPicPr>
          <p:blipFill rotWithShape="1">
            <a:blip r:embed="rId3">
              <a:alphaModFix/>
            </a:blip>
            <a:srcRect b="0" l="8083" r="7185" t="0"/>
            <a:stretch/>
          </p:blipFill>
          <p:spPr>
            <a:xfrm>
              <a:off x="894650" y="656850"/>
              <a:ext cx="7785375" cy="321682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223650" y="383825"/>
            <a:ext cx="10671900" cy="16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</a:pPr>
            <a:r>
              <a:rPr b="0" lang="en-US" sz="40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Designing AI-Integrated Assignments That Still Assess Learning</a:t>
            </a:r>
            <a:endParaRPr sz="40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 txBox="1"/>
          <p:nvPr>
            <p:ph type="title"/>
          </p:nvPr>
        </p:nvSpPr>
        <p:spPr>
          <a:xfrm>
            <a:off x="505675" y="2835225"/>
            <a:ext cx="106719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</a:pPr>
            <a:r>
              <a:t/>
            </a:r>
            <a:endParaRPr b="0"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</a:pPr>
            <a:r>
              <a:t/>
            </a:r>
            <a:endParaRPr b="0"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</a:pPr>
            <a:r>
              <a:rPr b="0" lang="en-US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Dr. Venkataramani Kumar</a:t>
            </a:r>
            <a:endParaRPr b="0"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</a:pPr>
            <a:r>
              <a:rPr b="0" lang="en-US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Assistant Professor (Tenure-track)</a:t>
            </a:r>
            <a:endParaRPr b="0"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</a:pPr>
            <a:r>
              <a:rPr b="0" lang="en-US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b="0"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</a:pPr>
            <a:r>
              <a:rPr b="0" lang="en-US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Email: </a:t>
            </a:r>
            <a:r>
              <a:rPr b="0" lang="en-US" sz="3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venkataramani.kumar@upr.edu</a:t>
            </a:r>
            <a:endParaRPr b="0"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</a:pPr>
            <a:r>
              <a:t/>
            </a:r>
            <a:endParaRPr b="0"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</a:pPr>
            <a:r>
              <a:t/>
            </a:r>
            <a:endParaRPr b="0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niversity of Puerto Rico at Mayagüez - Wikipedia" id="84" name="Google Shape;8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2350" y="5121300"/>
            <a:ext cx="1469576" cy="146957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/>
          <p:nvPr/>
        </p:nvSpPr>
        <p:spPr>
          <a:xfrm>
            <a:off x="638275" y="6145475"/>
            <a:ext cx="2998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June 18-19, 2026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7485400" y="6036775"/>
            <a:ext cx="2998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Orlando, Florida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609599" y="383886"/>
            <a:ext cx="10972800" cy="6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lang="en-US">
                <a:solidFill>
                  <a:srgbClr val="213E99"/>
                </a:solidFill>
                <a:latin typeface="Calibri"/>
                <a:ea typeface="Calibri"/>
                <a:cs typeface="Calibri"/>
                <a:sym typeface="Calibri"/>
              </a:rPr>
              <a:t>The Challenge: AI and Student Learning</a:t>
            </a:r>
            <a:endParaRPr/>
          </a:p>
        </p:txBody>
      </p:sp>
      <p:sp>
        <p:nvSpPr>
          <p:cNvPr id="92" name="Google Shape;92;p17"/>
          <p:cNvSpPr txBox="1"/>
          <p:nvPr/>
        </p:nvSpPr>
        <p:spPr>
          <a:xfrm>
            <a:off x="501375" y="1497800"/>
            <a:ext cx="6564300" cy="3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●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Increasing use of Gen AI tools for traditional assessments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Instructors grapple with distinguishing between AI generated work, and genuine student work 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Most cases traditional assessments emphasize the final outputs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Educational approaches/strides must be taken to enable them use AI responsibly and ethically 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501375" y="4898600"/>
            <a:ext cx="68613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Current focus: </a:t>
            </a:r>
            <a:r>
              <a:rPr lang="en-US" sz="25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Did students use AI?</a:t>
            </a:r>
            <a:r>
              <a:rPr lang="en-US" sz="25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; New Focus should be: </a:t>
            </a:r>
            <a:r>
              <a:rPr lang="en-US" sz="25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How can students demonstrate they learned concepts despite using AI?</a:t>
            </a:r>
            <a:endParaRPr sz="25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p17" title="Screenshot 2026-06-17 at 1.00.0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5026" y="1298187"/>
            <a:ext cx="4822199" cy="4261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609600" y="250274"/>
            <a:ext cx="10972800" cy="6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lang="en-US">
                <a:solidFill>
                  <a:srgbClr val="213E99"/>
                </a:solidFill>
                <a:latin typeface="Calibri"/>
                <a:ea typeface="Calibri"/>
                <a:cs typeface="Calibri"/>
                <a:sym typeface="Calibri"/>
              </a:rPr>
              <a:t>A Framework for AI-Integrated Assessment</a:t>
            </a:r>
            <a:endParaRPr b="0">
              <a:solidFill>
                <a:srgbClr val="213E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8" title="Screenshot 2026-06-17 at 4.02.5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9475" y="875774"/>
            <a:ext cx="9147313" cy="5543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609600" y="383874"/>
            <a:ext cx="10972800" cy="6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lang="en-US">
                <a:solidFill>
                  <a:srgbClr val="213E99"/>
                </a:solidFill>
                <a:latin typeface="Calibri"/>
                <a:ea typeface="Calibri"/>
                <a:cs typeface="Calibri"/>
                <a:sym typeface="Calibri"/>
              </a:rPr>
              <a:t>Classroom Examples</a:t>
            </a:r>
            <a:endParaRPr b="0">
              <a:solidFill>
                <a:srgbClr val="213E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534350" y="1235550"/>
            <a:ext cx="3918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Traditional Assessment:</a:t>
            </a:r>
            <a:endParaRPr sz="2400"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13E99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Explain how cross-scripting (XSS) attack works.</a:t>
            </a:r>
            <a:endParaRPr sz="1600">
              <a:solidFill>
                <a:srgbClr val="213E99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9"/>
          <p:cNvSpPr txBox="1"/>
          <p:nvPr/>
        </p:nvSpPr>
        <p:spPr>
          <a:xfrm>
            <a:off x="534350" y="2528550"/>
            <a:ext cx="39189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AI-Integrated Assessment</a:t>
            </a:r>
            <a:endParaRPr sz="2400"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213E99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213E99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Use AI to generate </a:t>
            </a:r>
            <a:r>
              <a:rPr lang="en-US" sz="2400">
                <a:solidFill>
                  <a:srgbClr val="213E99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explanation</a:t>
            </a:r>
            <a:r>
              <a:rPr lang="en-US" sz="2400">
                <a:solidFill>
                  <a:srgbClr val="213E99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 for XSS</a:t>
            </a:r>
            <a:endParaRPr sz="2400">
              <a:solidFill>
                <a:srgbClr val="213E99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213E99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213E99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Verify the explanation using course materials</a:t>
            </a:r>
            <a:endParaRPr sz="2400">
              <a:solidFill>
                <a:srgbClr val="213E99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213E99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213E99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Identify missing attacks/scenarios &amp; mitigations</a:t>
            </a:r>
            <a:endParaRPr sz="2400">
              <a:solidFill>
                <a:srgbClr val="213E99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213E99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213E99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Improve the explanation &amp; justify the changes</a:t>
            </a:r>
            <a:endParaRPr sz="2400">
              <a:solidFill>
                <a:srgbClr val="213E99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13E99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9"/>
          <p:cNvSpPr txBox="1"/>
          <p:nvPr/>
        </p:nvSpPr>
        <p:spPr>
          <a:xfrm>
            <a:off x="4453250" y="3532825"/>
            <a:ext cx="39189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Learning Evidence:</a:t>
            </a:r>
            <a:endParaRPr sz="2400"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213E99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213E99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Error detection</a:t>
            </a:r>
            <a:endParaRPr sz="2400">
              <a:solidFill>
                <a:srgbClr val="213E99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213E99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213E99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Security reasoning </a:t>
            </a:r>
            <a:endParaRPr sz="2400">
              <a:solidFill>
                <a:srgbClr val="213E99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213E99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213E99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Technical justification</a:t>
            </a:r>
            <a:endParaRPr sz="2400">
              <a:solidFill>
                <a:srgbClr val="213E99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13E99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9"/>
          <p:cNvSpPr/>
          <p:nvPr/>
        </p:nvSpPr>
        <p:spPr>
          <a:xfrm>
            <a:off x="7956275" y="2418900"/>
            <a:ext cx="519600" cy="35181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/>
          <p:nvPr/>
        </p:nvSpPr>
        <p:spPr>
          <a:xfrm>
            <a:off x="3800150" y="4464225"/>
            <a:ext cx="653100" cy="625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9"/>
          <p:cNvSpPr/>
          <p:nvPr/>
        </p:nvSpPr>
        <p:spPr>
          <a:xfrm>
            <a:off x="8372150" y="671475"/>
            <a:ext cx="1811100" cy="62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AI Generates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9"/>
          <p:cNvSpPr/>
          <p:nvPr/>
        </p:nvSpPr>
        <p:spPr>
          <a:xfrm>
            <a:off x="9697250" y="1675050"/>
            <a:ext cx="1811100" cy="8535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Initial Solutions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9"/>
          <p:cNvSpPr/>
          <p:nvPr/>
        </p:nvSpPr>
        <p:spPr>
          <a:xfrm>
            <a:off x="9018375" y="3002250"/>
            <a:ext cx="1811100" cy="8535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Student verifies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9"/>
          <p:cNvSpPr/>
          <p:nvPr/>
        </p:nvSpPr>
        <p:spPr>
          <a:xfrm>
            <a:off x="9927825" y="4350225"/>
            <a:ext cx="1811100" cy="8535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Student improves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9"/>
          <p:cNvSpPr/>
          <p:nvPr/>
        </p:nvSpPr>
        <p:spPr>
          <a:xfrm>
            <a:off x="8640350" y="5564725"/>
            <a:ext cx="2091900" cy="8535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Demonstrates learning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19"/>
          <p:cNvCxnSpPr/>
          <p:nvPr/>
        </p:nvCxnSpPr>
        <p:spPr>
          <a:xfrm>
            <a:off x="9775425" y="1296975"/>
            <a:ext cx="297000" cy="386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7" name="Google Shape;117;p19"/>
          <p:cNvCxnSpPr/>
          <p:nvPr/>
        </p:nvCxnSpPr>
        <p:spPr>
          <a:xfrm flipH="1">
            <a:off x="9842325" y="2570850"/>
            <a:ext cx="163200" cy="389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8" name="Google Shape;118;p19"/>
          <p:cNvCxnSpPr/>
          <p:nvPr/>
        </p:nvCxnSpPr>
        <p:spPr>
          <a:xfrm>
            <a:off x="10343450" y="3909938"/>
            <a:ext cx="297000" cy="386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9" name="Google Shape;119;p19"/>
          <p:cNvCxnSpPr/>
          <p:nvPr/>
        </p:nvCxnSpPr>
        <p:spPr>
          <a:xfrm flipH="1">
            <a:off x="10005525" y="5174925"/>
            <a:ext cx="163200" cy="389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0" name="Google Shape;120;p19"/>
          <p:cNvSpPr txBox="1"/>
          <p:nvPr/>
        </p:nvSpPr>
        <p:spPr>
          <a:xfrm>
            <a:off x="4200875" y="2418900"/>
            <a:ext cx="4275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is focused on critical thinking!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9"/>
          <p:cNvSpPr/>
          <p:nvPr/>
        </p:nvSpPr>
        <p:spPr>
          <a:xfrm>
            <a:off x="8475875" y="4236025"/>
            <a:ext cx="653100" cy="625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609600" y="383874"/>
            <a:ext cx="10972800" cy="6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lang="en-US">
                <a:solidFill>
                  <a:srgbClr val="213E99"/>
                </a:solidFill>
                <a:latin typeface="Calibri"/>
                <a:ea typeface="Calibri"/>
                <a:cs typeface="Calibri"/>
                <a:sym typeface="Calibri"/>
              </a:rPr>
              <a:t>Assessment Strategies</a:t>
            </a:r>
            <a:endParaRPr b="0">
              <a:solidFill>
                <a:srgbClr val="213E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0"/>
          <p:cNvSpPr txBox="1"/>
          <p:nvPr/>
        </p:nvSpPr>
        <p:spPr>
          <a:xfrm>
            <a:off x="727325" y="1400400"/>
            <a:ext cx="5368800" cy="49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Reflection and critique:</a:t>
            </a:r>
            <a:r>
              <a:rPr lang="en-US" sz="24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 Emphasis on critical thinking</a:t>
            </a:r>
            <a:endParaRPr sz="24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Oral explanations and demonstrations: </a:t>
            </a:r>
            <a:r>
              <a:rPr lang="en-US" sz="24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Direct evidence of understanding </a:t>
            </a:r>
            <a:endParaRPr sz="24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Design justification and decision making: </a:t>
            </a:r>
            <a:r>
              <a:rPr lang="en-US" sz="24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Focus on </a:t>
            </a:r>
            <a:r>
              <a:rPr lang="en-US" sz="24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reasoning and technical judgement</a:t>
            </a:r>
            <a:endParaRPr sz="24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AI-use disclosure: </a:t>
            </a:r>
            <a:r>
              <a:rPr lang="en-US" sz="24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Promotes responsible AI use</a:t>
            </a:r>
            <a:endParaRPr sz="24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609600" y="383874"/>
            <a:ext cx="10972800" cy="6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lang="en-US">
                <a:solidFill>
                  <a:srgbClr val="213E99"/>
                </a:solidFill>
                <a:latin typeface="Calibri"/>
                <a:ea typeface="Calibri"/>
                <a:cs typeface="Calibri"/>
                <a:sym typeface="Calibri"/>
              </a:rPr>
              <a:t>Lessons learned &amp; Recommendations to Instructors</a:t>
            </a:r>
            <a:endParaRPr b="0">
              <a:solidFill>
                <a:srgbClr val="213E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1"/>
          <p:cNvSpPr txBox="1"/>
          <p:nvPr/>
        </p:nvSpPr>
        <p:spPr>
          <a:xfrm>
            <a:off x="609600" y="2528375"/>
            <a:ext cx="39624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What went well? </a:t>
            </a:r>
            <a:endParaRPr sz="24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Challenges encountered</a:t>
            </a:r>
            <a:endParaRPr sz="24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Student Engagement and learning opportunities </a:t>
            </a:r>
            <a:endParaRPr sz="24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1"/>
          <p:cNvSpPr txBox="1"/>
          <p:nvPr/>
        </p:nvSpPr>
        <p:spPr>
          <a:xfrm>
            <a:off x="1202375" y="1974275"/>
            <a:ext cx="241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Lessons learnt!</a:t>
            </a:r>
            <a:endParaRPr sz="2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1"/>
          <p:cNvSpPr txBox="1"/>
          <p:nvPr/>
        </p:nvSpPr>
        <p:spPr>
          <a:xfrm>
            <a:off x="5986150" y="1562600"/>
            <a:ext cx="396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Personal recommendations</a:t>
            </a:r>
            <a:endParaRPr sz="2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1"/>
          <p:cNvSpPr txBox="1"/>
          <p:nvPr/>
        </p:nvSpPr>
        <p:spPr>
          <a:xfrm>
            <a:off x="5986150" y="2116700"/>
            <a:ext cx="39624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Reasoning/design based projects</a:t>
            </a:r>
            <a:endParaRPr sz="24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Greater emphasis on the process instead of products</a:t>
            </a:r>
            <a:endParaRPr sz="24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AI literacy should be considered as learning curve</a:t>
            </a:r>
            <a:endParaRPr sz="24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1"/>
          <p:cNvSpPr/>
          <p:nvPr/>
        </p:nvSpPr>
        <p:spPr>
          <a:xfrm rot="5400000">
            <a:off x="5003525" y="1292375"/>
            <a:ext cx="428400" cy="80307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1"/>
          <p:cNvSpPr/>
          <p:nvPr/>
        </p:nvSpPr>
        <p:spPr>
          <a:xfrm>
            <a:off x="2300825" y="5635450"/>
            <a:ext cx="6041700" cy="62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Goal: Maximize AI-integrated learning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609600" y="383874"/>
            <a:ext cx="10972800" cy="6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lang="en-US">
                <a:solidFill>
                  <a:srgbClr val="213E99"/>
                </a:solidFill>
                <a:latin typeface="Calibri"/>
                <a:ea typeface="Calibri"/>
                <a:cs typeface="Calibri"/>
                <a:sym typeface="Calibri"/>
              </a:rPr>
              <a:t>Future Directions</a:t>
            </a:r>
            <a:endParaRPr b="0">
              <a:solidFill>
                <a:srgbClr val="213E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2"/>
          <p:cNvSpPr txBox="1"/>
          <p:nvPr/>
        </p:nvSpPr>
        <p:spPr>
          <a:xfrm>
            <a:off x="609600" y="1489275"/>
            <a:ext cx="66195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AI-Integrated Curriculum: </a:t>
            </a:r>
            <a:r>
              <a:rPr lang="en-US" sz="24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Develop course activities, and assignments with AI tools being made as a central learning module</a:t>
            </a:r>
            <a:endParaRPr sz="24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Opportunities for research emerging institutions: </a:t>
            </a:r>
            <a:r>
              <a:rPr lang="en-US" sz="24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AI-based learning expands the curriculum, and resources available to the educational institutions resulting in support of diverse student populations</a:t>
            </a:r>
            <a:endParaRPr sz="24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2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Build AI ready graduates along side maintaining academic rigor: </a:t>
            </a:r>
            <a:r>
              <a:rPr lang="en-US" sz="24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Students are equipped with next-generation AI based technology &amp; tools!</a:t>
            </a:r>
            <a:endParaRPr sz="24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2"/>
          <p:cNvSpPr/>
          <p:nvPr/>
        </p:nvSpPr>
        <p:spPr>
          <a:xfrm>
            <a:off x="7540850" y="2773700"/>
            <a:ext cx="4468200" cy="2525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Question is no longer if student will use AI or not. Bigger challenge is to design educational experiences that transforms AI into measurable/quantifiable learning!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type="title"/>
          </p:nvPr>
        </p:nvSpPr>
        <p:spPr>
          <a:xfrm>
            <a:off x="1024275" y="3859475"/>
            <a:ext cx="9340800" cy="20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lang="en-US" sz="4400">
                <a:solidFill>
                  <a:srgbClr val="213E99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b="0" sz="4400">
              <a:solidFill>
                <a:srgbClr val="213E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lang="en-US" sz="4400">
                <a:solidFill>
                  <a:srgbClr val="213E99"/>
                </a:solidFill>
                <a:latin typeface="Calibri"/>
                <a:ea typeface="Calibri"/>
                <a:cs typeface="Calibri"/>
                <a:sym typeface="Calibri"/>
              </a:rPr>
              <a:t>Dr. Venkataramani Kumar</a:t>
            </a:r>
            <a:endParaRPr b="0" sz="4400">
              <a:solidFill>
                <a:srgbClr val="213E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lang="en-US" sz="4400">
                <a:solidFill>
                  <a:srgbClr val="213E99"/>
                </a:solidFill>
                <a:latin typeface="Calibri"/>
                <a:ea typeface="Calibri"/>
                <a:cs typeface="Calibri"/>
                <a:sym typeface="Calibri"/>
              </a:rPr>
              <a:t>Email: </a:t>
            </a:r>
            <a:r>
              <a:rPr b="0" lang="en-US" sz="4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venkataramani.kumar@upr.edu</a:t>
            </a:r>
            <a:endParaRPr b="0" sz="4400">
              <a:solidFill>
                <a:srgbClr val="213E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3"/>
          <p:cNvSpPr txBox="1"/>
          <p:nvPr>
            <p:ph type="title"/>
          </p:nvPr>
        </p:nvSpPr>
        <p:spPr>
          <a:xfrm>
            <a:off x="8301850" y="565925"/>
            <a:ext cx="3128100" cy="15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0" lang="en-US" sz="44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b="0" sz="4400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/>
          <p:nvPr>
            <p:ph idx="1" type="subTitle"/>
          </p:nvPr>
        </p:nvSpPr>
        <p:spPr>
          <a:xfrm>
            <a:off x="1809987" y="2384888"/>
            <a:ext cx="4835252" cy="5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7620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/>
              <a:t>Follow CRA on social media</a:t>
            </a:r>
            <a:endParaRPr/>
          </a:p>
        </p:txBody>
      </p:sp>
      <p:sp>
        <p:nvSpPr>
          <p:cNvPr id="157" name="Google Shape;157;p24"/>
          <p:cNvSpPr txBox="1"/>
          <p:nvPr>
            <p:ph type="ctrTitle"/>
          </p:nvPr>
        </p:nvSpPr>
        <p:spPr>
          <a:xfrm>
            <a:off x="2285656" y="1649631"/>
            <a:ext cx="3883913" cy="849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Stay Connected!</a:t>
            </a:r>
            <a:endParaRPr/>
          </a:p>
        </p:txBody>
      </p:sp>
      <p:grpSp>
        <p:nvGrpSpPr>
          <p:cNvPr id="158" name="Google Shape;158;p24"/>
          <p:cNvGrpSpPr/>
          <p:nvPr/>
        </p:nvGrpSpPr>
        <p:grpSpPr>
          <a:xfrm>
            <a:off x="1762409" y="245754"/>
            <a:ext cx="5073597" cy="1619531"/>
            <a:chOff x="1675200" y="1925919"/>
            <a:chExt cx="8622700" cy="2752431"/>
          </a:xfrm>
        </p:grpSpPr>
        <p:sp>
          <p:nvSpPr>
            <p:cNvPr id="159" name="Google Shape;159;p24"/>
            <p:cNvSpPr/>
            <p:nvPr/>
          </p:nvSpPr>
          <p:spPr>
            <a:xfrm>
              <a:off x="1684600" y="1932075"/>
              <a:ext cx="8613300" cy="2721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24"/>
            </a:p>
          </p:txBody>
        </p:sp>
        <p:pic>
          <p:nvPicPr>
            <p:cNvPr id="160" name="Google Shape;160;p24" title="NAIRR Expansion Conference_General Logo (1)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675200" y="1925918"/>
              <a:ext cx="8606075" cy="275243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o logo ">
  <a:themeElements>
    <a:clrScheme name="CRA Theme">
      <a:dk1>
        <a:srgbClr val="000000"/>
      </a:dk1>
      <a:lt1>
        <a:srgbClr val="FFFFFF"/>
      </a:lt1>
      <a:dk2>
        <a:srgbClr val="1A2A87"/>
      </a:dk2>
      <a:lt2>
        <a:srgbClr val="EEECE1"/>
      </a:lt2>
      <a:accent1>
        <a:srgbClr val="62A1C5"/>
      </a:accent1>
      <a:accent2>
        <a:srgbClr val="EB532A"/>
      </a:accent2>
      <a:accent3>
        <a:srgbClr val="A6CF59"/>
      </a:accent3>
      <a:accent4>
        <a:srgbClr val="857FBA"/>
      </a:accent4>
      <a:accent5>
        <a:srgbClr val="94D0B2"/>
      </a:accent5>
      <a:accent6>
        <a:srgbClr val="FFDA1C"/>
      </a:accent6>
      <a:hlink>
        <a:srgbClr val="0000FF"/>
      </a:hlink>
      <a:folHlink>
        <a:srgbClr val="76154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CRA Theme">
      <a:dk1>
        <a:srgbClr val="000000"/>
      </a:dk1>
      <a:lt1>
        <a:srgbClr val="FFFFFF"/>
      </a:lt1>
      <a:dk2>
        <a:srgbClr val="1A2A87"/>
      </a:dk2>
      <a:lt2>
        <a:srgbClr val="EEECE1"/>
      </a:lt2>
      <a:accent1>
        <a:srgbClr val="62A1C5"/>
      </a:accent1>
      <a:accent2>
        <a:srgbClr val="EB532A"/>
      </a:accent2>
      <a:accent3>
        <a:srgbClr val="A6CF59"/>
      </a:accent3>
      <a:accent4>
        <a:srgbClr val="857FBA"/>
      </a:accent4>
      <a:accent5>
        <a:srgbClr val="94D0B2"/>
      </a:accent5>
      <a:accent6>
        <a:srgbClr val="FFDA1C"/>
      </a:accent6>
      <a:hlink>
        <a:srgbClr val="0000FF"/>
      </a:hlink>
      <a:folHlink>
        <a:srgbClr val="76154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CRA Theme">
      <a:dk1>
        <a:srgbClr val="000000"/>
      </a:dk1>
      <a:lt1>
        <a:srgbClr val="FFFFFF"/>
      </a:lt1>
      <a:dk2>
        <a:srgbClr val="1A2A87"/>
      </a:dk2>
      <a:lt2>
        <a:srgbClr val="EEECE1"/>
      </a:lt2>
      <a:accent1>
        <a:srgbClr val="62A1C5"/>
      </a:accent1>
      <a:accent2>
        <a:srgbClr val="EB532A"/>
      </a:accent2>
      <a:accent3>
        <a:srgbClr val="A6CF59"/>
      </a:accent3>
      <a:accent4>
        <a:srgbClr val="857FBA"/>
      </a:accent4>
      <a:accent5>
        <a:srgbClr val="94D0B2"/>
      </a:accent5>
      <a:accent6>
        <a:srgbClr val="FFDA1C"/>
      </a:accent6>
      <a:hlink>
        <a:srgbClr val="0000FF"/>
      </a:hlink>
      <a:folHlink>
        <a:srgbClr val="76154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