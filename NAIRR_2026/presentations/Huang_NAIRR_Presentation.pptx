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18"/>
  </p:notesMasterIdLst>
  <p:handoutMasterIdLst>
    <p:handoutMasterId r:id="rId19"/>
  </p:handoutMasterIdLst>
  <p:sldIdLst>
    <p:sldId id="256" r:id="rId3"/>
    <p:sldId id="259" r:id="rId4"/>
    <p:sldId id="264" r:id="rId5"/>
    <p:sldId id="258" r:id="rId6"/>
    <p:sldId id="265" r:id="rId7"/>
    <p:sldId id="266" r:id="rId8"/>
    <p:sldId id="267" r:id="rId9"/>
    <p:sldId id="268" r:id="rId10"/>
    <p:sldId id="269" r:id="rId11"/>
    <p:sldId id="270" r:id="rId12"/>
    <p:sldId id="272" r:id="rId13"/>
    <p:sldId id="271" r:id="rId14"/>
    <p:sldId id="273" r:id="rId15"/>
    <p:sldId id="274" r:id="rId16"/>
    <p:sldId id="263" r:id="rId17"/>
  </p:sldIdLst>
  <p:sldSz cx="12192000" cy="6858000"/>
  <p:notesSz cx="6858000" cy="9144000"/>
  <p:embeddedFontLst>
    <p:embeddedFont>
      <p:font typeface="Helvetica Neue" panose="02000503000000020004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86783"/>
  </p:normalViewPr>
  <p:slideViewPr>
    <p:cSldViewPr snapToGrid="0">
      <p:cViewPr>
        <p:scale>
          <a:sx n="90" d="100"/>
          <a:sy n="90" d="100"/>
        </p:scale>
        <p:origin x="1240" y="1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1F8A73-F2AD-507C-0A61-05B2FB83052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B894C8-72A7-BC2F-C272-9422EB4C71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98126-276E-B44F-A9EC-617316CA3D9D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608C45-462E-6DEF-6DC8-BD5E6F3A929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57509-5E96-E6B4-2867-BC1B67C68A9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99E74-0CBA-BF4C-83D1-1EB15AEC3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9902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1100" b="0" i="0" u="none" strike="noStrike" cap="none" dirty="0">
                <a:solidFill>
                  <a:srgbClr val="8892B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Universities classified as </a:t>
            </a:r>
            <a:r>
              <a:rPr lang="en-US" sz="1100" b="0" i="0" u="none" strike="noStrike" cap="none" dirty="0">
                <a:solidFill>
                  <a:srgbClr val="FBC02D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R2, D/PU, or M1/M2</a:t>
            </a:r>
            <a:r>
              <a:rPr lang="en-US" sz="1100" b="0" i="0" u="none" strike="noStrike" cap="none" dirty="0">
                <a:solidFill>
                  <a:srgbClr val="8892B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often host massive computing student bases—frequently exceeding 1,000 enrolled undergraduate and master's students.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1100" b="0" i="0" u="none" strike="noStrike" cap="none" dirty="0">
                <a:solidFill>
                  <a:srgbClr val="8892B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Unlike R1 institutions with dedicated, multi-million dollar institutional clusters, emerging institutions face steep financial and operational barriers to procuring local GPU-intensive infrastructure.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Google Shape;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education scales unevenly. Students with access to research groups and local compute gain authentic experience; others may only see small demos or conceptual material.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064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872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100" dirty="0">
                <a:solidFill>
                  <a:srgbClr val="334155"/>
                </a:solidFill>
              </a:rPr>
              <a:t>First-use activity was not evenly distributed. Peaks align with April and November course-integrated tutorials.</a:t>
            </a:r>
            <a:endParaRPr lang="en-US" sz="1100" dirty="0"/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100" dirty="0">
                <a:solidFill>
                  <a:srgbClr val="334155"/>
                </a:solidFill>
              </a:rPr>
              <a:t>Structured exposure is a mechanism for lowering the initial barrier to CI adoption.</a:t>
            </a:r>
            <a:endParaRPr lang="en-US" sz="11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6864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2710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1E22AA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2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17445" y="937933"/>
            <a:ext cx="9119325" cy="2918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Logo - Blank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609600" y="488058"/>
            <a:ext cx="879087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1_Title Slide">
    <p:bg>
      <p:bgPr>
        <a:solidFill>
          <a:srgbClr val="1E22AA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5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1809987" y="2384888"/>
            <a:ext cx="4835252" cy="54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800" i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ctrTitle"/>
          </p:nvPr>
        </p:nvSpPr>
        <p:spPr>
          <a:xfrm>
            <a:off x="2285656" y="1649631"/>
            <a:ext cx="3883913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8" name="Google Shape;28;p5" descr="A blue square with a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0220" y="2935063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5" descr="A blue square with a white letter f on i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19289" y="3590677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5" descr="A blue square with white letters on it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8898" y="2905368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5" descr="A white butterfly in a blue circle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43617" y="3605589"/>
            <a:ext cx="2201828" cy="1100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5" descr="A close-up of a logo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98170" y="-54312"/>
            <a:ext cx="5494550" cy="1758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1_Title Slide 2">
    <p:bg>
      <p:bgPr>
        <a:solidFill>
          <a:srgbClr val="1E22AA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p6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6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68027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 txBox="1">
            <a:spLocks noGrp="1"/>
          </p:cNvSpPr>
          <p:nvPr>
            <p:ph type="subTitle" idx="1"/>
          </p:nvPr>
        </p:nvSpPr>
        <p:spPr>
          <a:xfrm>
            <a:off x="391043" y="3268046"/>
            <a:ext cx="7153509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0" i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ctrTitle"/>
          </p:nvPr>
        </p:nvSpPr>
        <p:spPr>
          <a:xfrm>
            <a:off x="391043" y="1810748"/>
            <a:ext cx="8187179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600" b="1" i="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6"/>
          <p:cNvPicPr preferRelativeResize="0"/>
          <p:nvPr/>
        </p:nvPicPr>
        <p:blipFill rotWithShape="1">
          <a:blip r:embed="rId3">
            <a:alphaModFix/>
          </a:blip>
          <a:srcRect l="6397" r="6397"/>
          <a:stretch/>
        </p:blipFill>
        <p:spPr>
          <a:xfrm>
            <a:off x="138898" y="249444"/>
            <a:ext cx="5705750" cy="849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"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7" descr="A white background with black dot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3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 2"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8" descr="A white background with black dot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963084" y="3216047"/>
            <a:ext cx="10363200" cy="784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600" b="1" i="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 2"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1" descr="A white background with black dot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1"/>
          <p:cNvSpPr txBox="1">
            <a:spLocks noGrp="1"/>
          </p:cNvSpPr>
          <p:nvPr>
            <p:ph type="title"/>
          </p:nvPr>
        </p:nvSpPr>
        <p:spPr>
          <a:xfrm>
            <a:off x="963084" y="3216047"/>
            <a:ext cx="10363200" cy="784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600" b="1" i="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CRA PPT_page bars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7785" y="-20484"/>
            <a:ext cx="12229655" cy="689642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8395252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004853" y="131433"/>
            <a:ext cx="3289850" cy="105275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9" descr="CRA PPT_page bar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785" y="-20484"/>
            <a:ext cx="12229655" cy="689642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8395252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51" name="Google Shape;5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04853" y="131433"/>
            <a:ext cx="3289850" cy="105275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/>
          <p:nvPr/>
        </p:nvSpPr>
        <p:spPr>
          <a:xfrm>
            <a:off x="0" y="614599"/>
            <a:ext cx="8307978" cy="307298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AI Education Without Large-Scale Local HPC: Shared Models for Emerging Institutional Capacity</a:t>
            </a:r>
          </a:p>
          <a:p>
            <a:pPr lvl="0"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Xiaolei Huang</a:t>
            </a:r>
          </a:p>
          <a:p>
            <a:pPr lvl="0"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Memphis</a:t>
            </a:r>
          </a:p>
          <a:p>
            <a:pPr lvl="0" algn="ctr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xiaolei.huang@memphis.edu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The University of Memphis">
            <a:extLst>
              <a:ext uri="{FF2B5EF4-FFF2-40B4-BE49-F238E27FC236}">
                <a16:creationId xmlns:a16="http://schemas.microsoft.com/office/drawing/2014/main" id="{F7075FCD-F1D4-358E-9C11-3B151C324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7839" y="1740612"/>
            <a:ext cx="1892300" cy="584200"/>
          </a:xfrm>
          <a:prstGeom prst="rect">
            <a:avLst/>
          </a:prstGeom>
        </p:spPr>
      </p:pic>
      <p:sp>
        <p:nvSpPr>
          <p:cNvPr id="3" name="Google Shape;88;p13">
            <a:extLst>
              <a:ext uri="{FF2B5EF4-FFF2-40B4-BE49-F238E27FC236}">
                <a16:creationId xmlns:a16="http://schemas.microsoft.com/office/drawing/2014/main" id="{7DD5D64F-7F2D-9E96-7EAE-A08C9F26E681}"/>
              </a:ext>
            </a:extLst>
          </p:cNvPr>
          <p:cNvSpPr txBox="1"/>
          <p:nvPr/>
        </p:nvSpPr>
        <p:spPr>
          <a:xfrm>
            <a:off x="1399160" y="4148908"/>
            <a:ext cx="5286375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CRA NAIRR Pilot Classroom Expansion Conference</a:t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</a:br>
            <a:r>
              <a:rPr lang="en-US" b="0" i="0" u="none" strike="noStrike" cap="none" dirty="0">
                <a:solidFill>
                  <a:srgbClr val="8892B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Research-Emerging Institutions with Large Computing Programs</a:t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</a:br>
            <a:r>
              <a:rPr lang="en-US" b="0" i="0" u="none" strike="noStrike" cap="none" dirty="0">
                <a:solidFill>
                  <a:srgbClr val="8892B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Orlando, FL | June 18-19, 2026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5C4C7B-D756-F23A-39A3-AAAC69789F85}"/>
              </a:ext>
            </a:extLst>
          </p:cNvPr>
          <p:cNvSpPr txBox="1"/>
          <p:nvPr/>
        </p:nvSpPr>
        <p:spPr>
          <a:xfrm>
            <a:off x="7308055" y="5285818"/>
            <a:ext cx="41790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Sharif, M., Han, G., Liu, W., &amp; Huang, X. Cultivating Multidisciplinary AI Workforce Development on </a:t>
            </a:r>
            <a:r>
              <a:rPr lang="en-US" sz="1400" dirty="0" err="1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iTiger</a:t>
            </a:r>
            <a:r>
              <a:rPr lang="en-US" sz="14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GPU Cluster: Practices and Challenges. PEARC 2026.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18"/>
          <p:cNvGrpSpPr/>
          <p:nvPr/>
        </p:nvGrpSpPr>
        <p:grpSpPr>
          <a:xfrm>
            <a:off x="9260607" y="238701"/>
            <a:ext cx="2866425" cy="1189675"/>
            <a:chOff x="837550" y="656850"/>
            <a:chExt cx="7842475" cy="3254925"/>
          </a:xfrm>
        </p:grpSpPr>
        <p:sp>
          <p:nvSpPr>
            <p:cNvPr id="94" name="Google Shape;94;p18"/>
            <p:cNvSpPr/>
            <p:nvPr/>
          </p:nvSpPr>
          <p:spPr>
            <a:xfrm>
              <a:off x="837550" y="685275"/>
              <a:ext cx="7766400" cy="322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33425" tIns="33425" rIns="33425" bIns="33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12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5" name="Google Shape;95;p18" title="NAIRR Expansion Conference_RE lg.png"/>
            <p:cNvPicPr preferRelativeResize="0"/>
            <p:nvPr/>
          </p:nvPicPr>
          <p:blipFill rotWithShape="1">
            <a:blip r:embed="rId3">
              <a:alphaModFix/>
            </a:blip>
            <a:srcRect l="8083" r="7185"/>
            <a:stretch/>
          </p:blipFill>
          <p:spPr>
            <a:xfrm>
              <a:off x="894650" y="656850"/>
              <a:ext cx="7785375" cy="32168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609600" y="488058"/>
            <a:ext cx="879087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Paradox and Dilemma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83;p16">
            <a:extLst>
              <a:ext uri="{FF2B5EF4-FFF2-40B4-BE49-F238E27FC236}">
                <a16:creationId xmlns:a16="http://schemas.microsoft.com/office/drawing/2014/main" id="{9D0D8948-D782-B41B-C8FD-C8F62528A27C}"/>
              </a:ext>
            </a:extLst>
          </p:cNvPr>
          <p:cNvSpPr txBox="1">
            <a:spLocks/>
          </p:cNvSpPr>
          <p:nvPr/>
        </p:nvSpPr>
        <p:spPr>
          <a:xfrm>
            <a:off x="627980" y="4700001"/>
            <a:ext cx="4741004" cy="1071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228600" algn="ctr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Research-Emerging Universities</a:t>
            </a:r>
          </a:p>
          <a:p>
            <a:pPr indent="-228600" algn="ctr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~300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AEEC36-C957-B30B-2715-30E164C61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77" y="1631860"/>
            <a:ext cx="4650244" cy="2841248"/>
          </a:xfrm>
          <a:prstGeom prst="rect">
            <a:avLst/>
          </a:prstGeom>
        </p:spPr>
      </p:pic>
      <p:pic>
        <p:nvPicPr>
          <p:cNvPr id="4" name="Picture 3" descr="AI's insatiable demand for compute power is smashing Moore's law">
            <a:extLst>
              <a:ext uri="{FF2B5EF4-FFF2-40B4-BE49-F238E27FC236}">
                <a16:creationId xmlns:a16="http://schemas.microsoft.com/office/drawing/2014/main" id="{5734B580-A583-734B-4313-EB4DEDC97B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7337" y="1665364"/>
            <a:ext cx="4994011" cy="2807743"/>
          </a:xfrm>
          <a:prstGeom prst="rect">
            <a:avLst/>
          </a:prstGeom>
        </p:spPr>
      </p:pic>
      <p:sp>
        <p:nvSpPr>
          <p:cNvPr id="5" name="Google Shape;83;p16">
            <a:extLst>
              <a:ext uri="{FF2B5EF4-FFF2-40B4-BE49-F238E27FC236}">
                <a16:creationId xmlns:a16="http://schemas.microsoft.com/office/drawing/2014/main" id="{F9381D75-6639-29F3-EA17-E95181AF4A2C}"/>
              </a:ext>
            </a:extLst>
          </p:cNvPr>
          <p:cNvSpPr txBox="1">
            <a:spLocks/>
          </p:cNvSpPr>
          <p:nvPr/>
        </p:nvSpPr>
        <p:spPr>
          <a:xfrm>
            <a:off x="5887336" y="4700001"/>
            <a:ext cx="5205385" cy="1266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228600" algn="ctr">
              <a:buFont typeface="Arial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Demand + Capital Shortfall</a:t>
            </a:r>
          </a:p>
          <a:p>
            <a:pPr indent="-228600" algn="ctr">
              <a:buFont typeface="Arial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$10B - $20B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A1594-4F0F-2AB8-5663-36A229505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Capacity Issues in HPC Adoption</a:t>
            </a:r>
          </a:p>
        </p:txBody>
      </p:sp>
      <p:sp>
        <p:nvSpPr>
          <p:cNvPr id="3" name="Text 18">
            <a:extLst>
              <a:ext uri="{FF2B5EF4-FFF2-40B4-BE49-F238E27FC236}">
                <a16:creationId xmlns:a16="http://schemas.microsoft.com/office/drawing/2014/main" id="{ED7AD6B7-4AE2-E8B8-94BE-7053EEB64DEC}"/>
              </a:ext>
            </a:extLst>
          </p:cNvPr>
          <p:cNvSpPr/>
          <p:nvPr/>
        </p:nvSpPr>
        <p:spPr>
          <a:xfrm>
            <a:off x="1143000" y="4981680"/>
            <a:ext cx="9784080" cy="1029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A34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Question: How do we make shared AI infrastructure accessible, usable, and sustainable?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United States one-hundred-dollar bill - Wikipedia">
            <a:extLst>
              <a:ext uri="{FF2B5EF4-FFF2-40B4-BE49-F238E27FC236}">
                <a16:creationId xmlns:a16="http://schemas.microsoft.com/office/drawing/2014/main" id="{48A02E87-B069-B8C8-4450-0BF753C2D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901" y="1786487"/>
            <a:ext cx="2815557" cy="1191197"/>
          </a:xfrm>
          <a:prstGeom prst="rect">
            <a:avLst/>
          </a:prstGeom>
        </p:spPr>
      </p:pic>
      <p:sp>
        <p:nvSpPr>
          <p:cNvPr id="11" name="Shape 3">
            <a:extLst>
              <a:ext uri="{FF2B5EF4-FFF2-40B4-BE49-F238E27FC236}">
                <a16:creationId xmlns:a16="http://schemas.microsoft.com/office/drawing/2014/main" id="{6039649C-794E-26CB-B491-64823F30A614}"/>
              </a:ext>
            </a:extLst>
          </p:cNvPr>
          <p:cNvSpPr/>
          <p:nvPr/>
        </p:nvSpPr>
        <p:spPr>
          <a:xfrm>
            <a:off x="609600" y="3545924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1F7147BA-DC24-0780-B59D-95FE46D90F6B}"/>
              </a:ext>
            </a:extLst>
          </p:cNvPr>
          <p:cNvSpPr/>
          <p:nvPr/>
        </p:nvSpPr>
        <p:spPr>
          <a:xfrm>
            <a:off x="609600" y="3545924"/>
            <a:ext cx="73152" cy="1234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7AECB57D-E1C8-76DE-CBA7-C1C1410BAD40}"/>
              </a:ext>
            </a:extLst>
          </p:cNvPr>
          <p:cNvSpPr/>
          <p:nvPr/>
        </p:nvSpPr>
        <p:spPr>
          <a:xfrm>
            <a:off x="810768" y="367394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5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and access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E174DCB3-35FC-6B50-46CC-360104920E3C}"/>
              </a:ext>
            </a:extLst>
          </p:cNvPr>
          <p:cNvSpPr/>
          <p:nvPr/>
        </p:nvSpPr>
        <p:spPr>
          <a:xfrm>
            <a:off x="810768" y="3993980"/>
            <a:ext cx="324612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GPU clusters are expensive to acquire, operate, secure, and refresh.</a:t>
            </a:r>
            <a:endParaRPr lang="en-US" sz="10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A8906531-935F-5061-813B-11655829D388}"/>
              </a:ext>
            </a:extLst>
          </p:cNvPr>
          <p:cNvSpPr/>
          <p:nvPr/>
        </p:nvSpPr>
        <p:spPr>
          <a:xfrm>
            <a:off x="4267200" y="3545924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8AB99754-3E91-ECE7-5621-82DDB52803ED}"/>
              </a:ext>
            </a:extLst>
          </p:cNvPr>
          <p:cNvSpPr/>
          <p:nvPr/>
        </p:nvSpPr>
        <p:spPr>
          <a:xfrm>
            <a:off x="4267200" y="3545924"/>
            <a:ext cx="73152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BE67AF3C-054F-3730-479E-AD0E3639482C}"/>
              </a:ext>
            </a:extLst>
          </p:cNvPr>
          <p:cNvSpPr/>
          <p:nvPr/>
        </p:nvSpPr>
        <p:spPr>
          <a:xfrm>
            <a:off x="4468368" y="367394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5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Instructor readiness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3EAF2F21-740F-5BF4-4596-1661EACD913B}"/>
              </a:ext>
            </a:extLst>
          </p:cNvPr>
          <p:cNvSpPr/>
          <p:nvPr/>
        </p:nvSpPr>
        <p:spPr>
          <a:xfrm>
            <a:off x="4468368" y="3993980"/>
            <a:ext cx="324612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may want to teach AI but lack examples that run reliably on shared systems.</a:t>
            </a:r>
            <a:endParaRPr lang="en-US" sz="10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6FC64101-296C-C903-8441-157A3A3BC176}"/>
              </a:ext>
            </a:extLst>
          </p:cNvPr>
          <p:cNvSpPr/>
          <p:nvPr/>
        </p:nvSpPr>
        <p:spPr>
          <a:xfrm>
            <a:off x="7924800" y="3545924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DF5A12DF-997D-C70A-4010-8687CAEC13DF}"/>
              </a:ext>
            </a:extLst>
          </p:cNvPr>
          <p:cNvSpPr/>
          <p:nvPr/>
        </p:nvSpPr>
        <p:spPr>
          <a:xfrm>
            <a:off x="7924800" y="3545924"/>
            <a:ext cx="73152" cy="1234440"/>
          </a:xfrm>
          <a:prstGeom prst="rect">
            <a:avLst/>
          </a:prstGeom>
          <a:solidFill>
            <a:srgbClr val="1B6EA8"/>
          </a:solidFill>
          <a:ln w="12700">
            <a:solidFill>
              <a:srgbClr val="1B6EA8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15FF2F7D-EAEA-CC65-D5E1-3E80070B3FDE}"/>
              </a:ext>
            </a:extLst>
          </p:cNvPr>
          <p:cNvSpPr/>
          <p:nvPr/>
        </p:nvSpPr>
        <p:spPr>
          <a:xfrm>
            <a:off x="8125968" y="367394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5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readiness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0E1EEBA7-77FE-EB1A-7C93-6426D447C91F}"/>
              </a:ext>
            </a:extLst>
          </p:cNvPr>
          <p:cNvSpPr/>
          <p:nvPr/>
        </p:nvSpPr>
        <p:spPr>
          <a:xfrm>
            <a:off x="8125968" y="3993980"/>
            <a:ext cx="324612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students have limited experience with command line tools, schedulers, containers, or debugging GPU jobs.</a:t>
            </a:r>
            <a:endParaRPr lang="en-US" sz="10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 descr="Light bulb idea logo template – Royalty-Free Vector | VectorStock">
            <a:extLst>
              <a:ext uri="{FF2B5EF4-FFF2-40B4-BE49-F238E27FC236}">
                <a16:creationId xmlns:a16="http://schemas.microsoft.com/office/drawing/2014/main" id="{D72CA2A2-5DE7-D2EB-DF45-E7CE420E83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870" t="14907" r="21303" b="12317"/>
          <a:stretch>
            <a:fillRect/>
          </a:stretch>
        </p:blipFill>
        <p:spPr>
          <a:xfrm>
            <a:off x="5377643" y="1664050"/>
            <a:ext cx="1056561" cy="1436069"/>
          </a:xfrm>
          <a:prstGeom prst="rect">
            <a:avLst/>
          </a:prstGeom>
        </p:spPr>
      </p:pic>
      <p:pic>
        <p:nvPicPr>
          <p:cNvPr id="25" name="Picture 24" descr="Command-line interface - Wikipedia">
            <a:extLst>
              <a:ext uri="{FF2B5EF4-FFF2-40B4-BE49-F238E27FC236}">
                <a16:creationId xmlns:a16="http://schemas.microsoft.com/office/drawing/2014/main" id="{9839DBC0-B7C0-955C-E21E-20B08427AC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4211" y="1653514"/>
            <a:ext cx="2222870" cy="166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454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963084" y="2087334"/>
            <a:ext cx="10363200" cy="221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Lessons from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iTiger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GPU Cluster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Adoption and Challenges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2023 - 2026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E1F43B-0735-D5D9-4B6C-A51102CF6ECE}"/>
              </a:ext>
            </a:extLst>
          </p:cNvPr>
          <p:cNvSpPr txBox="1"/>
          <p:nvPr/>
        </p:nvSpPr>
        <p:spPr>
          <a:xfrm>
            <a:off x="5243513" y="4278511"/>
            <a:ext cx="23812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CNS-2318210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NSF-MRI</a:t>
            </a:r>
          </a:p>
        </p:txBody>
      </p:sp>
      <p:pic>
        <p:nvPicPr>
          <p:cNvPr id="4" name="Picture 3" descr="NSF Policy on Brand Standards - Policies | NSF - U.S. National Science  Foundation">
            <a:extLst>
              <a:ext uri="{FF2B5EF4-FFF2-40B4-BE49-F238E27FC236}">
                <a16:creationId xmlns:a16="http://schemas.microsoft.com/office/drawing/2014/main" id="{F55F4637-63BD-A73E-3C77-95A4903FF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053" y="3860929"/>
            <a:ext cx="2381250" cy="1543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8427E-A4F6-6425-EF69-515CD11C9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88058"/>
            <a:ext cx="9268918" cy="690970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iTiger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Cluster for Research &amp; Education</a:t>
            </a:r>
          </a:p>
        </p:txBody>
      </p:sp>
      <p:sp>
        <p:nvSpPr>
          <p:cNvPr id="4" name="Shape 16">
            <a:extLst>
              <a:ext uri="{FF2B5EF4-FFF2-40B4-BE49-F238E27FC236}">
                <a16:creationId xmlns:a16="http://schemas.microsoft.com/office/drawing/2014/main" id="{91A66281-E69E-122F-A5CC-F32EAF2E8C92}"/>
              </a:ext>
            </a:extLst>
          </p:cNvPr>
          <p:cNvSpPr/>
          <p:nvPr/>
        </p:nvSpPr>
        <p:spPr>
          <a:xfrm>
            <a:off x="1254177" y="1834515"/>
            <a:ext cx="4266247" cy="2023124"/>
          </a:xfrm>
          <a:prstGeom prst="roundRect">
            <a:avLst>
              <a:gd name="adj" fmla="val 7273"/>
            </a:avLst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7">
            <a:extLst>
              <a:ext uri="{FF2B5EF4-FFF2-40B4-BE49-F238E27FC236}">
                <a16:creationId xmlns:a16="http://schemas.microsoft.com/office/drawing/2014/main" id="{32A48011-9A17-CC06-5017-5220B0C0E5C1}"/>
              </a:ext>
            </a:extLst>
          </p:cNvPr>
          <p:cNvSpPr/>
          <p:nvPr/>
        </p:nvSpPr>
        <p:spPr>
          <a:xfrm>
            <a:off x="1552001" y="2017394"/>
            <a:ext cx="3785543" cy="16544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&gt;300 users</a:t>
            </a:r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226 active users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203 internal; 19 external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181 students; 45 faculty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203F9D-4D3D-E16C-3DD4-78CB3056D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372" y="4040518"/>
            <a:ext cx="4077172" cy="24178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BAB8F2E-5D6C-DD26-5FD8-236FA39935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86" b="3286"/>
          <a:stretch/>
        </p:blipFill>
        <p:spPr>
          <a:xfrm>
            <a:off x="6832741" y="1834515"/>
            <a:ext cx="3212314" cy="447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19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91DC3-ABA7-970D-943A-0F5A04EE0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1235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Computing Adoption Strategies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2B1A62-F7C4-0086-405D-A60006B98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225" y="1179028"/>
            <a:ext cx="4814887" cy="4090066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E755295-6BCA-3864-989D-FC982EA8CB0B}"/>
              </a:ext>
            </a:extLst>
          </p:cNvPr>
          <p:cNvSpPr/>
          <p:nvPr/>
        </p:nvSpPr>
        <p:spPr>
          <a:xfrm>
            <a:off x="1100138" y="5612704"/>
            <a:ext cx="3114675" cy="75723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Initiatives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53335B0-2DA2-B4F9-FB95-20561B8F34F3}"/>
              </a:ext>
            </a:extLst>
          </p:cNvPr>
          <p:cNvSpPr/>
          <p:nvPr/>
        </p:nvSpPr>
        <p:spPr>
          <a:xfrm>
            <a:off x="4738688" y="5612704"/>
            <a:ext cx="3114675" cy="75723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 Services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AA6F985-BE13-81A6-E1B9-CA1B96CD6F95}"/>
              </a:ext>
            </a:extLst>
          </p:cNvPr>
          <p:cNvSpPr/>
          <p:nvPr/>
        </p:nvSpPr>
        <p:spPr>
          <a:xfrm>
            <a:off x="8377238" y="5581445"/>
            <a:ext cx="3114675" cy="75723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Efforts</a:t>
            </a:r>
          </a:p>
        </p:txBody>
      </p:sp>
    </p:spTree>
    <p:extLst>
      <p:ext uri="{BB962C8B-B14F-4D97-AF65-F5344CB8AC3E}">
        <p14:creationId xmlns:p14="http://schemas.microsoft.com/office/powerpoint/2010/main" val="1876693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E39F7-4850-8785-C8AA-72EAB7B5F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User Registrations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382E92-99E9-202E-62A5-7AD645C6B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018" y="1824037"/>
            <a:ext cx="7615963" cy="32099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AFDA7F-D2C4-9BAC-CB43-184568435DD7}"/>
              </a:ext>
            </a:extLst>
          </p:cNvPr>
          <p:cNvSpPr txBox="1"/>
          <p:nvPr/>
        </p:nvSpPr>
        <p:spPr>
          <a:xfrm>
            <a:off x="3017043" y="5072617"/>
            <a:ext cx="61579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users clustered around in-class tutorials and course-related training activities.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903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FEFB4-FF73-52F6-BD3F-B732D25FB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Submissions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F05E6E-F06D-F664-7F2A-7A2199262968}"/>
              </a:ext>
            </a:extLst>
          </p:cNvPr>
          <p:cNvSpPr txBox="1"/>
          <p:nvPr/>
        </p:nvSpPr>
        <p:spPr>
          <a:xfrm>
            <a:off x="3017044" y="5674961"/>
            <a:ext cx="6157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submissions show strong course-driven student demand and growing regional research use.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990C432-7CE1-7D2D-D9C1-1372DA191DB6}"/>
              </a:ext>
            </a:extLst>
          </p:cNvPr>
          <p:cNvSpPr/>
          <p:nvPr/>
        </p:nvSpPr>
        <p:spPr>
          <a:xfrm>
            <a:off x="216694" y="4249105"/>
            <a:ext cx="3566160" cy="1297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3F513AB-9AFA-9086-C0A7-45BCDC51224E}"/>
              </a:ext>
            </a:extLst>
          </p:cNvPr>
          <p:cNvSpPr/>
          <p:nvPr/>
        </p:nvSpPr>
        <p:spPr>
          <a:xfrm>
            <a:off x="216694" y="4249105"/>
            <a:ext cx="73152" cy="1005840"/>
          </a:xfrm>
          <a:prstGeom prst="rect">
            <a:avLst/>
          </a:prstGeom>
          <a:solidFill>
            <a:srgbClr val="1B6EA8"/>
          </a:solidFill>
          <a:ln w="12700">
            <a:solidFill>
              <a:srgbClr val="1B6EA8"/>
            </a:solidFill>
            <a:prstDash val="solid"/>
          </a:ln>
        </p:spPr>
        <p:txBody>
          <a:bodyPr/>
          <a:lstStyle/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48DA60C-C56C-51D5-F36F-6C9208375FA0}"/>
              </a:ext>
            </a:extLst>
          </p:cNvPr>
          <p:cNvSpPr/>
          <p:nvPr/>
        </p:nvSpPr>
        <p:spPr>
          <a:xfrm>
            <a:off x="417862" y="4377121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5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use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8E97977-652F-854B-8DDB-AF0BE4E8CA46}"/>
              </a:ext>
            </a:extLst>
          </p:cNvPr>
          <p:cNvSpPr/>
          <p:nvPr/>
        </p:nvSpPr>
        <p:spPr>
          <a:xfrm>
            <a:off x="417862" y="4697161"/>
            <a:ext cx="3265810" cy="70788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UofM students account for most submissions, with peaks aligned to course activity.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A0351B4-C6D6-7D05-A61E-591A74BEC912}"/>
              </a:ext>
            </a:extLst>
          </p:cNvPr>
          <p:cNvGrpSpPr/>
          <p:nvPr/>
        </p:nvGrpSpPr>
        <p:grpSpPr>
          <a:xfrm>
            <a:off x="4523422" y="4249105"/>
            <a:ext cx="3767328" cy="1297840"/>
            <a:chOff x="4345781" y="4249105"/>
            <a:chExt cx="3767328" cy="1297840"/>
          </a:xfrm>
        </p:grpSpPr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A15BE86A-64EF-D451-ABD9-0978B87C1FEA}"/>
                </a:ext>
              </a:extLst>
            </p:cNvPr>
            <p:cNvSpPr/>
            <p:nvPr/>
          </p:nvSpPr>
          <p:spPr>
            <a:xfrm>
              <a:off x="4345781" y="4249105"/>
              <a:ext cx="3326607" cy="129784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12700">
              <a:solidFill>
                <a:srgbClr val="D8E1EA"/>
              </a:solidFill>
              <a:prstDash val="solid"/>
            </a:ln>
          </p:spPr>
          <p:txBody>
            <a:bodyPr/>
            <a:lstStyle/>
            <a:p>
              <a:endParaRPr 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0EB1CE39-B198-D1E0-C249-46EAB39588A9}"/>
                </a:ext>
              </a:extLst>
            </p:cNvPr>
            <p:cNvSpPr/>
            <p:nvPr/>
          </p:nvSpPr>
          <p:spPr>
            <a:xfrm>
              <a:off x="4345781" y="4249105"/>
              <a:ext cx="73152" cy="1005840"/>
            </a:xfrm>
            <a:prstGeom prst="rect">
              <a:avLst/>
            </a:prstGeom>
            <a:solidFill>
              <a:srgbClr val="0F766E"/>
            </a:solidFill>
            <a:ln w="12700">
              <a:solidFill>
                <a:srgbClr val="0F766E"/>
              </a:solidFill>
              <a:prstDash val="solid"/>
            </a:ln>
          </p:spPr>
          <p:txBody>
            <a:bodyPr/>
            <a:lstStyle/>
            <a:p>
              <a:endParaRPr 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B6CC899A-9815-422D-187A-0CC7DD8DC8A8}"/>
                </a:ext>
              </a:extLst>
            </p:cNvPr>
            <p:cNvSpPr/>
            <p:nvPr/>
          </p:nvSpPr>
          <p:spPr>
            <a:xfrm>
              <a:off x="4546949" y="4377121"/>
              <a:ext cx="3566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2355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Faculty and external use</a:t>
              </a:r>
              <a:endParaRPr lang="en-US" sz="1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CA285BFE-A3B4-5E50-9500-A87754B90578}"/>
                </a:ext>
              </a:extLst>
            </p:cNvPr>
            <p:cNvSpPr/>
            <p:nvPr/>
          </p:nvSpPr>
          <p:spPr>
            <a:xfrm>
              <a:off x="4546949" y="4697161"/>
              <a:ext cx="3125439" cy="707886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0" indent="0">
                <a:buNone/>
              </a:pPr>
              <a:r>
                <a:rPr lang="en-US" dirty="0">
                  <a:solidFill>
                    <a:srgbClr val="3341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Faculty and external researchers show lower but steadily increasing submission volumes.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Shape 11">
            <a:extLst>
              <a:ext uri="{FF2B5EF4-FFF2-40B4-BE49-F238E27FC236}">
                <a16:creationId xmlns:a16="http://schemas.microsoft.com/office/drawing/2014/main" id="{ABD195DF-6D51-8CE9-B823-A442F9398B96}"/>
              </a:ext>
            </a:extLst>
          </p:cNvPr>
          <p:cNvSpPr/>
          <p:nvPr/>
        </p:nvSpPr>
        <p:spPr>
          <a:xfrm>
            <a:off x="8474868" y="4249105"/>
            <a:ext cx="3299270" cy="1297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BEA166EF-E584-F4D0-C131-75265B6BEA23}"/>
              </a:ext>
            </a:extLst>
          </p:cNvPr>
          <p:cNvSpPr/>
          <p:nvPr/>
        </p:nvSpPr>
        <p:spPr>
          <a:xfrm>
            <a:off x="8474868" y="4249105"/>
            <a:ext cx="73152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4DF6023-209E-6E7B-899F-2AAA4DD85D14}"/>
              </a:ext>
            </a:extLst>
          </p:cNvPr>
          <p:cNvSpPr/>
          <p:nvPr/>
        </p:nvSpPr>
        <p:spPr>
          <a:xfrm>
            <a:off x="8676036" y="4377121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5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Regional model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18DA75B-0526-4DF0-111B-E241E92D2330}"/>
              </a:ext>
            </a:extLst>
          </p:cNvPr>
          <p:cNvSpPr/>
          <p:nvPr/>
        </p:nvSpPr>
        <p:spPr>
          <a:xfrm>
            <a:off x="8676036" y="4697161"/>
            <a:ext cx="2766537" cy="70788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users were a small share of accounts but contributed meaningful job submissions.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DAE4ABF-ADA3-02FE-8B9B-F36E52F0F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0398" y="1311055"/>
            <a:ext cx="6958540" cy="293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584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DB18-EABF-52B5-B860-10F3730FA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Outcomes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7CC3B9-8CB8-8E0D-1A59-B146B74DF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242" y="1635125"/>
            <a:ext cx="7385515" cy="3587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31830F-0416-0E23-C2BF-5FCBCDA9B338}"/>
              </a:ext>
            </a:extLst>
          </p:cNvPr>
          <p:cNvSpPr txBox="1"/>
          <p:nvPr/>
        </p:nvSpPr>
        <p:spPr>
          <a:xfrm>
            <a:off x="3017043" y="5354279"/>
            <a:ext cx="738551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Completed jobs increased, but failed jobs also rose during intensive training and project periods. Temporary spikes in failures reflected experimentation, debugging, and workflow learning.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690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010CA-892C-26DA-0A04-0F8B569B5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HPC Adoption in AI+X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FDD4B5-551C-5C45-DB01-3CF4E8FD2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511" y="1528763"/>
            <a:ext cx="8918978" cy="35948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707196-9F5E-7ECC-2BD0-6CFB1D77768C}"/>
              </a:ext>
            </a:extLst>
          </p:cNvPr>
          <p:cNvSpPr txBox="1"/>
          <p:nvPr/>
        </p:nvSpPr>
        <p:spPr>
          <a:xfrm>
            <a:off x="3485454" y="5150226"/>
            <a:ext cx="67586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235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Implication for NAIRR: </a:t>
            </a:r>
            <a:r>
              <a:rPr lang="en-US" sz="20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 AI education capacity should support both computing and non-computing disciplines.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774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531A4-88B7-2438-867B-FC3D10E72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Takeaways for Teaching Support</a:t>
            </a: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794ACCFF-6211-DC2F-58E5-104050106534}"/>
              </a:ext>
            </a:extLst>
          </p:cNvPr>
          <p:cNvSpPr/>
          <p:nvPr/>
        </p:nvSpPr>
        <p:spPr>
          <a:xfrm>
            <a:off x="609600" y="1564767"/>
            <a:ext cx="1828800" cy="658368"/>
          </a:xfrm>
          <a:prstGeom prst="rect">
            <a:avLst/>
          </a:prstGeom>
          <a:solidFill>
            <a:srgbClr val="12355B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8573243D-0B92-6EA5-E373-D0525DC9137D}"/>
              </a:ext>
            </a:extLst>
          </p:cNvPr>
          <p:cNvSpPr/>
          <p:nvPr/>
        </p:nvSpPr>
        <p:spPr>
          <a:xfrm>
            <a:off x="682752" y="1674495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layer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3F1EF9A-EBB2-9BF5-F6C3-E0E0496DC9A3}"/>
              </a:ext>
            </a:extLst>
          </p:cNvPr>
          <p:cNvSpPr/>
          <p:nvPr/>
        </p:nvSpPr>
        <p:spPr>
          <a:xfrm>
            <a:off x="2438400" y="1564767"/>
            <a:ext cx="4480560" cy="658368"/>
          </a:xfrm>
          <a:prstGeom prst="rect">
            <a:avLst/>
          </a:prstGeom>
          <a:solidFill>
            <a:srgbClr val="12355B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7F2847BB-2FFF-3245-07F7-82B4E37C10DC}"/>
              </a:ext>
            </a:extLst>
          </p:cNvPr>
          <p:cNvSpPr/>
          <p:nvPr/>
        </p:nvSpPr>
        <p:spPr>
          <a:xfrm>
            <a:off x="2511552" y="1674495"/>
            <a:ext cx="4334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instructors need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30C1B5DB-C0B1-F215-DE5B-85D64A2408F3}"/>
              </a:ext>
            </a:extLst>
          </p:cNvPr>
          <p:cNvSpPr/>
          <p:nvPr/>
        </p:nvSpPr>
        <p:spPr>
          <a:xfrm>
            <a:off x="6918960" y="1564767"/>
            <a:ext cx="4663440" cy="658368"/>
          </a:xfrm>
          <a:prstGeom prst="rect">
            <a:avLst/>
          </a:prstGeom>
          <a:solidFill>
            <a:srgbClr val="12355B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AA438011-C32A-0CDB-085D-759153BF0F3E}"/>
              </a:ext>
            </a:extLst>
          </p:cNvPr>
          <p:cNvSpPr/>
          <p:nvPr/>
        </p:nvSpPr>
        <p:spPr>
          <a:xfrm>
            <a:off x="6992112" y="1674495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shared programs can provide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6A3DF53-9C98-146D-41F6-E9EE6B9BDC9C}"/>
              </a:ext>
            </a:extLst>
          </p:cNvPr>
          <p:cNvSpPr/>
          <p:nvPr/>
        </p:nvSpPr>
        <p:spPr>
          <a:xfrm>
            <a:off x="609600" y="2223135"/>
            <a:ext cx="18288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A5FCD832-45D2-B60F-9F6B-319EC552FD6D}"/>
              </a:ext>
            </a:extLst>
          </p:cNvPr>
          <p:cNvSpPr/>
          <p:nvPr/>
        </p:nvSpPr>
        <p:spPr>
          <a:xfrm>
            <a:off x="682752" y="2332863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35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A7189417-6B0C-0F1D-4C77-C1477CF2955B}"/>
              </a:ext>
            </a:extLst>
          </p:cNvPr>
          <p:cNvSpPr/>
          <p:nvPr/>
        </p:nvSpPr>
        <p:spPr>
          <a:xfrm>
            <a:off x="2438400" y="2223135"/>
            <a:ext cx="448056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8AD466D2-99A1-F823-D68C-608B16C95F15}"/>
              </a:ext>
            </a:extLst>
          </p:cNvPr>
          <p:cNvSpPr/>
          <p:nvPr/>
        </p:nvSpPr>
        <p:spPr>
          <a:xfrm>
            <a:off x="2511552" y="2332863"/>
            <a:ext cx="4334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Reliable access for assignments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BBF5CFC2-BC48-AFB4-6730-B349B249F538}"/>
              </a:ext>
            </a:extLst>
          </p:cNvPr>
          <p:cNvSpPr/>
          <p:nvPr/>
        </p:nvSpPr>
        <p:spPr>
          <a:xfrm>
            <a:off x="6918960" y="2223135"/>
            <a:ext cx="466344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7701F8F7-28DE-2DCB-BAB6-AA6AFC7BAF43}"/>
              </a:ext>
            </a:extLst>
          </p:cNvPr>
          <p:cNvSpPr/>
          <p:nvPr/>
        </p:nvSpPr>
        <p:spPr>
          <a:xfrm>
            <a:off x="6992112" y="2332863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allocations, class queues, starter accounts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7CD902E5-9CF3-9786-B883-2A85F9A6EE84}"/>
              </a:ext>
            </a:extLst>
          </p:cNvPr>
          <p:cNvSpPr/>
          <p:nvPr/>
        </p:nvSpPr>
        <p:spPr>
          <a:xfrm>
            <a:off x="609600" y="2881503"/>
            <a:ext cx="1828800" cy="658368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C8F59D52-0EC3-EA89-FA06-6D09590C7519}"/>
              </a:ext>
            </a:extLst>
          </p:cNvPr>
          <p:cNvSpPr/>
          <p:nvPr/>
        </p:nvSpPr>
        <p:spPr>
          <a:xfrm>
            <a:off x="682752" y="2991231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35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EF43AF89-F2B8-07C0-6ED1-49F249026E35}"/>
              </a:ext>
            </a:extLst>
          </p:cNvPr>
          <p:cNvSpPr/>
          <p:nvPr/>
        </p:nvSpPr>
        <p:spPr>
          <a:xfrm>
            <a:off x="2438400" y="2881503"/>
            <a:ext cx="4480560" cy="658368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9FDC0167-EAFA-7BE8-BFC7-887D0B141994}"/>
              </a:ext>
            </a:extLst>
          </p:cNvPr>
          <p:cNvSpPr/>
          <p:nvPr/>
        </p:nvSpPr>
        <p:spPr>
          <a:xfrm>
            <a:off x="2511552" y="2991231"/>
            <a:ext cx="4334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Stable environments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68A721A2-AD75-8561-DAB6-9ED46B7F530A}"/>
              </a:ext>
            </a:extLst>
          </p:cNvPr>
          <p:cNvSpPr/>
          <p:nvPr/>
        </p:nvSpPr>
        <p:spPr>
          <a:xfrm>
            <a:off x="6918960" y="2881503"/>
            <a:ext cx="4663440" cy="658368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3CC9DBC2-2C9A-23AE-23AF-45427ECF7AE2}"/>
              </a:ext>
            </a:extLst>
          </p:cNvPr>
          <p:cNvSpPr/>
          <p:nvPr/>
        </p:nvSpPr>
        <p:spPr>
          <a:xfrm>
            <a:off x="6992112" y="2991231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Containers, notebooks, tested model recipes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A043A40F-5755-9392-5E1D-8A11EE52F46E}"/>
              </a:ext>
            </a:extLst>
          </p:cNvPr>
          <p:cNvSpPr/>
          <p:nvPr/>
        </p:nvSpPr>
        <p:spPr>
          <a:xfrm>
            <a:off x="609600" y="3539871"/>
            <a:ext cx="18288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9CD2CB07-2F10-D2A6-36DE-62E18F351261}"/>
              </a:ext>
            </a:extLst>
          </p:cNvPr>
          <p:cNvSpPr/>
          <p:nvPr/>
        </p:nvSpPr>
        <p:spPr>
          <a:xfrm>
            <a:off x="682752" y="3649599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35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Curriculum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3C90A8F9-5B22-9049-8AF5-14DE354B6A62}"/>
              </a:ext>
            </a:extLst>
          </p:cNvPr>
          <p:cNvSpPr/>
          <p:nvPr/>
        </p:nvSpPr>
        <p:spPr>
          <a:xfrm>
            <a:off x="2438400" y="3539871"/>
            <a:ext cx="448056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C61DD673-C613-1D24-6C8E-745A31C833FC}"/>
              </a:ext>
            </a:extLst>
          </p:cNvPr>
          <p:cNvSpPr/>
          <p:nvPr/>
        </p:nvSpPr>
        <p:spPr>
          <a:xfrm>
            <a:off x="2511552" y="3649599"/>
            <a:ext cx="4334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Plug-in AI modules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2914985F-710E-A277-9770-769F7D2EDBAD}"/>
              </a:ext>
            </a:extLst>
          </p:cNvPr>
          <p:cNvSpPr/>
          <p:nvPr/>
        </p:nvSpPr>
        <p:spPr>
          <a:xfrm>
            <a:off x="6918960" y="3539871"/>
            <a:ext cx="466344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DA620803-4BB6-1655-15E1-99C39FB36AC4}"/>
              </a:ext>
            </a:extLst>
          </p:cNvPr>
          <p:cNvSpPr/>
          <p:nvPr/>
        </p:nvSpPr>
        <p:spPr>
          <a:xfrm>
            <a:off x="6992112" y="3649599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Assignments, rubrics, domain datasets, socio-technical prompts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280DC964-73C5-E805-AE07-3CD2D3C58F15}"/>
              </a:ext>
            </a:extLst>
          </p:cNvPr>
          <p:cNvSpPr/>
          <p:nvPr/>
        </p:nvSpPr>
        <p:spPr>
          <a:xfrm>
            <a:off x="609600" y="4198239"/>
            <a:ext cx="1828800" cy="658368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2D7DF5F1-39BB-4A23-47BA-E410FC1D44A0}"/>
              </a:ext>
            </a:extLst>
          </p:cNvPr>
          <p:cNvSpPr/>
          <p:nvPr/>
        </p:nvSpPr>
        <p:spPr>
          <a:xfrm>
            <a:off x="682752" y="4307967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35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AC28B9D6-26F6-C112-7705-7EBC062BF4BF}"/>
              </a:ext>
            </a:extLst>
          </p:cNvPr>
          <p:cNvSpPr/>
          <p:nvPr/>
        </p:nvSpPr>
        <p:spPr>
          <a:xfrm>
            <a:off x="2438400" y="4198239"/>
            <a:ext cx="4480560" cy="658368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51C88410-CBB7-C41B-347D-13ED171CD138}"/>
              </a:ext>
            </a:extLst>
          </p:cNvPr>
          <p:cNvSpPr/>
          <p:nvPr/>
        </p:nvSpPr>
        <p:spPr>
          <a:xfrm>
            <a:off x="2511552" y="4307967"/>
            <a:ext cx="4334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 help during course peaks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D9B1E9C4-6B16-B1B5-77A8-EE53AB721093}"/>
              </a:ext>
            </a:extLst>
          </p:cNvPr>
          <p:cNvSpPr/>
          <p:nvPr/>
        </p:nvSpPr>
        <p:spPr>
          <a:xfrm>
            <a:off x="6918960" y="4198239"/>
            <a:ext cx="4663440" cy="658368"/>
          </a:xfrm>
          <a:prstGeom prst="rect">
            <a:avLst/>
          </a:prstGeom>
          <a:solidFill>
            <a:srgbClr val="F8FAFC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1D336DFA-C288-E854-D079-17D34E35CE73}"/>
              </a:ext>
            </a:extLst>
          </p:cNvPr>
          <p:cNvSpPr/>
          <p:nvPr/>
        </p:nvSpPr>
        <p:spPr>
          <a:xfrm>
            <a:off x="6992112" y="4307967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Office hours, FAQs, instructor Slack/Discord, escalation paths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9239C5A0-38F1-81AA-0A68-AC54061979B7}"/>
              </a:ext>
            </a:extLst>
          </p:cNvPr>
          <p:cNvSpPr/>
          <p:nvPr/>
        </p:nvSpPr>
        <p:spPr>
          <a:xfrm>
            <a:off x="609600" y="4856607"/>
            <a:ext cx="18288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CF52009E-1233-3809-8CD0-B8F9233F66D8}"/>
              </a:ext>
            </a:extLst>
          </p:cNvPr>
          <p:cNvSpPr/>
          <p:nvPr/>
        </p:nvSpPr>
        <p:spPr>
          <a:xfrm>
            <a:off x="682752" y="4966335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35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6F3EAEF9-3900-AE16-827C-09DB23A18058}"/>
              </a:ext>
            </a:extLst>
          </p:cNvPr>
          <p:cNvSpPr/>
          <p:nvPr/>
        </p:nvSpPr>
        <p:spPr>
          <a:xfrm>
            <a:off x="2438400" y="4856607"/>
            <a:ext cx="448056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6">
            <a:extLst>
              <a:ext uri="{FF2B5EF4-FFF2-40B4-BE49-F238E27FC236}">
                <a16:creationId xmlns:a16="http://schemas.microsoft.com/office/drawing/2014/main" id="{14371490-492E-C4AA-9E52-E06F8B5A3294}"/>
              </a:ext>
            </a:extLst>
          </p:cNvPr>
          <p:cNvSpPr/>
          <p:nvPr/>
        </p:nvSpPr>
        <p:spPr>
          <a:xfrm>
            <a:off x="2511552" y="4966335"/>
            <a:ext cx="4334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 of capacity growth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811E4D3A-9853-73C6-00F6-B142DC3CEC09}"/>
              </a:ext>
            </a:extLst>
          </p:cNvPr>
          <p:cNvSpPr/>
          <p:nvPr/>
        </p:nvSpPr>
        <p:spPr>
          <a:xfrm>
            <a:off x="6918960" y="4856607"/>
            <a:ext cx="466344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A1990EF3-8087-CCA7-E85E-140CD2A3481E}"/>
              </a:ext>
            </a:extLst>
          </p:cNvPr>
          <p:cNvSpPr/>
          <p:nvPr/>
        </p:nvSpPr>
        <p:spPr>
          <a:xfrm>
            <a:off x="6992112" y="4966335"/>
            <a:ext cx="4517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Activation, job outcomes, project artifacts, confidence surveys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057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7EC1A-F197-69F6-B5D8-A61EDB321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Takeaways for Broadening HPC Adoption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DDD40545-93B3-30A5-72FC-D1BB52C315F9}"/>
              </a:ext>
            </a:extLst>
          </p:cNvPr>
          <p:cNvSpPr/>
          <p:nvPr/>
        </p:nvSpPr>
        <p:spPr>
          <a:xfrm>
            <a:off x="1143000" y="23774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 AI infrastructure per regional hub is necessary to motivate emerging institutions full participants in AI education and research.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C471F1A6-F031-D6D3-853C-B5A224B23DD1}"/>
              </a:ext>
            </a:extLst>
          </p:cNvPr>
          <p:cNvSpPr/>
          <p:nvPr/>
        </p:nvSpPr>
        <p:spPr>
          <a:xfrm>
            <a:off x="1143000" y="3977640"/>
            <a:ext cx="2240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6510">
            <a:solidFill>
              <a:srgbClr val="1B6EA8"/>
            </a:solidFill>
            <a:prstDash val="solid"/>
          </a:ln>
        </p:spPr>
        <p:txBody>
          <a:bodyPr/>
          <a:lstStyle/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017CFA4C-2B36-A8A5-AF24-645409B756E9}"/>
              </a:ext>
            </a:extLst>
          </p:cNvPr>
          <p:cNvSpPr/>
          <p:nvPr/>
        </p:nvSpPr>
        <p:spPr>
          <a:xfrm>
            <a:off x="1216152" y="4023360"/>
            <a:ext cx="209397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6E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 compute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A096A52A-CDEA-01C6-AB1F-67536046C9DC}"/>
              </a:ext>
            </a:extLst>
          </p:cNvPr>
          <p:cNvSpPr/>
          <p:nvPr/>
        </p:nvSpPr>
        <p:spPr>
          <a:xfrm>
            <a:off x="3886200" y="3977640"/>
            <a:ext cx="2240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6510">
            <a:solidFill>
              <a:srgbClr val="5E8C31"/>
            </a:solidFill>
            <a:prstDash val="solid"/>
          </a:ln>
        </p:spPr>
        <p:txBody>
          <a:bodyPr/>
          <a:lstStyle/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5A89B862-F22A-8025-A980-E32611E2CF6A}"/>
              </a:ext>
            </a:extLst>
          </p:cNvPr>
          <p:cNvSpPr/>
          <p:nvPr/>
        </p:nvSpPr>
        <p:spPr>
          <a:xfrm>
            <a:off x="3959352" y="4023360"/>
            <a:ext cx="209397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8C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integration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83A3A233-C8AA-0806-7A56-B65183A53050}"/>
              </a:ext>
            </a:extLst>
          </p:cNvPr>
          <p:cNvSpPr/>
          <p:nvPr/>
        </p:nvSpPr>
        <p:spPr>
          <a:xfrm>
            <a:off x="6629400" y="3977640"/>
            <a:ext cx="2240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651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26E139A1-5989-F56C-E24D-1556A758F8BD}"/>
              </a:ext>
            </a:extLst>
          </p:cNvPr>
          <p:cNvSpPr/>
          <p:nvPr/>
        </p:nvSpPr>
        <p:spPr>
          <a:xfrm>
            <a:off x="6702552" y="4023360"/>
            <a:ext cx="209397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support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2043BB57-BF2B-DF2F-C2EE-CF01C157AB7E}"/>
              </a:ext>
            </a:extLst>
          </p:cNvPr>
          <p:cNvSpPr/>
          <p:nvPr/>
        </p:nvSpPr>
        <p:spPr>
          <a:xfrm>
            <a:off x="9372600" y="3977640"/>
            <a:ext cx="2240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651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F1809798-EACC-1492-C805-60F240BCEEC5}"/>
              </a:ext>
            </a:extLst>
          </p:cNvPr>
          <p:cNvSpPr/>
          <p:nvPr/>
        </p:nvSpPr>
        <p:spPr>
          <a:xfrm>
            <a:off x="9445752" y="4023360"/>
            <a:ext cx="209397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35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Regional community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424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891AB-E29D-D5F8-B444-4BC2E9C81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Takeaways for Emerging Institutional Capacity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DB68FE-9507-9152-691A-7F7D2C617ADF}"/>
              </a:ext>
            </a:extLst>
          </p:cNvPr>
          <p:cNvSpPr txBox="1"/>
          <p:nvPr/>
        </p:nvSpPr>
        <p:spPr>
          <a:xfrm>
            <a:off x="807244" y="2003524"/>
            <a:ext cx="1050845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Curriculum integration is fastest to AI literacy and HPC adoption.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alone is not enough. Adoption requires support systems.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Sustainable capacity requires people, not only machines.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 GPU infrastructure can substitute for local ownership.</a:t>
            </a:r>
          </a:p>
        </p:txBody>
      </p:sp>
    </p:spTree>
    <p:extLst>
      <p:ext uri="{BB962C8B-B14F-4D97-AF65-F5344CB8AC3E}">
        <p14:creationId xmlns:p14="http://schemas.microsoft.com/office/powerpoint/2010/main" val="2237814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C1CB5-A6F2-D3EE-51DD-87C92B109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Takeaways for Sustainable Capacity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3E8D20-4CB9-6ECB-FF02-AA0C24E07EAF}"/>
              </a:ext>
            </a:extLst>
          </p:cNvPr>
          <p:cNvSpPr txBox="1"/>
          <p:nvPr/>
        </p:nvSpPr>
        <p:spPr>
          <a:xfrm>
            <a:off x="1481835" y="1417738"/>
            <a:ext cx="87908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35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Resource + regional Resource Hubs + local support = Sustainable AI education capacity.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CD22BD8-6540-9E05-638B-38E5058B470E}"/>
              </a:ext>
            </a:extLst>
          </p:cNvPr>
          <p:cNvSpPr/>
          <p:nvPr/>
        </p:nvSpPr>
        <p:spPr>
          <a:xfrm>
            <a:off x="929640" y="2587334"/>
            <a:ext cx="10332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D8BF4CA-B388-E6DB-B7FD-4476DB65BE9D}"/>
              </a:ext>
            </a:extLst>
          </p:cNvPr>
          <p:cNvSpPr/>
          <p:nvPr/>
        </p:nvSpPr>
        <p:spPr>
          <a:xfrm>
            <a:off x="1158240" y="273363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5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shared resources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CE935BF-5D03-79C9-C028-948DA9E3AA85}"/>
              </a:ext>
            </a:extLst>
          </p:cNvPr>
          <p:cNvSpPr/>
          <p:nvPr/>
        </p:nvSpPr>
        <p:spPr>
          <a:xfrm>
            <a:off x="4587240" y="273363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0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Large-scale models, compute allocations resources (NAIRR)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FE02047-D882-BFF6-2F16-C886B4407836}"/>
              </a:ext>
            </a:extLst>
          </p:cNvPr>
          <p:cNvSpPr/>
          <p:nvPr/>
        </p:nvSpPr>
        <p:spPr>
          <a:xfrm>
            <a:off x="5757672" y="3300566"/>
            <a:ext cx="320040" cy="320040"/>
          </a:xfrm>
          <a:prstGeom prst="down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76D5CB9-2187-6092-7D5B-7215AA7C7720}"/>
              </a:ext>
            </a:extLst>
          </p:cNvPr>
          <p:cNvSpPr/>
          <p:nvPr/>
        </p:nvSpPr>
        <p:spPr>
          <a:xfrm>
            <a:off x="929640" y="3638894"/>
            <a:ext cx="10332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1B6EA8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EEF53E9-A1D6-7924-0C5B-08B0F1F4FF41}"/>
              </a:ext>
            </a:extLst>
          </p:cNvPr>
          <p:cNvSpPr/>
          <p:nvPr/>
        </p:nvSpPr>
        <p:spPr>
          <a:xfrm>
            <a:off x="1158240" y="378519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6EA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Regional hubs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0824505-8783-B0B9-699D-2E9D7FE3E39C}"/>
              </a:ext>
            </a:extLst>
          </p:cNvPr>
          <p:cNvSpPr/>
          <p:nvPr/>
        </p:nvSpPr>
        <p:spPr>
          <a:xfrm>
            <a:off x="4587240" y="378519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Local/regional support, community, and sharing network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ED9DF14-0ED0-FB51-8536-E163ECEC0D3D}"/>
              </a:ext>
            </a:extLst>
          </p:cNvPr>
          <p:cNvSpPr/>
          <p:nvPr/>
        </p:nvSpPr>
        <p:spPr>
          <a:xfrm>
            <a:off x="5757672" y="4352126"/>
            <a:ext cx="320040" cy="320040"/>
          </a:xfrm>
          <a:prstGeom prst="down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76C5E12-C7E6-5054-92BD-0E4818D318AD}"/>
              </a:ext>
            </a:extLst>
          </p:cNvPr>
          <p:cNvSpPr/>
          <p:nvPr/>
        </p:nvSpPr>
        <p:spPr>
          <a:xfrm>
            <a:off x="929640" y="4690454"/>
            <a:ext cx="10332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5E8C31"/>
            </a:solidFill>
            <a:prstDash val="solid"/>
          </a:ln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7D688EC-690F-3152-393E-B45DCD97061E}"/>
              </a:ext>
            </a:extLst>
          </p:cNvPr>
          <p:cNvSpPr/>
          <p:nvPr/>
        </p:nvSpPr>
        <p:spPr>
          <a:xfrm>
            <a:off x="1158240" y="4763606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8C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Institutional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5E8C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12B7C0E-1A75-F246-CC98-AF0B033ACA5E}"/>
              </a:ext>
            </a:extLst>
          </p:cNvPr>
          <p:cNvSpPr/>
          <p:nvPr/>
        </p:nvSpPr>
        <p:spPr>
          <a:xfrm>
            <a:off x="4587240" y="483675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Research, instructors, courses, capstone projects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001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subTitle" idx="1"/>
          </p:nvPr>
        </p:nvSpPr>
        <p:spPr>
          <a:xfrm>
            <a:off x="1265470" y="2384888"/>
            <a:ext cx="5924283" cy="880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3200" b="1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xiaolei.huang@memphis.edu</a:t>
            </a:r>
            <a:endParaRPr sz="3200" b="1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Google Shape;128;p22"/>
          <p:cNvSpPr txBox="1">
            <a:spLocks noGrp="1"/>
          </p:cNvSpPr>
          <p:nvPr>
            <p:ph type="ctrTitle"/>
          </p:nvPr>
        </p:nvSpPr>
        <p:spPr>
          <a:xfrm>
            <a:off x="2285656" y="1649631"/>
            <a:ext cx="3883913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Thanks!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9" name="Google Shape;129;p22"/>
          <p:cNvGrpSpPr/>
          <p:nvPr/>
        </p:nvGrpSpPr>
        <p:grpSpPr>
          <a:xfrm>
            <a:off x="1762409" y="245754"/>
            <a:ext cx="5073597" cy="1619531"/>
            <a:chOff x="1675200" y="1925919"/>
            <a:chExt cx="8622700" cy="2752431"/>
          </a:xfrm>
        </p:grpSpPr>
        <p:sp>
          <p:nvSpPr>
            <p:cNvPr id="130" name="Google Shape;130;p22"/>
            <p:cNvSpPr/>
            <p:nvPr/>
          </p:nvSpPr>
          <p:spPr>
            <a:xfrm>
              <a:off x="1684600" y="1932075"/>
              <a:ext cx="8613300" cy="2721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53775" tIns="53775" rIns="53775" bIns="53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24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31" name="Google Shape;131;p22" title="NAIRR Expansion Conference_General Logo (1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75200" y="1925918"/>
              <a:ext cx="8606075" cy="275243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" name="Picture 1" descr="NSF Policy on Brand Standards - Policies | NSF - U.S. National Science  Foundation">
            <a:extLst>
              <a:ext uri="{FF2B5EF4-FFF2-40B4-BE49-F238E27FC236}">
                <a16:creationId xmlns:a16="http://schemas.microsoft.com/office/drawing/2014/main" id="{EAFA7C6A-71E4-5867-9871-1D92B1144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7711" y="298697"/>
            <a:ext cx="2051744" cy="13295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901757-5E7B-8B3D-5159-6BF08C782B05}"/>
              </a:ext>
            </a:extLst>
          </p:cNvPr>
          <p:cNvSpPr txBox="1"/>
          <p:nvPr/>
        </p:nvSpPr>
        <p:spPr>
          <a:xfrm>
            <a:off x="7872413" y="4857751"/>
            <a:ext cx="40004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presenter wants to thank the NSF and CRA for generous support!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DD9682-C745-5D52-A8D4-9B0AE0F28A48}"/>
              </a:ext>
            </a:extLst>
          </p:cNvPr>
          <p:cNvSpPr txBox="1"/>
          <p:nvPr/>
        </p:nvSpPr>
        <p:spPr>
          <a:xfrm>
            <a:off x="2063054" y="3018896"/>
            <a:ext cx="43291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itiger-cluster.github.io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2AED7C-3E2D-85E8-8329-E5097ACB4F51}"/>
              </a:ext>
            </a:extLst>
          </p:cNvPr>
          <p:cNvSpPr txBox="1"/>
          <p:nvPr/>
        </p:nvSpPr>
        <p:spPr>
          <a:xfrm>
            <a:off x="8270230" y="3688200"/>
            <a:ext cx="320486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Sharif, M., Han, G., Liu, W., &amp; Huang, X. Cultivating Multidisciplinary AI Workforce Development on </a:t>
            </a:r>
            <a:r>
              <a:rPr lang="en-US" sz="1400" dirty="0" err="1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iTiger</a:t>
            </a:r>
            <a:r>
              <a:rPr lang="en-US" sz="14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GPU Cluster: Practices and Challenges. PEARC 2026.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The University of Memphis">
            <a:extLst>
              <a:ext uri="{FF2B5EF4-FFF2-40B4-BE49-F238E27FC236}">
                <a16:creationId xmlns:a16="http://schemas.microsoft.com/office/drawing/2014/main" id="{9D938972-BDA3-CBD7-5EF2-982833874F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043" y="671361"/>
            <a:ext cx="2260469" cy="6978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RA Theme">
      <a:dk1>
        <a:srgbClr val="000000"/>
      </a:dk1>
      <a:lt1>
        <a:srgbClr val="FFFFFF"/>
      </a:lt1>
      <a:dk2>
        <a:srgbClr val="1A2A87"/>
      </a:dk2>
      <a:lt2>
        <a:srgbClr val="EEECE1"/>
      </a:lt2>
      <a:accent1>
        <a:srgbClr val="62A1C5"/>
      </a:accent1>
      <a:accent2>
        <a:srgbClr val="EB532A"/>
      </a:accent2>
      <a:accent3>
        <a:srgbClr val="A6CF59"/>
      </a:accent3>
      <a:accent4>
        <a:srgbClr val="857FBA"/>
      </a:accent4>
      <a:accent5>
        <a:srgbClr val="94D0B2"/>
      </a:accent5>
      <a:accent6>
        <a:srgbClr val="FFDA1C"/>
      </a:accent6>
      <a:hlink>
        <a:srgbClr val="0000FF"/>
      </a:hlink>
      <a:folHlink>
        <a:srgbClr val="76154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CRA Theme">
      <a:dk1>
        <a:srgbClr val="000000"/>
      </a:dk1>
      <a:lt1>
        <a:srgbClr val="FFFFFF"/>
      </a:lt1>
      <a:dk2>
        <a:srgbClr val="1A2A87"/>
      </a:dk2>
      <a:lt2>
        <a:srgbClr val="EEECE1"/>
      </a:lt2>
      <a:accent1>
        <a:srgbClr val="62A1C5"/>
      </a:accent1>
      <a:accent2>
        <a:srgbClr val="EB532A"/>
      </a:accent2>
      <a:accent3>
        <a:srgbClr val="A6CF59"/>
      </a:accent3>
      <a:accent4>
        <a:srgbClr val="857FBA"/>
      </a:accent4>
      <a:accent5>
        <a:srgbClr val="94D0B2"/>
      </a:accent5>
      <a:accent6>
        <a:srgbClr val="FFDA1C"/>
      </a:accent6>
      <a:hlink>
        <a:srgbClr val="0000FF"/>
      </a:hlink>
      <a:folHlink>
        <a:srgbClr val="76154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1466</TotalTime>
  <Words>750</Words>
  <Application>Microsoft Macintosh PowerPoint</Application>
  <PresentationFormat>Widescreen</PresentationFormat>
  <Paragraphs>101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Times New Roman</vt:lpstr>
      <vt:lpstr>Helvetica Neue</vt:lpstr>
      <vt:lpstr>Calibri</vt:lpstr>
      <vt:lpstr>Arial</vt:lpstr>
      <vt:lpstr>Office Theme</vt:lpstr>
      <vt:lpstr>Office Theme</vt:lpstr>
      <vt:lpstr>PowerPoint Presentation</vt:lpstr>
      <vt:lpstr>Computing Paradox and Dilemma</vt:lpstr>
      <vt:lpstr>Practical Capacity Issues in HPC Adoption</vt:lpstr>
      <vt:lpstr>Lessons from iTiger, a GPU Cluster Computing Adoption and Challenges 2023 - 2026</vt:lpstr>
      <vt:lpstr>iTiger Cluster for Research &amp; Education</vt:lpstr>
      <vt:lpstr>Computing Adoption Strategies</vt:lpstr>
      <vt:lpstr>New User Registrations</vt:lpstr>
      <vt:lpstr>Job Submissions</vt:lpstr>
      <vt:lpstr>Job Outcomes</vt:lpstr>
      <vt:lpstr>HPC Adoption in AI+X</vt:lpstr>
      <vt:lpstr>Takeaways for Teaching Support</vt:lpstr>
      <vt:lpstr>Takeaways for Broadening HPC Adoption</vt:lpstr>
      <vt:lpstr>Takeaways for Emerging Institutional Capacity</vt:lpstr>
      <vt:lpstr>Takeaways for Sustainable Capacity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Xiaolei Huang (xhuang7)</cp:lastModifiedBy>
  <cp:revision>122</cp:revision>
  <dcterms:modified xsi:type="dcterms:W3CDTF">2026-06-18T03:09:49Z</dcterms:modified>
</cp:coreProperties>
</file>